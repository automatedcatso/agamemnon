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3"/>
  </p:notesMasterIdLst>
  <p:handoutMasterIdLst>
    <p:handoutMasterId r:id="rId94"/>
  </p:handoutMasterIdLst>
  <p:sldIdLst>
    <p:sldId id="317" r:id="rId2"/>
    <p:sldId id="257" r:id="rId3"/>
    <p:sldId id="258" r:id="rId4"/>
    <p:sldId id="259" r:id="rId5"/>
    <p:sldId id="260" r:id="rId6"/>
    <p:sldId id="261" r:id="rId7"/>
    <p:sldId id="262" r:id="rId8"/>
    <p:sldId id="386" r:id="rId9"/>
    <p:sldId id="263" r:id="rId10"/>
    <p:sldId id="264" r:id="rId11"/>
    <p:sldId id="387" r:id="rId12"/>
    <p:sldId id="265" r:id="rId13"/>
    <p:sldId id="266" r:id="rId14"/>
    <p:sldId id="389" r:id="rId15"/>
    <p:sldId id="388" r:id="rId16"/>
    <p:sldId id="267" r:id="rId17"/>
    <p:sldId id="390" r:id="rId18"/>
    <p:sldId id="268" r:id="rId19"/>
    <p:sldId id="269" r:id="rId20"/>
    <p:sldId id="391"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385"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18" r:id="rId52"/>
    <p:sldId id="344" r:id="rId53"/>
    <p:sldId id="345" r:id="rId54"/>
    <p:sldId id="346" r:id="rId55"/>
    <p:sldId id="347" r:id="rId56"/>
    <p:sldId id="348" r:id="rId57"/>
    <p:sldId id="349" r:id="rId58"/>
    <p:sldId id="350" r:id="rId59"/>
    <p:sldId id="351" r:id="rId60"/>
    <p:sldId id="352" r:id="rId61"/>
    <p:sldId id="353" r:id="rId62"/>
    <p:sldId id="354" r:id="rId63"/>
    <p:sldId id="355" r:id="rId64"/>
    <p:sldId id="356" r:id="rId65"/>
    <p:sldId id="357" r:id="rId66"/>
    <p:sldId id="358" r:id="rId67"/>
    <p:sldId id="359" r:id="rId68"/>
    <p:sldId id="360" r:id="rId69"/>
    <p:sldId id="361" r:id="rId70"/>
    <p:sldId id="362" r:id="rId71"/>
    <p:sldId id="363" r:id="rId72"/>
    <p:sldId id="364" r:id="rId73"/>
    <p:sldId id="365" r:id="rId74"/>
    <p:sldId id="366" r:id="rId75"/>
    <p:sldId id="367" r:id="rId76"/>
    <p:sldId id="368" r:id="rId77"/>
    <p:sldId id="369" r:id="rId78"/>
    <p:sldId id="384" r:id="rId79"/>
    <p:sldId id="371" r:id="rId80"/>
    <p:sldId id="372" r:id="rId81"/>
    <p:sldId id="373" r:id="rId82"/>
    <p:sldId id="374" r:id="rId83"/>
    <p:sldId id="375" r:id="rId84"/>
    <p:sldId id="376" r:id="rId85"/>
    <p:sldId id="377" r:id="rId86"/>
    <p:sldId id="378" r:id="rId87"/>
    <p:sldId id="379" r:id="rId88"/>
    <p:sldId id="380" r:id="rId89"/>
    <p:sldId id="381" r:id="rId90"/>
    <p:sldId id="382" r:id="rId91"/>
    <p:sldId id="383" r:id="rId92"/>
  </p:sldIdLst>
  <p:sldSz cx="12192000" cy="6858000"/>
  <p:notesSz cx="12192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792"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9392356" cy="258068"/>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12277295" y="0"/>
            <a:ext cx="9392356" cy="258068"/>
          </a:xfrm>
          <a:prstGeom prst="rect">
            <a:avLst/>
          </a:prstGeom>
        </p:spPr>
        <p:txBody>
          <a:bodyPr vert="horz" lIns="91440" tIns="45720" rIns="91440" bIns="45720" rtlCol="0"/>
          <a:lstStyle>
            <a:lvl1pPr algn="r">
              <a:defRPr sz="675"/>
            </a:lvl1pPr>
          </a:lstStyle>
          <a:p>
            <a:fld id="{696C064A-D61B-4B21-B757-51A9B82445B8}" type="datetimeFigureOut">
              <a:rPr lang="en-US" smtClean="0"/>
              <a:t>10/25/2023</a:t>
            </a:fld>
            <a:endParaRPr lang="en-US"/>
          </a:p>
        </p:txBody>
      </p:sp>
      <p:sp>
        <p:nvSpPr>
          <p:cNvPr id="4" name="Footer Placeholder 3"/>
          <p:cNvSpPr>
            <a:spLocks noGrp="1"/>
          </p:cNvSpPr>
          <p:nvPr>
            <p:ph type="ftr" sz="quarter" idx="2"/>
          </p:nvPr>
        </p:nvSpPr>
        <p:spPr>
          <a:xfrm>
            <a:off x="0" y="4885432"/>
            <a:ext cx="9392356" cy="258068"/>
          </a:xfrm>
          <a:prstGeom prst="rect">
            <a:avLst/>
          </a:prstGeom>
        </p:spPr>
        <p:txBody>
          <a:bodyPr vert="horz" lIns="91440" tIns="45720" rIns="91440" bIns="45720" rtlCol="0" anchor="b"/>
          <a:lstStyle>
            <a:lvl1pPr algn="l">
              <a:defRPr sz="675"/>
            </a:lvl1pPr>
          </a:lstStyle>
          <a:p>
            <a:r>
              <a:rPr lang="en-US"/>
              <a:t>UNIT IV : Pythonic Programming Paradigm</a:t>
            </a:r>
          </a:p>
        </p:txBody>
      </p:sp>
      <p:sp>
        <p:nvSpPr>
          <p:cNvPr id="5" name="Slide Number Placeholder 4"/>
          <p:cNvSpPr>
            <a:spLocks noGrp="1"/>
          </p:cNvSpPr>
          <p:nvPr>
            <p:ph type="sldNum" sz="quarter" idx="3"/>
          </p:nvPr>
        </p:nvSpPr>
        <p:spPr>
          <a:xfrm>
            <a:off x="12277295" y="4885432"/>
            <a:ext cx="9392356" cy="258068"/>
          </a:xfrm>
          <a:prstGeom prst="rect">
            <a:avLst/>
          </a:prstGeom>
        </p:spPr>
        <p:txBody>
          <a:bodyPr vert="horz" lIns="91440" tIns="45720" rIns="91440" bIns="45720" rtlCol="0" anchor="b"/>
          <a:lstStyle>
            <a:lvl1pPr algn="r">
              <a:defRPr sz="675"/>
            </a:lvl1pPr>
          </a:lstStyle>
          <a:p>
            <a:fld id="{50305E07-67EA-4042-A3F6-853A8AD8D209}" type="slidenum">
              <a:rPr lang="en-US" smtClean="0"/>
              <a:t>‹#›</a:t>
            </a:fld>
            <a:endParaRPr lang="en-US"/>
          </a:p>
        </p:txBody>
      </p:sp>
    </p:spTree>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9392356" cy="25806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2277295" y="0"/>
            <a:ext cx="9392356" cy="258068"/>
          </a:xfrm>
          <a:prstGeom prst="rect">
            <a:avLst/>
          </a:prstGeom>
        </p:spPr>
        <p:txBody>
          <a:bodyPr vert="horz" lIns="91440" tIns="45720" rIns="91440" bIns="45720" rtlCol="0"/>
          <a:lstStyle>
            <a:lvl1pPr algn="r">
              <a:defRPr sz="1200"/>
            </a:lvl1pPr>
          </a:lstStyle>
          <a:p>
            <a:fld id="{3EFD42F7-718C-4B98-AAEC-167E6DDD60A7}" type="datetimeFigureOut">
              <a:rPr lang="en-US" smtClean="0"/>
              <a:t>10/25/2023</a:t>
            </a:fld>
            <a:endParaRPr lang="en-US"/>
          </a:p>
        </p:txBody>
      </p:sp>
      <p:sp>
        <p:nvSpPr>
          <p:cNvPr id="4" name="Slide Image Placeholder 3"/>
          <p:cNvSpPr>
            <a:spLocks noGrp="1" noRot="1" noChangeAspect="1"/>
          </p:cNvSpPr>
          <p:nvPr>
            <p:ph type="sldImg" idx="2"/>
          </p:nvPr>
        </p:nvSpPr>
        <p:spPr>
          <a:xfrm>
            <a:off x="9294283" y="642938"/>
            <a:ext cx="3086100" cy="1735931"/>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167467" y="2475309"/>
            <a:ext cx="17339733" cy="202525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4885432"/>
            <a:ext cx="9392356" cy="258068"/>
          </a:xfrm>
          <a:prstGeom prst="rect">
            <a:avLst/>
          </a:prstGeom>
        </p:spPr>
        <p:txBody>
          <a:bodyPr vert="horz" lIns="91440" tIns="45720" rIns="91440" bIns="45720" rtlCol="0" anchor="b"/>
          <a:lstStyle>
            <a:lvl1pPr algn="l">
              <a:defRPr sz="1200"/>
            </a:lvl1pPr>
          </a:lstStyle>
          <a:p>
            <a:r>
              <a:rPr lang="en-US"/>
              <a:t>UNIT IV : Pythonic Programming Paradigm</a:t>
            </a:r>
          </a:p>
        </p:txBody>
      </p:sp>
      <p:sp>
        <p:nvSpPr>
          <p:cNvPr id="7" name="Slide Number Placeholder 6"/>
          <p:cNvSpPr>
            <a:spLocks noGrp="1"/>
          </p:cNvSpPr>
          <p:nvPr>
            <p:ph type="sldNum" sz="quarter" idx="5"/>
          </p:nvPr>
        </p:nvSpPr>
        <p:spPr>
          <a:xfrm>
            <a:off x="12277295" y="4885432"/>
            <a:ext cx="9392356" cy="258068"/>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extLst>
      <p:ext uri="{BB962C8B-B14F-4D97-AF65-F5344CB8AC3E}">
        <p14:creationId xmlns:p14="http://schemas.microsoft.com/office/powerpoint/2010/main" val="3940708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extLst>
      <p:ext uri="{BB962C8B-B14F-4D97-AF65-F5344CB8AC3E}">
        <p14:creationId xmlns:p14="http://schemas.microsoft.com/office/powerpoint/2010/main" val="35426775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extLst>
      <p:ext uri="{BB962C8B-B14F-4D97-AF65-F5344CB8AC3E}">
        <p14:creationId xmlns:p14="http://schemas.microsoft.com/office/powerpoint/2010/main" val="21546377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extLst>
      <p:ext uri="{BB962C8B-B14F-4D97-AF65-F5344CB8AC3E}">
        <p14:creationId xmlns:p14="http://schemas.microsoft.com/office/powerpoint/2010/main" val="35734717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extLst>
      <p:ext uri="{BB962C8B-B14F-4D97-AF65-F5344CB8AC3E}">
        <p14:creationId xmlns:p14="http://schemas.microsoft.com/office/powerpoint/2010/main" val="3043307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extLst>
      <p:ext uri="{BB962C8B-B14F-4D97-AF65-F5344CB8AC3E}">
        <p14:creationId xmlns:p14="http://schemas.microsoft.com/office/powerpoint/2010/main" val="17428769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294813" y="642938"/>
            <a:ext cx="3086100" cy="1736725"/>
          </a:xfrm>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74725" y="2606675"/>
            <a:ext cx="7804150" cy="2468563"/>
          </a:xfrm>
          <a:prstGeom prst="rect">
            <a:avLst/>
          </a:prstGeom>
        </p:spPr>
        <p:txBody>
          <a:bodyPr>
            <a:normAutofit/>
          </a:bodyPr>
          <a:lstStyle/>
          <a:p>
            <a:endParaRPr dirty="0"/>
          </a:p>
        </p:txBody>
      </p:sp>
      <p:sp>
        <p:nvSpPr>
          <p:cNvPr id="3" name="Footer Placeholder 2"/>
          <p:cNvSpPr>
            <a:spLocks noGrp="1"/>
          </p:cNvSpPr>
          <p:nvPr>
            <p:ph type="ftr" sz="quarter" idx="4"/>
          </p:nvPr>
        </p:nvSpPr>
        <p:spPr/>
        <p:txBody>
          <a:bodyPr/>
          <a:lstStyle/>
          <a:p>
            <a:r>
              <a:rPr lang="en-US"/>
              <a:t>UNIT IV : Pythonic Programming Paradigm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t>UNIT IV : Pythonic Programming Paradigm</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10103"/>
                </a:solidFill>
                <a:latin typeface="Arial" panose="020B0604020202020204"/>
                <a:cs typeface="Arial" panose="020B0604020202020204"/>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t>UNIT IV : Pythonic Programming Paradigm</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400" b="1" i="0">
                <a:solidFill>
                  <a:srgbClr val="010103"/>
                </a:solidFill>
                <a:latin typeface="Arial" panose="020B0604020202020204"/>
                <a:cs typeface="Arial" panose="020B0604020202020204"/>
              </a:defRPr>
            </a:lvl1pPr>
          </a:lstStyle>
          <a:p>
            <a:endParaRPr/>
          </a:p>
        </p:txBody>
      </p:sp>
      <p:sp>
        <p:nvSpPr>
          <p:cNvPr id="3" name="Holder 3"/>
          <p:cNvSpPr>
            <a:spLocks noGrp="1"/>
          </p:cNvSpPr>
          <p:nvPr>
            <p:ph sz="half" idx="2"/>
          </p:nvPr>
        </p:nvSpPr>
        <p:spPr>
          <a:xfrm>
            <a:off x="1825625" y="1419759"/>
            <a:ext cx="4025265" cy="3994150"/>
          </a:xfrm>
          <a:prstGeom prst="rect">
            <a:avLst/>
          </a:prstGeom>
        </p:spPr>
        <p:txBody>
          <a:bodyPr wrap="square" lIns="0" tIns="0" rIns="0" bIns="0">
            <a:spAutoFit/>
          </a:bodyPr>
          <a:lstStyle>
            <a:lvl1pPr>
              <a:defRPr sz="2800" b="1"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sz="half" idx="3"/>
          </p:nvPr>
        </p:nvSpPr>
        <p:spPr>
          <a:xfrm>
            <a:off x="6245225" y="1721383"/>
            <a:ext cx="4559934" cy="4127500"/>
          </a:xfrm>
          <a:prstGeom prst="rect">
            <a:avLst/>
          </a:prstGeom>
        </p:spPr>
        <p:txBody>
          <a:bodyPr wrap="square" lIns="0" tIns="0" rIns="0" bIns="0">
            <a:spAutoFit/>
          </a:bodyPr>
          <a:lstStyle>
            <a:lvl1pPr>
              <a:defRPr sz="2800" b="1" i="0">
                <a:solidFill>
                  <a:schemeClr val="tx1"/>
                </a:solidFill>
                <a:latin typeface="Times New Roman" panose="02020603050405020304"/>
                <a:cs typeface="Times New Roman" panose="02020603050405020304"/>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t>UNIT IV : Pythonic Programming Paradigm</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10103"/>
                </a:solidFill>
                <a:latin typeface="Arial" panose="020B0604020202020204"/>
                <a:cs typeface="Arial" panose="020B06040202020202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r>
              <a:t>UNIT IV : Pythonic Programming Paradigm</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t>UNIT IV : Pythonic Programming Paradigm</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hf hd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9740" y="34162"/>
            <a:ext cx="4619625" cy="391159"/>
          </a:xfrm>
          <a:prstGeom prst="rect">
            <a:avLst/>
          </a:prstGeom>
        </p:spPr>
        <p:txBody>
          <a:bodyPr wrap="square" lIns="0" tIns="0" rIns="0" bIns="0">
            <a:spAutoFit/>
          </a:bodyPr>
          <a:lstStyle>
            <a:lvl1pPr>
              <a:defRPr sz="2400" b="1" i="0">
                <a:solidFill>
                  <a:srgbClr val="010103"/>
                </a:solidFill>
                <a:latin typeface="Arial" panose="020B0604020202020204"/>
                <a:cs typeface="Arial" panose="020B0604020202020204"/>
              </a:defRPr>
            </a:lvl1pPr>
          </a:lstStyle>
          <a:p>
            <a:endParaRPr/>
          </a:p>
        </p:txBody>
      </p:sp>
      <p:sp>
        <p:nvSpPr>
          <p:cNvPr id="3" name="Holder 3"/>
          <p:cNvSpPr>
            <a:spLocks noGrp="1"/>
          </p:cNvSpPr>
          <p:nvPr>
            <p:ph type="body" idx="1"/>
          </p:nvPr>
        </p:nvSpPr>
        <p:spPr>
          <a:xfrm>
            <a:off x="925859" y="1809572"/>
            <a:ext cx="10340280" cy="2889885"/>
          </a:xfrm>
          <a:prstGeom prst="rect">
            <a:avLst/>
          </a:prstGeom>
        </p:spPr>
        <p:txBody>
          <a:bodyPr wrap="square" lIns="0" tIns="0" rIns="0" bIns="0">
            <a:spAutoFit/>
          </a:bodyPr>
          <a:lstStyle>
            <a:lvl1pPr>
              <a:defRPr sz="24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r>
              <a:t>UNIT IV : Pythonic Programming Paradigm</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10/25/2023</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hyperlink" Target="https://en.wikipedia.org/wiki/Denotational_semantics" TargetMode="External"/><Relationship Id="rId13" Type="http://schemas.openxmlformats.org/officeDocument/2006/relationships/hyperlink" Target="https://en.wikipedia.org/wiki/Local_variable" TargetMode="External"/><Relationship Id="rId3" Type="http://schemas.openxmlformats.org/officeDocument/2006/relationships/hyperlink" Target="https://en.wikipedia.org/wiki/Computation" TargetMode="External"/><Relationship Id="rId7" Type="http://schemas.openxmlformats.org/officeDocument/2006/relationships/hyperlink" Target="https://en.wikipedia.org/wiki/Lambda_calculus" TargetMode="External"/><Relationship Id="rId12" Type="http://schemas.openxmlformats.org/officeDocument/2006/relationships/hyperlink" Target="https://en.wikipedia.org/wiki/Modular_programming" TargetMode="External"/><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hyperlink" Target="https://en.wikipedia.org/wiki/Immutable_object" TargetMode="External"/><Relationship Id="rId11" Type="http://schemas.openxmlformats.org/officeDocument/2006/relationships/hyperlink" Target="https://en.wikipedia.org/wiki/Referential_transparency" TargetMode="External"/><Relationship Id="rId5" Type="http://schemas.openxmlformats.org/officeDocument/2006/relationships/hyperlink" Target="https://en.wikipedia.org/wiki/Program_state" TargetMode="External"/><Relationship Id="rId10" Type="http://schemas.openxmlformats.org/officeDocument/2006/relationships/hyperlink" Target="https://en.wikipedia.org/wiki/Recursion_(computer_science)" TargetMode="External"/><Relationship Id="rId4" Type="http://schemas.openxmlformats.org/officeDocument/2006/relationships/hyperlink" Target="https://en.wikipedia.org/wiki/Function_(mathematics)" TargetMode="External"/><Relationship Id="rId9" Type="http://schemas.openxmlformats.org/officeDocument/2006/relationships/hyperlink" Target="https://en.wikipedia.org/wiki/Formula" TargetMode="External"/><Relationship Id="rId14" Type="http://schemas.openxmlformats.org/officeDocument/2006/relationships/hyperlink" Target="https://en.wikipedia.org/wiki/Iteration"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6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2"/>
          </p:nvPr>
        </p:nvPicPr>
        <p:blipFill>
          <a:blip r:embed="rId3"/>
          <a:stretch>
            <a:fillRect/>
          </a:stretch>
        </p:blipFill>
        <p:spPr>
          <a:xfrm>
            <a:off x="80010" y="546735"/>
            <a:ext cx="4763135" cy="5772785"/>
          </a:xfrm>
          <a:prstGeom prst="rect">
            <a:avLst/>
          </a:prstGeom>
        </p:spPr>
      </p:pic>
      <p:sp>
        <p:nvSpPr>
          <p:cNvPr id="4" name="object 3"/>
          <p:cNvSpPr txBox="1">
            <a:spLocks noGrp="1"/>
          </p:cNvSpPr>
          <p:nvPr>
            <p:ph type="title"/>
          </p:nvPr>
        </p:nvSpPr>
        <p:spPr>
          <a:xfrm>
            <a:off x="5121275" y="1742440"/>
            <a:ext cx="6823075" cy="2940050"/>
          </a:xfrm>
          <a:prstGeom prst="rect">
            <a:avLst/>
          </a:prstGeom>
        </p:spPr>
        <p:txBody>
          <a:bodyPr vert="horz" wrap="square" lIns="0" tIns="12700" rIns="0" bIns="0" rtlCol="0">
            <a:noAutofit/>
          </a:bodyPr>
          <a:lstStyle/>
          <a:p>
            <a:pPr marL="12700" algn="ctr">
              <a:lnSpc>
                <a:spcPct val="100000"/>
              </a:lnSpc>
              <a:spcBef>
                <a:spcPts val="100"/>
              </a:spcBef>
            </a:pPr>
            <a:r>
              <a:rPr lang="en-IN" sz="2800" dirty="0">
                <a:solidFill>
                  <a:schemeClr val="tx1"/>
                </a:solidFill>
                <a:latin typeface="Candara" panose="020E0502030303020204" pitchFamily="34" charset="0"/>
                <a:sym typeface="+mn-ea"/>
              </a:rPr>
              <a:t>21CSC203P</a:t>
            </a:r>
            <a:r>
              <a:rPr lang="en-US" sz="2800" dirty="0">
                <a:solidFill>
                  <a:schemeClr val="tx1"/>
                </a:solidFill>
                <a:latin typeface="Candara" panose="020E0502030303020204" pitchFamily="34" charset="0"/>
                <a:sym typeface="+mn-ea"/>
              </a:rPr>
              <a:t> -</a:t>
            </a:r>
            <a:r>
              <a:rPr lang="en-GB" altLang="en-US" sz="2800" dirty="0">
                <a:solidFill>
                  <a:schemeClr val="tx1"/>
                </a:solidFill>
                <a:latin typeface="Candara" panose="020E0502030303020204" pitchFamily="34" charset="0"/>
                <a:sym typeface="+mn-ea"/>
              </a:rPr>
              <a:t> </a:t>
            </a:r>
            <a:br>
              <a:rPr lang="en-GB" altLang="en-US" sz="2800" dirty="0">
                <a:solidFill>
                  <a:schemeClr val="tx1"/>
                </a:solidFill>
                <a:latin typeface="Candara" panose="020E0502030303020204" pitchFamily="34" charset="0"/>
                <a:sym typeface="+mn-ea"/>
              </a:rPr>
            </a:br>
            <a:r>
              <a:rPr lang="en-IN" sz="2800" dirty="0">
                <a:solidFill>
                  <a:schemeClr val="tx1"/>
                </a:solidFill>
                <a:latin typeface="Candara" panose="020E0502030303020204" pitchFamily="34" charset="0"/>
                <a:sym typeface="+mn-ea"/>
              </a:rPr>
              <a:t>Advanced Programming Pract</a:t>
            </a:r>
            <a:r>
              <a:rPr lang="en-GB" altLang="en-IN" sz="2800" dirty="0">
                <a:solidFill>
                  <a:schemeClr val="tx1"/>
                </a:solidFill>
                <a:latin typeface="Candara" panose="020E0502030303020204" pitchFamily="34" charset="0"/>
                <a:sym typeface="+mn-ea"/>
              </a:rPr>
              <a:t>ice  </a:t>
            </a:r>
            <a:br>
              <a:rPr lang="en-GB" altLang="en-IN" sz="2800" dirty="0">
                <a:solidFill>
                  <a:schemeClr val="tx1"/>
                </a:solidFill>
                <a:latin typeface="Candara" panose="020E0502030303020204" pitchFamily="34" charset="0"/>
                <a:sym typeface="+mn-ea"/>
              </a:rPr>
            </a:br>
            <a:r>
              <a:rPr lang="en-IN" sz="3200" dirty="0">
                <a:solidFill>
                  <a:schemeClr val="tx1"/>
                </a:solidFill>
                <a:latin typeface="Candara" panose="020E0502030303020204" pitchFamily="34" charset="0"/>
                <a:sym typeface="+mn-ea"/>
              </a:rPr>
              <a:t>Unit-</a:t>
            </a:r>
            <a:r>
              <a:rPr lang="en-GB" altLang="en-IN" sz="3200" dirty="0">
                <a:solidFill>
                  <a:schemeClr val="tx1"/>
                </a:solidFill>
                <a:latin typeface="Candara" panose="020E0502030303020204" pitchFamily="34" charset="0"/>
                <a:sym typeface="+mn-ea"/>
              </a:rPr>
              <a:t>4 : </a:t>
            </a:r>
            <a:br>
              <a:rPr lang="en-GB" altLang="en-IN" sz="3200" dirty="0">
                <a:solidFill>
                  <a:schemeClr val="tx1"/>
                </a:solidFill>
                <a:latin typeface="Candara" panose="020E0502030303020204" pitchFamily="34" charset="0"/>
                <a:sym typeface="+mn-ea"/>
              </a:rPr>
            </a:br>
            <a:r>
              <a:rPr lang="en-GB" altLang="en-IN" sz="3200" dirty="0">
                <a:solidFill>
                  <a:schemeClr val="tx1"/>
                </a:solidFill>
                <a:latin typeface="Candara" panose="020E0502030303020204" pitchFamily="34" charset="0"/>
                <a:sym typeface="+mn-ea"/>
              </a:rPr>
              <a:t>PYTHONIC PROGRAMMING PARADIGM</a:t>
            </a:r>
            <a:br>
              <a:rPr lang="en-GB" altLang="en-IN" sz="3200" dirty="0">
                <a:solidFill>
                  <a:schemeClr val="tx1"/>
                </a:solidFill>
                <a:latin typeface="Candara" panose="020E0502030303020204" pitchFamily="34" charset="0"/>
                <a:sym typeface="+mn-ea"/>
              </a:rPr>
            </a:br>
            <a:endParaRPr lang="en-GB" altLang="en-IN" sz="3200" dirty="0">
              <a:solidFill>
                <a:schemeClr val="tx1"/>
              </a:solidFill>
              <a:latin typeface="Candara" panose="020E0502030303020204" pitchFamily="34" charset="0"/>
              <a:sym typeface="+mn-ea"/>
            </a:endParaRPr>
          </a:p>
        </p:txBody>
      </p:sp>
      <p:sp>
        <p:nvSpPr>
          <p:cNvPr id="6" name="Slide Number Placeholder 5"/>
          <p:cNvSpPr>
            <a:spLocks noGrp="1"/>
          </p:cNvSpPr>
          <p:nvPr>
            <p:ph type="sldNum" sz="quarter" idx="7"/>
          </p:nvPr>
        </p:nvSpPr>
        <p:spPr/>
        <p:txBody>
          <a:bodyPr/>
          <a:lstStyle/>
          <a:p>
            <a:fld id="{B6F15528-21DE-4FAA-801E-634DDDAF4B2B}" type="slidenum">
              <a:rPr/>
              <a:t>1</a:t>
            </a:fld>
            <a:endParaRP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97710" y="76200"/>
            <a:ext cx="994290" cy="989871"/>
          </a:xfrm>
          <a:prstGeom prst="rect">
            <a:avLst/>
          </a:prstGeom>
        </p:spPr>
      </p:pic>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990600" y="685800"/>
            <a:ext cx="10607040" cy="5521960"/>
          </a:xfrm>
          <a:prstGeom prst="rect">
            <a:avLst/>
          </a:prstGeom>
        </p:spPr>
        <p:txBody>
          <a:bodyPr vert="horz" wrap="square" lIns="0" tIns="12700" rIns="0" bIns="0" rtlCol="0">
            <a:spAutoFit/>
          </a:bodyPr>
          <a:lstStyle/>
          <a:p>
            <a:pPr marL="12700" marR="5080">
              <a:lnSpc>
                <a:spcPct val="100000"/>
              </a:lnSpc>
              <a:spcBef>
                <a:spcPts val="100"/>
              </a:spcBef>
            </a:pPr>
            <a:r>
              <a:rPr lang="en-GB" sz="3500" dirty="0">
                <a:latin typeface="Times New Roman" panose="02020603050405020304"/>
                <a:cs typeface="Times New Roman" panose="02020603050405020304"/>
              </a:rPr>
              <a:t>Outline of the course</a:t>
            </a:r>
            <a:br>
              <a:rPr lang="en-GB" sz="3500" dirty="0">
                <a:latin typeface="Times New Roman" panose="02020603050405020304"/>
                <a:cs typeface="Times New Roman" panose="02020603050405020304"/>
              </a:rPr>
            </a:br>
            <a:r>
              <a:rPr lang="en-GB" sz="3500" dirty="0">
                <a:latin typeface="Times New Roman" panose="02020603050405020304"/>
                <a:cs typeface="Times New Roman" panose="02020603050405020304"/>
              </a:rPr>
              <a:t/>
            </a:r>
            <a:br>
              <a:rPr lang="en-GB" sz="3500" dirty="0">
                <a:latin typeface="Times New Roman" panose="02020603050405020304"/>
                <a:cs typeface="Times New Roman" panose="02020603050405020304"/>
              </a:rPr>
            </a:br>
            <a:r>
              <a:rPr lang="en-GB" dirty="0">
                <a:solidFill>
                  <a:schemeClr val="tx2"/>
                </a:solidFill>
                <a:latin typeface="Times New Roman" panose="02020603050405020304"/>
                <a:cs typeface="Times New Roman" panose="02020603050405020304"/>
              </a:rPr>
              <a:t>Functional Programming Paradigm:  </a:t>
            </a:r>
            <a:br>
              <a:rPr lang="en-GB" dirty="0">
                <a:solidFill>
                  <a:schemeClr val="tx2"/>
                </a:solidFill>
                <a:latin typeface="Times New Roman" panose="02020603050405020304"/>
                <a:cs typeface="Times New Roman" panose="02020603050405020304"/>
              </a:rPr>
            </a:br>
            <a:r>
              <a:rPr lang="en-GB" dirty="0">
                <a:solidFill>
                  <a:schemeClr val="tx2"/>
                </a:solidFill>
                <a:latin typeface="Times New Roman" panose="02020603050405020304"/>
                <a:cs typeface="Times New Roman" panose="02020603050405020304"/>
              </a:rPr>
              <a:t>		Concepts,  </a:t>
            </a:r>
            <a:br>
              <a:rPr lang="en-GB" dirty="0">
                <a:solidFill>
                  <a:schemeClr val="tx2"/>
                </a:solidFill>
                <a:latin typeface="Times New Roman" panose="02020603050405020304"/>
                <a:cs typeface="Times New Roman" panose="02020603050405020304"/>
              </a:rPr>
            </a:br>
            <a:r>
              <a:rPr lang="en-GB" dirty="0">
                <a:solidFill>
                  <a:schemeClr val="tx2"/>
                </a:solidFill>
                <a:latin typeface="Times New Roman" panose="02020603050405020304"/>
                <a:cs typeface="Times New Roman" panose="02020603050405020304"/>
              </a:rPr>
              <a:t>		</a:t>
            </a:r>
            <a:r>
              <a:rPr lang="en-GB" dirty="0" err="1">
                <a:solidFill>
                  <a:schemeClr val="tx2"/>
                </a:solidFill>
                <a:latin typeface="Times New Roman" panose="02020603050405020304"/>
                <a:cs typeface="Times New Roman" panose="02020603050405020304"/>
              </a:rPr>
              <a:t>PureFunction</a:t>
            </a:r>
            <a:r>
              <a:rPr lang="en-GB" dirty="0">
                <a:solidFill>
                  <a:schemeClr val="tx2"/>
                </a:solidFill>
                <a:latin typeface="Times New Roman" panose="02020603050405020304"/>
                <a:cs typeface="Times New Roman" panose="02020603050405020304"/>
              </a:rPr>
              <a:t> and Built-in Higher-Order Functions; </a:t>
            </a:r>
            <a:br>
              <a:rPr lang="en-GB" dirty="0">
                <a:solidFill>
                  <a:schemeClr val="tx2"/>
                </a:solidFill>
                <a:latin typeface="Times New Roman" panose="02020603050405020304"/>
                <a:cs typeface="Times New Roman" panose="02020603050405020304"/>
              </a:rPr>
            </a:br>
            <a:r>
              <a:rPr lang="en-GB" dirty="0">
                <a:solidFill>
                  <a:schemeClr val="tx2"/>
                </a:solidFill>
                <a:latin typeface="Times New Roman" panose="02020603050405020304"/>
                <a:cs typeface="Times New Roman" panose="02020603050405020304"/>
              </a:rPr>
              <a:t>Logic Programming Paradigm: </a:t>
            </a:r>
            <a:br>
              <a:rPr lang="en-GB" dirty="0">
                <a:solidFill>
                  <a:schemeClr val="tx2"/>
                </a:solidFill>
                <a:latin typeface="Times New Roman" panose="02020603050405020304"/>
                <a:cs typeface="Times New Roman" panose="02020603050405020304"/>
              </a:rPr>
            </a:br>
            <a:r>
              <a:rPr lang="en-GB" dirty="0">
                <a:solidFill>
                  <a:schemeClr val="tx2"/>
                </a:solidFill>
                <a:latin typeface="Times New Roman" panose="02020603050405020304"/>
                <a:cs typeface="Times New Roman" panose="02020603050405020304"/>
              </a:rPr>
              <a:t>		Structures, Logic, and Control</a:t>
            </a:r>
            <a:br>
              <a:rPr lang="en-GB" dirty="0">
                <a:solidFill>
                  <a:schemeClr val="tx2"/>
                </a:solidFill>
                <a:latin typeface="Times New Roman" panose="02020603050405020304"/>
                <a:cs typeface="Times New Roman" panose="02020603050405020304"/>
              </a:rPr>
            </a:br>
            <a:r>
              <a:rPr lang="en-GB" dirty="0">
                <a:solidFill>
                  <a:schemeClr val="tx2"/>
                </a:solidFill>
                <a:latin typeface="Times New Roman" panose="02020603050405020304"/>
                <a:cs typeface="Times New Roman" panose="02020603050405020304"/>
              </a:rPr>
              <a:t>Parallel Programming Paradigm:</a:t>
            </a:r>
            <a:br>
              <a:rPr lang="en-GB" dirty="0">
                <a:solidFill>
                  <a:schemeClr val="tx2"/>
                </a:solidFill>
                <a:latin typeface="Times New Roman" panose="02020603050405020304"/>
                <a:cs typeface="Times New Roman" panose="02020603050405020304"/>
              </a:rPr>
            </a:br>
            <a:r>
              <a:rPr lang="en-GB" dirty="0">
                <a:solidFill>
                  <a:schemeClr val="tx2"/>
                </a:solidFill>
                <a:latin typeface="Times New Roman" panose="02020603050405020304"/>
                <a:cs typeface="Times New Roman" panose="02020603050405020304"/>
              </a:rPr>
              <a:t>		 Shared and Distributed memory</a:t>
            </a:r>
            <a:br>
              <a:rPr lang="en-GB" dirty="0">
                <a:solidFill>
                  <a:schemeClr val="tx2"/>
                </a:solidFill>
                <a:latin typeface="Times New Roman" panose="02020603050405020304"/>
                <a:cs typeface="Times New Roman" panose="02020603050405020304"/>
              </a:rPr>
            </a:br>
            <a:r>
              <a:rPr lang="en-GB" dirty="0">
                <a:solidFill>
                  <a:schemeClr val="tx2"/>
                </a:solidFill>
                <a:latin typeface="Times New Roman" panose="02020603050405020304"/>
                <a:cs typeface="Times New Roman" panose="02020603050405020304"/>
              </a:rPr>
              <a:t>		 Multi-Processing – </a:t>
            </a:r>
            <a:r>
              <a:rPr lang="en-GB" dirty="0" err="1">
                <a:solidFill>
                  <a:schemeClr val="tx2"/>
                </a:solidFill>
                <a:latin typeface="Times New Roman" panose="02020603050405020304"/>
                <a:cs typeface="Times New Roman" panose="02020603050405020304"/>
              </a:rPr>
              <a:t>Ipython</a:t>
            </a:r>
            <a:r>
              <a:rPr lang="en-GB" dirty="0">
                <a:solidFill>
                  <a:schemeClr val="tx2"/>
                </a:solidFill>
                <a:latin typeface="Times New Roman" panose="02020603050405020304"/>
                <a:cs typeface="Times New Roman" panose="02020603050405020304"/>
              </a:rPr>
              <a:t/>
            </a:r>
            <a:br>
              <a:rPr lang="en-GB" dirty="0">
                <a:solidFill>
                  <a:schemeClr val="tx2"/>
                </a:solidFill>
                <a:latin typeface="Times New Roman" panose="02020603050405020304"/>
                <a:cs typeface="Times New Roman" panose="02020603050405020304"/>
              </a:rPr>
            </a:br>
            <a:r>
              <a:rPr lang="en-GB" dirty="0">
                <a:solidFill>
                  <a:schemeClr val="tx2"/>
                </a:solidFill>
                <a:latin typeface="Times New Roman" panose="02020603050405020304"/>
                <a:cs typeface="Times New Roman" panose="02020603050405020304"/>
              </a:rPr>
              <a:t>Network Programming Paradigm: </a:t>
            </a:r>
            <a:br>
              <a:rPr lang="en-GB" dirty="0">
                <a:solidFill>
                  <a:schemeClr val="tx2"/>
                </a:solidFill>
                <a:latin typeface="Times New Roman" panose="02020603050405020304"/>
                <a:cs typeface="Times New Roman" panose="02020603050405020304"/>
              </a:rPr>
            </a:br>
            <a:r>
              <a:rPr lang="en-GB" dirty="0">
                <a:solidFill>
                  <a:schemeClr val="tx2"/>
                </a:solidFill>
                <a:latin typeface="Times New Roman" panose="02020603050405020304"/>
                <a:cs typeface="Times New Roman" panose="02020603050405020304"/>
              </a:rPr>
              <a:t>		Socket; Socket Types;</a:t>
            </a:r>
            <a:br>
              <a:rPr lang="en-GB" dirty="0">
                <a:solidFill>
                  <a:schemeClr val="tx2"/>
                </a:solidFill>
                <a:latin typeface="Times New Roman" panose="02020603050405020304"/>
                <a:cs typeface="Times New Roman" panose="02020603050405020304"/>
              </a:rPr>
            </a:br>
            <a:r>
              <a:rPr lang="en-GB" dirty="0">
                <a:solidFill>
                  <a:schemeClr val="tx2"/>
                </a:solidFill>
                <a:latin typeface="Times New Roman" panose="02020603050405020304"/>
                <a:cs typeface="Times New Roman" panose="02020603050405020304"/>
              </a:rPr>
              <a:t>		Creation and Configuration of Sockets in TCP / UDP – Client /</a:t>
            </a:r>
            <a:br>
              <a:rPr lang="en-GB" dirty="0">
                <a:solidFill>
                  <a:schemeClr val="tx2"/>
                </a:solidFill>
                <a:latin typeface="Times New Roman" panose="02020603050405020304"/>
                <a:cs typeface="Times New Roman" panose="02020603050405020304"/>
              </a:rPr>
            </a:br>
            <a:r>
              <a:rPr lang="en-GB" dirty="0">
                <a:solidFill>
                  <a:schemeClr val="tx2"/>
                </a:solidFill>
                <a:latin typeface="Times New Roman" panose="02020603050405020304"/>
                <a:cs typeface="Times New Roman" panose="02020603050405020304"/>
              </a:rPr>
              <a:t>                        </a:t>
            </a:r>
            <a:r>
              <a:rPr lang="en-GB" dirty="0" smtClean="0">
                <a:solidFill>
                  <a:schemeClr val="tx2"/>
                </a:solidFill>
                <a:latin typeface="Times New Roman" panose="02020603050405020304"/>
                <a:cs typeface="Times New Roman" panose="02020603050405020304"/>
              </a:rPr>
              <a:t>Server </a:t>
            </a:r>
            <a:r>
              <a:rPr lang="en-GB" dirty="0">
                <a:solidFill>
                  <a:schemeClr val="tx2"/>
                </a:solidFill>
                <a:latin typeface="Times New Roman" panose="02020603050405020304"/>
                <a:cs typeface="Times New Roman" panose="02020603050405020304"/>
              </a:rPr>
              <a:t>Model</a:t>
            </a:r>
          </a:p>
        </p:txBody>
      </p:sp>
      <p:sp>
        <p:nvSpPr>
          <p:cNvPr id="6" name="Slide Number Placeholder 5"/>
          <p:cNvSpPr>
            <a:spLocks noGrp="1"/>
          </p:cNvSpPr>
          <p:nvPr>
            <p:ph type="sldNum" sz="quarter" idx="7"/>
          </p:nvPr>
        </p:nvSpPr>
        <p:spPr/>
        <p:txBody>
          <a:bodyPr/>
          <a:lstStyle/>
          <a:p>
            <a:fld id="{B6F15528-21DE-4FAA-801E-634DDDAF4B2B}" type="slidenum">
              <a:rPr/>
              <a:t>2</a:t>
            </a:fld>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97710" y="0"/>
            <a:ext cx="994290" cy="989871"/>
          </a:xfrm>
          <a:prstGeom prst="rect">
            <a:avLst/>
          </a:prstGeom>
        </p:spPr>
      </p:pic>
      <p:sp>
        <p:nvSpPr>
          <p:cNvPr id="9" name="Footer Placeholder 8"/>
          <p:cNvSpPr>
            <a:spLocks noGrp="1"/>
          </p:cNvSpPr>
          <p:nvPr>
            <p:ph type="ftr" sz="quarter" idx="5"/>
          </p:nvPr>
        </p:nvSpPr>
        <p:spPr/>
        <p:txBody>
          <a:bodyPr/>
          <a:lstStyle/>
          <a:p>
            <a:r>
              <a:t>UNIT IV : Pythonic Programming Paradigm</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602635"/>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125732" y="45958"/>
            <a:ext cx="3141660" cy="444994"/>
          </a:xfrm>
          <a:prstGeom prst="rect">
            <a:avLst/>
          </a:prstGeom>
        </p:spPr>
        <p:txBody>
          <a:bodyPr vert="horz" wrap="square" lIns="0" tIns="13970" rIns="0" bIns="0" rtlCol="0">
            <a:spAutoFit/>
          </a:bodyPr>
          <a:lstStyle/>
          <a:p>
            <a:pPr marL="12700">
              <a:lnSpc>
                <a:spcPct val="100000"/>
              </a:lnSpc>
              <a:spcBef>
                <a:spcPts val="110"/>
              </a:spcBef>
            </a:pPr>
            <a:r>
              <a:rPr sz="2800" dirty="0"/>
              <a:t>Introduction</a:t>
            </a:r>
            <a:endParaRPr sz="2800"/>
          </a:p>
        </p:txBody>
      </p:sp>
      <p:sp>
        <p:nvSpPr>
          <p:cNvPr id="6" name="object 6"/>
          <p:cNvSpPr txBox="1"/>
          <p:nvPr/>
        </p:nvSpPr>
        <p:spPr>
          <a:xfrm>
            <a:off x="647835" y="649297"/>
            <a:ext cx="10896600" cy="6106800"/>
          </a:xfrm>
          <a:prstGeom prst="rect">
            <a:avLst/>
          </a:prstGeom>
        </p:spPr>
        <p:txBody>
          <a:bodyPr vert="horz" wrap="square" lIns="0" tIns="12700" rIns="0" bIns="0" rtlCol="0">
            <a:spAutoFit/>
          </a:bodyPr>
          <a:lstStyle/>
          <a:p>
            <a:pPr marL="298450" marR="10160" indent="-252730" algn="just">
              <a:lnSpc>
                <a:spcPct val="150000"/>
              </a:lnSpc>
              <a:buFont typeface="Arial MT"/>
              <a:buChar char="•"/>
              <a:tabLst>
                <a:tab pos="298450" algn="l"/>
              </a:tabLst>
            </a:pPr>
            <a:r>
              <a:rPr sz="2200" spc="-5" dirty="0">
                <a:latin typeface="Times New Roman" panose="02020603050405020304" pitchFamily="18" charset="0"/>
                <a:cs typeface="Times New Roman" panose="02020603050405020304" pitchFamily="18" charset="0"/>
              </a:rPr>
              <a:t>Functional programming is </a:t>
            </a:r>
            <a:r>
              <a:rPr sz="2200" dirty="0">
                <a:latin typeface="Times New Roman" panose="02020603050405020304" pitchFamily="18" charset="0"/>
                <a:cs typeface="Times New Roman" panose="02020603050405020304" pitchFamily="18" charset="0"/>
              </a:rPr>
              <a:t>a </a:t>
            </a:r>
            <a:r>
              <a:rPr sz="2200" spc="-5" dirty="0">
                <a:latin typeface="Times New Roman" panose="02020603050405020304" pitchFamily="18" charset="0"/>
                <a:cs typeface="Times New Roman" panose="02020603050405020304" pitchFamily="18" charset="0"/>
              </a:rPr>
              <a:t>programming paradigm in which it is tried to </a:t>
            </a:r>
            <a:r>
              <a:rPr sz="2200" b="1" spc="-5" dirty="0">
                <a:solidFill>
                  <a:srgbClr val="C00000"/>
                </a:solidFill>
                <a:latin typeface="Times New Roman" panose="02020603050405020304" pitchFamily="18" charset="0"/>
                <a:cs typeface="Times New Roman" panose="02020603050405020304" pitchFamily="18" charset="0"/>
              </a:rPr>
              <a:t>bind each </a:t>
            </a:r>
            <a:r>
              <a:rPr sz="2200" b="1" dirty="0">
                <a:solidFill>
                  <a:srgbClr val="C00000"/>
                </a:solidFill>
                <a:latin typeface="Times New Roman" panose="02020603050405020304" pitchFamily="18" charset="0"/>
                <a:cs typeface="Times New Roman" panose="02020603050405020304" pitchFamily="18" charset="0"/>
              </a:rPr>
              <a:t>and </a:t>
            </a:r>
            <a:r>
              <a:rPr sz="2200" b="1" spc="-5" dirty="0">
                <a:solidFill>
                  <a:srgbClr val="C00000"/>
                </a:solidFill>
                <a:latin typeface="Times New Roman" panose="02020603050405020304" pitchFamily="18" charset="0"/>
                <a:cs typeface="Times New Roman" panose="02020603050405020304" pitchFamily="18" charset="0"/>
              </a:rPr>
              <a:t>everything in pure mathematical </a:t>
            </a:r>
            <a:r>
              <a:rPr sz="2200" b="1" dirty="0">
                <a:solidFill>
                  <a:srgbClr val="C00000"/>
                </a:solidFill>
                <a:latin typeface="Times New Roman" panose="02020603050405020304" pitchFamily="18" charset="0"/>
                <a:cs typeface="Times New Roman" panose="02020603050405020304" pitchFamily="18" charset="0"/>
              </a:rPr>
              <a:t> </a:t>
            </a:r>
            <a:r>
              <a:rPr sz="2200" b="1" spc="-5" dirty="0" smtClean="0">
                <a:solidFill>
                  <a:srgbClr val="C00000"/>
                </a:solidFill>
                <a:latin typeface="Times New Roman" panose="02020603050405020304" pitchFamily="18" charset="0"/>
                <a:cs typeface="Times New Roman" panose="02020603050405020304" pitchFamily="18" charset="0"/>
              </a:rPr>
              <a:t>functions</a:t>
            </a:r>
            <a:r>
              <a:rPr sz="2200" spc="-5" dirty="0">
                <a:solidFill>
                  <a:srgbClr val="C00000"/>
                </a:solidFill>
                <a:latin typeface="Times New Roman" panose="02020603050405020304" pitchFamily="18" charset="0"/>
                <a:cs typeface="Times New Roman" panose="02020603050405020304" pitchFamily="18" charset="0"/>
              </a:rPr>
              <a:t>.</a:t>
            </a:r>
            <a:r>
              <a:rPr sz="2200" spc="-10" dirty="0">
                <a:solidFill>
                  <a:srgbClr val="C00000"/>
                </a:solidFill>
                <a:latin typeface="Times New Roman" panose="02020603050405020304" pitchFamily="18" charset="0"/>
                <a:cs typeface="Times New Roman" panose="02020603050405020304" pitchFamily="18" charset="0"/>
              </a:rPr>
              <a:t> </a:t>
            </a:r>
            <a:endParaRPr lang="en-US" sz="2200" spc="-10" dirty="0" smtClean="0">
              <a:solidFill>
                <a:srgbClr val="C00000"/>
              </a:solidFill>
              <a:latin typeface="Times New Roman" panose="02020603050405020304" pitchFamily="18" charset="0"/>
              <a:cs typeface="Times New Roman" panose="02020603050405020304" pitchFamily="18" charset="0"/>
            </a:endParaRPr>
          </a:p>
          <a:p>
            <a:pPr marL="298450" marR="10160" indent="-252730" algn="just">
              <a:lnSpc>
                <a:spcPct val="150000"/>
              </a:lnSpc>
              <a:buFont typeface="Arial MT"/>
              <a:buChar char="•"/>
              <a:tabLst>
                <a:tab pos="298450" algn="l"/>
              </a:tabLst>
            </a:pPr>
            <a:r>
              <a:rPr sz="2200" spc="-5" dirty="0" smtClean="0">
                <a:latin typeface="Times New Roman" panose="02020603050405020304" pitchFamily="18" charset="0"/>
                <a:cs typeface="Times New Roman" panose="02020603050405020304" pitchFamily="18" charset="0"/>
              </a:rPr>
              <a:t>It </a:t>
            </a:r>
            <a:r>
              <a:rPr sz="2200" spc="-5" dirty="0">
                <a:latin typeface="Times New Roman" panose="02020603050405020304" pitchFamily="18" charset="0"/>
                <a:cs typeface="Times New Roman" panose="02020603050405020304" pitchFamily="18" charset="0"/>
              </a:rPr>
              <a:t>is </a:t>
            </a:r>
            <a:r>
              <a:rPr sz="2200" dirty="0">
                <a:latin typeface="Times New Roman" panose="02020603050405020304" pitchFamily="18" charset="0"/>
                <a:cs typeface="Times New Roman" panose="02020603050405020304" pitchFamily="18" charset="0"/>
              </a:rPr>
              <a:t>a</a:t>
            </a:r>
            <a:r>
              <a:rPr sz="2200" spc="-5" dirty="0">
                <a:latin typeface="Times New Roman" panose="02020603050405020304" pitchFamily="18" charset="0"/>
                <a:cs typeface="Times New Roman" panose="02020603050405020304" pitchFamily="18" charset="0"/>
              </a:rPr>
              <a:t> </a:t>
            </a:r>
            <a:r>
              <a:rPr sz="2200" spc="-5" dirty="0" smtClean="0">
                <a:latin typeface="Times New Roman" panose="02020603050405020304" pitchFamily="18" charset="0"/>
                <a:cs typeface="Times New Roman" panose="02020603050405020304" pitchFamily="18" charset="0"/>
              </a:rPr>
              <a:t>declarative type of programming style</a:t>
            </a:r>
            <a:r>
              <a:rPr lang="en-US" sz="2200" spc="-5" dirty="0">
                <a:latin typeface="Times New Roman" panose="02020603050405020304" pitchFamily="18" charset="0"/>
                <a:cs typeface="Times New Roman" panose="02020603050405020304" pitchFamily="18" charset="0"/>
              </a:rPr>
              <a:t>. Its main focus is on “what to solve” in contrast to an imperative style where the main focus is “how to solve”. </a:t>
            </a:r>
            <a:endParaRPr lang="en-US" sz="2200" spc="-5" dirty="0" smtClean="0">
              <a:latin typeface="Times New Roman" panose="02020603050405020304" pitchFamily="18" charset="0"/>
              <a:cs typeface="Times New Roman" panose="02020603050405020304" pitchFamily="18" charset="0"/>
            </a:endParaRPr>
          </a:p>
          <a:p>
            <a:pPr marL="298450" marR="10160" indent="-252730" algn="just">
              <a:lnSpc>
                <a:spcPct val="150000"/>
              </a:lnSpc>
              <a:buFont typeface="Arial MT"/>
              <a:buChar char="•"/>
              <a:tabLst>
                <a:tab pos="298450" algn="l"/>
              </a:tabLst>
            </a:pPr>
            <a:r>
              <a:rPr lang="en-US" sz="2200" spc="-5" dirty="0" smtClean="0">
                <a:latin typeface="Times New Roman" panose="02020603050405020304" pitchFamily="18" charset="0"/>
                <a:cs typeface="Times New Roman" panose="02020603050405020304" pitchFamily="18" charset="0"/>
              </a:rPr>
              <a:t>It </a:t>
            </a:r>
            <a:r>
              <a:rPr lang="en-US" sz="2200" spc="-5" dirty="0">
                <a:latin typeface="Times New Roman" panose="02020603050405020304" pitchFamily="18" charset="0"/>
                <a:cs typeface="Times New Roman" panose="02020603050405020304" pitchFamily="18" charset="0"/>
              </a:rPr>
              <a:t>uses </a:t>
            </a:r>
            <a:r>
              <a:rPr lang="en-US" sz="2200" b="1" spc="-5" dirty="0">
                <a:solidFill>
                  <a:srgbClr val="C00000"/>
                </a:solidFill>
                <a:latin typeface="Times New Roman" panose="02020603050405020304" pitchFamily="18" charset="0"/>
                <a:cs typeface="Times New Roman" panose="02020603050405020304" pitchFamily="18" charset="0"/>
              </a:rPr>
              <a:t>expressions instead of statements</a:t>
            </a:r>
            <a:r>
              <a:rPr lang="en-US" sz="2200" spc="-5" dirty="0">
                <a:latin typeface="Times New Roman" panose="02020603050405020304" pitchFamily="18" charset="0"/>
                <a:cs typeface="Times New Roman" panose="02020603050405020304" pitchFamily="18" charset="0"/>
              </a:rPr>
              <a:t>. </a:t>
            </a:r>
            <a:r>
              <a:rPr lang="en-US" sz="2200" spc="-5" dirty="0" smtClean="0">
                <a:latin typeface="Times New Roman" panose="02020603050405020304" pitchFamily="18" charset="0"/>
                <a:cs typeface="Times New Roman" panose="02020603050405020304" pitchFamily="18" charset="0"/>
              </a:rPr>
              <a:t>An </a:t>
            </a:r>
            <a:r>
              <a:rPr lang="en-US" sz="2200" spc="-5" dirty="0">
                <a:latin typeface="Times New Roman" panose="02020603050405020304" pitchFamily="18" charset="0"/>
                <a:cs typeface="Times New Roman" panose="02020603050405020304" pitchFamily="18" charset="0"/>
              </a:rPr>
              <a:t>expression is evaluated to produce a value whereas a statement is executed to assign variables. </a:t>
            </a:r>
            <a:endParaRPr lang="en-US" sz="2200" spc="-5" dirty="0" smtClean="0">
              <a:latin typeface="Times New Roman" panose="02020603050405020304" pitchFamily="18" charset="0"/>
              <a:cs typeface="Times New Roman" panose="02020603050405020304" pitchFamily="18" charset="0"/>
            </a:endParaRPr>
          </a:p>
          <a:p>
            <a:pPr marL="298450" marR="10160" indent="-252730" algn="just">
              <a:lnSpc>
                <a:spcPct val="150000"/>
              </a:lnSpc>
              <a:buFont typeface="Arial MT"/>
              <a:buChar char="•"/>
              <a:tabLst>
                <a:tab pos="298450" algn="l"/>
              </a:tabLst>
            </a:pPr>
            <a:r>
              <a:rPr lang="en-US" sz="2200" dirty="0">
                <a:latin typeface="Times New Roman" panose="02020603050405020304" pitchFamily="18" charset="0"/>
                <a:cs typeface="Times New Roman" panose="02020603050405020304" pitchFamily="18" charset="0"/>
              </a:rPr>
              <a:t>Unlike procedures that depend on a local or global state, value outputs in FP depend only on the arguments passed to the  function. </a:t>
            </a:r>
          </a:p>
          <a:p>
            <a:pPr marL="298450" marR="10160" indent="-252730" algn="just">
              <a:lnSpc>
                <a:spcPct val="150000"/>
              </a:lnSpc>
              <a:buFont typeface="Arial MT"/>
              <a:buChar char="•"/>
              <a:tabLst>
                <a:tab pos="298450" algn="l"/>
              </a:tabLst>
            </a:pPr>
            <a:r>
              <a:rPr lang="en-US" sz="2200" dirty="0">
                <a:latin typeface="Times New Roman" panose="02020603050405020304" pitchFamily="18" charset="0"/>
                <a:cs typeface="Times New Roman" panose="02020603050405020304" pitchFamily="18" charset="0"/>
              </a:rPr>
              <a:t>Functional programming consists only of PURE functions. In functional programming, control flow is expressed by combining function calls, rather than by assigning values to variables.  Example:</a:t>
            </a:r>
          </a:p>
          <a:p>
            <a:pPr marL="298450" marR="10160" indent="-252730" algn="just">
              <a:lnSpc>
                <a:spcPct val="150000"/>
              </a:lnSpc>
              <a:buFont typeface="Arial MT"/>
              <a:buChar char="•"/>
              <a:tabLst>
                <a:tab pos="298450" algn="l"/>
              </a:tabLst>
            </a:pPr>
            <a:endParaRPr sz="22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7"/>
          </p:nvPr>
        </p:nvSpPr>
        <p:spPr>
          <a:xfrm>
            <a:off x="9333433" y="6458084"/>
            <a:ext cx="2804160" cy="342900"/>
          </a:xfrm>
        </p:spPr>
        <p:txBody>
          <a:bodyPr/>
          <a:lstStyle/>
          <a:p>
            <a:fld id="{B6F15528-21DE-4FAA-801E-634DDDAF4B2B}" type="slidenum">
              <a:rPr/>
              <a:t>3</a:t>
            </a:fld>
            <a:endParaRPr/>
          </a:p>
        </p:txBody>
      </p:sp>
      <p:sp>
        <p:nvSpPr>
          <p:cNvPr id="11" name="Footer Placeholder 10"/>
          <p:cNvSpPr>
            <a:spLocks noGrp="1"/>
          </p:cNvSpPr>
          <p:nvPr>
            <p:ph type="ftr" sz="quarter" idx="5"/>
          </p:nvPr>
        </p:nvSpPr>
        <p:spPr>
          <a:xfrm>
            <a:off x="3634875" y="6515100"/>
            <a:ext cx="4922520" cy="342900"/>
          </a:xfrm>
        </p:spPr>
        <p:txBody>
          <a:bodyPr/>
          <a:lstStyle/>
          <a:p>
            <a:r>
              <a:rPr dirty="0"/>
              <a:t>UNIT IV : </a:t>
            </a:r>
            <a:r>
              <a:rPr dirty="0" err="1"/>
              <a:t>Pythonic</a:t>
            </a:r>
            <a:r>
              <a:rPr dirty="0"/>
              <a:t> Programming Paradigm</a:t>
            </a:r>
          </a:p>
        </p:txBody>
      </p:sp>
      <p:pic>
        <p:nvPicPr>
          <p:cNvPr id="7" name="object 7"/>
          <p:cNvPicPr/>
          <p:nvPr/>
        </p:nvPicPr>
        <p:blipFill>
          <a:blip r:embed="rId3" cstate="print"/>
          <a:stretch>
            <a:fillRect/>
          </a:stretch>
        </p:blipFill>
        <p:spPr>
          <a:xfrm>
            <a:off x="3642132" y="5723343"/>
            <a:ext cx="6096000" cy="632838"/>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6709" y="79765"/>
            <a:ext cx="12113260" cy="391160"/>
          </a:xfrm>
          <a:prstGeom prst="rect">
            <a:avLst/>
          </a:prstGeom>
        </p:spPr>
        <p:txBody>
          <a:bodyPr vert="horz" wrap="square" lIns="0" tIns="12700" rIns="0" bIns="0" rtlCol="0">
            <a:spAutoFit/>
          </a:bodyPr>
          <a:lstStyle/>
          <a:p>
            <a:pPr marL="12700">
              <a:lnSpc>
                <a:spcPct val="100000"/>
              </a:lnSpc>
              <a:spcBef>
                <a:spcPts val="100"/>
              </a:spcBef>
              <a:tabLst>
                <a:tab pos="12099925" algn="l"/>
              </a:tabLst>
            </a:pPr>
            <a:r>
              <a:rPr u="heavy" spc="-5" dirty="0">
                <a:uFill>
                  <a:solidFill>
                    <a:srgbClr val="1F97C8"/>
                  </a:solidFill>
                </a:uFill>
              </a:rPr>
              <a:t>Characteristics</a:t>
            </a:r>
            <a:r>
              <a:rPr u="heavy" spc="-25" dirty="0">
                <a:uFill>
                  <a:solidFill>
                    <a:srgbClr val="1F97C8"/>
                  </a:solidFill>
                </a:uFill>
              </a:rPr>
              <a:t> </a:t>
            </a:r>
            <a:r>
              <a:rPr u="heavy" spc="-5" dirty="0">
                <a:uFill>
                  <a:solidFill>
                    <a:srgbClr val="1F97C8"/>
                  </a:solidFill>
                </a:uFill>
              </a:rPr>
              <a:t>of</a:t>
            </a:r>
            <a:r>
              <a:rPr u="heavy" spc="-30" dirty="0">
                <a:uFill>
                  <a:solidFill>
                    <a:srgbClr val="1F97C8"/>
                  </a:solidFill>
                </a:uFill>
              </a:rPr>
              <a:t> </a:t>
            </a:r>
            <a:r>
              <a:rPr u="heavy" spc="-5" dirty="0">
                <a:uFill>
                  <a:solidFill>
                    <a:srgbClr val="1F97C8"/>
                  </a:solidFill>
                </a:uFill>
              </a:rPr>
              <a:t>Functional</a:t>
            </a:r>
            <a:r>
              <a:rPr u="heavy" spc="-30" dirty="0">
                <a:uFill>
                  <a:solidFill>
                    <a:srgbClr val="1F97C8"/>
                  </a:solidFill>
                </a:uFill>
              </a:rPr>
              <a:t> </a:t>
            </a:r>
            <a:r>
              <a:rPr u="heavy" spc="-5" dirty="0">
                <a:uFill>
                  <a:solidFill>
                    <a:srgbClr val="1F97C8"/>
                  </a:solidFill>
                </a:uFill>
              </a:rPr>
              <a:t>Programming	</a:t>
            </a:r>
          </a:p>
        </p:txBody>
      </p:sp>
      <p:sp>
        <p:nvSpPr>
          <p:cNvPr id="3" name="object 3"/>
          <p:cNvSpPr/>
          <p:nvPr/>
        </p:nvSpPr>
        <p:spPr>
          <a:xfrm>
            <a:off x="0" y="6694114"/>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txBox="1"/>
          <p:nvPr/>
        </p:nvSpPr>
        <p:spPr>
          <a:xfrm>
            <a:off x="607000" y="290668"/>
            <a:ext cx="11312678" cy="6438942"/>
          </a:xfrm>
          <a:prstGeom prst="rect">
            <a:avLst/>
          </a:prstGeom>
        </p:spPr>
        <p:txBody>
          <a:bodyPr vert="horz" wrap="square" lIns="0" tIns="146050" rIns="0" bIns="0" rtlCol="0">
            <a:spAutoFit/>
          </a:bodyPr>
          <a:lstStyle/>
          <a:p>
            <a:pPr marL="264795" indent="-252730" algn="just">
              <a:lnSpc>
                <a:spcPct val="100000"/>
              </a:lnSpc>
              <a:spcBef>
                <a:spcPts val="1150"/>
              </a:spcBef>
              <a:buFont typeface="Arial MT"/>
              <a:buChar char="•"/>
              <a:tabLst>
                <a:tab pos="264795" algn="l"/>
                <a:tab pos="265430" algn="l"/>
              </a:tabLst>
            </a:pPr>
            <a:r>
              <a:rPr sz="2200" spc="-5" dirty="0">
                <a:latin typeface="Times New Roman" panose="02020603050405020304" pitchFamily="18" charset="0"/>
                <a:cs typeface="Times New Roman" panose="02020603050405020304" pitchFamily="18" charset="0"/>
              </a:rPr>
              <a:t>Functional</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programming</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method</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focuses</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on</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results,</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not</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process</a:t>
            </a:r>
            <a:endParaRPr sz="2200" dirty="0">
              <a:latin typeface="Times New Roman" panose="02020603050405020304" pitchFamily="18" charset="0"/>
              <a:cs typeface="Times New Roman" panose="02020603050405020304" pitchFamily="18" charset="0"/>
            </a:endParaRPr>
          </a:p>
          <a:p>
            <a:pPr marL="264795" indent="-252730" algn="just">
              <a:lnSpc>
                <a:spcPct val="100000"/>
              </a:lnSpc>
              <a:spcBef>
                <a:spcPts val="1050"/>
              </a:spcBef>
              <a:buFont typeface="Arial MT"/>
              <a:buChar char="•"/>
              <a:tabLst>
                <a:tab pos="264795" algn="l"/>
                <a:tab pos="265430" algn="l"/>
              </a:tabLst>
            </a:pPr>
            <a:r>
              <a:rPr sz="2200" spc="-5" dirty="0">
                <a:latin typeface="Times New Roman" panose="02020603050405020304" pitchFamily="18" charset="0"/>
                <a:cs typeface="Times New Roman" panose="02020603050405020304" pitchFamily="18" charset="0"/>
              </a:rPr>
              <a:t>Emphasis</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is</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on</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what</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is</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to</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be</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computed</a:t>
            </a:r>
            <a:endParaRPr sz="2200" dirty="0">
              <a:latin typeface="Times New Roman" panose="02020603050405020304" pitchFamily="18" charset="0"/>
              <a:cs typeface="Times New Roman" panose="02020603050405020304" pitchFamily="18" charset="0"/>
            </a:endParaRPr>
          </a:p>
          <a:p>
            <a:pPr marL="264795" indent="-252730" algn="just">
              <a:lnSpc>
                <a:spcPct val="100000"/>
              </a:lnSpc>
              <a:spcBef>
                <a:spcPts val="1050"/>
              </a:spcBef>
              <a:buFont typeface="Arial MT"/>
              <a:buChar char="•"/>
              <a:tabLst>
                <a:tab pos="264795" algn="l"/>
                <a:tab pos="265430" algn="l"/>
              </a:tabLst>
            </a:pPr>
            <a:r>
              <a:rPr sz="2200" spc="-5" dirty="0">
                <a:latin typeface="Times New Roman" panose="02020603050405020304" pitchFamily="18" charset="0"/>
                <a:cs typeface="Times New Roman" panose="02020603050405020304" pitchFamily="18" charset="0"/>
              </a:rPr>
              <a:t>Data</a:t>
            </a:r>
            <a:r>
              <a:rPr sz="2200" spc="-3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is</a:t>
            </a:r>
            <a:r>
              <a:rPr sz="2200" spc="-3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immutable</a:t>
            </a:r>
            <a:endParaRPr sz="2200" dirty="0">
              <a:latin typeface="Times New Roman" panose="02020603050405020304" pitchFamily="18" charset="0"/>
              <a:cs typeface="Times New Roman" panose="02020603050405020304" pitchFamily="18" charset="0"/>
            </a:endParaRPr>
          </a:p>
          <a:p>
            <a:pPr marL="264795" indent="-252730" algn="just">
              <a:lnSpc>
                <a:spcPct val="100000"/>
              </a:lnSpc>
              <a:spcBef>
                <a:spcPts val="1050"/>
              </a:spcBef>
              <a:buFont typeface="Arial MT"/>
              <a:buChar char="•"/>
              <a:tabLst>
                <a:tab pos="264795" algn="l"/>
                <a:tab pos="265430" algn="l"/>
              </a:tabLst>
            </a:pPr>
            <a:r>
              <a:rPr sz="2200" spc="-5" dirty="0">
                <a:latin typeface="Times New Roman" panose="02020603050405020304" pitchFamily="18" charset="0"/>
                <a:cs typeface="Times New Roman" panose="02020603050405020304" pitchFamily="18" charset="0"/>
              </a:rPr>
              <a:t>Functional</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programming</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Decompose</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problem</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into</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'functions</a:t>
            </a:r>
            <a:endParaRPr sz="2200" dirty="0">
              <a:latin typeface="Times New Roman" panose="02020603050405020304" pitchFamily="18" charset="0"/>
              <a:cs typeface="Times New Roman" panose="02020603050405020304" pitchFamily="18" charset="0"/>
            </a:endParaRPr>
          </a:p>
          <a:p>
            <a:pPr marL="264795" marR="13335" indent="-252730" algn="just">
              <a:lnSpc>
                <a:spcPct val="150000"/>
              </a:lnSpc>
              <a:buFont typeface="Arial MT"/>
              <a:buChar char="•"/>
              <a:tabLst>
                <a:tab pos="264795" algn="l"/>
                <a:tab pos="265430" algn="l"/>
              </a:tabLst>
            </a:pPr>
            <a:r>
              <a:rPr sz="2200" spc="-5" dirty="0">
                <a:latin typeface="Times New Roman" panose="02020603050405020304" pitchFamily="18" charset="0"/>
                <a:cs typeface="Times New Roman" panose="02020603050405020304" pitchFamily="18" charset="0"/>
              </a:rPr>
              <a:t>It</a:t>
            </a:r>
            <a:r>
              <a:rPr sz="2200" spc="3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is</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built</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on</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concept</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of</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mathematical</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functions</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which</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uses</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conditional</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expressions</a:t>
            </a:r>
            <a:r>
              <a:rPr sz="2200" spc="3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recursion</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to</a:t>
            </a:r>
            <a:r>
              <a:rPr sz="2200" spc="320" dirty="0">
                <a:latin typeface="Times New Roman" panose="02020603050405020304" pitchFamily="18" charset="0"/>
                <a:cs typeface="Times New Roman" panose="02020603050405020304" pitchFamily="18" charset="0"/>
              </a:rPr>
              <a:t> </a:t>
            </a:r>
            <a:r>
              <a:rPr sz="2200" spc="-5" dirty="0" smtClean="0">
                <a:latin typeface="Times New Roman" panose="02020603050405020304" pitchFamily="18" charset="0"/>
                <a:cs typeface="Times New Roman" panose="02020603050405020304" pitchFamily="18" charset="0"/>
              </a:rPr>
              <a:t>perform</a:t>
            </a:r>
            <a:r>
              <a:rPr sz="2200" spc="320" dirty="0" smtClean="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 </a:t>
            </a:r>
            <a:r>
              <a:rPr sz="2200" spc="-38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calculation</a:t>
            </a:r>
            <a:endParaRPr sz="2200" dirty="0">
              <a:latin typeface="Times New Roman" panose="02020603050405020304" pitchFamily="18" charset="0"/>
              <a:cs typeface="Times New Roman" panose="02020603050405020304" pitchFamily="18" charset="0"/>
            </a:endParaRPr>
          </a:p>
          <a:p>
            <a:pPr marL="264795" indent="-252730" algn="just">
              <a:lnSpc>
                <a:spcPct val="100000"/>
              </a:lnSpc>
              <a:spcBef>
                <a:spcPts val="1050"/>
              </a:spcBef>
              <a:buFont typeface="Arial MT"/>
              <a:buChar char="•"/>
              <a:tabLst>
                <a:tab pos="264795" algn="l"/>
                <a:tab pos="265430" algn="l"/>
              </a:tabLst>
            </a:pPr>
            <a:r>
              <a:rPr sz="2200" spc="-5" dirty="0">
                <a:latin typeface="Times New Roman" panose="02020603050405020304" pitchFamily="18" charset="0"/>
                <a:cs typeface="Times New Roman" panose="02020603050405020304" pitchFamily="18" charset="0"/>
              </a:rPr>
              <a:t>It</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does</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not support</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iteration</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like loop</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statements</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5" dirty="0">
                <a:latin typeface="Times New Roman" panose="02020603050405020304" pitchFamily="18" charset="0"/>
                <a:cs typeface="Times New Roman" panose="02020603050405020304" pitchFamily="18" charset="0"/>
              </a:rPr>
              <a:t> conditional</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statements</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like If-Else</a:t>
            </a:r>
            <a:endParaRPr sz="2200" dirty="0">
              <a:latin typeface="Times New Roman" panose="02020603050405020304" pitchFamily="18" charset="0"/>
              <a:cs typeface="Times New Roman" panose="02020603050405020304" pitchFamily="18" charset="0"/>
            </a:endParaRPr>
          </a:p>
          <a:p>
            <a:pPr marL="264795" marR="13335" indent="-252730" algn="just">
              <a:lnSpc>
                <a:spcPct val="150000"/>
              </a:lnSpc>
              <a:buFont typeface="Arial MT"/>
              <a:buChar char="•"/>
              <a:tabLst>
                <a:tab pos="264795" algn="l"/>
                <a:tab pos="265430" algn="l"/>
              </a:tabLst>
            </a:pPr>
            <a:r>
              <a:rPr sz="2200" spc="-5" dirty="0">
                <a:latin typeface="Times New Roman" panose="02020603050405020304" pitchFamily="18" charset="0"/>
                <a:cs typeface="Times New Roman" panose="02020603050405020304" pitchFamily="18" charset="0"/>
              </a:rPr>
              <a:t>Functional</a:t>
            </a:r>
            <a:r>
              <a:rPr sz="2200" spc="18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programming</a:t>
            </a:r>
            <a:r>
              <a:rPr sz="2200" spc="19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languages</a:t>
            </a:r>
            <a:r>
              <a:rPr sz="2200" spc="18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are</a:t>
            </a:r>
            <a:r>
              <a:rPr sz="2200" spc="19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designed</a:t>
            </a:r>
            <a:r>
              <a:rPr sz="2200" spc="18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on</a:t>
            </a:r>
            <a:r>
              <a:rPr sz="2200" spc="19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a:t>
            </a:r>
            <a:r>
              <a:rPr sz="2200" spc="18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concept</a:t>
            </a:r>
            <a:r>
              <a:rPr sz="2200" spc="19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of</a:t>
            </a:r>
            <a:r>
              <a:rPr sz="2200" spc="18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mathematical</a:t>
            </a:r>
            <a:r>
              <a:rPr sz="2200" spc="19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functions</a:t>
            </a:r>
            <a:r>
              <a:rPr sz="2200" spc="19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that</a:t>
            </a:r>
            <a:r>
              <a:rPr sz="2200" spc="19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use</a:t>
            </a:r>
            <a:r>
              <a:rPr sz="2200" spc="18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conditional</a:t>
            </a:r>
            <a:r>
              <a:rPr sz="2200" spc="19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expressions </a:t>
            </a:r>
            <a:r>
              <a:rPr sz="2200" spc="-38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recursion to perform computation.</a:t>
            </a:r>
            <a:endParaRPr sz="2200" dirty="0">
              <a:latin typeface="Times New Roman" panose="02020603050405020304" pitchFamily="18" charset="0"/>
              <a:cs typeface="Times New Roman" panose="02020603050405020304" pitchFamily="18" charset="0"/>
            </a:endParaRPr>
          </a:p>
          <a:p>
            <a:pPr marL="264795" indent="-252730" algn="just">
              <a:lnSpc>
                <a:spcPct val="100000"/>
              </a:lnSpc>
              <a:spcBef>
                <a:spcPts val="1050"/>
              </a:spcBef>
              <a:buFont typeface="Arial MT"/>
              <a:buChar char="•"/>
              <a:tabLst>
                <a:tab pos="264795" algn="l"/>
                <a:tab pos="265430" algn="l"/>
              </a:tabLst>
            </a:pPr>
            <a:r>
              <a:rPr sz="2200" spc="-5" dirty="0">
                <a:latin typeface="Times New Roman" panose="02020603050405020304" pitchFamily="18" charset="0"/>
                <a:cs typeface="Times New Roman" panose="02020603050405020304" pitchFamily="18" charset="0"/>
              </a:rPr>
              <a:t>Functional</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programming</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supports</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higher-order</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functions</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lazy</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evaluation</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features.</a:t>
            </a:r>
            <a:endParaRPr sz="2200" dirty="0">
              <a:latin typeface="Times New Roman" panose="02020603050405020304" pitchFamily="18" charset="0"/>
              <a:cs typeface="Times New Roman" panose="02020603050405020304" pitchFamily="18" charset="0"/>
            </a:endParaRPr>
          </a:p>
          <a:p>
            <a:pPr marL="264795" marR="5080" indent="-252730" algn="just">
              <a:lnSpc>
                <a:spcPct val="150000"/>
              </a:lnSpc>
              <a:buFont typeface="Arial MT"/>
              <a:buChar char="•"/>
              <a:tabLst>
                <a:tab pos="264795" algn="l"/>
                <a:tab pos="265430" algn="l"/>
              </a:tabLst>
            </a:pPr>
            <a:r>
              <a:rPr sz="2200" spc="-5" dirty="0">
                <a:latin typeface="Times New Roman" panose="02020603050405020304" pitchFamily="18" charset="0"/>
                <a:cs typeface="Times New Roman" panose="02020603050405020304" pitchFamily="18" charset="0"/>
              </a:rPr>
              <a:t>Functional</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programming</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languages</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don’t</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support</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flow</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Controls</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like</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loop</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statements</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conditional</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statements</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like</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If-Else</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 </a:t>
            </a:r>
            <a:r>
              <a:rPr sz="2200" spc="-38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Switch</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Statements. They directly use the functions </a:t>
            </a:r>
            <a:r>
              <a:rPr sz="2200" dirty="0">
                <a:latin typeface="Times New Roman" panose="02020603050405020304" pitchFamily="18" charset="0"/>
                <a:cs typeface="Times New Roman" panose="02020603050405020304" pitchFamily="18" charset="0"/>
              </a:rPr>
              <a:t>and</a:t>
            </a:r>
            <a:r>
              <a:rPr sz="2200" spc="-5" dirty="0">
                <a:latin typeface="Times New Roman" panose="02020603050405020304" pitchFamily="18" charset="0"/>
                <a:cs typeface="Times New Roman" panose="02020603050405020304" pitchFamily="18" charset="0"/>
              </a:rPr>
              <a:t> functional calls.</a:t>
            </a:r>
            <a:endParaRPr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7"/>
          </p:nvPr>
        </p:nvSpPr>
        <p:spPr/>
        <p:txBody>
          <a:bodyPr/>
          <a:lstStyle/>
          <a:p>
            <a:fld id="{B6F15528-21DE-4FAA-801E-634DDDAF4B2B}" type="slidenum">
              <a:rPr/>
              <a:t>4</a:t>
            </a:fld>
            <a:endParaRPr/>
          </a:p>
        </p:txBody>
      </p:sp>
      <p:sp>
        <p:nvSpPr>
          <p:cNvPr id="7" name="Footer Placeholder 6"/>
          <p:cNvSpPr>
            <a:spLocks noGrp="1"/>
          </p:cNvSpPr>
          <p:nvPr>
            <p:ph type="ftr" sz="quarter" idx="5"/>
          </p:nvPr>
        </p:nvSpPr>
        <p:spPr/>
        <p:txBody>
          <a:bodyPr/>
          <a:lstStyle/>
          <a:p>
            <a:r>
              <a:t>UNIT IV : Pythonic Programming Paradigm</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92847" y="18871"/>
            <a:ext cx="2409825" cy="416559"/>
          </a:xfrm>
          <a:prstGeom prst="rect">
            <a:avLst/>
          </a:prstGeom>
        </p:spPr>
        <p:txBody>
          <a:bodyPr vert="horz" wrap="square" lIns="0" tIns="13970" rIns="0" bIns="0" rtlCol="0">
            <a:spAutoFit/>
          </a:bodyPr>
          <a:lstStyle/>
          <a:p>
            <a:pPr marL="12700">
              <a:lnSpc>
                <a:spcPct val="100000"/>
              </a:lnSpc>
              <a:spcBef>
                <a:spcPts val="110"/>
              </a:spcBef>
            </a:pPr>
            <a:r>
              <a:rPr sz="2550" dirty="0"/>
              <a:t>Concepts</a:t>
            </a:r>
            <a:r>
              <a:rPr sz="2550" spc="-30" dirty="0"/>
              <a:t> </a:t>
            </a:r>
            <a:r>
              <a:rPr sz="2550" dirty="0"/>
              <a:t>of</a:t>
            </a:r>
            <a:r>
              <a:rPr sz="2550" spc="-35" dirty="0"/>
              <a:t> </a:t>
            </a:r>
            <a:r>
              <a:rPr sz="2550" dirty="0"/>
              <a:t>FP</a:t>
            </a:r>
            <a:endParaRPr sz="2550"/>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3"/>
            <a:ext cx="12105640" cy="5979795"/>
          </a:xfrm>
          <a:custGeom>
            <a:avLst/>
            <a:gdLst/>
            <a:ahLst/>
            <a:cxnLst/>
            <a:rect l="l" t="t" r="r" b="b"/>
            <a:pathLst>
              <a:path w="12105640" h="5979795">
                <a:moveTo>
                  <a:pt x="0" y="0"/>
                </a:moveTo>
                <a:lnTo>
                  <a:pt x="12105503" y="0"/>
                </a:lnTo>
                <a:lnTo>
                  <a:pt x="12105503" y="5979174"/>
                </a:lnTo>
                <a:lnTo>
                  <a:pt x="0" y="5979174"/>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304800" y="649135"/>
            <a:ext cx="4806315" cy="2927725"/>
          </a:xfrm>
          <a:prstGeom prst="rect">
            <a:avLst/>
          </a:prstGeom>
        </p:spPr>
        <p:txBody>
          <a:bodyPr vert="horz" wrap="square" lIns="0" tIns="146050" rIns="0" bIns="0" rtlCol="0">
            <a:spAutoFit/>
          </a:bodyPr>
          <a:lstStyle/>
          <a:p>
            <a:pPr marL="336550" indent="-323850">
              <a:lnSpc>
                <a:spcPct val="100000"/>
              </a:lnSpc>
              <a:spcBef>
                <a:spcPts val="1150"/>
              </a:spcBef>
              <a:buFont typeface="Arial MT"/>
              <a:buChar char="•"/>
              <a:tabLst>
                <a:tab pos="335915" algn="l"/>
                <a:tab pos="336550" algn="l"/>
              </a:tabLst>
            </a:pPr>
            <a:r>
              <a:rPr sz="2400" spc="-5" dirty="0">
                <a:latin typeface="Times New Roman" panose="02020603050405020304" pitchFamily="18" charset="0"/>
                <a:cs typeface="Times New Roman" panose="02020603050405020304" pitchFamily="18" charset="0"/>
              </a:rPr>
              <a:t>Pure</a:t>
            </a:r>
            <a:r>
              <a:rPr sz="2400" spc="-4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functions</a:t>
            </a:r>
            <a:endParaRPr sz="2400" dirty="0">
              <a:latin typeface="Times New Roman" panose="02020603050405020304" pitchFamily="18" charset="0"/>
              <a:cs typeface="Times New Roman" panose="02020603050405020304" pitchFamily="18" charset="0"/>
            </a:endParaRPr>
          </a:p>
          <a:p>
            <a:pPr marL="336550" indent="-323850">
              <a:lnSpc>
                <a:spcPct val="100000"/>
              </a:lnSpc>
              <a:spcBef>
                <a:spcPts val="1050"/>
              </a:spcBef>
              <a:buFont typeface="Arial MT"/>
              <a:buChar char="•"/>
              <a:tabLst>
                <a:tab pos="335915" algn="l"/>
                <a:tab pos="336550" algn="l"/>
              </a:tabLst>
            </a:pPr>
            <a:r>
              <a:rPr sz="2400" spc="-5" dirty="0">
                <a:latin typeface="Times New Roman" panose="02020603050405020304" pitchFamily="18" charset="0"/>
                <a:cs typeface="Times New Roman" panose="02020603050405020304" pitchFamily="18" charset="0"/>
              </a:rPr>
              <a:t>Recursion</a:t>
            </a:r>
            <a:endParaRPr sz="2400" dirty="0">
              <a:latin typeface="Times New Roman" panose="02020603050405020304" pitchFamily="18" charset="0"/>
              <a:cs typeface="Times New Roman" panose="02020603050405020304" pitchFamily="18" charset="0"/>
            </a:endParaRPr>
          </a:p>
          <a:p>
            <a:pPr marL="336550" indent="-323850">
              <a:lnSpc>
                <a:spcPct val="100000"/>
              </a:lnSpc>
              <a:spcBef>
                <a:spcPts val="1050"/>
              </a:spcBef>
              <a:buFont typeface="Arial MT"/>
              <a:buChar char="•"/>
              <a:tabLst>
                <a:tab pos="335915" algn="l"/>
                <a:tab pos="336550" algn="l"/>
              </a:tabLst>
            </a:pPr>
            <a:r>
              <a:rPr sz="2400" spc="-5" dirty="0">
                <a:latin typeface="Times New Roman" panose="02020603050405020304" pitchFamily="18" charset="0"/>
                <a:cs typeface="Times New Roman" panose="02020603050405020304" pitchFamily="18" charset="0"/>
              </a:rPr>
              <a:t>Referential</a:t>
            </a:r>
            <a:r>
              <a:rPr sz="2400" spc="-4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transparency</a:t>
            </a:r>
            <a:endParaRPr sz="2400" dirty="0">
              <a:latin typeface="Times New Roman" panose="02020603050405020304" pitchFamily="18" charset="0"/>
              <a:cs typeface="Times New Roman" panose="02020603050405020304" pitchFamily="18" charset="0"/>
            </a:endParaRPr>
          </a:p>
          <a:p>
            <a:pPr marL="336550" indent="-323850">
              <a:lnSpc>
                <a:spcPct val="100000"/>
              </a:lnSpc>
              <a:spcBef>
                <a:spcPts val="1050"/>
              </a:spcBef>
              <a:buFont typeface="Arial MT"/>
              <a:buChar char="•"/>
              <a:tabLst>
                <a:tab pos="335915" algn="l"/>
                <a:tab pos="336550" algn="l"/>
              </a:tabLst>
            </a:pPr>
            <a:r>
              <a:rPr sz="2400" spc="-5" dirty="0">
                <a:latin typeface="Times New Roman" panose="02020603050405020304" pitchFamily="18" charset="0"/>
                <a:cs typeface="Times New Roman" panose="02020603050405020304" pitchFamily="18" charset="0"/>
              </a:rPr>
              <a:t>Functions</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are</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First-Class</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can</a:t>
            </a:r>
            <a:r>
              <a:rPr sz="2400" spc="-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be</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Higher-Order</a:t>
            </a:r>
            <a:endParaRPr sz="2400" dirty="0">
              <a:latin typeface="Times New Roman" panose="02020603050405020304" pitchFamily="18" charset="0"/>
              <a:cs typeface="Times New Roman" panose="02020603050405020304" pitchFamily="18" charset="0"/>
            </a:endParaRPr>
          </a:p>
          <a:p>
            <a:pPr marL="336550" indent="-323850">
              <a:lnSpc>
                <a:spcPct val="100000"/>
              </a:lnSpc>
              <a:spcBef>
                <a:spcPts val="1050"/>
              </a:spcBef>
              <a:buFont typeface="Arial MT"/>
              <a:buChar char="•"/>
              <a:tabLst>
                <a:tab pos="335915" algn="l"/>
                <a:tab pos="336550" algn="l"/>
              </a:tabLst>
            </a:pPr>
            <a:r>
              <a:rPr sz="2400" spc="-5" dirty="0">
                <a:latin typeface="Times New Roman" panose="02020603050405020304" pitchFamily="18" charset="0"/>
                <a:cs typeface="Times New Roman" panose="02020603050405020304" pitchFamily="18" charset="0"/>
              </a:rPr>
              <a:t>Immutability</a:t>
            </a:r>
            <a:endParaRPr sz="2400" dirty="0">
              <a:latin typeface="Times New Roman" panose="02020603050405020304" pitchFamily="18" charset="0"/>
              <a:cs typeface="Times New Roman" panose="02020603050405020304" pitchFamily="18" charset="0"/>
            </a:endParaRPr>
          </a:p>
        </p:txBody>
      </p:sp>
      <p:pic>
        <p:nvPicPr>
          <p:cNvPr id="7" name="object 7"/>
          <p:cNvPicPr/>
          <p:nvPr/>
        </p:nvPicPr>
        <p:blipFill>
          <a:blip r:embed="rId3" cstate="print"/>
          <a:stretch>
            <a:fillRect/>
          </a:stretch>
        </p:blipFill>
        <p:spPr>
          <a:xfrm>
            <a:off x="6403033" y="876312"/>
            <a:ext cx="5179367" cy="5143487"/>
          </a:xfrm>
          <a:prstGeom prst="rect">
            <a:avLst/>
          </a:prstGeom>
        </p:spPr>
      </p:pic>
      <p:sp>
        <p:nvSpPr>
          <p:cNvPr id="8" name="Slide Number Placeholder 7"/>
          <p:cNvSpPr>
            <a:spLocks noGrp="1"/>
          </p:cNvSpPr>
          <p:nvPr>
            <p:ph type="sldNum" sz="quarter" idx="7"/>
          </p:nvPr>
        </p:nvSpPr>
        <p:spPr/>
        <p:txBody>
          <a:bodyPr/>
          <a:lstStyle/>
          <a:p>
            <a:fld id="{B6F15528-21DE-4FAA-801E-634DDDAF4B2B}" type="slidenum">
              <a:rPr/>
              <a:t>5</a:t>
            </a:fld>
            <a:endParaRPr/>
          </a:p>
        </p:txBody>
      </p:sp>
      <p:sp>
        <p:nvSpPr>
          <p:cNvPr id="9" name="Footer Placeholder 8"/>
          <p:cNvSpPr>
            <a:spLocks noGrp="1"/>
          </p:cNvSpPr>
          <p:nvPr>
            <p:ph type="ftr" sz="quarter" idx="5"/>
          </p:nvPr>
        </p:nvSpPr>
        <p:spPr/>
        <p:txBody>
          <a:bodyPr/>
          <a:lstStyle/>
          <a:p>
            <a:r>
              <a:t>UNIT IV : Pythonic Programming Paradigm</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739" y="34162"/>
            <a:ext cx="12113260" cy="391160"/>
          </a:xfrm>
          <a:prstGeom prst="rect">
            <a:avLst/>
          </a:prstGeom>
        </p:spPr>
        <p:txBody>
          <a:bodyPr vert="horz" wrap="square" lIns="0" tIns="12700" rIns="0" bIns="0" rtlCol="0">
            <a:spAutoFit/>
          </a:bodyPr>
          <a:lstStyle/>
          <a:p>
            <a:pPr marL="12700">
              <a:lnSpc>
                <a:spcPct val="100000"/>
              </a:lnSpc>
              <a:spcBef>
                <a:spcPts val="100"/>
              </a:spcBef>
              <a:tabLst>
                <a:tab pos="12099925" algn="l"/>
              </a:tabLst>
            </a:pPr>
            <a:r>
              <a:rPr u="heavy" spc="-5" dirty="0">
                <a:uFill>
                  <a:solidFill>
                    <a:srgbClr val="1F97C8"/>
                  </a:solidFill>
                </a:uFill>
              </a:rPr>
              <a:t>Functional</a:t>
            </a:r>
            <a:r>
              <a:rPr u="heavy" spc="-25" dirty="0">
                <a:uFill>
                  <a:solidFill>
                    <a:srgbClr val="1F97C8"/>
                  </a:solidFill>
                </a:uFill>
              </a:rPr>
              <a:t> </a:t>
            </a:r>
            <a:r>
              <a:rPr u="heavy" spc="-5" dirty="0">
                <a:uFill>
                  <a:solidFill>
                    <a:srgbClr val="1F97C8"/>
                  </a:solidFill>
                </a:uFill>
              </a:rPr>
              <a:t>Programming</a:t>
            </a:r>
            <a:r>
              <a:rPr u="heavy" spc="-25" dirty="0">
                <a:uFill>
                  <a:solidFill>
                    <a:srgbClr val="1F97C8"/>
                  </a:solidFill>
                </a:uFill>
              </a:rPr>
              <a:t> </a:t>
            </a:r>
            <a:r>
              <a:rPr u="heavy" spc="-5" dirty="0">
                <a:uFill>
                  <a:solidFill>
                    <a:srgbClr val="1F97C8"/>
                  </a:solidFill>
                </a:uFill>
              </a:rPr>
              <a:t>vs</a:t>
            </a:r>
            <a:r>
              <a:rPr u="heavy" spc="-20" dirty="0">
                <a:uFill>
                  <a:solidFill>
                    <a:srgbClr val="1F97C8"/>
                  </a:solidFill>
                </a:uFill>
              </a:rPr>
              <a:t> </a:t>
            </a:r>
            <a:r>
              <a:rPr u="heavy" spc="-5" dirty="0">
                <a:uFill>
                  <a:solidFill>
                    <a:srgbClr val="1F97C8"/>
                  </a:solidFill>
                </a:uFill>
              </a:rPr>
              <a:t>Procedure</a:t>
            </a:r>
            <a:r>
              <a:rPr u="heavy" spc="-25" dirty="0">
                <a:uFill>
                  <a:solidFill>
                    <a:srgbClr val="1F97C8"/>
                  </a:solidFill>
                </a:uFill>
              </a:rPr>
              <a:t> </a:t>
            </a:r>
            <a:r>
              <a:rPr u="heavy" spc="-5" dirty="0">
                <a:uFill>
                  <a:solidFill>
                    <a:srgbClr val="1F97C8"/>
                  </a:solidFill>
                </a:uFill>
              </a:rPr>
              <a:t>Programming	</a:t>
            </a:r>
          </a:p>
        </p:txBody>
      </p:sp>
      <p:sp>
        <p:nvSpPr>
          <p:cNvPr id="3" name="object 3"/>
          <p:cNvSpPr/>
          <p:nvPr/>
        </p:nvSpPr>
        <p:spPr>
          <a:xfrm>
            <a:off x="0" y="6694114"/>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grpSp>
        <p:nvGrpSpPr>
          <p:cNvPr id="4" name="object 4"/>
          <p:cNvGrpSpPr/>
          <p:nvPr/>
        </p:nvGrpSpPr>
        <p:grpSpPr>
          <a:xfrm>
            <a:off x="25603" y="484516"/>
            <a:ext cx="12118340" cy="6131560"/>
            <a:chOff x="25603" y="484516"/>
            <a:chExt cx="12118340" cy="6131560"/>
          </a:xfrm>
        </p:grpSpPr>
        <p:sp>
          <p:nvSpPr>
            <p:cNvPr id="5" name="object 5"/>
            <p:cNvSpPr/>
            <p:nvPr/>
          </p:nvSpPr>
          <p:spPr>
            <a:xfrm>
              <a:off x="31953" y="490866"/>
              <a:ext cx="12105640" cy="6118860"/>
            </a:xfrm>
            <a:custGeom>
              <a:avLst/>
              <a:gdLst/>
              <a:ahLst/>
              <a:cxnLst/>
              <a:rect l="l" t="t" r="r" b="b"/>
              <a:pathLst>
                <a:path w="12105640" h="6118859">
                  <a:moveTo>
                    <a:pt x="0" y="0"/>
                  </a:moveTo>
                  <a:lnTo>
                    <a:pt x="12105503" y="0"/>
                  </a:lnTo>
                  <a:lnTo>
                    <a:pt x="12105503" y="6118857"/>
                  </a:lnTo>
                  <a:lnTo>
                    <a:pt x="0" y="6118857"/>
                  </a:lnTo>
                  <a:lnTo>
                    <a:pt x="0" y="0"/>
                  </a:lnTo>
                  <a:close/>
                </a:path>
              </a:pathLst>
            </a:custGeom>
            <a:ln w="12699">
              <a:solidFill>
                <a:srgbClr val="00B0F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76564" y="605118"/>
              <a:ext cx="5440635" cy="3203184"/>
            </a:xfrm>
            <a:prstGeom prst="rect">
              <a:avLst/>
            </a:prstGeom>
          </p:spPr>
        </p:pic>
        <p:pic>
          <p:nvPicPr>
            <p:cNvPr id="7" name="object 7"/>
            <p:cNvPicPr/>
            <p:nvPr/>
          </p:nvPicPr>
          <p:blipFill>
            <a:blip r:embed="rId4" cstate="print"/>
            <a:stretch>
              <a:fillRect/>
            </a:stretch>
          </p:blipFill>
          <p:spPr>
            <a:xfrm>
              <a:off x="5517198" y="3138397"/>
              <a:ext cx="6620257" cy="3412836"/>
            </a:xfrm>
            <a:prstGeom prst="rect">
              <a:avLst/>
            </a:prstGeom>
          </p:spPr>
        </p:pic>
      </p:grpSp>
      <p:sp>
        <p:nvSpPr>
          <p:cNvPr id="8" name="Slide Number Placeholder 7"/>
          <p:cNvSpPr>
            <a:spLocks noGrp="1"/>
          </p:cNvSpPr>
          <p:nvPr>
            <p:ph type="sldNum" sz="quarter" idx="7"/>
          </p:nvPr>
        </p:nvSpPr>
        <p:spPr/>
        <p:txBody>
          <a:bodyPr/>
          <a:lstStyle/>
          <a:p>
            <a:fld id="{B6F15528-21DE-4FAA-801E-634DDDAF4B2B}" type="slidenum">
              <a:rPr/>
              <a:t>6</a:t>
            </a:fld>
            <a:endParaRPr/>
          </a:p>
        </p:txBody>
      </p:sp>
      <p:sp>
        <p:nvSpPr>
          <p:cNvPr id="9" name="Footer Placeholder 8"/>
          <p:cNvSpPr>
            <a:spLocks noGrp="1"/>
          </p:cNvSpPr>
          <p:nvPr>
            <p:ph type="ftr" sz="quarter" idx="5"/>
          </p:nvPr>
        </p:nvSpPr>
        <p:spPr/>
        <p:txBody>
          <a:bodyPr/>
          <a:lstStyle/>
          <a:p>
            <a:r>
              <a:t>UNIT IV : Pythonic Programming Paradigm</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42456" y="77324"/>
            <a:ext cx="12150090" cy="416559"/>
          </a:xfrm>
          <a:prstGeom prst="rect">
            <a:avLst/>
          </a:prstGeom>
        </p:spPr>
        <p:txBody>
          <a:bodyPr vert="horz" wrap="square" lIns="0" tIns="13970" rIns="0" bIns="0" rtlCol="0">
            <a:spAutoFit/>
          </a:bodyPr>
          <a:lstStyle/>
          <a:p>
            <a:pPr marL="12700">
              <a:lnSpc>
                <a:spcPct val="100000"/>
              </a:lnSpc>
              <a:spcBef>
                <a:spcPts val="110"/>
              </a:spcBef>
              <a:tabLst>
                <a:tab pos="12136755" algn="l"/>
              </a:tabLst>
            </a:pPr>
            <a:r>
              <a:rPr sz="2550" u="heavy" dirty="0">
                <a:uFill>
                  <a:solidFill>
                    <a:srgbClr val="1F97C8"/>
                  </a:solidFill>
                </a:uFill>
              </a:rPr>
              <a:t>1.</a:t>
            </a:r>
            <a:r>
              <a:rPr sz="2550" u="heavy" spc="-20" dirty="0">
                <a:uFill>
                  <a:solidFill>
                    <a:srgbClr val="1F97C8"/>
                  </a:solidFill>
                </a:uFill>
              </a:rPr>
              <a:t> </a:t>
            </a:r>
            <a:r>
              <a:rPr sz="2550" u="heavy" spc="-5" dirty="0">
                <a:uFill>
                  <a:solidFill>
                    <a:srgbClr val="1F97C8"/>
                  </a:solidFill>
                </a:uFill>
              </a:rPr>
              <a:t>Pure</a:t>
            </a:r>
            <a:r>
              <a:rPr sz="2550" u="heavy" spc="-25" dirty="0">
                <a:uFill>
                  <a:solidFill>
                    <a:srgbClr val="1F97C8"/>
                  </a:solidFill>
                </a:uFill>
              </a:rPr>
              <a:t> </a:t>
            </a:r>
            <a:r>
              <a:rPr sz="2550" u="heavy" spc="5" dirty="0">
                <a:uFill>
                  <a:solidFill>
                    <a:srgbClr val="1F97C8"/>
                  </a:solidFill>
                </a:uFill>
              </a:rPr>
              <a:t>functions	</a:t>
            </a:r>
            <a:endParaRPr sz="2550" dirty="0"/>
          </a:p>
        </p:txBody>
      </p:sp>
      <p:sp>
        <p:nvSpPr>
          <p:cNvPr id="6" name="object 6"/>
          <p:cNvSpPr txBox="1"/>
          <p:nvPr/>
        </p:nvSpPr>
        <p:spPr>
          <a:xfrm>
            <a:off x="304801" y="762000"/>
            <a:ext cx="11658600" cy="5225790"/>
          </a:xfrm>
          <a:prstGeom prst="rect">
            <a:avLst/>
          </a:prstGeom>
        </p:spPr>
        <p:txBody>
          <a:bodyPr vert="horz" wrap="square" lIns="0" tIns="146050" rIns="0" bIns="0" rtlCol="0">
            <a:spAutoFit/>
          </a:bodyPr>
          <a:lstStyle/>
          <a:p>
            <a:pPr marL="264795" indent="-252730">
              <a:lnSpc>
                <a:spcPct val="150000"/>
              </a:lnSpc>
              <a:buFont typeface="Arial MT"/>
              <a:buChar char="•"/>
              <a:tabLst>
                <a:tab pos="264795" algn="l"/>
                <a:tab pos="265430" algn="l"/>
              </a:tabLst>
            </a:pPr>
            <a:r>
              <a:rPr sz="2200" spc="-5" dirty="0">
                <a:latin typeface="Times New Roman" panose="02020603050405020304" pitchFamily="18" charset="0"/>
                <a:cs typeface="Times New Roman" panose="02020603050405020304" pitchFamily="18" charset="0"/>
              </a:rPr>
              <a:t>Pure</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functions </a:t>
            </a:r>
            <a:r>
              <a:rPr sz="2200" b="1" dirty="0">
                <a:solidFill>
                  <a:srgbClr val="C00000"/>
                </a:solidFill>
                <a:latin typeface="Times New Roman" panose="02020603050405020304" pitchFamily="18" charset="0"/>
                <a:cs typeface="Times New Roman" panose="02020603050405020304" pitchFamily="18" charset="0"/>
              </a:rPr>
              <a:t>always</a:t>
            </a:r>
            <a:r>
              <a:rPr sz="2200" b="1" spc="-5" dirty="0">
                <a:solidFill>
                  <a:srgbClr val="C00000"/>
                </a:solidFill>
                <a:latin typeface="Times New Roman" panose="02020603050405020304" pitchFamily="18" charset="0"/>
                <a:cs typeface="Times New Roman" panose="02020603050405020304" pitchFamily="18" charset="0"/>
              </a:rPr>
              <a:t> return the</a:t>
            </a:r>
            <a:r>
              <a:rPr sz="2200" b="1" spc="-10" dirty="0">
                <a:solidFill>
                  <a:srgbClr val="C00000"/>
                </a:solidFill>
                <a:latin typeface="Times New Roman" panose="02020603050405020304" pitchFamily="18" charset="0"/>
                <a:cs typeface="Times New Roman" panose="02020603050405020304" pitchFamily="18" charset="0"/>
              </a:rPr>
              <a:t> </a:t>
            </a:r>
            <a:r>
              <a:rPr sz="2200" b="1" spc="-5" dirty="0">
                <a:solidFill>
                  <a:srgbClr val="C00000"/>
                </a:solidFill>
                <a:latin typeface="Times New Roman" panose="02020603050405020304" pitchFamily="18" charset="0"/>
                <a:cs typeface="Times New Roman" panose="02020603050405020304" pitchFamily="18" charset="0"/>
              </a:rPr>
              <a:t>same results when given the</a:t>
            </a:r>
            <a:r>
              <a:rPr sz="2200" b="1" spc="-10" dirty="0">
                <a:solidFill>
                  <a:srgbClr val="C00000"/>
                </a:solidFill>
                <a:latin typeface="Times New Roman" panose="02020603050405020304" pitchFamily="18" charset="0"/>
                <a:cs typeface="Times New Roman" panose="02020603050405020304" pitchFamily="18" charset="0"/>
              </a:rPr>
              <a:t> </a:t>
            </a:r>
            <a:r>
              <a:rPr sz="2200" b="1" spc="-5" dirty="0">
                <a:solidFill>
                  <a:srgbClr val="C00000"/>
                </a:solidFill>
                <a:latin typeface="Times New Roman" panose="02020603050405020304" pitchFamily="18" charset="0"/>
                <a:cs typeface="Times New Roman" panose="02020603050405020304" pitchFamily="18" charset="0"/>
              </a:rPr>
              <a:t>same inputs</a:t>
            </a:r>
            <a:r>
              <a:rPr sz="2200" spc="-5" dirty="0">
                <a:latin typeface="Times New Roman" panose="02020603050405020304" pitchFamily="18" charset="0"/>
                <a:cs typeface="Times New Roman" panose="02020603050405020304" pitchFamily="18" charset="0"/>
              </a:rPr>
              <a:t>. Consequently, they</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have </a:t>
            </a:r>
            <a:r>
              <a:rPr sz="2200" spc="-5" dirty="0">
                <a:solidFill>
                  <a:srgbClr val="C00000"/>
                </a:solidFill>
                <a:latin typeface="Times New Roman" panose="02020603050405020304" pitchFamily="18" charset="0"/>
                <a:cs typeface="Times New Roman" panose="02020603050405020304" pitchFamily="18" charset="0"/>
              </a:rPr>
              <a:t>no side effects</a:t>
            </a:r>
            <a:r>
              <a:rPr sz="2200" spc="-5" dirty="0">
                <a:latin typeface="Times New Roman" panose="02020603050405020304" pitchFamily="18" charset="0"/>
                <a:cs typeface="Times New Roman" panose="02020603050405020304" pitchFamily="18" charset="0"/>
              </a:rPr>
              <a:t>.</a:t>
            </a:r>
            <a:endParaRPr sz="2200" dirty="0">
              <a:latin typeface="Times New Roman" panose="02020603050405020304" pitchFamily="18" charset="0"/>
              <a:cs typeface="Times New Roman" panose="02020603050405020304" pitchFamily="18" charset="0"/>
            </a:endParaRPr>
          </a:p>
          <a:p>
            <a:pPr marL="264795" indent="-252730">
              <a:lnSpc>
                <a:spcPct val="150000"/>
              </a:lnSpc>
              <a:buFont typeface="Arial MT"/>
              <a:buChar char="•"/>
              <a:tabLst>
                <a:tab pos="264795" algn="l"/>
                <a:tab pos="265430" algn="l"/>
              </a:tabLst>
            </a:pPr>
            <a:r>
              <a:rPr sz="2200" spc="-5" dirty="0">
                <a:solidFill>
                  <a:srgbClr val="0070C0"/>
                </a:solidFill>
                <a:latin typeface="Times New Roman" panose="02020603050405020304" pitchFamily="18" charset="0"/>
                <a:cs typeface="Times New Roman" panose="02020603050405020304" pitchFamily="18" charset="0"/>
              </a:rPr>
              <a:t>Properties</a:t>
            </a:r>
            <a:r>
              <a:rPr sz="2200" spc="-20" dirty="0">
                <a:solidFill>
                  <a:srgbClr val="0070C0"/>
                </a:solidFill>
                <a:latin typeface="Times New Roman" panose="02020603050405020304" pitchFamily="18" charset="0"/>
                <a:cs typeface="Times New Roman" panose="02020603050405020304" pitchFamily="18" charset="0"/>
              </a:rPr>
              <a:t> </a:t>
            </a:r>
            <a:r>
              <a:rPr sz="2200" spc="-5" dirty="0">
                <a:solidFill>
                  <a:srgbClr val="0070C0"/>
                </a:solidFill>
                <a:latin typeface="Times New Roman" panose="02020603050405020304" pitchFamily="18" charset="0"/>
                <a:cs typeface="Times New Roman" panose="02020603050405020304" pitchFamily="18" charset="0"/>
              </a:rPr>
              <a:t>of</a:t>
            </a:r>
            <a:r>
              <a:rPr sz="2200" spc="-20" dirty="0">
                <a:solidFill>
                  <a:srgbClr val="0070C0"/>
                </a:solidFill>
                <a:latin typeface="Times New Roman" panose="02020603050405020304" pitchFamily="18" charset="0"/>
                <a:cs typeface="Times New Roman" panose="02020603050405020304" pitchFamily="18" charset="0"/>
              </a:rPr>
              <a:t> </a:t>
            </a:r>
            <a:r>
              <a:rPr sz="2200" spc="-5" dirty="0">
                <a:solidFill>
                  <a:srgbClr val="0070C0"/>
                </a:solidFill>
                <a:latin typeface="Times New Roman" panose="02020603050405020304" pitchFamily="18" charset="0"/>
                <a:cs typeface="Times New Roman" panose="02020603050405020304" pitchFamily="18" charset="0"/>
              </a:rPr>
              <a:t>Pure</a:t>
            </a:r>
            <a:r>
              <a:rPr sz="2200" spc="-20" dirty="0">
                <a:solidFill>
                  <a:srgbClr val="0070C0"/>
                </a:solidFill>
                <a:latin typeface="Times New Roman" panose="02020603050405020304" pitchFamily="18" charset="0"/>
                <a:cs typeface="Times New Roman" panose="02020603050405020304" pitchFamily="18" charset="0"/>
              </a:rPr>
              <a:t> </a:t>
            </a:r>
            <a:r>
              <a:rPr sz="2200" spc="-5" dirty="0">
                <a:solidFill>
                  <a:srgbClr val="0070C0"/>
                </a:solidFill>
                <a:latin typeface="Times New Roman" panose="02020603050405020304" pitchFamily="18" charset="0"/>
                <a:cs typeface="Times New Roman" panose="02020603050405020304" pitchFamily="18" charset="0"/>
              </a:rPr>
              <a:t>functions</a:t>
            </a:r>
            <a:r>
              <a:rPr sz="2200" spc="-20" dirty="0">
                <a:solidFill>
                  <a:srgbClr val="0070C0"/>
                </a:solidFill>
                <a:latin typeface="Times New Roman" panose="02020603050405020304" pitchFamily="18" charset="0"/>
                <a:cs typeface="Times New Roman" panose="02020603050405020304" pitchFamily="18" charset="0"/>
              </a:rPr>
              <a:t> </a:t>
            </a:r>
            <a:r>
              <a:rPr sz="2200" dirty="0">
                <a:solidFill>
                  <a:srgbClr val="0070C0"/>
                </a:solidFill>
                <a:latin typeface="Times New Roman" panose="02020603050405020304" pitchFamily="18" charset="0"/>
                <a:cs typeface="Times New Roman" panose="02020603050405020304" pitchFamily="18" charset="0"/>
              </a:rPr>
              <a:t>are:</a:t>
            </a:r>
          </a:p>
          <a:p>
            <a:pPr marL="721995" lvl="1" indent="-252730">
              <a:lnSpc>
                <a:spcPct val="150000"/>
              </a:lnSpc>
              <a:buFont typeface="Arial MT"/>
              <a:buChar char="•"/>
              <a:tabLst>
                <a:tab pos="721995" algn="l"/>
                <a:tab pos="722630" algn="l"/>
              </a:tabLst>
            </a:pPr>
            <a:r>
              <a:rPr sz="2200" spc="-5" dirty="0">
                <a:latin typeface="Times New Roman" panose="02020603050405020304" pitchFamily="18" charset="0"/>
                <a:cs typeface="Times New Roman" panose="02020603050405020304" pitchFamily="18" charset="0"/>
              </a:rPr>
              <a:t>First,</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they</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always</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produce the</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same</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output for</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same</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arguments</a:t>
            </a:r>
            <a:r>
              <a:rPr sz="2200" spc="-5" dirty="0">
                <a:latin typeface="Times New Roman" panose="02020603050405020304" pitchFamily="18" charset="0"/>
                <a:cs typeface="Times New Roman" panose="02020603050405020304" pitchFamily="18" charset="0"/>
              </a:rPr>
              <a:t> irrespective</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of</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anything</a:t>
            </a:r>
            <a:r>
              <a:rPr sz="2200" spc="-5" dirty="0">
                <a:latin typeface="Times New Roman" panose="02020603050405020304" pitchFamily="18" charset="0"/>
                <a:cs typeface="Times New Roman" panose="02020603050405020304" pitchFamily="18" charset="0"/>
              </a:rPr>
              <a:t> else.</a:t>
            </a:r>
            <a:endParaRPr sz="2200" dirty="0">
              <a:latin typeface="Times New Roman" panose="02020603050405020304" pitchFamily="18" charset="0"/>
              <a:cs typeface="Times New Roman" panose="02020603050405020304" pitchFamily="18" charset="0"/>
            </a:endParaRPr>
          </a:p>
          <a:p>
            <a:pPr marL="721995" lvl="1" indent="-252730">
              <a:lnSpc>
                <a:spcPct val="150000"/>
              </a:lnSpc>
              <a:buFont typeface="Arial MT"/>
              <a:buChar char="•"/>
              <a:tabLst>
                <a:tab pos="721995" algn="l"/>
                <a:tab pos="722630" algn="l"/>
              </a:tabLst>
            </a:pPr>
            <a:r>
              <a:rPr sz="2200" spc="-5" dirty="0">
                <a:latin typeface="Times New Roman" panose="02020603050405020304" pitchFamily="18" charset="0"/>
                <a:cs typeface="Times New Roman" panose="02020603050405020304" pitchFamily="18" charset="0"/>
              </a:rPr>
              <a:t>Secondly,</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they have</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no side-effects i.e.</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they do modify</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any</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argument</a:t>
            </a:r>
            <a:r>
              <a:rPr sz="2200" spc="-5" dirty="0">
                <a:latin typeface="Times New Roman" panose="02020603050405020304" pitchFamily="18" charset="0"/>
                <a:cs typeface="Times New Roman" panose="02020603050405020304" pitchFamily="18" charset="0"/>
              </a:rPr>
              <a:t> or</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global variables or</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output something.</a:t>
            </a:r>
            <a:endParaRPr sz="2200" dirty="0">
              <a:latin typeface="Times New Roman" panose="02020603050405020304" pitchFamily="18" charset="0"/>
              <a:cs typeface="Times New Roman" panose="02020603050405020304" pitchFamily="18" charset="0"/>
            </a:endParaRPr>
          </a:p>
          <a:p>
            <a:pPr marL="264795" marR="5080" indent="-252730">
              <a:lnSpc>
                <a:spcPct val="150000"/>
              </a:lnSpc>
              <a:buFont typeface="Arial MT"/>
              <a:buChar char="•"/>
              <a:tabLst>
                <a:tab pos="264795" algn="l"/>
                <a:tab pos="265430" algn="l"/>
              </a:tabLst>
            </a:pPr>
            <a:r>
              <a:rPr sz="2200" dirty="0">
                <a:latin typeface="Times New Roman" panose="02020603050405020304" pitchFamily="18" charset="0"/>
                <a:cs typeface="Times New Roman" panose="02020603050405020304" pitchFamily="18" charset="0"/>
              </a:rPr>
              <a:t>A</a:t>
            </a:r>
            <a:r>
              <a:rPr sz="2200" spc="3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simple</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example</a:t>
            </a:r>
            <a:r>
              <a:rPr sz="2200" spc="3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would</a:t>
            </a:r>
            <a:r>
              <a:rPr sz="2200" spc="3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be</a:t>
            </a:r>
            <a:r>
              <a:rPr sz="2200" spc="31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to</a:t>
            </a:r>
            <a:r>
              <a:rPr sz="2200" spc="3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receive</a:t>
            </a:r>
            <a:r>
              <a:rPr sz="2200" spc="31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collection</a:t>
            </a:r>
            <a:r>
              <a:rPr sz="2200" spc="3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of</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numbers</a:t>
            </a:r>
            <a:r>
              <a:rPr sz="2200" spc="31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expect</a:t>
            </a:r>
            <a:r>
              <a:rPr sz="2200" spc="3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it</a:t>
            </a:r>
            <a:r>
              <a:rPr sz="2200" spc="3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to</a:t>
            </a:r>
            <a:r>
              <a:rPr sz="2200" spc="3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increment</a:t>
            </a:r>
            <a:r>
              <a:rPr sz="2200" spc="3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each</a:t>
            </a:r>
            <a:r>
              <a:rPr sz="2200" spc="3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element</a:t>
            </a:r>
            <a:r>
              <a:rPr sz="2200" spc="3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of</a:t>
            </a:r>
            <a:r>
              <a:rPr sz="2200" spc="3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this </a:t>
            </a:r>
            <a:r>
              <a:rPr sz="2200" spc="-38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collection.</a:t>
            </a:r>
            <a:endParaRPr sz="2200" dirty="0">
              <a:latin typeface="Times New Roman" panose="02020603050405020304" pitchFamily="18" charset="0"/>
              <a:cs typeface="Times New Roman" panose="02020603050405020304" pitchFamily="18" charset="0"/>
            </a:endParaRPr>
          </a:p>
          <a:p>
            <a:pPr marL="264795" marR="17780" indent="-252730">
              <a:lnSpc>
                <a:spcPct val="150000"/>
              </a:lnSpc>
              <a:buFont typeface="Arial MT"/>
              <a:buChar char="•"/>
              <a:tabLst>
                <a:tab pos="264795" algn="l"/>
                <a:tab pos="265430" algn="l"/>
              </a:tabLst>
            </a:pPr>
            <a:r>
              <a:rPr sz="2200" spc="-5" dirty="0">
                <a:latin typeface="Times New Roman" panose="02020603050405020304" pitchFamily="18" charset="0"/>
                <a:cs typeface="Times New Roman" panose="02020603050405020304" pitchFamily="18" charset="0"/>
              </a:rPr>
              <a:t>We</a:t>
            </a:r>
            <a:r>
              <a:rPr sz="2200" spc="4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receive</a:t>
            </a:r>
            <a:r>
              <a:rPr sz="2200" spc="4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a:t>
            </a:r>
            <a:r>
              <a:rPr sz="2200" spc="4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numbers</a:t>
            </a:r>
            <a:r>
              <a:rPr sz="2200" spc="4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collection,</a:t>
            </a:r>
            <a:r>
              <a:rPr sz="2200" spc="4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use</a:t>
            </a:r>
            <a:r>
              <a:rPr sz="2200" spc="4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map</a:t>
            </a:r>
            <a:r>
              <a:rPr sz="2200" spc="4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with</a:t>
            </a:r>
            <a:r>
              <a:rPr sz="2200" spc="4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a:t>
            </a:r>
            <a:r>
              <a:rPr sz="2200" spc="150" dirty="0">
                <a:latin typeface="Times New Roman" panose="02020603050405020304" pitchFamily="18" charset="0"/>
                <a:cs typeface="Times New Roman" panose="02020603050405020304" pitchFamily="18" charset="0"/>
              </a:rPr>
              <a:t> </a:t>
            </a:r>
            <a:r>
              <a:rPr sz="2200" b="1" i="1" spc="-5" dirty="0">
                <a:latin typeface="Times New Roman" panose="02020603050405020304" pitchFamily="18" charset="0"/>
                <a:cs typeface="Times New Roman" panose="02020603050405020304" pitchFamily="18" charset="0"/>
              </a:rPr>
              <a:t>inc</a:t>
            </a:r>
            <a:r>
              <a:rPr sz="2200" b="1" i="1" spc="5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a:t>
            </a:r>
            <a:r>
              <a:rPr sz="2200" spc="4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to</a:t>
            </a:r>
            <a:r>
              <a:rPr sz="2200" spc="4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increment</a:t>
            </a:r>
            <a:r>
              <a:rPr sz="2200" spc="4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each</a:t>
            </a:r>
            <a:r>
              <a:rPr sz="2200" spc="4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number,</a:t>
            </a:r>
            <a:r>
              <a:rPr sz="2200" spc="4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4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return</a:t>
            </a:r>
            <a:r>
              <a:rPr sz="2200" spc="4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a:t>
            </a:r>
            <a:r>
              <a:rPr sz="2200" spc="4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new</a:t>
            </a:r>
            <a:r>
              <a:rPr sz="2200" spc="4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list</a:t>
            </a:r>
            <a:r>
              <a:rPr sz="2200" spc="4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of </a:t>
            </a:r>
            <a:r>
              <a:rPr sz="2200" spc="-38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incremented</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numbers.</a:t>
            </a:r>
            <a:endParaRPr sz="2200" dirty="0">
              <a:latin typeface="Times New Roman" panose="02020603050405020304" pitchFamily="18" charset="0"/>
              <a:cs typeface="Times New Roman" panose="02020603050405020304" pitchFamily="18" charset="0"/>
            </a:endParaRPr>
          </a:p>
        </p:txBody>
      </p:sp>
      <p:sp>
        <p:nvSpPr>
          <p:cNvPr id="11" name="Slide Number Placeholder 10"/>
          <p:cNvSpPr>
            <a:spLocks noGrp="1"/>
          </p:cNvSpPr>
          <p:nvPr>
            <p:ph type="sldNum" sz="quarter" idx="7"/>
          </p:nvPr>
        </p:nvSpPr>
        <p:spPr/>
        <p:txBody>
          <a:bodyPr/>
          <a:lstStyle/>
          <a:p>
            <a:fld id="{B6F15528-21DE-4FAA-801E-634DDDAF4B2B}" type="slidenum">
              <a:rPr/>
              <a:t>7</a:t>
            </a:fld>
            <a:endParaRPr/>
          </a:p>
        </p:txBody>
      </p:sp>
      <p:sp>
        <p:nvSpPr>
          <p:cNvPr id="12" name="Footer Placeholder 11"/>
          <p:cNvSpPr>
            <a:spLocks noGrp="1"/>
          </p:cNvSpPr>
          <p:nvPr>
            <p:ph type="ftr" sz="quarter" idx="5"/>
          </p:nvPr>
        </p:nvSpPr>
        <p:spPr/>
        <p:txBody>
          <a:bodyPr/>
          <a:lstStyle/>
          <a:p>
            <a:r>
              <a:t>UNIT IV : Pythonic Programming Paradigm</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42456" y="77324"/>
            <a:ext cx="12150090" cy="416559"/>
          </a:xfrm>
          <a:prstGeom prst="rect">
            <a:avLst/>
          </a:prstGeom>
        </p:spPr>
        <p:txBody>
          <a:bodyPr vert="horz" wrap="square" lIns="0" tIns="13970" rIns="0" bIns="0" rtlCol="0">
            <a:spAutoFit/>
          </a:bodyPr>
          <a:lstStyle/>
          <a:p>
            <a:pPr marL="12700">
              <a:lnSpc>
                <a:spcPct val="100000"/>
              </a:lnSpc>
              <a:spcBef>
                <a:spcPts val="110"/>
              </a:spcBef>
              <a:tabLst>
                <a:tab pos="12136755" algn="l"/>
              </a:tabLst>
            </a:pPr>
            <a:r>
              <a:rPr sz="2550" u="heavy" dirty="0">
                <a:uFill>
                  <a:solidFill>
                    <a:srgbClr val="1F97C8"/>
                  </a:solidFill>
                </a:uFill>
              </a:rPr>
              <a:t>1.</a:t>
            </a:r>
            <a:r>
              <a:rPr sz="2550" u="heavy" spc="-20" dirty="0">
                <a:uFill>
                  <a:solidFill>
                    <a:srgbClr val="1F97C8"/>
                  </a:solidFill>
                </a:uFill>
              </a:rPr>
              <a:t> </a:t>
            </a:r>
            <a:r>
              <a:rPr sz="2550" u="heavy" spc="-5" dirty="0">
                <a:uFill>
                  <a:solidFill>
                    <a:srgbClr val="1F97C8"/>
                  </a:solidFill>
                </a:uFill>
              </a:rPr>
              <a:t>Pure</a:t>
            </a:r>
            <a:r>
              <a:rPr sz="2550" u="heavy" spc="-25" dirty="0">
                <a:uFill>
                  <a:solidFill>
                    <a:srgbClr val="1F97C8"/>
                  </a:solidFill>
                </a:uFill>
              </a:rPr>
              <a:t> </a:t>
            </a:r>
            <a:r>
              <a:rPr sz="2550" u="heavy" spc="5" dirty="0">
                <a:uFill>
                  <a:solidFill>
                    <a:srgbClr val="1F97C8"/>
                  </a:solidFill>
                </a:uFill>
              </a:rPr>
              <a:t>functions	</a:t>
            </a:r>
            <a:endParaRPr sz="2550"/>
          </a:p>
        </p:txBody>
      </p:sp>
      <p:sp>
        <p:nvSpPr>
          <p:cNvPr id="8" name="object 8"/>
          <p:cNvSpPr txBox="1"/>
          <p:nvPr/>
        </p:nvSpPr>
        <p:spPr>
          <a:xfrm>
            <a:off x="3501880" y="493883"/>
            <a:ext cx="4422919" cy="3335528"/>
          </a:xfrm>
          <a:prstGeom prst="rect">
            <a:avLst/>
          </a:prstGeom>
        </p:spPr>
        <p:txBody>
          <a:bodyPr vert="horz" wrap="square" lIns="0" tIns="146050" rIns="0" bIns="0" rtlCol="0">
            <a:spAutoFit/>
          </a:bodyPr>
          <a:lstStyle/>
          <a:p>
            <a:pPr marL="12700">
              <a:lnSpc>
                <a:spcPct val="100000"/>
              </a:lnSpc>
              <a:spcBef>
                <a:spcPts val="1150"/>
              </a:spcBef>
            </a:pPr>
            <a:r>
              <a:rPr sz="2200" spc="-5" dirty="0">
                <a:latin typeface="Times New Roman" panose="02020603050405020304" pitchFamily="18" charset="0"/>
                <a:cs typeface="Times New Roman" panose="02020603050405020304" pitchFamily="18" charset="0"/>
              </a:rPr>
              <a:t>Example:</a:t>
            </a:r>
            <a:endParaRPr sz="2200" dirty="0">
              <a:latin typeface="Times New Roman" panose="02020603050405020304" pitchFamily="18" charset="0"/>
              <a:cs typeface="Times New Roman" panose="02020603050405020304" pitchFamily="18" charset="0"/>
            </a:endParaRPr>
          </a:p>
          <a:p>
            <a:pPr marL="469900">
              <a:lnSpc>
                <a:spcPct val="100000"/>
              </a:lnSpc>
              <a:spcBef>
                <a:spcPts val="1050"/>
              </a:spcBef>
            </a:pPr>
            <a:r>
              <a:rPr sz="2200" spc="-5" dirty="0">
                <a:latin typeface="Times New Roman" panose="02020603050405020304" pitchFamily="18" charset="0"/>
                <a:cs typeface="Times New Roman" panose="02020603050405020304" pitchFamily="18" charset="0"/>
              </a:rPr>
              <a:t>def</a:t>
            </a:r>
            <a:r>
              <a:rPr sz="2200" spc="-4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inc(x):</a:t>
            </a:r>
            <a:endParaRPr sz="2200" dirty="0">
              <a:latin typeface="Times New Roman" panose="02020603050405020304" pitchFamily="18" charset="0"/>
              <a:cs typeface="Times New Roman" panose="02020603050405020304" pitchFamily="18" charset="0"/>
            </a:endParaRPr>
          </a:p>
          <a:p>
            <a:pPr marL="469900" marR="961390" indent="457200">
              <a:lnSpc>
                <a:spcPct val="100000"/>
              </a:lnSpc>
            </a:pPr>
            <a:r>
              <a:rPr sz="2200" spc="-5" dirty="0">
                <a:latin typeface="Times New Roman" panose="02020603050405020304" pitchFamily="18" charset="0"/>
                <a:cs typeface="Times New Roman" panose="02020603050405020304" pitchFamily="18" charset="0"/>
              </a:rPr>
              <a:t>return x+1 </a:t>
            </a:r>
            <a:r>
              <a:rPr sz="2200" dirty="0">
                <a:latin typeface="Times New Roman" panose="02020603050405020304" pitchFamily="18" charset="0"/>
                <a:cs typeface="Times New Roman" panose="02020603050405020304" pitchFamily="18" charset="0"/>
              </a:rPr>
              <a:t> </a:t>
            </a:r>
            <a:endParaRPr lang="en-US" sz="2200" dirty="0" smtClean="0">
              <a:latin typeface="Times New Roman" panose="02020603050405020304" pitchFamily="18" charset="0"/>
              <a:cs typeface="Times New Roman" panose="02020603050405020304" pitchFamily="18" charset="0"/>
            </a:endParaRPr>
          </a:p>
          <a:p>
            <a:pPr marL="469900" marR="961390" indent="457200">
              <a:lnSpc>
                <a:spcPct val="100000"/>
              </a:lnSpc>
            </a:pPr>
            <a:endParaRPr lang="en-US" sz="2200" dirty="0" smtClean="0">
              <a:latin typeface="Times New Roman" panose="02020603050405020304" pitchFamily="18" charset="0"/>
              <a:cs typeface="Times New Roman" panose="02020603050405020304" pitchFamily="18" charset="0"/>
            </a:endParaRPr>
          </a:p>
          <a:p>
            <a:pPr marL="469900" marR="961390" indent="-4763">
              <a:lnSpc>
                <a:spcPct val="100000"/>
              </a:lnSpc>
            </a:pPr>
            <a:r>
              <a:rPr lang="en-US" sz="2200" spc="-5" dirty="0" err="1" smtClean="0">
                <a:latin typeface="Times New Roman" panose="02020603050405020304" pitchFamily="18" charset="0"/>
                <a:cs typeface="Times New Roman" panose="02020603050405020304" pitchFamily="18" charset="0"/>
              </a:rPr>
              <a:t>num</a:t>
            </a:r>
            <a:r>
              <a:rPr sz="2200" spc="-5" dirty="0" smtClean="0">
                <a:latin typeface="Times New Roman" panose="02020603050405020304" pitchFamily="18" charset="0"/>
                <a:cs typeface="Times New Roman" panose="02020603050405020304" pitchFamily="18" charset="0"/>
              </a:rPr>
              <a:t>=[</a:t>
            </a:r>
            <a:r>
              <a:rPr sz="2200" spc="-5" dirty="0">
                <a:latin typeface="Times New Roman" panose="02020603050405020304" pitchFamily="18" charset="0"/>
                <a:cs typeface="Times New Roman" panose="02020603050405020304" pitchFamily="18" charset="0"/>
              </a:rPr>
              <a:t>8,3,7,5,2,6]</a:t>
            </a:r>
            <a:endParaRPr sz="2200" dirty="0">
              <a:latin typeface="Times New Roman" panose="02020603050405020304" pitchFamily="18" charset="0"/>
              <a:cs typeface="Times New Roman" panose="02020603050405020304" pitchFamily="18" charset="0"/>
            </a:endParaRPr>
          </a:p>
          <a:p>
            <a:pPr marL="469900" marR="5080">
              <a:lnSpc>
                <a:spcPct val="100000"/>
              </a:lnSpc>
              <a:tabLst>
                <a:tab pos="1941830" algn="l"/>
              </a:tabLst>
            </a:pPr>
            <a:r>
              <a:rPr sz="2200" spc="-5" dirty="0" smtClean="0">
                <a:latin typeface="Times New Roman" panose="02020603050405020304" pitchFamily="18" charset="0"/>
                <a:cs typeface="Times New Roman" panose="02020603050405020304" pitchFamily="18" charset="0"/>
              </a:rPr>
              <a:t>x=map(</a:t>
            </a:r>
            <a:r>
              <a:rPr sz="2200" spc="-5" dirty="0" err="1" smtClean="0">
                <a:latin typeface="Times New Roman" panose="02020603050405020304" pitchFamily="18" charset="0"/>
                <a:cs typeface="Times New Roman" panose="02020603050405020304" pitchFamily="18" charset="0"/>
              </a:rPr>
              <a:t>inc,</a:t>
            </a:r>
            <a:r>
              <a:rPr lang="en-US" sz="2200" spc="-5" dirty="0" err="1" smtClean="0">
                <a:latin typeface="Times New Roman" panose="02020603050405020304" pitchFamily="18" charset="0"/>
                <a:cs typeface="Times New Roman" panose="02020603050405020304" pitchFamily="18" charset="0"/>
              </a:rPr>
              <a:t>num</a:t>
            </a:r>
            <a:r>
              <a:rPr sz="2200" dirty="0" smtClean="0">
                <a:latin typeface="Times New Roman" panose="02020603050405020304" pitchFamily="18" charset="0"/>
                <a:cs typeface="Times New Roman" panose="02020603050405020304" pitchFamily="18" charset="0"/>
              </a:rPr>
              <a:t>)</a:t>
            </a:r>
            <a:endParaRPr lang="en-US" sz="2200" dirty="0" smtClean="0">
              <a:latin typeface="Times New Roman" panose="02020603050405020304" pitchFamily="18" charset="0"/>
              <a:cs typeface="Times New Roman" panose="02020603050405020304" pitchFamily="18" charset="0"/>
            </a:endParaRPr>
          </a:p>
          <a:p>
            <a:pPr marL="469900" marR="5080">
              <a:lnSpc>
                <a:spcPct val="100000"/>
              </a:lnSpc>
              <a:tabLst>
                <a:tab pos="1941830" algn="l"/>
              </a:tabLst>
            </a:pPr>
            <a:r>
              <a:rPr sz="2200" dirty="0">
                <a:latin typeface="Times New Roman" panose="02020603050405020304" pitchFamily="18" charset="0"/>
                <a:cs typeface="Times New Roman" panose="02020603050405020304" pitchFamily="18" charset="0"/>
              </a:rPr>
              <a:t>	</a:t>
            </a:r>
            <a:endParaRPr lang="en-US" sz="2200" dirty="0" smtClean="0">
              <a:latin typeface="Times New Roman" panose="02020603050405020304" pitchFamily="18" charset="0"/>
              <a:cs typeface="Times New Roman" panose="02020603050405020304" pitchFamily="18" charset="0"/>
            </a:endParaRPr>
          </a:p>
          <a:p>
            <a:pPr marL="469900" marR="5080">
              <a:lnSpc>
                <a:spcPct val="100000"/>
              </a:lnSpc>
              <a:tabLst>
                <a:tab pos="1941830" algn="l"/>
              </a:tabLst>
            </a:pPr>
            <a:r>
              <a:rPr sz="2200" spc="-5" dirty="0" smtClean="0">
                <a:latin typeface="Times New Roman" panose="02020603050405020304" pitchFamily="18" charset="0"/>
                <a:cs typeface="Times New Roman" panose="02020603050405020304" pitchFamily="18" charset="0"/>
              </a:rPr>
              <a:t>#print(</a:t>
            </a:r>
            <a:r>
              <a:rPr lang="en-US" sz="2200" spc="-5" dirty="0" err="1" smtClean="0">
                <a:latin typeface="Times New Roman" panose="02020603050405020304" pitchFamily="18" charset="0"/>
                <a:cs typeface="Times New Roman" panose="02020603050405020304" pitchFamily="18" charset="0"/>
              </a:rPr>
              <a:t>num</a:t>
            </a:r>
            <a:r>
              <a:rPr sz="2200" spc="-5" dirty="0" smtClean="0">
                <a:latin typeface="Times New Roman" panose="02020603050405020304" pitchFamily="18" charset="0"/>
                <a:cs typeface="Times New Roman" panose="02020603050405020304" pitchFamily="18" charset="0"/>
              </a:rPr>
              <a:t>)  </a:t>
            </a:r>
            <a:endParaRPr lang="en-US" sz="2200" spc="-5" dirty="0" smtClean="0">
              <a:latin typeface="Times New Roman" panose="02020603050405020304" pitchFamily="18" charset="0"/>
              <a:cs typeface="Times New Roman" panose="02020603050405020304" pitchFamily="18" charset="0"/>
            </a:endParaRPr>
          </a:p>
          <a:p>
            <a:pPr marL="469900" marR="5080">
              <a:lnSpc>
                <a:spcPct val="100000"/>
              </a:lnSpc>
              <a:tabLst>
                <a:tab pos="1941830" algn="l"/>
              </a:tabLst>
            </a:pPr>
            <a:r>
              <a:rPr sz="2200" spc="-5" dirty="0" smtClean="0">
                <a:latin typeface="Times New Roman" panose="02020603050405020304" pitchFamily="18" charset="0"/>
                <a:cs typeface="Times New Roman" panose="02020603050405020304" pitchFamily="18" charset="0"/>
              </a:rPr>
              <a:t>print(x</a:t>
            </a:r>
            <a:r>
              <a:rPr sz="2200" spc="-5" dirty="0">
                <a:latin typeface="Times New Roman" panose="02020603050405020304" pitchFamily="18" charset="0"/>
                <a:cs typeface="Times New Roman" panose="02020603050405020304" pitchFamily="18" charset="0"/>
              </a:rPr>
              <a:t>)</a:t>
            </a:r>
            <a:endParaRPr sz="2200" dirty="0">
              <a:latin typeface="Times New Roman" panose="02020603050405020304" pitchFamily="18" charset="0"/>
              <a:cs typeface="Times New Roman" panose="02020603050405020304" pitchFamily="18" charset="0"/>
            </a:endParaRPr>
          </a:p>
        </p:txBody>
      </p:sp>
      <p:sp>
        <p:nvSpPr>
          <p:cNvPr id="9" name="object 9"/>
          <p:cNvSpPr txBox="1"/>
          <p:nvPr/>
        </p:nvSpPr>
        <p:spPr>
          <a:xfrm>
            <a:off x="229190" y="4030371"/>
            <a:ext cx="11733619" cy="2367315"/>
          </a:xfrm>
          <a:prstGeom prst="rect">
            <a:avLst/>
          </a:prstGeom>
        </p:spPr>
        <p:txBody>
          <a:bodyPr vert="horz" wrap="square" lIns="0" tIns="12700" rIns="0" bIns="0" rtlCol="0">
            <a:spAutoFit/>
          </a:bodyPr>
          <a:lstStyle/>
          <a:p>
            <a:pPr marL="12700" marR="5080" algn="just">
              <a:lnSpc>
                <a:spcPct val="150000"/>
              </a:lnSpc>
              <a:spcBef>
                <a:spcPts val="100"/>
              </a:spcBef>
            </a:pPr>
            <a:r>
              <a:rPr sz="2200" b="1" spc="-5" dirty="0">
                <a:latin typeface="Times New Roman" panose="02020603050405020304" pitchFamily="18" charset="0"/>
                <a:cs typeface="Times New Roman" panose="02020603050405020304" pitchFamily="18" charset="0"/>
              </a:rPr>
              <a:t>Note:</a:t>
            </a:r>
            <a:r>
              <a:rPr sz="2200" b="1" spc="3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Function</a:t>
            </a:r>
            <a:r>
              <a:rPr lang="en-US" sz="2200" spc="-2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involving</a:t>
            </a:r>
            <a:r>
              <a:rPr lang="en-US" sz="2200" spc="-1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Reading</a:t>
            </a:r>
            <a:r>
              <a:rPr lang="en-US" sz="2200" spc="-2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files, using</a:t>
            </a:r>
            <a:r>
              <a:rPr lang="en-US" sz="2200" spc="-1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global</a:t>
            </a:r>
            <a:r>
              <a:rPr lang="en-US" sz="2200" spc="-1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data,</a:t>
            </a:r>
            <a:r>
              <a:rPr lang="en-US" sz="2200" spc="-1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random</a:t>
            </a:r>
            <a:r>
              <a:rPr lang="en-US" sz="2200" spc="-1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numbers</a:t>
            </a:r>
            <a:r>
              <a:rPr lang="en-US" sz="2200" spc="-1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are</a:t>
            </a:r>
            <a:r>
              <a:rPr lang="en-US" sz="2200" spc="-1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impure</a:t>
            </a:r>
            <a:r>
              <a:rPr lang="en-US" sz="2200" spc="-1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functions</a:t>
            </a:r>
            <a:endParaRPr lang="en-US" sz="2200" dirty="0">
              <a:latin typeface="Times New Roman" panose="02020603050405020304" pitchFamily="18" charset="0"/>
              <a:cs typeface="Times New Roman" panose="02020603050405020304" pitchFamily="18" charset="0"/>
            </a:endParaRPr>
          </a:p>
          <a:p>
            <a:pPr marL="12700" marR="5080" algn="just">
              <a:lnSpc>
                <a:spcPct val="150000"/>
              </a:lnSpc>
              <a:spcBef>
                <a:spcPts val="100"/>
              </a:spcBef>
            </a:pPr>
            <a:r>
              <a:rPr sz="2200" spc="20" dirty="0" smtClean="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And</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in</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such</a:t>
            </a:r>
            <a:r>
              <a:rPr sz="2200" spc="2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cases,</a:t>
            </a:r>
            <a:r>
              <a:rPr sz="2200" spc="2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return</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value</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of</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that </a:t>
            </a:r>
            <a:r>
              <a:rPr sz="2200" spc="-38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is not entirely dependent on the list of </a:t>
            </a:r>
            <a:r>
              <a:rPr sz="2200" dirty="0">
                <a:latin typeface="Times New Roman" panose="02020603050405020304" pitchFamily="18" charset="0"/>
                <a:cs typeface="Times New Roman" panose="02020603050405020304" pitchFamily="18" charset="0"/>
              </a:rPr>
              <a:t>arguments</a:t>
            </a:r>
            <a:r>
              <a:rPr sz="2200" spc="-5" dirty="0">
                <a:latin typeface="Times New Roman" panose="02020603050405020304" pitchFamily="18" charset="0"/>
                <a:cs typeface="Times New Roman" panose="02020603050405020304" pitchFamily="18" charset="0"/>
              </a:rPr>
              <a:t> received </a:t>
            </a:r>
            <a:r>
              <a:rPr sz="2200" dirty="0">
                <a:latin typeface="Times New Roman" panose="02020603050405020304" pitchFamily="18" charset="0"/>
                <a:cs typeface="Times New Roman" panose="02020603050405020304" pitchFamily="18" charset="0"/>
              </a:rPr>
              <a:t>as</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input </a:t>
            </a:r>
            <a:r>
              <a:rPr sz="2200" dirty="0">
                <a:latin typeface="Times New Roman" panose="02020603050405020304" pitchFamily="18" charset="0"/>
                <a:cs typeface="Times New Roman" panose="02020603050405020304" pitchFamily="18" charset="0"/>
              </a:rPr>
              <a:t>and</a:t>
            </a:r>
            <a:r>
              <a:rPr sz="2200" spc="-5" dirty="0">
                <a:latin typeface="Times New Roman" panose="02020603050405020304" pitchFamily="18" charset="0"/>
                <a:cs typeface="Times New Roman" panose="02020603050405020304" pitchFamily="18" charset="0"/>
              </a:rPr>
              <a:t> can </a:t>
            </a:r>
            <a:r>
              <a:rPr sz="2200" dirty="0">
                <a:latin typeface="Times New Roman" panose="02020603050405020304" pitchFamily="18" charset="0"/>
                <a:cs typeface="Times New Roman" panose="02020603050405020304" pitchFamily="18" charset="0"/>
              </a:rPr>
              <a:t>also</a:t>
            </a:r>
            <a:r>
              <a:rPr sz="2200" spc="-5" dirty="0">
                <a:latin typeface="Times New Roman" panose="02020603050405020304" pitchFamily="18" charset="0"/>
                <a:cs typeface="Times New Roman" panose="02020603050405020304" pitchFamily="18" charset="0"/>
              </a:rPr>
              <a:t> have side effects.</a:t>
            </a:r>
            <a:endParaRPr sz="2200" dirty="0">
              <a:latin typeface="Times New Roman" panose="02020603050405020304" pitchFamily="18" charset="0"/>
              <a:cs typeface="Times New Roman" panose="02020603050405020304" pitchFamily="18" charset="0"/>
            </a:endParaRPr>
          </a:p>
          <a:p>
            <a:pPr marL="12700" algn="just">
              <a:lnSpc>
                <a:spcPct val="100000"/>
              </a:lnSpc>
              <a:spcBef>
                <a:spcPts val="1050"/>
              </a:spcBef>
            </a:pPr>
            <a:r>
              <a:rPr sz="2200" dirty="0">
                <a:latin typeface="Times New Roman" panose="02020603050405020304" pitchFamily="18" charset="0"/>
                <a:cs typeface="Times New Roman" panose="02020603050405020304" pitchFamily="18" charset="0"/>
              </a:rPr>
              <a:t>A</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side effect is </a:t>
            </a:r>
            <a:r>
              <a:rPr sz="2200" dirty="0">
                <a:latin typeface="Times New Roman" panose="02020603050405020304" pitchFamily="18" charset="0"/>
                <a:cs typeface="Times New Roman" panose="02020603050405020304" pitchFamily="18" charset="0"/>
              </a:rPr>
              <a:t>a</a:t>
            </a:r>
            <a:r>
              <a:rPr sz="2200" spc="-5" dirty="0">
                <a:latin typeface="Times New Roman" panose="02020603050405020304" pitchFamily="18" charset="0"/>
                <a:cs typeface="Times New Roman" panose="02020603050405020304" pitchFamily="18" charset="0"/>
              </a:rPr>
              <a:t> change in the state of </a:t>
            </a:r>
            <a:r>
              <a:rPr sz="2200" dirty="0">
                <a:latin typeface="Times New Roman" panose="02020603050405020304" pitchFamily="18" charset="0"/>
                <a:cs typeface="Times New Roman" panose="02020603050405020304" pitchFamily="18" charset="0"/>
              </a:rPr>
              <a:t>an</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application</a:t>
            </a:r>
            <a:r>
              <a:rPr sz="2200" spc="-5" dirty="0">
                <a:latin typeface="Times New Roman" panose="02020603050405020304" pitchFamily="18" charset="0"/>
                <a:cs typeface="Times New Roman" panose="02020603050405020304" pitchFamily="18" charset="0"/>
              </a:rPr>
              <a:t> that is observable outside the called function other than its return value</a:t>
            </a:r>
            <a:endParaRPr sz="2200" dirty="0">
              <a:latin typeface="Times New Roman" panose="02020603050405020304" pitchFamily="18" charset="0"/>
              <a:cs typeface="Times New Roman" panose="02020603050405020304" pitchFamily="18" charset="0"/>
            </a:endParaRPr>
          </a:p>
        </p:txBody>
      </p:sp>
      <p:pic>
        <p:nvPicPr>
          <p:cNvPr id="10" name="object 10"/>
          <p:cNvPicPr/>
          <p:nvPr/>
        </p:nvPicPr>
        <p:blipFill>
          <a:blip r:embed="rId3" cstate="print"/>
          <a:stretch>
            <a:fillRect/>
          </a:stretch>
        </p:blipFill>
        <p:spPr>
          <a:xfrm>
            <a:off x="7766411" y="979946"/>
            <a:ext cx="2711499" cy="1593197"/>
          </a:xfrm>
          <a:prstGeom prst="rect">
            <a:avLst/>
          </a:prstGeom>
        </p:spPr>
      </p:pic>
      <p:sp>
        <p:nvSpPr>
          <p:cNvPr id="11" name="Slide Number Placeholder 10"/>
          <p:cNvSpPr>
            <a:spLocks noGrp="1"/>
          </p:cNvSpPr>
          <p:nvPr>
            <p:ph type="sldNum" sz="quarter" idx="7"/>
          </p:nvPr>
        </p:nvSpPr>
        <p:spPr/>
        <p:txBody>
          <a:bodyPr/>
          <a:lstStyle/>
          <a:p>
            <a:fld id="{B6F15528-21DE-4FAA-801E-634DDDAF4B2B}" type="slidenum">
              <a:rPr/>
              <a:t>8</a:t>
            </a:fld>
            <a:endParaRPr/>
          </a:p>
        </p:txBody>
      </p:sp>
      <p:sp>
        <p:nvSpPr>
          <p:cNvPr id="12" name="Footer Placeholder 11"/>
          <p:cNvSpPr>
            <a:spLocks noGrp="1"/>
          </p:cNvSpPr>
          <p:nvPr>
            <p:ph type="ftr" sz="quarter" idx="5"/>
          </p:nvPr>
        </p:nvSpPr>
        <p:spPr/>
        <p:txBody>
          <a:bodyPr/>
          <a:lstStyle/>
          <a:p>
            <a:r>
              <a:t>UNIT IV : Pythonic Programming Paradigm</a:t>
            </a:r>
          </a:p>
        </p:txBody>
      </p:sp>
      <p:sp>
        <p:nvSpPr>
          <p:cNvPr id="13" name="Rectangle 1"/>
          <p:cNvSpPr>
            <a:spLocks noChangeArrowheads="1"/>
          </p:cNvSpPr>
          <p:nvPr/>
        </p:nvSpPr>
        <p:spPr bwMode="auto">
          <a:xfrm>
            <a:off x="552355" y="694843"/>
            <a:ext cx="1809845" cy="76684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Syntax: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map(fun, </a:t>
            </a:r>
            <a:r>
              <a:rPr kumimoji="0" lang="en-US" altLang="en-US" sz="2200" b="0" i="0" u="none" strike="noStrike" cap="none" normalizeH="0" baseline="0" dirty="0" err="1" smtClean="0">
                <a:ln>
                  <a:noFill/>
                </a:ln>
                <a:solidFill>
                  <a:srgbClr val="273239"/>
                </a:solidFill>
                <a:effectLst/>
                <a:latin typeface="Times New Roman" panose="02020603050405020304" pitchFamily="18" charset="0"/>
                <a:cs typeface="Times New Roman" panose="02020603050405020304" pitchFamily="18" charset="0"/>
              </a:rPr>
              <a:t>iter</a:t>
            </a:r>
            <a:r>
              <a:rPr kumimoji="0" lang="en-US" altLang="en-US" sz="22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322184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92847" y="18871"/>
            <a:ext cx="1978660" cy="416559"/>
          </a:xfrm>
          <a:prstGeom prst="rect">
            <a:avLst/>
          </a:prstGeom>
        </p:spPr>
        <p:txBody>
          <a:bodyPr vert="horz" wrap="square" lIns="0" tIns="13970" rIns="0" bIns="0" rtlCol="0">
            <a:spAutoFit/>
          </a:bodyPr>
          <a:lstStyle/>
          <a:p>
            <a:pPr marL="12700">
              <a:lnSpc>
                <a:spcPct val="100000"/>
              </a:lnSpc>
              <a:spcBef>
                <a:spcPts val="110"/>
              </a:spcBef>
            </a:pPr>
            <a:r>
              <a:rPr sz="2550" dirty="0"/>
              <a:t>2.</a:t>
            </a:r>
            <a:r>
              <a:rPr sz="2550" spc="-65" dirty="0"/>
              <a:t> </a:t>
            </a:r>
            <a:r>
              <a:rPr sz="2550" dirty="0"/>
              <a:t>Recursion</a:t>
            </a:r>
            <a:endParaRPr sz="2550"/>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3"/>
            <a:ext cx="12105640" cy="5979795"/>
          </a:xfrm>
          <a:custGeom>
            <a:avLst/>
            <a:gdLst/>
            <a:ahLst/>
            <a:cxnLst/>
            <a:rect l="l" t="t" r="r" b="b"/>
            <a:pathLst>
              <a:path w="12105640" h="5979795">
                <a:moveTo>
                  <a:pt x="0" y="0"/>
                </a:moveTo>
                <a:lnTo>
                  <a:pt x="12105503" y="0"/>
                </a:lnTo>
                <a:lnTo>
                  <a:pt x="12105503" y="5979174"/>
                </a:lnTo>
                <a:lnTo>
                  <a:pt x="0" y="5979174"/>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194706" y="527287"/>
            <a:ext cx="11784965" cy="1475532"/>
          </a:xfrm>
          <a:prstGeom prst="rect">
            <a:avLst/>
          </a:prstGeom>
        </p:spPr>
        <p:txBody>
          <a:bodyPr vert="horz" wrap="square" lIns="0" tIns="12700" rIns="0" bIns="0" rtlCol="0">
            <a:spAutoFit/>
          </a:bodyPr>
          <a:lstStyle/>
          <a:p>
            <a:pPr marL="336550" marR="5080" indent="-323850" algn="just">
              <a:lnSpc>
                <a:spcPct val="150000"/>
              </a:lnSpc>
              <a:spcBef>
                <a:spcPts val="100"/>
              </a:spcBef>
              <a:buFont typeface="Arial MT"/>
              <a:buChar char="•"/>
              <a:tabLst>
                <a:tab pos="336550" algn="l"/>
              </a:tabLst>
            </a:pPr>
            <a:r>
              <a:rPr sz="2200" spc="-5" dirty="0">
                <a:latin typeface="Times New Roman" panose="02020603050405020304" pitchFamily="18" charset="0"/>
                <a:cs typeface="Times New Roman" panose="02020603050405020304" pitchFamily="18" charset="0"/>
              </a:rPr>
              <a:t>In the functional programming paradigm, there is no for </a:t>
            </a:r>
            <a:r>
              <a:rPr sz="2200" dirty="0">
                <a:latin typeface="Times New Roman" panose="02020603050405020304" pitchFamily="18" charset="0"/>
                <a:cs typeface="Times New Roman" panose="02020603050405020304" pitchFamily="18" charset="0"/>
              </a:rPr>
              <a:t>and </a:t>
            </a:r>
            <a:r>
              <a:rPr sz="2200" spc="-5" dirty="0">
                <a:latin typeface="Times New Roman" panose="02020603050405020304" pitchFamily="18" charset="0"/>
                <a:cs typeface="Times New Roman" panose="02020603050405020304" pitchFamily="18" charset="0"/>
              </a:rPr>
              <a:t>while loops. Instead, functional programming languages rely on </a:t>
            </a:r>
            <a:r>
              <a:rPr sz="22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recursion for iteration. Recursion is implemented using recursive functions, which repetitively call themselves until the base </a:t>
            </a:r>
            <a:r>
              <a:rPr sz="22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case</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is reached.</a:t>
            </a:r>
            <a:endParaRPr sz="2200" dirty="0">
              <a:latin typeface="Times New Roman" panose="02020603050405020304" pitchFamily="18" charset="0"/>
              <a:cs typeface="Times New Roman" panose="02020603050405020304" pitchFamily="18" charset="0"/>
            </a:endParaRPr>
          </a:p>
        </p:txBody>
      </p:sp>
      <p:sp>
        <p:nvSpPr>
          <p:cNvPr id="7" name="object 7"/>
          <p:cNvSpPr txBox="1"/>
          <p:nvPr/>
        </p:nvSpPr>
        <p:spPr>
          <a:xfrm>
            <a:off x="194706" y="4138738"/>
            <a:ext cx="10126980" cy="689932"/>
          </a:xfrm>
          <a:prstGeom prst="rect">
            <a:avLst/>
          </a:prstGeom>
        </p:spPr>
        <p:txBody>
          <a:bodyPr vert="horz" wrap="square" lIns="0" tIns="12700" rIns="0" bIns="0" rtlCol="0">
            <a:spAutoFit/>
          </a:bodyPr>
          <a:lstStyle/>
          <a:p>
            <a:pPr marL="336550" indent="-323850">
              <a:lnSpc>
                <a:spcPct val="100000"/>
              </a:lnSpc>
              <a:spcBef>
                <a:spcPts val="100"/>
              </a:spcBef>
              <a:buFont typeface="Arial MT"/>
              <a:buChar char="•"/>
              <a:tabLst>
                <a:tab pos="335915" algn="l"/>
                <a:tab pos="336550" algn="l"/>
              </a:tabLst>
            </a:pPr>
            <a:r>
              <a:rPr sz="2200" spc="-5" dirty="0">
                <a:latin typeface="Times New Roman" panose="02020603050405020304" pitchFamily="18" charset="0"/>
                <a:cs typeface="Times New Roman" panose="02020603050405020304" pitchFamily="18" charset="0"/>
              </a:rPr>
              <a:t>The</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above</a:t>
            </a:r>
            <a:r>
              <a:rPr sz="2200" spc="-5" dirty="0">
                <a:latin typeface="Times New Roman" panose="02020603050405020304" pitchFamily="18" charset="0"/>
                <a:cs typeface="Times New Roman" panose="02020603050405020304" pitchFamily="18" charset="0"/>
              </a:rPr>
              <a:t> code performs</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recursion task </a:t>
            </a:r>
            <a:r>
              <a:rPr sz="2200" dirty="0">
                <a:latin typeface="Times New Roman" panose="02020603050405020304" pitchFamily="18" charset="0"/>
                <a:cs typeface="Times New Roman" panose="02020603050405020304" pitchFamily="18" charset="0"/>
              </a:rPr>
              <a:t>as</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 loop by</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calling itself with </a:t>
            </a:r>
            <a:r>
              <a:rPr sz="2200" dirty="0">
                <a:latin typeface="Times New Roman" panose="02020603050405020304" pitchFamily="18" charset="0"/>
                <a:cs typeface="Times New Roman" panose="02020603050405020304" pitchFamily="18" charset="0"/>
              </a:rPr>
              <a:t>a</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new start </a:t>
            </a:r>
            <a:r>
              <a:rPr sz="2200" dirty="0">
                <a:latin typeface="Times New Roman" panose="02020603050405020304" pitchFamily="18" charset="0"/>
                <a:cs typeface="Times New Roman" panose="02020603050405020304" pitchFamily="18" charset="0"/>
              </a:rPr>
              <a:t>and</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a:t>
            </a:r>
            <a:r>
              <a:rPr sz="2200" spc="-5" dirty="0">
                <a:latin typeface="Times New Roman" panose="02020603050405020304" pitchFamily="18" charset="0"/>
                <a:cs typeface="Times New Roman" panose="02020603050405020304" pitchFamily="18" charset="0"/>
              </a:rPr>
              <a:t> new </a:t>
            </a:r>
            <a:r>
              <a:rPr sz="2200" dirty="0">
                <a:latin typeface="Times New Roman" panose="02020603050405020304" pitchFamily="18" charset="0"/>
                <a:cs typeface="Times New Roman" panose="02020603050405020304" pitchFamily="18" charset="0"/>
              </a:rPr>
              <a:t>accumulator.</a:t>
            </a:r>
          </a:p>
        </p:txBody>
      </p:sp>
      <p:pic>
        <p:nvPicPr>
          <p:cNvPr id="8" name="object 8"/>
          <p:cNvPicPr/>
          <p:nvPr/>
        </p:nvPicPr>
        <p:blipFill>
          <a:blip r:embed="rId3" cstate="print"/>
          <a:stretch>
            <a:fillRect/>
          </a:stretch>
        </p:blipFill>
        <p:spPr>
          <a:xfrm>
            <a:off x="2302816" y="2145073"/>
            <a:ext cx="7877504" cy="1920088"/>
          </a:xfrm>
          <a:prstGeom prst="rect">
            <a:avLst/>
          </a:prstGeom>
        </p:spPr>
      </p:pic>
      <p:sp>
        <p:nvSpPr>
          <p:cNvPr id="9" name="Slide Number Placeholder 8"/>
          <p:cNvSpPr>
            <a:spLocks noGrp="1"/>
          </p:cNvSpPr>
          <p:nvPr>
            <p:ph type="sldNum" sz="quarter" idx="7"/>
          </p:nvPr>
        </p:nvSpPr>
        <p:spPr/>
        <p:txBody>
          <a:bodyPr/>
          <a:lstStyle/>
          <a:p>
            <a:fld id="{B6F15528-21DE-4FAA-801E-634DDDAF4B2B}" type="slidenum">
              <a:rPr/>
              <a:t>9</a:t>
            </a:fld>
            <a:endParaRPr/>
          </a:p>
        </p:txBody>
      </p:sp>
      <p:sp>
        <p:nvSpPr>
          <p:cNvPr id="10" name="Footer Placeholder 9"/>
          <p:cNvSpPr>
            <a:spLocks noGrp="1"/>
          </p:cNvSpPr>
          <p:nvPr>
            <p:ph type="ftr" sz="quarter" idx="5"/>
          </p:nvPr>
        </p:nvSpPr>
        <p:spPr/>
        <p:txBody>
          <a:bodyPr/>
          <a:lstStyle/>
          <a:p>
            <a:r>
              <a:t>UNIT IV : Pythonic Programming Paradigm</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92847" y="18871"/>
            <a:ext cx="3841115" cy="416559"/>
          </a:xfrm>
          <a:prstGeom prst="rect">
            <a:avLst/>
          </a:prstGeom>
        </p:spPr>
        <p:txBody>
          <a:bodyPr vert="horz" wrap="square" lIns="0" tIns="13970" rIns="0" bIns="0" rtlCol="0">
            <a:spAutoFit/>
          </a:bodyPr>
          <a:lstStyle/>
          <a:p>
            <a:pPr marL="12700">
              <a:lnSpc>
                <a:spcPct val="100000"/>
              </a:lnSpc>
              <a:spcBef>
                <a:spcPts val="110"/>
              </a:spcBef>
            </a:pPr>
            <a:r>
              <a:rPr sz="2550" dirty="0"/>
              <a:t>Referential</a:t>
            </a:r>
            <a:r>
              <a:rPr sz="2550" spc="-55" dirty="0"/>
              <a:t> </a:t>
            </a:r>
            <a:r>
              <a:rPr sz="2550" spc="5" dirty="0"/>
              <a:t>transparency</a:t>
            </a:r>
            <a:endParaRPr sz="2550" dirty="0"/>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3"/>
            <a:ext cx="12105640" cy="5979795"/>
          </a:xfrm>
          <a:custGeom>
            <a:avLst/>
            <a:gdLst/>
            <a:ahLst/>
            <a:cxnLst/>
            <a:rect l="l" t="t" r="r" b="b"/>
            <a:pathLst>
              <a:path w="12105640" h="5979795">
                <a:moveTo>
                  <a:pt x="0" y="0"/>
                </a:moveTo>
                <a:lnTo>
                  <a:pt x="12105503" y="0"/>
                </a:lnTo>
                <a:lnTo>
                  <a:pt x="12105503" y="5979174"/>
                </a:lnTo>
                <a:lnTo>
                  <a:pt x="0" y="5979174"/>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81961" y="659982"/>
            <a:ext cx="11794490" cy="5988819"/>
          </a:xfrm>
          <a:prstGeom prst="rect">
            <a:avLst/>
          </a:prstGeom>
        </p:spPr>
        <p:txBody>
          <a:bodyPr vert="horz" wrap="square" lIns="0" tIns="12700" rIns="0" bIns="0" rtlCol="0">
            <a:spAutoFit/>
          </a:bodyPr>
          <a:lstStyle/>
          <a:p>
            <a:pPr marL="336550" marR="16510" indent="-323850" algn="just">
              <a:lnSpc>
                <a:spcPct val="150000"/>
              </a:lnSpc>
              <a:spcBef>
                <a:spcPts val="100"/>
              </a:spcBef>
              <a:buFont typeface="Arial MT"/>
              <a:buChar char="•"/>
              <a:tabLst>
                <a:tab pos="336550" algn="l"/>
              </a:tabLst>
            </a:pPr>
            <a:r>
              <a:rPr lang="en-US" sz="2200" spc="-5" dirty="0">
                <a:latin typeface="Times New Roman" panose="02020603050405020304" pitchFamily="18" charset="0"/>
                <a:cs typeface="Times New Roman" panose="02020603050405020304" pitchFamily="18" charset="0"/>
              </a:rPr>
              <a:t>Referential transparency is a fundamental concept in functional programming and mathematics. </a:t>
            </a:r>
            <a:endParaRPr lang="en-US" sz="2200" spc="-5" dirty="0" smtClean="0">
              <a:latin typeface="Times New Roman" panose="02020603050405020304" pitchFamily="18" charset="0"/>
              <a:cs typeface="Times New Roman" panose="02020603050405020304" pitchFamily="18" charset="0"/>
            </a:endParaRPr>
          </a:p>
          <a:p>
            <a:pPr marL="336550" marR="16510" indent="-323850" algn="just">
              <a:lnSpc>
                <a:spcPct val="150000"/>
              </a:lnSpc>
              <a:spcBef>
                <a:spcPts val="100"/>
              </a:spcBef>
              <a:buFont typeface="Arial MT"/>
              <a:buChar char="•"/>
              <a:tabLst>
                <a:tab pos="336550" algn="l"/>
              </a:tabLst>
            </a:pPr>
            <a:r>
              <a:rPr lang="en-US" sz="2200" spc="-5" dirty="0" smtClean="0">
                <a:latin typeface="Times New Roman" panose="02020603050405020304" pitchFamily="18" charset="0"/>
                <a:cs typeface="Times New Roman" panose="02020603050405020304" pitchFamily="18" charset="0"/>
              </a:rPr>
              <a:t>It </a:t>
            </a:r>
            <a:r>
              <a:rPr lang="en-US" sz="2200" spc="-5" dirty="0">
                <a:latin typeface="Times New Roman" panose="02020603050405020304" pitchFamily="18" charset="0"/>
                <a:cs typeface="Times New Roman" panose="02020603050405020304" pitchFamily="18" charset="0"/>
              </a:rPr>
              <a:t>refers to a property of functions that means a function, </a:t>
            </a:r>
            <a:r>
              <a:rPr lang="en-US" sz="2200" b="1" spc="-5" dirty="0">
                <a:solidFill>
                  <a:srgbClr val="C00000"/>
                </a:solidFill>
                <a:latin typeface="Times New Roman" panose="02020603050405020304" pitchFamily="18" charset="0"/>
                <a:cs typeface="Times New Roman" panose="02020603050405020304" pitchFamily="18" charset="0"/>
              </a:rPr>
              <a:t>when given the same input, will always produce the same output, and this output can be replaced with the result of the function call </a:t>
            </a:r>
            <a:r>
              <a:rPr lang="en-US" sz="2200" spc="-5" dirty="0">
                <a:latin typeface="Times New Roman" panose="02020603050405020304" pitchFamily="18" charset="0"/>
                <a:cs typeface="Times New Roman" panose="02020603050405020304" pitchFamily="18" charset="0"/>
              </a:rPr>
              <a:t>without changing the behavior of the program</a:t>
            </a:r>
            <a:r>
              <a:rPr lang="en-US" sz="2200" spc="-5" dirty="0" smtClean="0">
                <a:latin typeface="Times New Roman" panose="02020603050405020304" pitchFamily="18" charset="0"/>
                <a:cs typeface="Times New Roman" panose="02020603050405020304" pitchFamily="18" charset="0"/>
              </a:rPr>
              <a:t>.</a:t>
            </a:r>
          </a:p>
          <a:p>
            <a:pPr marL="336550" marR="16510" indent="-323850" algn="just">
              <a:lnSpc>
                <a:spcPct val="150000"/>
              </a:lnSpc>
              <a:spcBef>
                <a:spcPts val="100"/>
              </a:spcBef>
              <a:buFont typeface="Arial MT"/>
              <a:buChar char="•"/>
              <a:tabLst>
                <a:tab pos="336550" algn="l"/>
              </a:tabLst>
            </a:pPr>
            <a:endParaRPr lang="en-US" sz="2200" spc="-5" dirty="0">
              <a:latin typeface="Times New Roman" panose="02020603050405020304" pitchFamily="18" charset="0"/>
              <a:cs typeface="Times New Roman" panose="02020603050405020304" pitchFamily="18" charset="0"/>
            </a:endParaRPr>
          </a:p>
          <a:p>
            <a:pPr marL="336550" marR="16510" indent="-323850" algn="just">
              <a:lnSpc>
                <a:spcPct val="150000"/>
              </a:lnSpc>
              <a:spcBef>
                <a:spcPts val="100"/>
              </a:spcBef>
              <a:buFont typeface="Arial MT"/>
              <a:buChar char="•"/>
              <a:tabLst>
                <a:tab pos="336550" algn="l"/>
              </a:tabLst>
            </a:pPr>
            <a:r>
              <a:rPr sz="2200" spc="-5" dirty="0" smtClean="0">
                <a:latin typeface="Times New Roman" panose="02020603050405020304" pitchFamily="18" charset="0"/>
                <a:cs typeface="Times New Roman" panose="02020603050405020304" pitchFamily="18" charset="0"/>
              </a:rPr>
              <a:t>As </a:t>
            </a:r>
            <a:r>
              <a:rPr sz="2200" dirty="0" smtClean="0">
                <a:latin typeface="Times New Roman" panose="02020603050405020304" pitchFamily="18" charset="0"/>
                <a:cs typeface="Times New Roman" panose="02020603050405020304" pitchFamily="18" charset="0"/>
              </a:rPr>
              <a:t>a </a:t>
            </a:r>
            <a:r>
              <a:rPr sz="2200" spc="-5" dirty="0" smtClean="0">
                <a:latin typeface="Times New Roman" panose="02020603050405020304" pitchFamily="18" charset="0"/>
                <a:cs typeface="Times New Roman" panose="02020603050405020304" pitchFamily="18" charset="0"/>
              </a:rPr>
              <a:t>result, evaluating </a:t>
            </a:r>
            <a:r>
              <a:rPr sz="2200" dirty="0" smtClean="0">
                <a:latin typeface="Times New Roman" panose="02020603050405020304" pitchFamily="18" charset="0"/>
                <a:cs typeface="Times New Roman" panose="02020603050405020304" pitchFamily="18" charset="0"/>
              </a:rPr>
              <a:t>a </a:t>
            </a:r>
            <a:r>
              <a:rPr sz="2200" spc="-5" dirty="0" smtClean="0">
                <a:latin typeface="Times New Roman" panose="02020603050405020304" pitchFamily="18" charset="0"/>
                <a:cs typeface="Times New Roman" panose="02020603050405020304" pitchFamily="18" charset="0"/>
              </a:rPr>
              <a:t>referentially transparent function gives the same value for fixed </a:t>
            </a:r>
            <a:r>
              <a:rPr sz="2200" dirty="0" smtClean="0">
                <a:latin typeface="Times New Roman" panose="02020603050405020304" pitchFamily="18" charset="0"/>
                <a:cs typeface="Times New Roman" panose="02020603050405020304" pitchFamily="18" charset="0"/>
              </a:rPr>
              <a:t>arguments. </a:t>
            </a:r>
            <a:r>
              <a:rPr sz="2200" spc="-5" dirty="0" smtClean="0">
                <a:latin typeface="Times New Roman" panose="02020603050405020304" pitchFamily="18" charset="0"/>
                <a:cs typeface="Times New Roman" panose="02020603050405020304" pitchFamily="18" charset="0"/>
              </a:rPr>
              <a:t>If </a:t>
            </a:r>
            <a:r>
              <a:rPr sz="2200" dirty="0" smtClean="0">
                <a:latin typeface="Times New Roman" panose="02020603050405020304" pitchFamily="18" charset="0"/>
                <a:cs typeface="Times New Roman" panose="02020603050405020304" pitchFamily="18" charset="0"/>
              </a:rPr>
              <a:t>a </a:t>
            </a:r>
            <a:r>
              <a:rPr sz="2200" spc="5" dirty="0" smtClean="0">
                <a:latin typeface="Times New Roman" panose="02020603050405020304" pitchFamily="18" charset="0"/>
                <a:cs typeface="Times New Roman" panose="02020603050405020304" pitchFamily="18" charset="0"/>
              </a:rPr>
              <a:t> </a:t>
            </a:r>
            <a:r>
              <a:rPr sz="2200" spc="-5" dirty="0" smtClean="0">
                <a:latin typeface="Times New Roman" panose="02020603050405020304" pitchFamily="18" charset="0"/>
                <a:cs typeface="Times New Roman" panose="02020603050405020304" pitchFamily="18" charset="0"/>
              </a:rPr>
              <a:t>function</a:t>
            </a:r>
            <a:r>
              <a:rPr sz="2200" spc="-10" dirty="0" smtClean="0">
                <a:latin typeface="Times New Roman" panose="02020603050405020304" pitchFamily="18" charset="0"/>
                <a:cs typeface="Times New Roman" panose="02020603050405020304" pitchFamily="18" charset="0"/>
              </a:rPr>
              <a:t> </a:t>
            </a:r>
            <a:r>
              <a:rPr sz="2200" spc="-5" dirty="0" smtClean="0">
                <a:latin typeface="Times New Roman" panose="02020603050405020304" pitchFamily="18" charset="0"/>
                <a:cs typeface="Times New Roman" panose="02020603050405020304" pitchFamily="18" charset="0"/>
              </a:rPr>
              <a:t>consistently yields the same result for the same input, it</a:t>
            </a:r>
            <a:r>
              <a:rPr sz="2200" spc="-10" dirty="0" smtClean="0">
                <a:latin typeface="Times New Roman" panose="02020603050405020304" pitchFamily="18" charset="0"/>
                <a:cs typeface="Times New Roman" panose="02020603050405020304" pitchFamily="18" charset="0"/>
              </a:rPr>
              <a:t> </a:t>
            </a:r>
            <a:r>
              <a:rPr sz="2200" spc="-5" dirty="0" smtClean="0">
                <a:latin typeface="Times New Roman" panose="02020603050405020304" pitchFamily="18" charset="0"/>
                <a:cs typeface="Times New Roman" panose="02020603050405020304" pitchFamily="18" charset="0"/>
              </a:rPr>
              <a:t>is referentially transparent.</a:t>
            </a:r>
            <a:endParaRPr lang="en-US" sz="2200" spc="-5" dirty="0" smtClean="0">
              <a:latin typeface="Times New Roman" panose="02020603050405020304" pitchFamily="18" charset="0"/>
              <a:cs typeface="Times New Roman" panose="02020603050405020304" pitchFamily="18" charset="0"/>
            </a:endParaRPr>
          </a:p>
          <a:p>
            <a:pPr marL="336550" marR="16510" indent="-323850" algn="just">
              <a:lnSpc>
                <a:spcPct val="150000"/>
              </a:lnSpc>
              <a:spcBef>
                <a:spcPts val="100"/>
              </a:spcBef>
              <a:buFont typeface="Arial MT"/>
              <a:buChar char="•"/>
              <a:tabLst>
                <a:tab pos="336550" algn="l"/>
              </a:tabLst>
            </a:pPr>
            <a:endParaRPr sz="2200" dirty="0" smtClean="0">
              <a:latin typeface="Times New Roman" panose="02020603050405020304" pitchFamily="18" charset="0"/>
              <a:cs typeface="Times New Roman" panose="02020603050405020304" pitchFamily="18" charset="0"/>
            </a:endParaRPr>
          </a:p>
          <a:p>
            <a:pPr marL="336550" marR="5080" indent="-323850" algn="just">
              <a:lnSpc>
                <a:spcPct val="150000"/>
              </a:lnSpc>
              <a:buFont typeface="Arial MT"/>
              <a:buChar char="•"/>
              <a:tabLst>
                <a:tab pos="336550" algn="l"/>
              </a:tabLst>
            </a:pPr>
            <a:r>
              <a:rPr sz="2200" spc="-5" dirty="0" smtClean="0">
                <a:latin typeface="Times New Roman" panose="02020603050405020304" pitchFamily="18" charset="0"/>
                <a:cs typeface="Times New Roman" panose="02020603050405020304" pitchFamily="18" charset="0"/>
              </a:rPr>
              <a:t>Functional </a:t>
            </a:r>
            <a:r>
              <a:rPr sz="2200" spc="-5" dirty="0">
                <a:latin typeface="Times New Roman" panose="02020603050405020304" pitchFamily="18" charset="0"/>
                <a:cs typeface="Times New Roman" panose="02020603050405020304" pitchFamily="18" charset="0"/>
              </a:rPr>
              <a:t>programs don’t have </a:t>
            </a:r>
            <a:r>
              <a:rPr sz="2200" dirty="0">
                <a:latin typeface="Times New Roman" panose="02020603050405020304" pitchFamily="18" charset="0"/>
                <a:cs typeface="Times New Roman" panose="02020603050405020304" pitchFamily="18" charset="0"/>
              </a:rPr>
              <a:t>any assignment </a:t>
            </a:r>
            <a:r>
              <a:rPr sz="2200" spc="-5" dirty="0">
                <a:latin typeface="Times New Roman" panose="02020603050405020304" pitchFamily="18" charset="0"/>
                <a:cs typeface="Times New Roman" panose="02020603050405020304" pitchFamily="18" charset="0"/>
              </a:rPr>
              <a:t>statements. For storing </a:t>
            </a:r>
            <a:r>
              <a:rPr sz="2200" dirty="0">
                <a:latin typeface="Times New Roman" panose="02020603050405020304" pitchFamily="18" charset="0"/>
                <a:cs typeface="Times New Roman" panose="02020603050405020304" pitchFamily="18" charset="0"/>
              </a:rPr>
              <a:t>additional </a:t>
            </a:r>
            <a:r>
              <a:rPr sz="2200" spc="-5" dirty="0">
                <a:latin typeface="Times New Roman" panose="02020603050405020304" pitchFamily="18" charset="0"/>
                <a:cs typeface="Times New Roman" panose="02020603050405020304" pitchFamily="18" charset="0"/>
              </a:rPr>
              <a:t>values in </a:t>
            </a:r>
            <a:r>
              <a:rPr sz="2200" dirty="0">
                <a:latin typeface="Times New Roman" panose="02020603050405020304" pitchFamily="18" charset="0"/>
                <a:cs typeface="Times New Roman" panose="02020603050405020304" pitchFamily="18" charset="0"/>
              </a:rPr>
              <a:t>a </a:t>
            </a:r>
            <a:r>
              <a:rPr sz="2200" spc="-5" dirty="0">
                <a:latin typeface="Times New Roman" panose="02020603050405020304" pitchFamily="18" charset="0"/>
                <a:cs typeface="Times New Roman" panose="02020603050405020304" pitchFamily="18" charset="0"/>
              </a:rPr>
              <a:t>program developed using </a:t>
            </a:r>
            <a:r>
              <a:rPr sz="22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functional programming, new variables must be defined. State of </a:t>
            </a:r>
            <a:r>
              <a:rPr sz="2200" dirty="0">
                <a:latin typeface="Times New Roman" panose="02020603050405020304" pitchFamily="18" charset="0"/>
                <a:cs typeface="Times New Roman" panose="02020603050405020304" pitchFamily="18" charset="0"/>
              </a:rPr>
              <a:t>a </a:t>
            </a:r>
            <a:r>
              <a:rPr sz="2200" spc="-5" dirty="0">
                <a:latin typeface="Times New Roman" panose="02020603050405020304" pitchFamily="18" charset="0"/>
                <a:cs typeface="Times New Roman" panose="02020603050405020304" pitchFamily="18" charset="0"/>
              </a:rPr>
              <a:t>variable in such </a:t>
            </a:r>
            <a:r>
              <a:rPr sz="2200" dirty="0">
                <a:latin typeface="Times New Roman" panose="02020603050405020304" pitchFamily="18" charset="0"/>
                <a:cs typeface="Times New Roman" panose="02020603050405020304" pitchFamily="18" charset="0"/>
              </a:rPr>
              <a:t>a </a:t>
            </a:r>
            <a:r>
              <a:rPr sz="2200" spc="-5" dirty="0">
                <a:latin typeface="Times New Roman" panose="02020603050405020304" pitchFamily="18" charset="0"/>
                <a:cs typeface="Times New Roman" panose="02020603050405020304" pitchFamily="18" charset="0"/>
              </a:rPr>
              <a:t>program is constant </a:t>
            </a:r>
            <a:r>
              <a:rPr sz="2200" dirty="0">
                <a:latin typeface="Times New Roman" panose="02020603050405020304" pitchFamily="18" charset="0"/>
                <a:cs typeface="Times New Roman" panose="02020603050405020304" pitchFamily="18" charset="0"/>
              </a:rPr>
              <a:t>at any </a:t>
            </a:r>
            <a:r>
              <a:rPr sz="2200" spc="-5" dirty="0">
                <a:latin typeface="Times New Roman" panose="02020603050405020304" pitchFamily="18" charset="0"/>
                <a:cs typeface="Times New Roman" panose="02020603050405020304" pitchFamily="18" charset="0"/>
              </a:rPr>
              <a:t>moment in </a:t>
            </a:r>
            <a:r>
              <a:rPr sz="22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time</a:t>
            </a:r>
            <a:endParaRPr sz="2200" dirty="0">
              <a:latin typeface="Times New Roman" panose="02020603050405020304" pitchFamily="18" charset="0"/>
              <a:cs typeface="Times New Roman" panose="02020603050405020304" pitchFamily="18" charset="0"/>
            </a:endParaRPr>
          </a:p>
          <a:p>
            <a:pPr>
              <a:lnSpc>
                <a:spcPct val="100000"/>
              </a:lnSpc>
              <a:buFont typeface="Arial MT"/>
              <a:buChar char="•"/>
            </a:pPr>
            <a:endParaRPr sz="2200" dirty="0">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7"/>
          </p:nvPr>
        </p:nvSpPr>
        <p:spPr/>
        <p:txBody>
          <a:bodyPr/>
          <a:lstStyle/>
          <a:p>
            <a:fld id="{B6F15528-21DE-4FAA-801E-634DDDAF4B2B}" type="slidenum">
              <a:rPr/>
              <a:t>10</a:t>
            </a:fld>
            <a:endParaRPr/>
          </a:p>
        </p:txBody>
      </p:sp>
      <p:sp>
        <p:nvSpPr>
          <p:cNvPr id="10" name="Footer Placeholder 9"/>
          <p:cNvSpPr>
            <a:spLocks noGrp="1"/>
          </p:cNvSpPr>
          <p:nvPr>
            <p:ph type="ftr" sz="quarter" idx="5"/>
          </p:nvPr>
        </p:nvSpPr>
        <p:spPr/>
        <p:txBody>
          <a:bodyPr/>
          <a:lstStyle/>
          <a:p>
            <a:r>
              <a:t>UNIT IV : Pythonic Programming Paradigm</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92847" y="18871"/>
            <a:ext cx="3841115" cy="416559"/>
          </a:xfrm>
          <a:prstGeom prst="rect">
            <a:avLst/>
          </a:prstGeom>
        </p:spPr>
        <p:txBody>
          <a:bodyPr vert="horz" wrap="square" lIns="0" tIns="13970" rIns="0" bIns="0" rtlCol="0">
            <a:spAutoFit/>
          </a:bodyPr>
          <a:lstStyle/>
          <a:p>
            <a:pPr marL="12700">
              <a:lnSpc>
                <a:spcPct val="100000"/>
              </a:lnSpc>
              <a:spcBef>
                <a:spcPts val="110"/>
              </a:spcBef>
            </a:pPr>
            <a:r>
              <a:rPr sz="2550" dirty="0"/>
              <a:t>Referential</a:t>
            </a:r>
            <a:r>
              <a:rPr sz="2550" spc="-55" dirty="0"/>
              <a:t> </a:t>
            </a:r>
            <a:r>
              <a:rPr sz="2550" spc="5" dirty="0"/>
              <a:t>transparency</a:t>
            </a:r>
            <a:endParaRPr sz="2550"/>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3"/>
            <a:ext cx="12105640" cy="5979795"/>
          </a:xfrm>
          <a:custGeom>
            <a:avLst/>
            <a:gdLst/>
            <a:ahLst/>
            <a:cxnLst/>
            <a:rect l="l" t="t" r="r" b="b"/>
            <a:pathLst>
              <a:path w="12105640" h="5979795">
                <a:moveTo>
                  <a:pt x="0" y="0"/>
                </a:moveTo>
                <a:lnTo>
                  <a:pt x="12105503" y="0"/>
                </a:lnTo>
                <a:lnTo>
                  <a:pt x="12105503" y="5979174"/>
                </a:lnTo>
                <a:lnTo>
                  <a:pt x="0" y="5979174"/>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197802" y="783565"/>
            <a:ext cx="11794490" cy="1028487"/>
          </a:xfrm>
          <a:prstGeom prst="rect">
            <a:avLst/>
          </a:prstGeom>
        </p:spPr>
        <p:txBody>
          <a:bodyPr vert="horz" wrap="square" lIns="0" tIns="12700" rIns="0" bIns="0" rtlCol="0">
            <a:spAutoFit/>
          </a:bodyPr>
          <a:lstStyle/>
          <a:p>
            <a:pPr marL="793750" lvl="1" indent="-323850">
              <a:lnSpc>
                <a:spcPct val="100000"/>
              </a:lnSpc>
              <a:spcBef>
                <a:spcPts val="5"/>
              </a:spcBef>
              <a:buFont typeface="Arial MT"/>
              <a:buChar char="•"/>
              <a:tabLst>
                <a:tab pos="793115" algn="l"/>
                <a:tab pos="793750" algn="l"/>
              </a:tabLst>
            </a:pPr>
            <a:r>
              <a:rPr sz="2200" spc="-5" dirty="0" smtClean="0">
                <a:latin typeface="Times New Roman" panose="02020603050405020304" pitchFamily="18" charset="0"/>
                <a:cs typeface="Times New Roman" panose="02020603050405020304" pitchFamily="18" charset="0"/>
              </a:rPr>
              <a:t>pure</a:t>
            </a:r>
            <a:r>
              <a:rPr sz="2200" spc="-15" dirty="0" smtClean="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a:t>
            </a:r>
            <a:r>
              <a:rPr sz="2200" spc="-1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immutable</a:t>
            </a:r>
            <a:r>
              <a:rPr sz="2200" spc="-15" dirty="0">
                <a:latin typeface="Times New Roman" panose="02020603050405020304" pitchFamily="18" charset="0"/>
                <a:cs typeface="Times New Roman" panose="02020603050405020304" pitchFamily="18" charset="0"/>
              </a:rPr>
              <a:t> </a:t>
            </a:r>
            <a:r>
              <a:rPr sz="2200" spc="-5" dirty="0" smtClean="0">
                <a:latin typeface="Times New Roman" panose="02020603050405020304" pitchFamily="18" charset="0"/>
                <a:cs typeface="Times New Roman" panose="02020603050405020304" pitchFamily="18" charset="0"/>
              </a:rPr>
              <a:t>dat</a:t>
            </a:r>
            <a:r>
              <a:rPr lang="en-US" sz="2200" spc="-5" dirty="0" smtClean="0">
                <a:latin typeface="Times New Roman" panose="02020603050405020304" pitchFamily="18" charset="0"/>
                <a:cs typeface="Times New Roman" panose="02020603050405020304" pitchFamily="18" charset="0"/>
              </a:rPr>
              <a:t>a</a:t>
            </a:r>
            <a:r>
              <a:rPr sz="2200" spc="-10" dirty="0" smtClean="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referential</a:t>
            </a:r>
            <a:r>
              <a:rPr sz="2200" spc="-15" dirty="0">
                <a:latin typeface="Times New Roman" panose="02020603050405020304" pitchFamily="18" charset="0"/>
                <a:cs typeface="Times New Roman" panose="02020603050405020304" pitchFamily="18" charset="0"/>
              </a:rPr>
              <a:t> </a:t>
            </a:r>
            <a:r>
              <a:rPr sz="2200" spc="-5" dirty="0" smtClean="0">
                <a:latin typeface="Times New Roman" panose="02020603050405020304" pitchFamily="18" charset="0"/>
                <a:cs typeface="Times New Roman" panose="02020603050405020304" pitchFamily="18" charset="0"/>
              </a:rPr>
              <a:t>transparency</a:t>
            </a:r>
            <a:endParaRPr lang="en-US" sz="2200" spc="-5" dirty="0" smtClean="0">
              <a:latin typeface="Times New Roman" panose="02020603050405020304" pitchFamily="18" charset="0"/>
              <a:cs typeface="Times New Roman" panose="02020603050405020304" pitchFamily="18" charset="0"/>
            </a:endParaRPr>
          </a:p>
          <a:p>
            <a:pPr marL="793750" lvl="1" indent="-323850">
              <a:lnSpc>
                <a:spcPct val="100000"/>
              </a:lnSpc>
              <a:spcBef>
                <a:spcPts val="5"/>
              </a:spcBef>
              <a:buFont typeface="Arial MT"/>
              <a:buChar char="•"/>
              <a:tabLst>
                <a:tab pos="793115" algn="l"/>
                <a:tab pos="793750" algn="l"/>
              </a:tabLst>
            </a:pPr>
            <a:endParaRPr lang="en-US" sz="2200" spc="-5" dirty="0">
              <a:latin typeface="Times New Roman" panose="02020603050405020304" pitchFamily="18" charset="0"/>
              <a:cs typeface="Times New Roman" panose="02020603050405020304" pitchFamily="18" charset="0"/>
            </a:endParaRPr>
          </a:p>
          <a:p>
            <a:pPr marL="793750" lvl="1" indent="-323850">
              <a:lnSpc>
                <a:spcPct val="100000"/>
              </a:lnSpc>
              <a:spcBef>
                <a:spcPts val="5"/>
              </a:spcBef>
              <a:buFont typeface="Arial MT"/>
              <a:buChar char="•"/>
              <a:tabLst>
                <a:tab pos="793115" algn="l"/>
                <a:tab pos="793750" algn="l"/>
              </a:tabLst>
            </a:pPr>
            <a:r>
              <a:rPr lang="en-US" sz="2200" dirty="0">
                <a:latin typeface="Times New Roman" panose="02020603050405020304" pitchFamily="18" charset="0"/>
                <a:cs typeface="Times New Roman" panose="02020603050405020304" pitchFamily="18" charset="0"/>
              </a:rPr>
              <a:t>We can also reuse the result in other calculations without affecting the program's behavior:</a:t>
            </a:r>
            <a:endParaRPr sz="2200" dirty="0">
              <a:latin typeface="Times New Roman" panose="02020603050405020304" pitchFamily="18" charset="0"/>
              <a:cs typeface="Times New Roman" panose="02020603050405020304" pitchFamily="18" charset="0"/>
            </a:endParaRPr>
          </a:p>
        </p:txBody>
      </p:sp>
      <p:sp>
        <p:nvSpPr>
          <p:cNvPr id="7" name="object 7"/>
          <p:cNvSpPr txBox="1"/>
          <p:nvPr/>
        </p:nvSpPr>
        <p:spPr>
          <a:xfrm>
            <a:off x="433387" y="4700941"/>
            <a:ext cx="11323320" cy="1783822"/>
          </a:xfrm>
          <a:prstGeom prst="rect">
            <a:avLst/>
          </a:prstGeom>
        </p:spPr>
        <p:txBody>
          <a:bodyPr vert="horz" wrap="square" lIns="0" tIns="146050" rIns="0" bIns="0" rtlCol="0">
            <a:spAutoFit/>
          </a:bodyPr>
          <a:lstStyle/>
          <a:p>
            <a:pPr marL="336550" indent="-323850">
              <a:lnSpc>
                <a:spcPct val="100000"/>
              </a:lnSpc>
              <a:spcBef>
                <a:spcPts val="1150"/>
              </a:spcBef>
              <a:buFont typeface="Arial MT"/>
              <a:buChar char="•"/>
              <a:tabLst>
                <a:tab pos="335915" algn="l"/>
                <a:tab pos="336550" algn="l"/>
              </a:tabLst>
            </a:pPr>
            <a:r>
              <a:rPr sz="2200" spc="-5" dirty="0">
                <a:latin typeface="Times New Roman" panose="02020603050405020304" pitchFamily="18" charset="0"/>
                <a:cs typeface="Times New Roman" panose="02020603050405020304" pitchFamily="18" charset="0"/>
              </a:rPr>
              <a:t>Let’s</a:t>
            </a:r>
            <a:r>
              <a:rPr sz="2200" spc="-2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implement</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square</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a:t>
            </a:r>
            <a:endParaRPr sz="2200" dirty="0">
              <a:latin typeface="Times New Roman" panose="02020603050405020304" pitchFamily="18" charset="0"/>
              <a:cs typeface="Times New Roman" panose="02020603050405020304" pitchFamily="18" charset="0"/>
            </a:endParaRPr>
          </a:p>
          <a:p>
            <a:pPr marL="793750" lvl="1" indent="-323850">
              <a:lnSpc>
                <a:spcPct val="100000"/>
              </a:lnSpc>
              <a:spcBef>
                <a:spcPts val="1050"/>
              </a:spcBef>
              <a:buFont typeface="Arial MT"/>
              <a:buChar char="•"/>
              <a:tabLst>
                <a:tab pos="793115" algn="l"/>
                <a:tab pos="793750" algn="l"/>
              </a:tabLst>
            </a:pPr>
            <a:r>
              <a:rPr sz="2200" spc="-5" dirty="0">
                <a:latin typeface="Times New Roman" panose="02020603050405020304" pitchFamily="18" charset="0"/>
                <a:cs typeface="Times New Roman" panose="02020603050405020304" pitchFamily="18" charset="0"/>
              </a:rPr>
              <a:t>This</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(pure)</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 will</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always</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have the</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same</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output, given</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same input.</a:t>
            </a:r>
            <a:endParaRPr sz="2200" dirty="0">
              <a:latin typeface="Times New Roman" panose="02020603050405020304" pitchFamily="18" charset="0"/>
              <a:cs typeface="Times New Roman" panose="02020603050405020304" pitchFamily="18" charset="0"/>
            </a:endParaRPr>
          </a:p>
          <a:p>
            <a:pPr marL="793750" lvl="1" indent="-323850">
              <a:lnSpc>
                <a:spcPct val="100000"/>
              </a:lnSpc>
              <a:spcBef>
                <a:spcPts val="1050"/>
              </a:spcBef>
              <a:buFont typeface="Arial MT"/>
              <a:buChar char="•"/>
              <a:tabLst>
                <a:tab pos="793115" algn="l"/>
                <a:tab pos="793750" algn="l"/>
              </a:tabLst>
            </a:pPr>
            <a:r>
              <a:rPr sz="2200" spc="-5" dirty="0">
                <a:latin typeface="Times New Roman" panose="02020603050405020304" pitchFamily="18" charset="0"/>
                <a:cs typeface="Times New Roman" panose="02020603050405020304" pitchFamily="18" charset="0"/>
              </a:rPr>
              <a:t>Passing</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“2” </a:t>
            </a:r>
            <a:r>
              <a:rPr sz="2200" dirty="0">
                <a:latin typeface="Times New Roman" panose="02020603050405020304" pitchFamily="18" charset="0"/>
                <a:cs typeface="Times New Roman" panose="02020603050405020304" pitchFamily="18" charset="0"/>
              </a:rPr>
              <a:t>as</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a:t>
            </a:r>
            <a:r>
              <a:rPr sz="2200" spc="-5" dirty="0">
                <a:latin typeface="Times New Roman" panose="02020603050405020304" pitchFamily="18" charset="0"/>
                <a:cs typeface="Times New Roman" panose="02020603050405020304" pitchFamily="18" charset="0"/>
              </a:rPr>
              <a:t> parameter of the square function will </a:t>
            </a:r>
            <a:r>
              <a:rPr sz="2200" dirty="0">
                <a:latin typeface="Times New Roman" panose="02020603050405020304" pitchFamily="18" charset="0"/>
                <a:cs typeface="Times New Roman" panose="02020603050405020304" pitchFamily="18" charset="0"/>
              </a:rPr>
              <a:t>always</a:t>
            </a:r>
            <a:r>
              <a:rPr sz="2200" spc="-5" dirty="0">
                <a:latin typeface="Times New Roman" panose="02020603050405020304" pitchFamily="18" charset="0"/>
                <a:cs typeface="Times New Roman" panose="02020603050405020304" pitchFamily="18" charset="0"/>
              </a:rPr>
              <a:t> returns 4. So now we can replace the (square 2) with 4.</a:t>
            </a:r>
            <a:endParaRPr sz="2200" dirty="0">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7"/>
          </p:nvPr>
        </p:nvSpPr>
        <p:spPr/>
        <p:txBody>
          <a:bodyPr/>
          <a:lstStyle/>
          <a:p>
            <a:fld id="{B6F15528-21DE-4FAA-801E-634DDDAF4B2B}" type="slidenum">
              <a:rPr/>
              <a:t>11</a:t>
            </a:fld>
            <a:endParaRPr/>
          </a:p>
        </p:txBody>
      </p:sp>
      <p:sp>
        <p:nvSpPr>
          <p:cNvPr id="10" name="Footer Placeholder 9"/>
          <p:cNvSpPr>
            <a:spLocks noGrp="1"/>
          </p:cNvSpPr>
          <p:nvPr>
            <p:ph type="ftr" sz="quarter" idx="5"/>
          </p:nvPr>
        </p:nvSpPr>
        <p:spPr/>
        <p:txBody>
          <a:bodyPr/>
          <a:lstStyle/>
          <a:p>
            <a:r>
              <a:t>UNIT IV : Pythonic Programming Paradigm</a:t>
            </a:r>
          </a:p>
        </p:txBody>
      </p:sp>
      <p:sp>
        <p:nvSpPr>
          <p:cNvPr id="12" name="Rectangle 11"/>
          <p:cNvSpPr/>
          <p:nvPr/>
        </p:nvSpPr>
        <p:spPr>
          <a:xfrm>
            <a:off x="914400" y="2310933"/>
            <a:ext cx="3581400" cy="1785104"/>
          </a:xfrm>
          <a:prstGeom prst="rect">
            <a:avLst/>
          </a:prstGeom>
        </p:spPr>
        <p:txBody>
          <a:bodyPr wrap="square">
            <a:spAutoFit/>
          </a:bodyPr>
          <a:lstStyle/>
          <a:p>
            <a:r>
              <a:rPr lang="en-US" sz="2200" dirty="0" err="1">
                <a:solidFill>
                  <a:srgbClr val="C00000"/>
                </a:solidFill>
                <a:latin typeface="Times New Roman" panose="02020603050405020304" pitchFamily="18" charset="0"/>
                <a:cs typeface="Times New Roman" panose="02020603050405020304" pitchFamily="18" charset="0"/>
              </a:rPr>
              <a:t>def</a:t>
            </a:r>
            <a:r>
              <a:rPr lang="en-US" sz="2200" dirty="0">
                <a:solidFill>
                  <a:srgbClr val="C00000"/>
                </a:solidFill>
                <a:latin typeface="Times New Roman" panose="02020603050405020304" pitchFamily="18" charset="0"/>
                <a:cs typeface="Times New Roman" panose="02020603050405020304" pitchFamily="18" charset="0"/>
              </a:rPr>
              <a:t> add(x, y):</a:t>
            </a:r>
          </a:p>
          <a:p>
            <a:r>
              <a:rPr lang="en-US" sz="2200" dirty="0">
                <a:solidFill>
                  <a:srgbClr val="C00000"/>
                </a:solidFill>
                <a:latin typeface="Times New Roman" panose="02020603050405020304" pitchFamily="18" charset="0"/>
                <a:cs typeface="Times New Roman" panose="02020603050405020304" pitchFamily="18" charset="0"/>
              </a:rPr>
              <a:t>    return x + y</a:t>
            </a:r>
          </a:p>
          <a:p>
            <a:endParaRPr lang="en-US" sz="2200" dirty="0">
              <a:solidFill>
                <a:srgbClr val="C00000"/>
              </a:solidFill>
              <a:latin typeface="Times New Roman" panose="02020603050405020304" pitchFamily="18" charset="0"/>
              <a:cs typeface="Times New Roman" panose="02020603050405020304" pitchFamily="18" charset="0"/>
            </a:endParaRPr>
          </a:p>
          <a:p>
            <a:r>
              <a:rPr lang="en-US" sz="2200" dirty="0">
                <a:solidFill>
                  <a:srgbClr val="C00000"/>
                </a:solidFill>
                <a:latin typeface="Times New Roman" panose="02020603050405020304" pitchFamily="18" charset="0"/>
                <a:cs typeface="Times New Roman" panose="02020603050405020304" pitchFamily="18" charset="0"/>
              </a:rPr>
              <a:t>result = add(3, 5)</a:t>
            </a:r>
          </a:p>
          <a:p>
            <a:r>
              <a:rPr lang="en-US" sz="2200" dirty="0">
                <a:solidFill>
                  <a:srgbClr val="C00000"/>
                </a:solidFill>
                <a:latin typeface="Times New Roman" panose="02020603050405020304" pitchFamily="18" charset="0"/>
                <a:cs typeface="Times New Roman" panose="02020603050405020304" pitchFamily="18" charset="0"/>
              </a:rPr>
              <a:t>print(result) </a:t>
            </a:r>
          </a:p>
        </p:txBody>
      </p:sp>
      <p:sp>
        <p:nvSpPr>
          <p:cNvPr id="13" name="Rectangle 12"/>
          <p:cNvSpPr/>
          <p:nvPr/>
        </p:nvSpPr>
        <p:spPr>
          <a:xfrm>
            <a:off x="5931626" y="2083155"/>
            <a:ext cx="6168934" cy="2462213"/>
          </a:xfrm>
          <a:prstGeom prst="rect">
            <a:avLst/>
          </a:prstGeom>
        </p:spPr>
        <p:txBody>
          <a:bodyPr wrap="square">
            <a:spAutoFit/>
          </a:bodyPr>
          <a:lstStyle/>
          <a:p>
            <a:r>
              <a:rPr lang="en-US" sz="2200" dirty="0" err="1">
                <a:solidFill>
                  <a:srgbClr val="C00000"/>
                </a:solidFill>
                <a:latin typeface="Times New Roman" panose="02020603050405020304" pitchFamily="18" charset="0"/>
                <a:cs typeface="Times New Roman" panose="02020603050405020304" pitchFamily="18" charset="0"/>
              </a:rPr>
              <a:t>def</a:t>
            </a:r>
            <a:r>
              <a:rPr lang="en-US" sz="2200" dirty="0">
                <a:solidFill>
                  <a:srgbClr val="C00000"/>
                </a:solidFill>
                <a:latin typeface="Times New Roman" panose="02020603050405020304" pitchFamily="18" charset="0"/>
                <a:cs typeface="Times New Roman" panose="02020603050405020304" pitchFamily="18" charset="0"/>
              </a:rPr>
              <a:t> add(x, y):</a:t>
            </a:r>
          </a:p>
          <a:p>
            <a:r>
              <a:rPr lang="en-US" sz="2200" dirty="0">
                <a:solidFill>
                  <a:srgbClr val="C00000"/>
                </a:solidFill>
                <a:latin typeface="Times New Roman" panose="02020603050405020304" pitchFamily="18" charset="0"/>
                <a:cs typeface="Times New Roman" panose="02020603050405020304" pitchFamily="18" charset="0"/>
              </a:rPr>
              <a:t>    return x + y</a:t>
            </a:r>
          </a:p>
          <a:p>
            <a:endParaRPr lang="en-US" sz="2200" dirty="0">
              <a:solidFill>
                <a:srgbClr val="C00000"/>
              </a:solidFill>
              <a:latin typeface="Times New Roman" panose="02020603050405020304" pitchFamily="18" charset="0"/>
              <a:cs typeface="Times New Roman" panose="02020603050405020304" pitchFamily="18" charset="0"/>
            </a:endParaRPr>
          </a:p>
          <a:p>
            <a:r>
              <a:rPr lang="en-US" sz="2200" dirty="0">
                <a:solidFill>
                  <a:srgbClr val="C00000"/>
                </a:solidFill>
                <a:latin typeface="Times New Roman" panose="02020603050405020304" pitchFamily="18" charset="0"/>
                <a:cs typeface="Times New Roman" panose="02020603050405020304" pitchFamily="18" charset="0"/>
              </a:rPr>
              <a:t>result = add(3, 5</a:t>
            </a:r>
            <a:r>
              <a:rPr lang="en-US" sz="2200" dirty="0" smtClean="0">
                <a:solidFill>
                  <a:srgbClr val="C00000"/>
                </a:solidFill>
                <a:latin typeface="Times New Roman" panose="02020603050405020304" pitchFamily="18" charset="0"/>
                <a:cs typeface="Times New Roman" panose="02020603050405020304" pitchFamily="18" charset="0"/>
              </a:rPr>
              <a:t>)</a:t>
            </a:r>
          </a:p>
          <a:p>
            <a:r>
              <a:rPr lang="en-US" sz="2200" dirty="0" err="1">
                <a:solidFill>
                  <a:srgbClr val="C00000"/>
                </a:solidFill>
                <a:latin typeface="Times New Roman" panose="02020603050405020304" pitchFamily="18" charset="0"/>
                <a:cs typeface="Times New Roman" panose="02020603050405020304" pitchFamily="18" charset="0"/>
              </a:rPr>
              <a:t>another_result</a:t>
            </a:r>
            <a:r>
              <a:rPr lang="en-US" sz="2200" dirty="0">
                <a:solidFill>
                  <a:srgbClr val="C00000"/>
                </a:solidFill>
                <a:latin typeface="Times New Roman" panose="02020603050405020304" pitchFamily="18" charset="0"/>
                <a:cs typeface="Times New Roman" panose="02020603050405020304" pitchFamily="18" charset="0"/>
              </a:rPr>
              <a:t> = result * 2</a:t>
            </a:r>
          </a:p>
          <a:p>
            <a:r>
              <a:rPr lang="en-US" sz="2200" dirty="0">
                <a:solidFill>
                  <a:srgbClr val="C00000"/>
                </a:solidFill>
                <a:latin typeface="Times New Roman" panose="02020603050405020304" pitchFamily="18" charset="0"/>
                <a:cs typeface="Times New Roman" panose="02020603050405020304" pitchFamily="18" charset="0"/>
              </a:rPr>
              <a:t>print(</a:t>
            </a:r>
            <a:r>
              <a:rPr lang="en-US" sz="2200" dirty="0" err="1">
                <a:solidFill>
                  <a:srgbClr val="C00000"/>
                </a:solidFill>
                <a:latin typeface="Times New Roman" panose="02020603050405020304" pitchFamily="18" charset="0"/>
                <a:cs typeface="Times New Roman" panose="02020603050405020304" pitchFamily="18" charset="0"/>
              </a:rPr>
              <a:t>another_result</a:t>
            </a:r>
            <a:r>
              <a:rPr lang="en-US" sz="2200" dirty="0">
                <a:solidFill>
                  <a:srgbClr val="C00000"/>
                </a:solidFill>
                <a:latin typeface="Times New Roman" panose="02020603050405020304" pitchFamily="18" charset="0"/>
                <a:cs typeface="Times New Roman" panose="02020603050405020304" pitchFamily="18" charset="0"/>
              </a:rPr>
              <a:t>)  # This will print 16 (8 * 2)</a:t>
            </a:r>
          </a:p>
          <a:p>
            <a:r>
              <a:rPr lang="en-US" sz="2200" dirty="0">
                <a:solidFill>
                  <a:srgbClr val="C00000"/>
                </a:solidFill>
                <a:latin typeface="Times New Roman" panose="02020603050405020304" pitchFamily="18" charset="0"/>
                <a:cs typeface="Times New Roman" panose="02020603050405020304" pitchFamily="18" charset="0"/>
              </a:rPr>
              <a:t>print(result) </a:t>
            </a:r>
          </a:p>
        </p:txBody>
      </p:sp>
    </p:spTree>
    <p:extLst>
      <p:ext uri="{BB962C8B-B14F-4D97-AF65-F5344CB8AC3E}">
        <p14:creationId xmlns:p14="http://schemas.microsoft.com/office/powerpoint/2010/main" val="12992951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92847" y="18871"/>
            <a:ext cx="1939289" cy="416559"/>
          </a:xfrm>
          <a:prstGeom prst="rect">
            <a:avLst/>
          </a:prstGeom>
        </p:spPr>
        <p:txBody>
          <a:bodyPr vert="horz" wrap="square" lIns="0" tIns="13970" rIns="0" bIns="0" rtlCol="0">
            <a:spAutoFit/>
          </a:bodyPr>
          <a:lstStyle/>
          <a:p>
            <a:pPr marL="12700">
              <a:lnSpc>
                <a:spcPct val="100000"/>
              </a:lnSpc>
              <a:spcBef>
                <a:spcPts val="110"/>
              </a:spcBef>
            </a:pPr>
            <a:r>
              <a:rPr sz="2550" dirty="0"/>
              <a:t>Immutability</a:t>
            </a:r>
            <a:endParaRPr sz="2550"/>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3"/>
            <a:ext cx="12105640" cy="5979795"/>
          </a:xfrm>
          <a:custGeom>
            <a:avLst/>
            <a:gdLst/>
            <a:ahLst/>
            <a:cxnLst/>
            <a:rect l="l" t="t" r="r" b="b"/>
            <a:pathLst>
              <a:path w="12105640" h="5979795">
                <a:moveTo>
                  <a:pt x="0" y="0"/>
                </a:moveTo>
                <a:lnTo>
                  <a:pt x="12105503" y="0"/>
                </a:lnTo>
                <a:lnTo>
                  <a:pt x="12105503" y="5979174"/>
                </a:lnTo>
                <a:lnTo>
                  <a:pt x="0" y="5979174"/>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194706" y="527287"/>
            <a:ext cx="11783060" cy="1028487"/>
          </a:xfrm>
          <a:prstGeom prst="rect">
            <a:avLst/>
          </a:prstGeom>
        </p:spPr>
        <p:txBody>
          <a:bodyPr vert="horz" wrap="square" lIns="0" tIns="12700" rIns="0" bIns="0" rtlCol="0">
            <a:spAutoFit/>
          </a:bodyPr>
          <a:lstStyle/>
          <a:p>
            <a:pPr marL="336550" marR="5080" indent="-323850">
              <a:lnSpc>
                <a:spcPct val="150000"/>
              </a:lnSpc>
              <a:spcBef>
                <a:spcPts val="100"/>
              </a:spcBef>
              <a:buFont typeface="Arial MT"/>
              <a:buChar char="•"/>
              <a:tabLst>
                <a:tab pos="335915" algn="l"/>
                <a:tab pos="336550" algn="l"/>
              </a:tabLst>
            </a:pPr>
            <a:r>
              <a:rPr sz="2200" spc="-5" dirty="0">
                <a:latin typeface="Times New Roman" panose="02020603050405020304" pitchFamily="18" charset="0"/>
                <a:cs typeface="Times New Roman" panose="02020603050405020304" pitchFamily="18" charset="0"/>
              </a:rPr>
              <a:t>In</a:t>
            </a:r>
            <a:r>
              <a:rPr sz="2200" spc="16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functional</a:t>
            </a:r>
            <a:r>
              <a:rPr sz="2200" spc="17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programming</a:t>
            </a:r>
            <a:r>
              <a:rPr sz="2200" spc="17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you</a:t>
            </a:r>
            <a:r>
              <a:rPr sz="2200" spc="1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cannot</a:t>
            </a:r>
            <a:r>
              <a:rPr sz="2200" spc="16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modify</a:t>
            </a:r>
            <a:r>
              <a:rPr sz="2200" spc="17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a:t>
            </a:r>
            <a:r>
              <a:rPr sz="2200" spc="17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variable</a:t>
            </a:r>
            <a:r>
              <a:rPr sz="2200" spc="17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after</a:t>
            </a:r>
            <a:r>
              <a:rPr sz="2200" spc="17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it</a:t>
            </a:r>
            <a:r>
              <a:rPr sz="2200" spc="16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has</a:t>
            </a:r>
            <a:r>
              <a:rPr sz="2200" spc="17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been</a:t>
            </a:r>
            <a:r>
              <a:rPr sz="2200" spc="17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initialized.</a:t>
            </a:r>
            <a:r>
              <a:rPr sz="2200" spc="1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You</a:t>
            </a:r>
            <a:r>
              <a:rPr sz="2200" spc="17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can</a:t>
            </a:r>
            <a:r>
              <a:rPr sz="2200" spc="16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create</a:t>
            </a:r>
            <a:r>
              <a:rPr sz="2200" spc="1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new</a:t>
            </a:r>
            <a:r>
              <a:rPr sz="2200" spc="17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variables</a:t>
            </a:r>
            <a:r>
              <a:rPr sz="2200" spc="17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17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this </a:t>
            </a:r>
            <a:r>
              <a:rPr sz="2200" spc="-38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helps</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to maintain state throughout the runtime of </a:t>
            </a:r>
            <a:r>
              <a:rPr sz="2200" dirty="0">
                <a:latin typeface="Times New Roman" panose="02020603050405020304" pitchFamily="18" charset="0"/>
                <a:cs typeface="Times New Roman" panose="02020603050405020304" pitchFamily="18" charset="0"/>
              </a:rPr>
              <a:t>a</a:t>
            </a:r>
            <a:r>
              <a:rPr sz="2200" spc="-5" dirty="0">
                <a:latin typeface="Times New Roman" panose="02020603050405020304" pitchFamily="18" charset="0"/>
                <a:cs typeface="Times New Roman" panose="02020603050405020304" pitchFamily="18" charset="0"/>
              </a:rPr>
              <a:t> program.</a:t>
            </a:r>
            <a:endParaRPr sz="2200" dirty="0">
              <a:latin typeface="Times New Roman" panose="02020603050405020304" pitchFamily="18" charset="0"/>
              <a:cs typeface="Times New Roman" panose="02020603050405020304" pitchFamily="18" charset="0"/>
            </a:endParaRPr>
          </a:p>
        </p:txBody>
      </p:sp>
      <p:sp>
        <p:nvSpPr>
          <p:cNvPr id="7" name="object 7"/>
          <p:cNvSpPr txBox="1"/>
          <p:nvPr/>
        </p:nvSpPr>
        <p:spPr>
          <a:xfrm>
            <a:off x="194706" y="2735625"/>
            <a:ext cx="11783060" cy="3890809"/>
          </a:xfrm>
          <a:prstGeom prst="rect">
            <a:avLst/>
          </a:prstGeom>
        </p:spPr>
        <p:txBody>
          <a:bodyPr vert="horz" wrap="square" lIns="0" tIns="12700" rIns="0" bIns="0" rtlCol="0">
            <a:spAutoFit/>
          </a:bodyPr>
          <a:lstStyle/>
          <a:p>
            <a:pPr marL="336550" marR="5080" indent="-323850">
              <a:lnSpc>
                <a:spcPct val="150000"/>
              </a:lnSpc>
              <a:spcBef>
                <a:spcPts val="100"/>
              </a:spcBef>
              <a:buFont typeface="Arial MT"/>
              <a:buChar char="•"/>
              <a:tabLst>
                <a:tab pos="335915" algn="l"/>
                <a:tab pos="336550" algn="l"/>
              </a:tabLst>
            </a:pPr>
            <a:r>
              <a:rPr sz="2200" spc="-5" dirty="0">
                <a:latin typeface="Times New Roman" panose="02020603050405020304" pitchFamily="18" charset="0"/>
                <a:cs typeface="Times New Roman" panose="02020603050405020304" pitchFamily="18" charset="0"/>
              </a:rPr>
              <a:t>In</a:t>
            </a:r>
            <a:r>
              <a:rPr sz="2200" spc="2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imperative</a:t>
            </a:r>
            <a:r>
              <a:rPr sz="2200" spc="2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programming,</a:t>
            </a:r>
            <a:r>
              <a:rPr sz="2200" spc="2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this</a:t>
            </a:r>
            <a:r>
              <a:rPr sz="2200" spc="2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means</a:t>
            </a:r>
            <a:r>
              <a:rPr sz="2200" spc="2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“take</a:t>
            </a:r>
            <a:r>
              <a:rPr sz="2200" spc="2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a:t>
            </a:r>
            <a:r>
              <a:rPr sz="2200" spc="2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current</a:t>
            </a:r>
            <a:r>
              <a:rPr sz="2200" spc="2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value</a:t>
            </a:r>
            <a:r>
              <a:rPr sz="2200" spc="2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of</a:t>
            </a:r>
            <a:r>
              <a:rPr sz="2200" spc="2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x,</a:t>
            </a:r>
            <a:r>
              <a:rPr sz="2200" spc="27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add</a:t>
            </a:r>
            <a:r>
              <a:rPr sz="2200" spc="27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1</a:t>
            </a:r>
            <a:r>
              <a:rPr sz="2200" spc="27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27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put</a:t>
            </a:r>
            <a:r>
              <a:rPr sz="2200" spc="2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a:t>
            </a:r>
            <a:r>
              <a:rPr sz="2200" spc="2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result</a:t>
            </a:r>
            <a:r>
              <a:rPr sz="2200" spc="2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back</a:t>
            </a:r>
            <a:r>
              <a:rPr sz="2200" spc="2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into</a:t>
            </a:r>
            <a:r>
              <a:rPr sz="2200" spc="2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x.”</a:t>
            </a:r>
            <a:r>
              <a:rPr sz="2200" spc="275" dirty="0">
                <a:latin typeface="Times New Roman" panose="02020603050405020304" pitchFamily="18" charset="0"/>
                <a:cs typeface="Times New Roman" panose="02020603050405020304" pitchFamily="18" charset="0"/>
              </a:rPr>
              <a:t> </a:t>
            </a:r>
            <a:endParaRPr lang="en-US" sz="2200" spc="275" dirty="0" smtClean="0">
              <a:latin typeface="Times New Roman" panose="02020603050405020304" pitchFamily="18" charset="0"/>
              <a:cs typeface="Times New Roman" panose="02020603050405020304" pitchFamily="18" charset="0"/>
            </a:endParaRPr>
          </a:p>
          <a:p>
            <a:pPr marL="336550" marR="5080" indent="-323850">
              <a:lnSpc>
                <a:spcPct val="150000"/>
              </a:lnSpc>
              <a:spcBef>
                <a:spcPts val="100"/>
              </a:spcBef>
              <a:buFont typeface="Arial MT"/>
              <a:buChar char="•"/>
              <a:tabLst>
                <a:tab pos="335915" algn="l"/>
                <a:tab pos="336550" algn="l"/>
              </a:tabLst>
            </a:pPr>
            <a:r>
              <a:rPr sz="2200" spc="-5" dirty="0" smtClean="0">
                <a:latin typeface="Times New Roman" panose="02020603050405020304" pitchFamily="18" charset="0"/>
                <a:cs typeface="Times New Roman" panose="02020603050405020304" pitchFamily="18" charset="0"/>
              </a:rPr>
              <a:t>In</a:t>
            </a:r>
            <a:r>
              <a:rPr sz="2200" spc="270" dirty="0" smtClean="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functional </a:t>
            </a:r>
            <a:r>
              <a:rPr sz="2200" spc="-38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programming,</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however, </a:t>
            </a:r>
            <a:r>
              <a:rPr sz="2200" dirty="0">
                <a:latin typeface="Times New Roman" panose="02020603050405020304" pitchFamily="18" charset="0"/>
                <a:cs typeface="Times New Roman" panose="02020603050405020304" pitchFamily="18" charset="0"/>
              </a:rPr>
              <a:t>x</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x</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1</a:t>
            </a:r>
            <a:r>
              <a:rPr sz="2200" spc="-5" dirty="0">
                <a:latin typeface="Times New Roman" panose="02020603050405020304" pitchFamily="18" charset="0"/>
                <a:cs typeface="Times New Roman" panose="02020603050405020304" pitchFamily="18" charset="0"/>
              </a:rPr>
              <a:t> is illegal.</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That’s because there </a:t>
            </a:r>
            <a:r>
              <a:rPr sz="2200" dirty="0">
                <a:latin typeface="Times New Roman" panose="02020603050405020304" pitchFamily="18" charset="0"/>
                <a:cs typeface="Times New Roman" panose="02020603050405020304" pitchFamily="18" charset="0"/>
              </a:rPr>
              <a:t>are</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technically no variables in</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functional programming.</a:t>
            </a:r>
            <a:endParaRPr sz="2200" dirty="0">
              <a:latin typeface="Times New Roman" panose="02020603050405020304" pitchFamily="18" charset="0"/>
              <a:cs typeface="Times New Roman" panose="02020603050405020304" pitchFamily="18" charset="0"/>
            </a:endParaRPr>
          </a:p>
          <a:p>
            <a:pPr marL="336550" marR="8890" indent="-323850">
              <a:lnSpc>
                <a:spcPct val="150000"/>
              </a:lnSpc>
              <a:buFont typeface="Arial MT"/>
              <a:buChar char="•"/>
              <a:tabLst>
                <a:tab pos="393065" algn="l"/>
                <a:tab pos="393700" algn="l"/>
              </a:tabLst>
            </a:pPr>
            <a:r>
              <a:rPr sz="22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Using</a:t>
            </a:r>
            <a:r>
              <a:rPr sz="2200" spc="9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immutable</a:t>
            </a:r>
            <a:r>
              <a:rPr sz="2200" spc="1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data</a:t>
            </a:r>
            <a:r>
              <a:rPr sz="2200" spc="1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structures,</a:t>
            </a:r>
            <a:r>
              <a:rPr sz="2200" spc="1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you</a:t>
            </a:r>
            <a:r>
              <a:rPr sz="2200" spc="9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can</a:t>
            </a:r>
            <a:r>
              <a:rPr sz="2200" spc="1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make</a:t>
            </a:r>
            <a:r>
              <a:rPr sz="2200" spc="1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single</a:t>
            </a:r>
            <a:r>
              <a:rPr sz="2200" spc="1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or</a:t>
            </a:r>
            <a:r>
              <a:rPr sz="2200" spc="9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multi-valued</a:t>
            </a:r>
            <a:r>
              <a:rPr sz="2200" spc="1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changes</a:t>
            </a:r>
            <a:r>
              <a:rPr sz="2200" spc="1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by</a:t>
            </a:r>
            <a:r>
              <a:rPr sz="2200" spc="1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copying</a:t>
            </a:r>
            <a:r>
              <a:rPr sz="2200" spc="1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a:t>
            </a:r>
            <a:r>
              <a:rPr sz="2200" spc="9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variables</a:t>
            </a:r>
            <a:r>
              <a:rPr sz="2200" spc="10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1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calculating</a:t>
            </a:r>
            <a:r>
              <a:rPr sz="2200" spc="1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new </a:t>
            </a:r>
            <a:r>
              <a:rPr sz="2200" spc="-38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values,</a:t>
            </a:r>
            <a:endParaRPr sz="2200" dirty="0">
              <a:latin typeface="Times New Roman" panose="02020603050405020304" pitchFamily="18" charset="0"/>
              <a:cs typeface="Times New Roman" panose="02020603050405020304" pitchFamily="18" charset="0"/>
            </a:endParaRPr>
          </a:p>
          <a:p>
            <a:pPr marL="336550" indent="-323850">
              <a:lnSpc>
                <a:spcPct val="100000"/>
              </a:lnSpc>
              <a:spcBef>
                <a:spcPts val="1050"/>
              </a:spcBef>
              <a:buFont typeface="Arial MT"/>
              <a:buChar char="•"/>
              <a:tabLst>
                <a:tab pos="335915" algn="l"/>
                <a:tab pos="336550" algn="l"/>
              </a:tabLst>
            </a:pPr>
            <a:r>
              <a:rPr sz="2200" spc="-5" dirty="0">
                <a:latin typeface="Times New Roman" panose="02020603050405020304" pitchFamily="18" charset="0"/>
                <a:cs typeface="Times New Roman" panose="02020603050405020304" pitchFamily="18" charset="0"/>
              </a:rPr>
              <a:t>Since</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FP doesn’t depend on shared states,</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all</a:t>
            </a:r>
            <a:r>
              <a:rPr sz="2200" spc="-5" dirty="0">
                <a:latin typeface="Times New Roman" panose="02020603050405020304" pitchFamily="18" charset="0"/>
                <a:cs typeface="Times New Roman" panose="02020603050405020304" pitchFamily="18" charset="0"/>
              </a:rPr>
              <a:t> data in functional code must be</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immutable, or incapable of changing</a:t>
            </a:r>
            <a:endParaRPr sz="2200" dirty="0">
              <a:latin typeface="Times New Roman" panose="02020603050405020304" pitchFamily="18" charset="0"/>
              <a:cs typeface="Times New Roman" panose="02020603050405020304" pitchFamily="18" charset="0"/>
            </a:endParaRPr>
          </a:p>
        </p:txBody>
      </p:sp>
      <p:pic>
        <p:nvPicPr>
          <p:cNvPr id="8" name="object 8"/>
          <p:cNvPicPr/>
          <p:nvPr/>
        </p:nvPicPr>
        <p:blipFill rotWithShape="1">
          <a:blip r:embed="rId3" cstate="print"/>
          <a:srcRect t="19256" r="42595" b="13652"/>
          <a:stretch/>
        </p:blipFill>
        <p:spPr>
          <a:xfrm>
            <a:off x="1371600" y="1667429"/>
            <a:ext cx="2018166" cy="909448"/>
          </a:xfrm>
          <a:prstGeom prst="rect">
            <a:avLst/>
          </a:prstGeom>
        </p:spPr>
      </p:pic>
      <p:sp>
        <p:nvSpPr>
          <p:cNvPr id="9" name="Slide Number Placeholder 8"/>
          <p:cNvSpPr>
            <a:spLocks noGrp="1"/>
          </p:cNvSpPr>
          <p:nvPr>
            <p:ph type="sldNum" sz="quarter" idx="7"/>
          </p:nvPr>
        </p:nvSpPr>
        <p:spPr/>
        <p:txBody>
          <a:bodyPr/>
          <a:lstStyle/>
          <a:p>
            <a:fld id="{B6F15528-21DE-4FAA-801E-634DDDAF4B2B}" type="slidenum">
              <a:rPr/>
              <a:t>12</a:t>
            </a:fld>
            <a:endParaRPr/>
          </a:p>
        </p:txBody>
      </p:sp>
      <p:sp>
        <p:nvSpPr>
          <p:cNvPr id="10" name="Footer Placeholder 9"/>
          <p:cNvSpPr>
            <a:spLocks noGrp="1"/>
          </p:cNvSpPr>
          <p:nvPr>
            <p:ph type="ftr" sz="quarter" idx="5"/>
          </p:nvPr>
        </p:nvSpPr>
        <p:spPr/>
        <p:txBody>
          <a:bodyPr/>
          <a:lstStyle/>
          <a:p>
            <a:r>
              <a:t>UNIT IV : Pythonic Programming Paradigm</a:t>
            </a:r>
          </a:p>
        </p:txBody>
      </p:sp>
      <p:sp>
        <p:nvSpPr>
          <p:cNvPr id="12" name="Rectangle 11"/>
          <p:cNvSpPr/>
          <p:nvPr/>
        </p:nvSpPr>
        <p:spPr>
          <a:xfrm>
            <a:off x="4120606" y="1703715"/>
            <a:ext cx="6096000" cy="1015663"/>
          </a:xfrm>
          <a:prstGeom prst="rect">
            <a:avLst/>
          </a:prstGeom>
        </p:spPr>
        <p:txBody>
          <a:bodyPr>
            <a:spAutoFit/>
          </a:bodyPr>
          <a:lstStyle/>
          <a:p>
            <a:r>
              <a:rPr lang="en-US" sz="2000" dirty="0">
                <a:solidFill>
                  <a:srgbClr val="C00000"/>
                </a:solidFill>
                <a:latin typeface="Times New Roman" panose="02020603050405020304" pitchFamily="18" charset="0"/>
                <a:cs typeface="Times New Roman" panose="02020603050405020304" pitchFamily="18" charset="0"/>
              </a:rPr>
              <a:t>// Functional-style code in JavaScript</a:t>
            </a:r>
          </a:p>
          <a:p>
            <a:r>
              <a:rPr lang="en-US" sz="2000" dirty="0" err="1">
                <a:solidFill>
                  <a:srgbClr val="C00000"/>
                </a:solidFill>
                <a:latin typeface="Times New Roman" panose="02020603050405020304" pitchFamily="18" charset="0"/>
                <a:cs typeface="Times New Roman" panose="02020603050405020304" pitchFamily="18" charset="0"/>
              </a:rPr>
              <a:t>const</a:t>
            </a:r>
            <a:r>
              <a:rPr lang="en-US" sz="2000" dirty="0">
                <a:solidFill>
                  <a:srgbClr val="C00000"/>
                </a:solidFill>
                <a:latin typeface="Times New Roman" panose="02020603050405020304" pitchFamily="18" charset="0"/>
                <a:cs typeface="Times New Roman" panose="02020603050405020304" pitchFamily="18" charset="0"/>
              </a:rPr>
              <a:t> x = 1;</a:t>
            </a:r>
          </a:p>
          <a:p>
            <a:r>
              <a:rPr lang="en-US" sz="2000" dirty="0" err="1">
                <a:solidFill>
                  <a:srgbClr val="C00000"/>
                </a:solidFill>
                <a:latin typeface="Times New Roman" panose="02020603050405020304" pitchFamily="18" charset="0"/>
                <a:cs typeface="Times New Roman" panose="02020603050405020304" pitchFamily="18" charset="0"/>
              </a:rPr>
              <a:t>const</a:t>
            </a:r>
            <a:r>
              <a:rPr lang="en-US" sz="2000" dirty="0">
                <a:solidFill>
                  <a:srgbClr val="C00000"/>
                </a:solidFill>
                <a:latin typeface="Times New Roman" panose="02020603050405020304" pitchFamily="18" charset="0"/>
                <a:cs typeface="Times New Roman" panose="02020603050405020304" pitchFamily="18" charset="0"/>
              </a:rPr>
              <a:t> </a:t>
            </a:r>
            <a:r>
              <a:rPr lang="en-US" sz="2000" dirty="0" err="1">
                <a:solidFill>
                  <a:srgbClr val="C00000"/>
                </a:solidFill>
                <a:latin typeface="Times New Roman" panose="02020603050405020304" pitchFamily="18" charset="0"/>
                <a:cs typeface="Times New Roman" panose="02020603050405020304" pitchFamily="18" charset="0"/>
              </a:rPr>
              <a:t>new_x</a:t>
            </a:r>
            <a:r>
              <a:rPr lang="en-US" sz="2000" dirty="0">
                <a:solidFill>
                  <a:srgbClr val="C00000"/>
                </a:solidFill>
                <a:latin typeface="Times New Roman" panose="02020603050405020304" pitchFamily="18" charset="0"/>
                <a:cs typeface="Times New Roman" panose="02020603050405020304" pitchFamily="18" charset="0"/>
              </a:rPr>
              <a:t> = x + 1;</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0"/>
            <a:ext cx="7271384" cy="452120"/>
          </a:xfrm>
          <a:prstGeom prst="rect">
            <a:avLst/>
          </a:prstGeom>
        </p:spPr>
        <p:txBody>
          <a:bodyPr vert="horz" wrap="square" lIns="0" tIns="12700" rIns="0" bIns="0" rtlCol="0">
            <a:spAutoFit/>
          </a:bodyPr>
          <a:lstStyle/>
          <a:p>
            <a:pPr marL="12700">
              <a:lnSpc>
                <a:spcPct val="100000"/>
              </a:lnSpc>
              <a:spcBef>
                <a:spcPts val="100"/>
              </a:spcBef>
            </a:pPr>
            <a:r>
              <a:rPr sz="2800" spc="-10" dirty="0">
                <a:solidFill>
                  <a:srgbClr val="000000"/>
                </a:solidFill>
                <a:latin typeface="Calibri" panose="020F0502020204030204"/>
                <a:cs typeface="Calibri" panose="020F0502020204030204"/>
              </a:rPr>
              <a:t>Functions</a:t>
            </a:r>
            <a:r>
              <a:rPr sz="2800" spc="-20"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are</a:t>
            </a:r>
            <a:r>
              <a:rPr sz="2800" spc="-15" dirty="0">
                <a:solidFill>
                  <a:srgbClr val="000000"/>
                </a:solidFill>
                <a:latin typeface="Calibri" panose="020F0502020204030204"/>
                <a:cs typeface="Calibri" panose="020F0502020204030204"/>
              </a:rPr>
              <a:t> </a:t>
            </a:r>
            <a:r>
              <a:rPr sz="2800" spc="-10" dirty="0">
                <a:solidFill>
                  <a:srgbClr val="000000"/>
                </a:solidFill>
                <a:latin typeface="Calibri" panose="020F0502020204030204"/>
                <a:cs typeface="Calibri" panose="020F0502020204030204"/>
              </a:rPr>
              <a:t>First-Class</a:t>
            </a:r>
            <a:r>
              <a:rPr sz="2800" spc="-20"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and</a:t>
            </a:r>
            <a:r>
              <a:rPr sz="2800" spc="-15"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can</a:t>
            </a:r>
            <a:r>
              <a:rPr sz="2800" spc="-15"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be</a:t>
            </a:r>
            <a:r>
              <a:rPr sz="2800" spc="-15"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Higher-Order</a:t>
            </a:r>
            <a:endParaRPr sz="2800" dirty="0">
              <a:latin typeface="Calibri" panose="020F0502020204030204"/>
              <a:cs typeface="Calibri" panose="020F0502020204030204"/>
            </a:endParaRP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0"/>
            <a:ext cx="12105640" cy="5979795"/>
          </a:xfrm>
          <a:custGeom>
            <a:avLst/>
            <a:gdLst/>
            <a:ahLst/>
            <a:cxnLst/>
            <a:rect l="l" t="t" r="r" b="b"/>
            <a:pathLst>
              <a:path w="12105640" h="5979795">
                <a:moveTo>
                  <a:pt x="0" y="0"/>
                </a:moveTo>
                <a:lnTo>
                  <a:pt x="12105503" y="0"/>
                </a:lnTo>
                <a:lnTo>
                  <a:pt x="12105503" y="5979172"/>
                </a:lnTo>
                <a:lnTo>
                  <a:pt x="0" y="5979172"/>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325393" y="751107"/>
            <a:ext cx="11561808" cy="2603277"/>
          </a:xfrm>
          <a:prstGeom prst="rect">
            <a:avLst/>
          </a:prstGeom>
        </p:spPr>
        <p:txBody>
          <a:bodyPr vert="horz" wrap="square" lIns="0" tIns="12700" rIns="0" bIns="0" rtlCol="0">
            <a:spAutoFit/>
          </a:bodyPr>
          <a:lstStyle/>
          <a:p>
            <a:pPr marL="336550" marR="5080" indent="-323850" algn="just">
              <a:lnSpc>
                <a:spcPct val="150000"/>
              </a:lnSpc>
              <a:spcBef>
                <a:spcPts val="100"/>
              </a:spcBef>
              <a:buFont typeface="Arial MT"/>
              <a:buChar char="•"/>
              <a:tabLst>
                <a:tab pos="336550" algn="l"/>
              </a:tabLst>
            </a:pPr>
            <a:r>
              <a:rPr lang="en-US" sz="2200" dirty="0">
                <a:latin typeface="Times New Roman" panose="02020603050405020304" pitchFamily="18" charset="0"/>
                <a:cs typeface="Times New Roman" panose="02020603050405020304" pitchFamily="18" charset="0"/>
              </a:rPr>
              <a:t>First-Class Functions:</a:t>
            </a:r>
          </a:p>
          <a:p>
            <a:pPr marL="812800" marR="5080" lvl="1" indent="-342900" algn="just">
              <a:lnSpc>
                <a:spcPct val="150000"/>
              </a:lnSpc>
              <a:spcBef>
                <a:spcPts val="100"/>
              </a:spcBef>
              <a:buFont typeface="Arial" panose="020B0604020202020204" pitchFamily="34" charset="0"/>
              <a:buChar char="•"/>
              <a:tabLst>
                <a:tab pos="336550" algn="l"/>
              </a:tabLst>
            </a:pPr>
            <a:r>
              <a:rPr lang="en-US" sz="2200" dirty="0" smtClean="0">
                <a:latin typeface="Times New Roman" panose="02020603050405020304" pitchFamily="18" charset="0"/>
                <a:cs typeface="Times New Roman" panose="02020603050405020304" pitchFamily="18" charset="0"/>
              </a:rPr>
              <a:t>Assigned </a:t>
            </a:r>
            <a:r>
              <a:rPr lang="en-US" sz="2200" dirty="0">
                <a:latin typeface="Times New Roman" panose="02020603050405020304" pitchFamily="18" charset="0"/>
                <a:cs typeface="Times New Roman" panose="02020603050405020304" pitchFamily="18" charset="0"/>
              </a:rPr>
              <a:t>to variables: You can assign a function to a </a:t>
            </a:r>
            <a:r>
              <a:rPr lang="en-US" sz="2200" dirty="0" smtClean="0">
                <a:latin typeface="Times New Roman" panose="02020603050405020304" pitchFamily="18" charset="0"/>
                <a:cs typeface="Times New Roman" panose="02020603050405020304" pitchFamily="18" charset="0"/>
              </a:rPr>
              <a:t>variable.</a:t>
            </a:r>
          </a:p>
          <a:p>
            <a:pPr marL="812800" marR="5080" lvl="1" indent="-342900" algn="just">
              <a:lnSpc>
                <a:spcPct val="150000"/>
              </a:lnSpc>
              <a:spcBef>
                <a:spcPts val="100"/>
              </a:spcBef>
              <a:buFont typeface="Arial" panose="020B0604020202020204" pitchFamily="34" charset="0"/>
              <a:buChar char="•"/>
              <a:tabLst>
                <a:tab pos="336550" algn="l"/>
              </a:tabLst>
            </a:pPr>
            <a:r>
              <a:rPr lang="en-US" sz="2200" dirty="0" smtClean="0">
                <a:latin typeface="Times New Roman" panose="02020603050405020304" pitchFamily="18" charset="0"/>
                <a:cs typeface="Times New Roman" panose="02020603050405020304" pitchFamily="18" charset="0"/>
              </a:rPr>
              <a:t>Passed </a:t>
            </a:r>
            <a:r>
              <a:rPr lang="en-US" sz="2200" dirty="0">
                <a:latin typeface="Times New Roman" panose="02020603050405020304" pitchFamily="18" charset="0"/>
                <a:cs typeface="Times New Roman" panose="02020603050405020304" pitchFamily="18" charset="0"/>
              </a:rPr>
              <a:t>as arguments: You can pass a function as a parameter to another </a:t>
            </a:r>
            <a:r>
              <a:rPr lang="en-US" sz="2200" dirty="0" smtClean="0">
                <a:latin typeface="Times New Roman" panose="02020603050405020304" pitchFamily="18" charset="0"/>
                <a:cs typeface="Times New Roman" panose="02020603050405020304" pitchFamily="18" charset="0"/>
              </a:rPr>
              <a:t>function.</a:t>
            </a:r>
          </a:p>
          <a:p>
            <a:pPr marL="812800" marR="5080" lvl="1" indent="-342900" algn="just">
              <a:lnSpc>
                <a:spcPct val="150000"/>
              </a:lnSpc>
              <a:spcBef>
                <a:spcPts val="100"/>
              </a:spcBef>
              <a:buFont typeface="Arial" panose="020B0604020202020204" pitchFamily="34" charset="0"/>
              <a:buChar char="•"/>
              <a:tabLst>
                <a:tab pos="336550" algn="l"/>
              </a:tabLst>
            </a:pPr>
            <a:r>
              <a:rPr lang="en-US" sz="2200" dirty="0" smtClean="0">
                <a:latin typeface="Times New Roman" panose="02020603050405020304" pitchFamily="18" charset="0"/>
                <a:cs typeface="Times New Roman" panose="02020603050405020304" pitchFamily="18" charset="0"/>
              </a:rPr>
              <a:t>Returned </a:t>
            </a:r>
            <a:r>
              <a:rPr lang="en-US" sz="2200" dirty="0">
                <a:latin typeface="Times New Roman" panose="02020603050405020304" pitchFamily="18" charset="0"/>
                <a:cs typeface="Times New Roman" panose="02020603050405020304" pitchFamily="18" charset="0"/>
              </a:rPr>
              <a:t>from other functions: A function can be the result of another </a:t>
            </a:r>
            <a:r>
              <a:rPr lang="en-US" sz="2200" dirty="0" smtClean="0">
                <a:latin typeface="Times New Roman" panose="02020603050405020304" pitchFamily="18" charset="0"/>
                <a:cs typeface="Times New Roman" panose="02020603050405020304" pitchFamily="18" charset="0"/>
              </a:rPr>
              <a:t>function.</a:t>
            </a:r>
          </a:p>
          <a:p>
            <a:pPr marL="812800" marR="5080" lvl="1" indent="-342900" algn="just">
              <a:lnSpc>
                <a:spcPct val="150000"/>
              </a:lnSpc>
              <a:spcBef>
                <a:spcPts val="100"/>
              </a:spcBef>
              <a:buFont typeface="Arial" panose="020B0604020202020204" pitchFamily="34" charset="0"/>
              <a:buChar char="•"/>
              <a:tabLst>
                <a:tab pos="336550" algn="l"/>
              </a:tabLst>
            </a:pPr>
            <a:r>
              <a:rPr lang="en-US" sz="2200" dirty="0" smtClean="0">
                <a:latin typeface="Times New Roman" panose="02020603050405020304" pitchFamily="18" charset="0"/>
                <a:cs typeface="Times New Roman" panose="02020603050405020304" pitchFamily="18" charset="0"/>
              </a:rPr>
              <a:t>Stored </a:t>
            </a:r>
            <a:r>
              <a:rPr lang="en-US" sz="2200" dirty="0">
                <a:latin typeface="Times New Roman" panose="02020603050405020304" pitchFamily="18" charset="0"/>
                <a:cs typeface="Times New Roman" panose="02020603050405020304" pitchFamily="18" charset="0"/>
              </a:rPr>
              <a:t>in data structures: Functions can be stored in lists, dictionaries, etc</a:t>
            </a:r>
            <a:r>
              <a:rPr lang="en-US" sz="2200" dirty="0" smtClean="0">
                <a:latin typeface="Times New Roman" panose="02020603050405020304" pitchFamily="18" charset="0"/>
                <a:cs typeface="Times New Roman" panose="02020603050405020304" pitchFamily="18" charset="0"/>
              </a:rPr>
              <a:t>.</a:t>
            </a:r>
          </a:p>
        </p:txBody>
      </p:sp>
      <p:sp>
        <p:nvSpPr>
          <p:cNvPr id="10" name="Slide Number Placeholder 9"/>
          <p:cNvSpPr>
            <a:spLocks noGrp="1"/>
          </p:cNvSpPr>
          <p:nvPr>
            <p:ph type="sldNum" sz="quarter" idx="7"/>
          </p:nvPr>
        </p:nvSpPr>
        <p:spPr/>
        <p:txBody>
          <a:bodyPr/>
          <a:lstStyle/>
          <a:p>
            <a:fld id="{B6F15528-21DE-4FAA-801E-634DDDAF4B2B}" type="slidenum">
              <a:rPr/>
              <a:t>13</a:t>
            </a:fld>
            <a:endParaRPr/>
          </a:p>
        </p:txBody>
      </p:sp>
      <p:sp>
        <p:nvSpPr>
          <p:cNvPr id="11" name="Footer Placeholder 10"/>
          <p:cNvSpPr>
            <a:spLocks noGrp="1"/>
          </p:cNvSpPr>
          <p:nvPr>
            <p:ph type="ftr" sz="quarter" idx="5"/>
          </p:nvPr>
        </p:nvSpPr>
        <p:spPr/>
        <p:txBody>
          <a:bodyPr/>
          <a:lstStyle/>
          <a:p>
            <a:r>
              <a:t>UNIT IV : Pythonic Programming Paradigm</a:t>
            </a:r>
          </a:p>
        </p:txBody>
      </p:sp>
      <p:sp>
        <p:nvSpPr>
          <p:cNvPr id="12" name="Rectangle 11"/>
          <p:cNvSpPr/>
          <p:nvPr/>
        </p:nvSpPr>
        <p:spPr>
          <a:xfrm>
            <a:off x="1252354" y="3733800"/>
            <a:ext cx="6901046" cy="2062872"/>
          </a:xfrm>
          <a:prstGeom prst="rect">
            <a:avLst/>
          </a:prstGeom>
        </p:spPr>
        <p:txBody>
          <a:bodyPr wrap="square">
            <a:spAutoFit/>
          </a:bodyPr>
          <a:lstStyle/>
          <a:p>
            <a:pPr>
              <a:lnSpc>
                <a:spcPct val="150000"/>
              </a:lnSpc>
            </a:pPr>
            <a:r>
              <a:rPr lang="en-US" sz="2200" dirty="0" err="1">
                <a:solidFill>
                  <a:srgbClr val="C00000"/>
                </a:solidFill>
                <a:latin typeface="Times New Roman" panose="02020603050405020304" pitchFamily="18" charset="0"/>
                <a:cs typeface="Times New Roman" panose="02020603050405020304" pitchFamily="18" charset="0"/>
              </a:rPr>
              <a:t>def</a:t>
            </a:r>
            <a:r>
              <a:rPr lang="en-US" sz="2200" dirty="0">
                <a:solidFill>
                  <a:srgbClr val="C00000"/>
                </a:solidFill>
                <a:latin typeface="Times New Roman" panose="02020603050405020304" pitchFamily="18" charset="0"/>
                <a:cs typeface="Times New Roman" panose="02020603050405020304" pitchFamily="18" charset="0"/>
              </a:rPr>
              <a:t> </a:t>
            </a:r>
            <a:r>
              <a:rPr lang="en-US" sz="2200" dirty="0" err="1">
                <a:solidFill>
                  <a:srgbClr val="C00000"/>
                </a:solidFill>
                <a:latin typeface="Times New Roman" panose="02020603050405020304" pitchFamily="18" charset="0"/>
                <a:cs typeface="Times New Roman" panose="02020603050405020304" pitchFamily="18" charset="0"/>
              </a:rPr>
              <a:t>say_hello</a:t>
            </a:r>
            <a:r>
              <a:rPr lang="en-US" sz="2200" dirty="0">
                <a:solidFill>
                  <a:srgbClr val="C00000"/>
                </a:solidFill>
                <a:latin typeface="Times New Roman" panose="02020603050405020304" pitchFamily="18" charset="0"/>
                <a:cs typeface="Times New Roman" panose="02020603050405020304" pitchFamily="18" charset="0"/>
              </a:rPr>
              <a:t>(name):    </a:t>
            </a:r>
            <a:endParaRPr lang="en-US" sz="2200" dirty="0" smtClean="0">
              <a:solidFill>
                <a:srgbClr val="C00000"/>
              </a:solidFill>
              <a:latin typeface="Times New Roman" panose="02020603050405020304" pitchFamily="18" charset="0"/>
              <a:cs typeface="Times New Roman" panose="02020603050405020304" pitchFamily="18" charset="0"/>
            </a:endParaRPr>
          </a:p>
          <a:p>
            <a:pPr>
              <a:lnSpc>
                <a:spcPct val="150000"/>
              </a:lnSpc>
            </a:pPr>
            <a:r>
              <a:rPr lang="en-US" sz="2200" dirty="0">
                <a:solidFill>
                  <a:srgbClr val="C00000"/>
                </a:solidFill>
                <a:latin typeface="Times New Roman" panose="02020603050405020304" pitchFamily="18" charset="0"/>
                <a:cs typeface="Times New Roman" panose="02020603050405020304" pitchFamily="18" charset="0"/>
              </a:rPr>
              <a:t>	</a:t>
            </a:r>
            <a:r>
              <a:rPr lang="en-US" sz="2200" dirty="0" smtClean="0">
                <a:solidFill>
                  <a:srgbClr val="C00000"/>
                </a:solidFill>
                <a:latin typeface="Times New Roman" panose="02020603050405020304" pitchFamily="18" charset="0"/>
                <a:cs typeface="Times New Roman" panose="02020603050405020304" pitchFamily="18" charset="0"/>
              </a:rPr>
              <a:t>return </a:t>
            </a:r>
            <a:r>
              <a:rPr lang="en-US" sz="2200" dirty="0" err="1">
                <a:solidFill>
                  <a:srgbClr val="C00000"/>
                </a:solidFill>
                <a:latin typeface="Times New Roman" panose="02020603050405020304" pitchFamily="18" charset="0"/>
                <a:cs typeface="Times New Roman" panose="02020603050405020304" pitchFamily="18" charset="0"/>
              </a:rPr>
              <a:t>f"Hello</a:t>
            </a:r>
            <a:r>
              <a:rPr lang="en-US" sz="2200" dirty="0">
                <a:solidFill>
                  <a:srgbClr val="C00000"/>
                </a:solidFill>
                <a:latin typeface="Times New Roman" panose="02020603050405020304" pitchFamily="18" charset="0"/>
                <a:cs typeface="Times New Roman" panose="02020603050405020304" pitchFamily="18" charset="0"/>
              </a:rPr>
              <a:t>, {name</a:t>
            </a:r>
            <a:r>
              <a:rPr lang="en-US" sz="2200" dirty="0" smtClean="0">
                <a:solidFill>
                  <a:srgbClr val="C00000"/>
                </a:solidFill>
                <a:latin typeface="Times New Roman" panose="02020603050405020304" pitchFamily="18" charset="0"/>
                <a:cs typeface="Times New Roman" panose="02020603050405020304" pitchFamily="18" charset="0"/>
              </a:rPr>
              <a:t>}!“</a:t>
            </a:r>
          </a:p>
          <a:p>
            <a:pPr>
              <a:lnSpc>
                <a:spcPct val="150000"/>
              </a:lnSpc>
            </a:pPr>
            <a:r>
              <a:rPr lang="en-US" sz="2200" dirty="0" smtClean="0">
                <a:solidFill>
                  <a:srgbClr val="C00000"/>
                </a:solidFill>
                <a:latin typeface="Times New Roman" panose="02020603050405020304" pitchFamily="18" charset="0"/>
                <a:cs typeface="Times New Roman" panose="02020603050405020304" pitchFamily="18" charset="0"/>
              </a:rPr>
              <a:t>greet </a:t>
            </a:r>
            <a:r>
              <a:rPr lang="en-US" sz="2200" dirty="0">
                <a:solidFill>
                  <a:srgbClr val="C00000"/>
                </a:solidFill>
                <a:latin typeface="Times New Roman" panose="02020603050405020304" pitchFamily="18" charset="0"/>
                <a:cs typeface="Times New Roman" panose="02020603050405020304" pitchFamily="18" charset="0"/>
              </a:rPr>
              <a:t>= </a:t>
            </a:r>
            <a:r>
              <a:rPr lang="en-US" sz="2200" dirty="0" err="1">
                <a:solidFill>
                  <a:srgbClr val="C00000"/>
                </a:solidFill>
                <a:latin typeface="Times New Roman" panose="02020603050405020304" pitchFamily="18" charset="0"/>
                <a:cs typeface="Times New Roman" panose="02020603050405020304" pitchFamily="18" charset="0"/>
              </a:rPr>
              <a:t>say_hello</a:t>
            </a:r>
            <a:r>
              <a:rPr lang="en-US" sz="2200" dirty="0">
                <a:solidFill>
                  <a:srgbClr val="C0000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 Assign the function to a </a:t>
            </a:r>
            <a:r>
              <a:rPr lang="en-US" sz="2200" dirty="0" smtClean="0">
                <a:solidFill>
                  <a:srgbClr val="7030A0"/>
                </a:solidFill>
                <a:latin typeface="Times New Roman" panose="02020603050405020304" pitchFamily="18" charset="0"/>
                <a:cs typeface="Times New Roman" panose="02020603050405020304" pitchFamily="18" charset="0"/>
              </a:rPr>
              <a:t>variable</a:t>
            </a:r>
          </a:p>
          <a:p>
            <a:pPr>
              <a:lnSpc>
                <a:spcPct val="150000"/>
              </a:lnSpc>
            </a:pPr>
            <a:r>
              <a:rPr lang="en-US" sz="2200" dirty="0" smtClean="0">
                <a:solidFill>
                  <a:srgbClr val="C00000"/>
                </a:solidFill>
                <a:latin typeface="Times New Roman" panose="02020603050405020304" pitchFamily="18" charset="0"/>
                <a:cs typeface="Times New Roman" panose="02020603050405020304" pitchFamily="18" charset="0"/>
              </a:rPr>
              <a:t>result </a:t>
            </a:r>
            <a:r>
              <a:rPr lang="en-US" sz="2200" dirty="0">
                <a:solidFill>
                  <a:srgbClr val="C00000"/>
                </a:solidFill>
                <a:latin typeface="Times New Roman" panose="02020603050405020304" pitchFamily="18" charset="0"/>
                <a:cs typeface="Times New Roman" panose="02020603050405020304" pitchFamily="18" charset="0"/>
              </a:rPr>
              <a:t>= greet("John")  </a:t>
            </a:r>
            <a:r>
              <a:rPr lang="en-US" sz="2200" dirty="0">
                <a:solidFill>
                  <a:srgbClr val="7030A0"/>
                </a:solidFill>
                <a:latin typeface="Times New Roman" panose="02020603050405020304" pitchFamily="18" charset="0"/>
                <a:cs typeface="Times New Roman" panose="02020603050405020304" pitchFamily="18" charset="0"/>
              </a:rPr>
              <a:t># Call the function using the variable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0"/>
            <a:ext cx="7271384" cy="452120"/>
          </a:xfrm>
          <a:prstGeom prst="rect">
            <a:avLst/>
          </a:prstGeom>
        </p:spPr>
        <p:txBody>
          <a:bodyPr vert="horz" wrap="square" lIns="0" tIns="12700" rIns="0" bIns="0" rtlCol="0">
            <a:spAutoFit/>
          </a:bodyPr>
          <a:lstStyle/>
          <a:p>
            <a:pPr marL="12700">
              <a:lnSpc>
                <a:spcPct val="100000"/>
              </a:lnSpc>
              <a:spcBef>
                <a:spcPts val="100"/>
              </a:spcBef>
            </a:pPr>
            <a:r>
              <a:rPr sz="2800" spc="-10" dirty="0">
                <a:solidFill>
                  <a:srgbClr val="000000"/>
                </a:solidFill>
                <a:latin typeface="Calibri" panose="020F0502020204030204"/>
                <a:cs typeface="Calibri" panose="020F0502020204030204"/>
              </a:rPr>
              <a:t>Functions</a:t>
            </a:r>
            <a:r>
              <a:rPr sz="2800" spc="-20"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are</a:t>
            </a:r>
            <a:r>
              <a:rPr sz="2800" spc="-15" dirty="0">
                <a:solidFill>
                  <a:srgbClr val="000000"/>
                </a:solidFill>
                <a:latin typeface="Calibri" panose="020F0502020204030204"/>
                <a:cs typeface="Calibri" panose="020F0502020204030204"/>
              </a:rPr>
              <a:t> </a:t>
            </a:r>
            <a:r>
              <a:rPr sz="2800" spc="-10" dirty="0">
                <a:solidFill>
                  <a:srgbClr val="000000"/>
                </a:solidFill>
                <a:latin typeface="Calibri" panose="020F0502020204030204"/>
                <a:cs typeface="Calibri" panose="020F0502020204030204"/>
              </a:rPr>
              <a:t>First-Class</a:t>
            </a:r>
            <a:r>
              <a:rPr sz="2800" spc="-20"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and</a:t>
            </a:r>
            <a:r>
              <a:rPr sz="2800" spc="-15"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can</a:t>
            </a:r>
            <a:r>
              <a:rPr sz="2800" spc="-15"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be</a:t>
            </a:r>
            <a:r>
              <a:rPr sz="2800" spc="-15"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Higher-Order</a:t>
            </a:r>
            <a:endParaRPr sz="2800">
              <a:latin typeface="Calibri" panose="020F0502020204030204"/>
              <a:cs typeface="Calibri" panose="020F0502020204030204"/>
            </a:endParaRP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0"/>
            <a:ext cx="12105640" cy="5979795"/>
          </a:xfrm>
          <a:custGeom>
            <a:avLst/>
            <a:gdLst/>
            <a:ahLst/>
            <a:cxnLst/>
            <a:rect l="l" t="t" r="r" b="b"/>
            <a:pathLst>
              <a:path w="12105640" h="5979795">
                <a:moveTo>
                  <a:pt x="0" y="0"/>
                </a:moveTo>
                <a:lnTo>
                  <a:pt x="12105503" y="0"/>
                </a:lnTo>
                <a:lnTo>
                  <a:pt x="12105503" y="5979172"/>
                </a:lnTo>
                <a:lnTo>
                  <a:pt x="0" y="5979172"/>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201294" y="713609"/>
            <a:ext cx="11787505" cy="3506857"/>
          </a:xfrm>
          <a:prstGeom prst="rect">
            <a:avLst/>
          </a:prstGeom>
        </p:spPr>
        <p:txBody>
          <a:bodyPr vert="horz" wrap="square" lIns="0" tIns="12700" rIns="0" bIns="0" rtlCol="0">
            <a:spAutoFit/>
          </a:bodyPr>
          <a:lstStyle/>
          <a:p>
            <a:pPr marL="336550" indent="-323850" algn="just">
              <a:lnSpc>
                <a:spcPct val="150000"/>
              </a:lnSpc>
              <a:buFont typeface="Arial MT"/>
              <a:buChar char="•"/>
              <a:tabLst>
                <a:tab pos="336550" algn="l"/>
              </a:tabLst>
            </a:pPr>
            <a:r>
              <a:rPr lang="en-US" sz="2200" spc="-5" dirty="0">
                <a:latin typeface="Times New Roman" panose="02020603050405020304" pitchFamily="18" charset="0"/>
                <a:cs typeface="Times New Roman" panose="02020603050405020304" pitchFamily="18" charset="0"/>
              </a:rPr>
              <a:t>A higher-order function is a function that takes one or more functions as arguments and/or returns a function as its result. In other words, it operates on functions. Higher-order functions are a fundamental concept in functional programming</a:t>
            </a:r>
            <a:r>
              <a:rPr lang="en-US" sz="2200" spc="-5" dirty="0" smtClean="0">
                <a:latin typeface="Times New Roman" panose="02020603050405020304" pitchFamily="18" charset="0"/>
                <a:cs typeface="Times New Roman" panose="02020603050405020304" pitchFamily="18" charset="0"/>
              </a:rPr>
              <a:t>.</a:t>
            </a:r>
          </a:p>
          <a:p>
            <a:pPr marL="336550" indent="-323850" algn="just">
              <a:lnSpc>
                <a:spcPct val="150000"/>
              </a:lnSpc>
              <a:buFont typeface="Arial MT"/>
              <a:buChar char="•"/>
              <a:tabLst>
                <a:tab pos="336550" algn="l"/>
              </a:tabLst>
            </a:pPr>
            <a:r>
              <a:rPr sz="2200" spc="-5" dirty="0" smtClean="0">
                <a:latin typeface="Times New Roman" panose="02020603050405020304" pitchFamily="18" charset="0"/>
                <a:cs typeface="Times New Roman" panose="02020603050405020304" pitchFamily="18" charset="0"/>
              </a:rPr>
              <a:t>Higher-order</a:t>
            </a:r>
            <a:r>
              <a:rPr sz="2200" spc="-10" dirty="0" smtClean="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functions</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are</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functions</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that take</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at</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least</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one first-class</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as</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a:t>
            </a:r>
            <a:r>
              <a:rPr sz="2200" spc="-5" dirty="0">
                <a:latin typeface="Times New Roman" panose="02020603050405020304" pitchFamily="18" charset="0"/>
                <a:cs typeface="Times New Roman" panose="02020603050405020304" pitchFamily="18" charset="0"/>
              </a:rPr>
              <a:t> parameter</a:t>
            </a:r>
            <a:endParaRPr sz="2200" dirty="0">
              <a:latin typeface="Times New Roman" panose="02020603050405020304" pitchFamily="18" charset="0"/>
              <a:cs typeface="Times New Roman" panose="02020603050405020304" pitchFamily="18" charset="0"/>
            </a:endParaRPr>
          </a:p>
          <a:p>
            <a:pPr marL="336550" indent="-323850" algn="just">
              <a:lnSpc>
                <a:spcPct val="150000"/>
              </a:lnSpc>
              <a:buFont typeface="Arial MT"/>
              <a:buChar char="•"/>
              <a:tabLst>
                <a:tab pos="336550" algn="l"/>
              </a:tabLst>
            </a:pPr>
            <a:r>
              <a:rPr sz="2200" spc="-5" dirty="0">
                <a:latin typeface="Times New Roman" panose="02020603050405020304" pitchFamily="18" charset="0"/>
                <a:cs typeface="Times New Roman" panose="02020603050405020304" pitchFamily="18" charset="0"/>
              </a:rPr>
              <a:t>Examples:</a:t>
            </a:r>
            <a:endParaRPr sz="2200" dirty="0">
              <a:latin typeface="Times New Roman" panose="02020603050405020304" pitchFamily="18" charset="0"/>
              <a:cs typeface="Times New Roman" panose="02020603050405020304" pitchFamily="18" charset="0"/>
            </a:endParaRPr>
          </a:p>
          <a:p>
            <a:pPr marL="793750" lvl="1" indent="-323850">
              <a:lnSpc>
                <a:spcPct val="150000"/>
              </a:lnSpc>
              <a:buFont typeface="Arial MT"/>
              <a:buChar char="•"/>
              <a:tabLst>
                <a:tab pos="793115" algn="l"/>
                <a:tab pos="793750" algn="l"/>
              </a:tabLst>
            </a:pPr>
            <a:r>
              <a:rPr sz="2200" spc="-5" dirty="0">
                <a:latin typeface="Times New Roman" panose="02020603050405020304" pitchFamily="18" charset="0"/>
                <a:cs typeface="Times New Roman" panose="02020603050405020304" pitchFamily="18" charset="0"/>
              </a:rPr>
              <a:t>name_lengths</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map(len,</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["Bob",</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"Rob",</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"Bobby"])</a:t>
            </a:r>
            <a:endParaRPr sz="2200" dirty="0">
              <a:latin typeface="Times New Roman" panose="02020603050405020304" pitchFamily="18" charset="0"/>
              <a:cs typeface="Times New Roman" panose="02020603050405020304" pitchFamily="18" charset="0"/>
            </a:endParaRPr>
          </a:p>
          <a:p>
            <a:pPr marL="342900" indent="-324485" algn="just">
              <a:lnSpc>
                <a:spcPct val="150000"/>
              </a:lnSpc>
              <a:buFont typeface="Arial MT"/>
              <a:buChar char="•"/>
              <a:tabLst>
                <a:tab pos="342900" algn="l"/>
              </a:tabLst>
            </a:pPr>
            <a:r>
              <a:rPr sz="2200" spc="-5" dirty="0">
                <a:latin typeface="Times New Roman" panose="02020603050405020304" pitchFamily="18" charset="0"/>
                <a:cs typeface="Times New Roman" panose="02020603050405020304" pitchFamily="18" charset="0"/>
              </a:rPr>
              <a:t>Higher</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Order</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functions</a:t>
            </a:r>
            <a:r>
              <a:rPr sz="2200" spc="-1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are</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map,</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reduce,</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filter</a:t>
            </a:r>
            <a:endParaRPr sz="2200" dirty="0">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7"/>
          </p:nvPr>
        </p:nvSpPr>
        <p:spPr/>
        <p:txBody>
          <a:bodyPr/>
          <a:lstStyle/>
          <a:p>
            <a:fld id="{B6F15528-21DE-4FAA-801E-634DDDAF4B2B}" type="slidenum">
              <a:rPr/>
              <a:t>14</a:t>
            </a:fld>
            <a:endParaRPr/>
          </a:p>
        </p:txBody>
      </p:sp>
      <p:sp>
        <p:nvSpPr>
          <p:cNvPr id="11" name="Footer Placeholder 10"/>
          <p:cNvSpPr>
            <a:spLocks noGrp="1"/>
          </p:cNvSpPr>
          <p:nvPr>
            <p:ph type="ftr" sz="quarter" idx="5"/>
          </p:nvPr>
        </p:nvSpPr>
        <p:spPr/>
        <p:txBody>
          <a:bodyPr/>
          <a:lstStyle/>
          <a:p>
            <a:r>
              <a:t>UNIT IV : Pythonic Programming Paradigm</a:t>
            </a:r>
          </a:p>
        </p:txBody>
      </p:sp>
    </p:spTree>
    <p:extLst>
      <p:ext uri="{BB962C8B-B14F-4D97-AF65-F5344CB8AC3E}">
        <p14:creationId xmlns:p14="http://schemas.microsoft.com/office/powerpoint/2010/main" val="30565195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0"/>
            <a:ext cx="7271384" cy="452120"/>
          </a:xfrm>
          <a:prstGeom prst="rect">
            <a:avLst/>
          </a:prstGeom>
        </p:spPr>
        <p:txBody>
          <a:bodyPr vert="horz" wrap="square" lIns="0" tIns="12700" rIns="0" bIns="0" rtlCol="0">
            <a:spAutoFit/>
          </a:bodyPr>
          <a:lstStyle/>
          <a:p>
            <a:pPr marL="12700">
              <a:lnSpc>
                <a:spcPct val="100000"/>
              </a:lnSpc>
              <a:spcBef>
                <a:spcPts val="100"/>
              </a:spcBef>
            </a:pPr>
            <a:r>
              <a:rPr sz="2800" spc="-10" dirty="0">
                <a:solidFill>
                  <a:srgbClr val="000000"/>
                </a:solidFill>
                <a:latin typeface="Calibri" panose="020F0502020204030204"/>
                <a:cs typeface="Calibri" panose="020F0502020204030204"/>
              </a:rPr>
              <a:t>Functions</a:t>
            </a:r>
            <a:r>
              <a:rPr sz="2800" spc="-20"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are</a:t>
            </a:r>
            <a:r>
              <a:rPr sz="2800" spc="-15" dirty="0">
                <a:solidFill>
                  <a:srgbClr val="000000"/>
                </a:solidFill>
                <a:latin typeface="Calibri" panose="020F0502020204030204"/>
                <a:cs typeface="Calibri" panose="020F0502020204030204"/>
              </a:rPr>
              <a:t> </a:t>
            </a:r>
            <a:r>
              <a:rPr sz="2800" spc="-10" dirty="0">
                <a:solidFill>
                  <a:srgbClr val="000000"/>
                </a:solidFill>
                <a:latin typeface="Calibri" panose="020F0502020204030204"/>
                <a:cs typeface="Calibri" panose="020F0502020204030204"/>
              </a:rPr>
              <a:t>First-Class</a:t>
            </a:r>
            <a:r>
              <a:rPr sz="2800" spc="-20"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and</a:t>
            </a:r>
            <a:r>
              <a:rPr sz="2800" spc="-15"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can</a:t>
            </a:r>
            <a:r>
              <a:rPr sz="2800" spc="-15"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be</a:t>
            </a:r>
            <a:r>
              <a:rPr sz="2800" spc="-15"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Higher-Order</a:t>
            </a:r>
            <a:endParaRPr sz="2800">
              <a:latin typeface="Calibri" panose="020F0502020204030204"/>
              <a:cs typeface="Calibri" panose="020F0502020204030204"/>
            </a:endParaRP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0"/>
            <a:ext cx="12105640" cy="5979795"/>
          </a:xfrm>
          <a:custGeom>
            <a:avLst/>
            <a:gdLst/>
            <a:ahLst/>
            <a:cxnLst/>
            <a:rect l="l" t="t" r="r" b="b"/>
            <a:pathLst>
              <a:path w="12105640" h="5979795">
                <a:moveTo>
                  <a:pt x="0" y="0"/>
                </a:moveTo>
                <a:lnTo>
                  <a:pt x="12105503" y="0"/>
                </a:lnTo>
                <a:lnTo>
                  <a:pt x="12105503" y="5979172"/>
                </a:lnTo>
                <a:lnTo>
                  <a:pt x="0" y="5979172"/>
                </a:lnTo>
                <a:lnTo>
                  <a:pt x="0" y="0"/>
                </a:lnTo>
                <a:close/>
              </a:path>
            </a:pathLst>
          </a:custGeom>
          <a:ln w="12699">
            <a:solidFill>
              <a:srgbClr val="00B0F0"/>
            </a:solidFill>
          </a:ln>
        </p:spPr>
        <p:txBody>
          <a:bodyPr wrap="square" lIns="0" tIns="0" rIns="0" bIns="0" rtlCol="0"/>
          <a:lstStyle/>
          <a:p>
            <a:endParaRPr/>
          </a:p>
        </p:txBody>
      </p:sp>
      <p:sp>
        <p:nvSpPr>
          <p:cNvPr id="7" name="object 7"/>
          <p:cNvSpPr txBox="1"/>
          <p:nvPr/>
        </p:nvSpPr>
        <p:spPr>
          <a:xfrm>
            <a:off x="762000" y="1143000"/>
            <a:ext cx="3905250" cy="2774950"/>
          </a:xfrm>
          <a:prstGeom prst="rect">
            <a:avLst/>
          </a:prstGeom>
        </p:spPr>
        <p:txBody>
          <a:bodyPr vert="horz" wrap="square" lIns="0" tIns="84455" rIns="0" bIns="0" rtlCol="0">
            <a:spAutoFit/>
          </a:bodyPr>
          <a:lstStyle/>
          <a:p>
            <a:pPr marL="12700">
              <a:lnSpc>
                <a:spcPct val="100000"/>
              </a:lnSpc>
              <a:spcBef>
                <a:spcPts val="665"/>
              </a:spcBef>
            </a:pPr>
            <a:r>
              <a:rPr sz="1800" b="1" spc="-5" dirty="0">
                <a:latin typeface="Calibri" panose="020F0502020204030204"/>
                <a:cs typeface="Calibri" panose="020F0502020204030204"/>
              </a:rPr>
              <a:t>Functional</a:t>
            </a:r>
            <a:r>
              <a:rPr sz="1800" b="1" spc="-15" dirty="0">
                <a:latin typeface="Calibri" panose="020F0502020204030204"/>
                <a:cs typeface="Calibri" panose="020F0502020204030204"/>
              </a:rPr>
              <a:t> </a:t>
            </a:r>
            <a:r>
              <a:rPr sz="1800" b="1" spc="-5" dirty="0">
                <a:latin typeface="Calibri" panose="020F0502020204030204"/>
                <a:cs typeface="Calibri" panose="020F0502020204030204"/>
              </a:rPr>
              <a:t>style</a:t>
            </a:r>
            <a:r>
              <a:rPr sz="1800" b="1" spc="-15" dirty="0">
                <a:latin typeface="Calibri" panose="020F0502020204030204"/>
                <a:cs typeface="Calibri" panose="020F0502020204030204"/>
              </a:rPr>
              <a:t> </a:t>
            </a:r>
            <a:r>
              <a:rPr sz="1800" b="1" spc="-5" dirty="0">
                <a:latin typeface="Calibri" panose="020F0502020204030204"/>
                <a:cs typeface="Calibri" panose="020F0502020204030204"/>
              </a:rPr>
              <a:t>of</a:t>
            </a:r>
            <a:r>
              <a:rPr sz="1800" b="1" spc="-10" dirty="0">
                <a:latin typeface="Calibri" panose="020F0502020204030204"/>
                <a:cs typeface="Calibri" panose="020F0502020204030204"/>
              </a:rPr>
              <a:t> </a:t>
            </a:r>
            <a:r>
              <a:rPr sz="1800" b="1" spc="-5" dirty="0">
                <a:latin typeface="Calibri" panose="020F0502020204030204"/>
                <a:cs typeface="Calibri" panose="020F0502020204030204"/>
              </a:rPr>
              <a:t>getting</a:t>
            </a:r>
            <a:r>
              <a:rPr sz="1800" b="1" spc="-15" dirty="0">
                <a:latin typeface="Calibri" panose="020F0502020204030204"/>
                <a:cs typeface="Calibri" panose="020F0502020204030204"/>
              </a:rPr>
              <a:t> </a:t>
            </a:r>
            <a:r>
              <a:rPr sz="1800" b="1" dirty="0">
                <a:latin typeface="Calibri" panose="020F0502020204030204"/>
                <a:cs typeface="Calibri" panose="020F0502020204030204"/>
              </a:rPr>
              <a:t>a</a:t>
            </a:r>
            <a:r>
              <a:rPr sz="1800" b="1" spc="-15" dirty="0">
                <a:latin typeface="Calibri" panose="020F0502020204030204"/>
                <a:cs typeface="Calibri" panose="020F0502020204030204"/>
              </a:rPr>
              <a:t> </a:t>
            </a:r>
            <a:r>
              <a:rPr sz="1800" b="1" spc="-5" dirty="0">
                <a:latin typeface="Calibri" panose="020F0502020204030204"/>
                <a:cs typeface="Calibri" panose="020F0502020204030204"/>
              </a:rPr>
              <a:t>sum</a:t>
            </a:r>
            <a:r>
              <a:rPr sz="1800" b="1" spc="-10" dirty="0">
                <a:latin typeface="Calibri" panose="020F0502020204030204"/>
                <a:cs typeface="Calibri" panose="020F0502020204030204"/>
              </a:rPr>
              <a:t> </a:t>
            </a:r>
            <a:r>
              <a:rPr sz="1800" b="1" spc="-5" dirty="0">
                <a:latin typeface="Calibri" panose="020F0502020204030204"/>
                <a:cs typeface="Calibri" panose="020F0502020204030204"/>
              </a:rPr>
              <a:t>of</a:t>
            </a:r>
            <a:r>
              <a:rPr sz="1800" b="1" spc="-15" dirty="0">
                <a:latin typeface="Calibri" panose="020F0502020204030204"/>
                <a:cs typeface="Calibri" panose="020F0502020204030204"/>
              </a:rPr>
              <a:t> </a:t>
            </a:r>
            <a:r>
              <a:rPr sz="1800" b="1" dirty="0">
                <a:latin typeface="Calibri" panose="020F0502020204030204"/>
                <a:cs typeface="Calibri" panose="020F0502020204030204"/>
              </a:rPr>
              <a:t>a</a:t>
            </a:r>
            <a:r>
              <a:rPr sz="1800" b="1" spc="-15" dirty="0">
                <a:latin typeface="Calibri" panose="020F0502020204030204"/>
                <a:cs typeface="Calibri" panose="020F0502020204030204"/>
              </a:rPr>
              <a:t> </a:t>
            </a:r>
            <a:r>
              <a:rPr sz="1800" b="1" spc="-5" dirty="0">
                <a:latin typeface="Calibri" panose="020F0502020204030204"/>
                <a:cs typeface="Calibri" panose="020F0502020204030204"/>
              </a:rPr>
              <a:t>list:</a:t>
            </a:r>
            <a:endParaRPr sz="1800" dirty="0">
              <a:latin typeface="Calibri" panose="020F0502020204030204"/>
              <a:cs typeface="Calibri" panose="020F0502020204030204"/>
            </a:endParaRPr>
          </a:p>
          <a:p>
            <a:pPr marL="12700" marR="2011680">
              <a:lnSpc>
                <a:spcPct val="125000"/>
              </a:lnSpc>
              <a:spcBef>
                <a:spcPts val="25"/>
              </a:spcBef>
            </a:pPr>
            <a:r>
              <a:rPr sz="1800" spc="-5" dirty="0">
                <a:latin typeface="Calibri" panose="020F0502020204030204"/>
                <a:cs typeface="Calibri" panose="020F0502020204030204"/>
              </a:rPr>
              <a:t>new_lst</a:t>
            </a:r>
            <a:r>
              <a:rPr sz="1800" spc="-25" dirty="0">
                <a:latin typeface="Calibri" panose="020F0502020204030204"/>
                <a:cs typeface="Calibri" panose="020F0502020204030204"/>
              </a:rPr>
              <a:t> </a:t>
            </a:r>
            <a:r>
              <a:rPr sz="1800" dirty="0">
                <a:latin typeface="Calibri" panose="020F0502020204030204"/>
                <a:cs typeface="Calibri" panose="020F0502020204030204"/>
              </a:rPr>
              <a:t>=</a:t>
            </a:r>
            <a:r>
              <a:rPr sz="1800" spc="-20" dirty="0">
                <a:latin typeface="Calibri" panose="020F0502020204030204"/>
                <a:cs typeface="Calibri" panose="020F0502020204030204"/>
              </a:rPr>
              <a:t> </a:t>
            </a:r>
            <a:r>
              <a:rPr sz="1800" spc="-5" dirty="0">
                <a:latin typeface="Calibri" panose="020F0502020204030204"/>
                <a:cs typeface="Calibri" panose="020F0502020204030204"/>
              </a:rPr>
              <a:t>[1,</a:t>
            </a:r>
            <a:r>
              <a:rPr sz="1800" spc="-20" dirty="0">
                <a:latin typeface="Calibri" panose="020F0502020204030204"/>
                <a:cs typeface="Calibri" panose="020F0502020204030204"/>
              </a:rPr>
              <a:t> </a:t>
            </a:r>
            <a:r>
              <a:rPr sz="1800" spc="-5" dirty="0">
                <a:latin typeface="Calibri" panose="020F0502020204030204"/>
                <a:cs typeface="Calibri" panose="020F0502020204030204"/>
              </a:rPr>
              <a:t>2,</a:t>
            </a:r>
            <a:r>
              <a:rPr sz="1800" spc="-20" dirty="0">
                <a:latin typeface="Calibri" panose="020F0502020204030204"/>
                <a:cs typeface="Calibri" panose="020F0502020204030204"/>
              </a:rPr>
              <a:t> </a:t>
            </a:r>
            <a:r>
              <a:rPr sz="1800" spc="-5" dirty="0">
                <a:latin typeface="Calibri" panose="020F0502020204030204"/>
                <a:cs typeface="Calibri" panose="020F0502020204030204"/>
              </a:rPr>
              <a:t>3,</a:t>
            </a:r>
            <a:r>
              <a:rPr sz="1800" spc="-20" dirty="0">
                <a:latin typeface="Calibri" panose="020F0502020204030204"/>
                <a:cs typeface="Calibri" panose="020F0502020204030204"/>
              </a:rPr>
              <a:t> </a:t>
            </a:r>
            <a:r>
              <a:rPr sz="1800" spc="-5" dirty="0">
                <a:latin typeface="Calibri" panose="020F0502020204030204"/>
                <a:cs typeface="Calibri" panose="020F0502020204030204"/>
              </a:rPr>
              <a:t>4] </a:t>
            </a:r>
            <a:r>
              <a:rPr sz="1800" spc="-390" dirty="0">
                <a:latin typeface="Calibri" panose="020F0502020204030204"/>
                <a:cs typeface="Calibri" panose="020F0502020204030204"/>
              </a:rPr>
              <a:t> </a:t>
            </a:r>
            <a:r>
              <a:rPr sz="1800" spc="-5" dirty="0">
                <a:latin typeface="Calibri" panose="020F0502020204030204"/>
                <a:cs typeface="Calibri" panose="020F0502020204030204"/>
              </a:rPr>
              <a:t>def</a:t>
            </a:r>
            <a:r>
              <a:rPr sz="1800" spc="-20" dirty="0">
                <a:latin typeface="Calibri" panose="020F0502020204030204"/>
                <a:cs typeface="Calibri" panose="020F0502020204030204"/>
              </a:rPr>
              <a:t> </a:t>
            </a:r>
            <a:r>
              <a:rPr sz="1800" spc="-5" dirty="0">
                <a:latin typeface="Calibri" panose="020F0502020204030204"/>
                <a:cs typeface="Calibri" panose="020F0502020204030204"/>
              </a:rPr>
              <a:t>sum_list(lst):</a:t>
            </a:r>
            <a:endParaRPr sz="1800" dirty="0">
              <a:latin typeface="Calibri" panose="020F0502020204030204"/>
              <a:cs typeface="Calibri" panose="020F0502020204030204"/>
            </a:endParaRPr>
          </a:p>
          <a:p>
            <a:pPr marL="469900" marR="2313305" indent="-228600">
              <a:lnSpc>
                <a:spcPct val="125000"/>
              </a:lnSpc>
            </a:pPr>
            <a:r>
              <a:rPr sz="1800" spc="-5" dirty="0">
                <a:latin typeface="Calibri" panose="020F0502020204030204"/>
                <a:cs typeface="Calibri" panose="020F0502020204030204"/>
              </a:rPr>
              <a:t>if len(lst) == 1: </a:t>
            </a:r>
            <a:r>
              <a:rPr sz="1800" spc="-395" dirty="0">
                <a:latin typeface="Calibri" panose="020F0502020204030204"/>
                <a:cs typeface="Calibri" panose="020F0502020204030204"/>
              </a:rPr>
              <a:t> </a:t>
            </a:r>
            <a:r>
              <a:rPr sz="1800" spc="-5" dirty="0">
                <a:latin typeface="Calibri" panose="020F0502020204030204"/>
                <a:cs typeface="Calibri" panose="020F0502020204030204"/>
              </a:rPr>
              <a:t>return</a:t>
            </a:r>
            <a:r>
              <a:rPr sz="1800" spc="-90" dirty="0">
                <a:latin typeface="Calibri" panose="020F0502020204030204"/>
                <a:cs typeface="Calibri" panose="020F0502020204030204"/>
              </a:rPr>
              <a:t> </a:t>
            </a:r>
            <a:r>
              <a:rPr sz="1800" spc="-5" dirty="0">
                <a:latin typeface="Calibri" panose="020F0502020204030204"/>
                <a:cs typeface="Calibri" panose="020F0502020204030204"/>
              </a:rPr>
              <a:t>lst[0]</a:t>
            </a:r>
            <a:endParaRPr sz="1800" dirty="0">
              <a:latin typeface="Calibri" panose="020F0502020204030204"/>
              <a:cs typeface="Calibri" panose="020F0502020204030204"/>
            </a:endParaRPr>
          </a:p>
          <a:p>
            <a:pPr marL="241300">
              <a:lnSpc>
                <a:spcPct val="100000"/>
              </a:lnSpc>
              <a:spcBef>
                <a:spcPts val="540"/>
              </a:spcBef>
            </a:pPr>
            <a:r>
              <a:rPr sz="1800" spc="-5" dirty="0">
                <a:latin typeface="Calibri" panose="020F0502020204030204"/>
                <a:cs typeface="Calibri" panose="020F0502020204030204"/>
              </a:rPr>
              <a:t>else:</a:t>
            </a:r>
            <a:endParaRPr sz="1800" dirty="0">
              <a:latin typeface="Calibri" panose="020F0502020204030204"/>
              <a:cs typeface="Calibri" panose="020F0502020204030204"/>
            </a:endParaRPr>
          </a:p>
          <a:p>
            <a:pPr marL="12700" marR="645795" indent="457200">
              <a:lnSpc>
                <a:spcPct val="125000"/>
              </a:lnSpc>
            </a:pPr>
            <a:r>
              <a:rPr sz="1800" spc="-5" dirty="0">
                <a:latin typeface="Calibri" panose="020F0502020204030204"/>
                <a:cs typeface="Calibri" panose="020F0502020204030204"/>
              </a:rPr>
              <a:t>return lst[0] </a:t>
            </a:r>
            <a:r>
              <a:rPr sz="1800" dirty="0">
                <a:latin typeface="Calibri" panose="020F0502020204030204"/>
                <a:cs typeface="Calibri" panose="020F0502020204030204"/>
              </a:rPr>
              <a:t>+ </a:t>
            </a:r>
            <a:r>
              <a:rPr sz="1800" spc="-5" dirty="0">
                <a:latin typeface="Calibri" panose="020F0502020204030204"/>
                <a:cs typeface="Calibri" panose="020F0502020204030204"/>
              </a:rPr>
              <a:t>sum_list(lst[1:]) </a:t>
            </a:r>
            <a:r>
              <a:rPr sz="1800" spc="-395" dirty="0">
                <a:latin typeface="Calibri" panose="020F0502020204030204"/>
                <a:cs typeface="Calibri" panose="020F0502020204030204"/>
              </a:rPr>
              <a:t> </a:t>
            </a:r>
            <a:r>
              <a:rPr sz="1800" spc="-5" dirty="0">
                <a:latin typeface="Calibri" panose="020F0502020204030204"/>
                <a:cs typeface="Calibri" panose="020F0502020204030204"/>
              </a:rPr>
              <a:t>print(sum_list(new_lst))</a:t>
            </a:r>
            <a:endParaRPr sz="1800" dirty="0">
              <a:latin typeface="Calibri" panose="020F0502020204030204"/>
              <a:cs typeface="Calibri" panose="020F0502020204030204"/>
            </a:endParaRPr>
          </a:p>
        </p:txBody>
      </p:sp>
      <p:sp>
        <p:nvSpPr>
          <p:cNvPr id="8" name="object 8"/>
          <p:cNvSpPr txBox="1"/>
          <p:nvPr/>
        </p:nvSpPr>
        <p:spPr>
          <a:xfrm>
            <a:off x="6248400" y="1375607"/>
            <a:ext cx="5450205" cy="547370"/>
          </a:xfrm>
          <a:prstGeom prst="rect">
            <a:avLst/>
          </a:prstGeom>
        </p:spPr>
        <p:txBody>
          <a:bodyPr vert="horz" wrap="square" lIns="0" tIns="43180" rIns="0" bIns="0" rtlCol="0">
            <a:spAutoFit/>
          </a:bodyPr>
          <a:lstStyle/>
          <a:p>
            <a:pPr marL="12700" marR="5080">
              <a:lnSpc>
                <a:spcPts val="1950"/>
              </a:lnSpc>
              <a:spcBef>
                <a:spcPts val="340"/>
              </a:spcBef>
            </a:pPr>
            <a:r>
              <a:rPr sz="1800" b="1" dirty="0">
                <a:latin typeface="Calibri" panose="020F0502020204030204"/>
                <a:cs typeface="Calibri" panose="020F0502020204030204"/>
              </a:rPr>
              <a:t># </a:t>
            </a:r>
            <a:r>
              <a:rPr sz="1800" b="1" spc="-5" dirty="0">
                <a:latin typeface="Calibri" panose="020F0502020204030204"/>
                <a:cs typeface="Calibri" panose="020F0502020204030204"/>
              </a:rPr>
              <a:t>or the pure functional way in python using higher order </a:t>
            </a:r>
            <a:r>
              <a:rPr sz="1800" b="1" spc="-395" dirty="0">
                <a:latin typeface="Calibri" panose="020F0502020204030204"/>
                <a:cs typeface="Calibri" panose="020F0502020204030204"/>
              </a:rPr>
              <a:t> </a:t>
            </a:r>
            <a:r>
              <a:rPr sz="1800" b="1" spc="-5" dirty="0">
                <a:latin typeface="Calibri" panose="020F0502020204030204"/>
                <a:cs typeface="Calibri" panose="020F0502020204030204"/>
              </a:rPr>
              <a:t>function</a:t>
            </a:r>
            <a:endParaRPr sz="1800" dirty="0">
              <a:latin typeface="Calibri" panose="020F0502020204030204"/>
              <a:cs typeface="Calibri" panose="020F0502020204030204"/>
            </a:endParaRPr>
          </a:p>
        </p:txBody>
      </p:sp>
      <p:sp>
        <p:nvSpPr>
          <p:cNvPr id="9" name="object 9"/>
          <p:cNvSpPr txBox="1"/>
          <p:nvPr/>
        </p:nvSpPr>
        <p:spPr>
          <a:xfrm>
            <a:off x="6109561" y="2334244"/>
            <a:ext cx="4740275" cy="768350"/>
          </a:xfrm>
          <a:prstGeom prst="rect">
            <a:avLst/>
          </a:prstGeom>
        </p:spPr>
        <p:txBody>
          <a:bodyPr vert="horz" wrap="square" lIns="0" tIns="109855" rIns="0" bIns="0" rtlCol="0">
            <a:spAutoFit/>
          </a:bodyPr>
          <a:lstStyle/>
          <a:p>
            <a:pPr marL="12700">
              <a:lnSpc>
                <a:spcPct val="100000"/>
              </a:lnSpc>
              <a:spcBef>
                <a:spcPts val="865"/>
              </a:spcBef>
            </a:pPr>
            <a:r>
              <a:rPr sz="1800" spc="-5" dirty="0">
                <a:latin typeface="Calibri" panose="020F0502020204030204"/>
                <a:cs typeface="Calibri" panose="020F0502020204030204"/>
              </a:rPr>
              <a:t>import</a:t>
            </a:r>
            <a:r>
              <a:rPr sz="1800" spc="-45" dirty="0">
                <a:latin typeface="Calibri" panose="020F0502020204030204"/>
                <a:cs typeface="Calibri" panose="020F0502020204030204"/>
              </a:rPr>
              <a:t> </a:t>
            </a:r>
            <a:r>
              <a:rPr sz="1800" spc="-5" dirty="0">
                <a:latin typeface="Calibri" panose="020F0502020204030204"/>
                <a:cs typeface="Calibri" panose="020F0502020204030204"/>
              </a:rPr>
              <a:t>functools</a:t>
            </a:r>
            <a:endParaRPr sz="1800" dirty="0">
              <a:latin typeface="Calibri" panose="020F0502020204030204"/>
              <a:cs typeface="Calibri" panose="020F0502020204030204"/>
            </a:endParaRPr>
          </a:p>
          <a:p>
            <a:pPr marL="12700">
              <a:lnSpc>
                <a:spcPct val="100000"/>
              </a:lnSpc>
              <a:spcBef>
                <a:spcPts val="765"/>
              </a:spcBef>
            </a:pPr>
            <a:r>
              <a:rPr sz="1800" spc="-5" dirty="0">
                <a:latin typeface="Calibri" panose="020F0502020204030204"/>
                <a:cs typeface="Calibri" panose="020F0502020204030204"/>
              </a:rPr>
              <a:t>print(functools.reduce(lambda</a:t>
            </a:r>
            <a:r>
              <a:rPr sz="1800" spc="-20" dirty="0">
                <a:latin typeface="Calibri" panose="020F0502020204030204"/>
                <a:cs typeface="Calibri" panose="020F0502020204030204"/>
              </a:rPr>
              <a:t> </a:t>
            </a:r>
            <a:r>
              <a:rPr sz="1800" spc="-5" dirty="0">
                <a:latin typeface="Calibri" panose="020F0502020204030204"/>
                <a:cs typeface="Calibri" panose="020F0502020204030204"/>
              </a:rPr>
              <a:t>x,</a:t>
            </a:r>
            <a:r>
              <a:rPr sz="1800" spc="-15" dirty="0">
                <a:latin typeface="Calibri" panose="020F0502020204030204"/>
                <a:cs typeface="Calibri" panose="020F0502020204030204"/>
              </a:rPr>
              <a:t> </a:t>
            </a:r>
            <a:r>
              <a:rPr sz="1800" spc="-5" dirty="0">
                <a:latin typeface="Calibri" panose="020F0502020204030204"/>
                <a:cs typeface="Calibri" panose="020F0502020204030204"/>
              </a:rPr>
              <a:t>y:</a:t>
            </a:r>
            <a:r>
              <a:rPr sz="1800" spc="-20" dirty="0">
                <a:latin typeface="Calibri" panose="020F0502020204030204"/>
                <a:cs typeface="Calibri" panose="020F0502020204030204"/>
              </a:rPr>
              <a:t> </a:t>
            </a:r>
            <a:r>
              <a:rPr sz="1800" dirty="0">
                <a:latin typeface="Calibri" panose="020F0502020204030204"/>
                <a:cs typeface="Calibri" panose="020F0502020204030204"/>
              </a:rPr>
              <a:t>x</a:t>
            </a:r>
            <a:r>
              <a:rPr sz="1800" spc="-15" dirty="0">
                <a:latin typeface="Calibri" panose="020F0502020204030204"/>
                <a:cs typeface="Calibri" panose="020F0502020204030204"/>
              </a:rPr>
              <a:t> </a:t>
            </a:r>
            <a:r>
              <a:rPr sz="1800" dirty="0">
                <a:latin typeface="Calibri" panose="020F0502020204030204"/>
                <a:cs typeface="Calibri" panose="020F0502020204030204"/>
              </a:rPr>
              <a:t>+</a:t>
            </a:r>
            <a:r>
              <a:rPr sz="1800" spc="-15" dirty="0">
                <a:latin typeface="Calibri" panose="020F0502020204030204"/>
                <a:cs typeface="Calibri" panose="020F0502020204030204"/>
              </a:rPr>
              <a:t> </a:t>
            </a:r>
            <a:r>
              <a:rPr sz="1800" spc="-5" dirty="0">
                <a:latin typeface="Calibri" panose="020F0502020204030204"/>
                <a:cs typeface="Calibri" panose="020F0502020204030204"/>
              </a:rPr>
              <a:t>y,</a:t>
            </a:r>
            <a:r>
              <a:rPr sz="1800" spc="-20" dirty="0">
                <a:latin typeface="Calibri" panose="020F0502020204030204"/>
                <a:cs typeface="Calibri" panose="020F0502020204030204"/>
              </a:rPr>
              <a:t> </a:t>
            </a:r>
            <a:r>
              <a:rPr sz="1800" spc="-5" dirty="0">
                <a:latin typeface="Calibri" panose="020F0502020204030204"/>
                <a:cs typeface="Calibri" panose="020F0502020204030204"/>
              </a:rPr>
              <a:t>new_lst))</a:t>
            </a:r>
            <a:endParaRPr sz="1800" dirty="0">
              <a:latin typeface="Calibri" panose="020F0502020204030204"/>
              <a:cs typeface="Calibri" panose="020F0502020204030204"/>
            </a:endParaRPr>
          </a:p>
        </p:txBody>
      </p:sp>
      <p:sp>
        <p:nvSpPr>
          <p:cNvPr id="10" name="Slide Number Placeholder 9"/>
          <p:cNvSpPr>
            <a:spLocks noGrp="1"/>
          </p:cNvSpPr>
          <p:nvPr>
            <p:ph type="sldNum" sz="quarter" idx="7"/>
          </p:nvPr>
        </p:nvSpPr>
        <p:spPr/>
        <p:txBody>
          <a:bodyPr/>
          <a:lstStyle/>
          <a:p>
            <a:fld id="{B6F15528-21DE-4FAA-801E-634DDDAF4B2B}" type="slidenum">
              <a:rPr/>
              <a:t>15</a:t>
            </a:fld>
            <a:endParaRPr/>
          </a:p>
        </p:txBody>
      </p:sp>
      <p:sp>
        <p:nvSpPr>
          <p:cNvPr id="11" name="Footer Placeholder 10"/>
          <p:cNvSpPr>
            <a:spLocks noGrp="1"/>
          </p:cNvSpPr>
          <p:nvPr>
            <p:ph type="ftr" sz="quarter" idx="5"/>
          </p:nvPr>
        </p:nvSpPr>
        <p:spPr/>
        <p:txBody>
          <a:bodyPr/>
          <a:lstStyle/>
          <a:p>
            <a:r>
              <a:t>UNIT IV : Pythonic Programming Paradigm</a:t>
            </a:r>
          </a:p>
        </p:txBody>
      </p:sp>
    </p:spTree>
    <p:extLst>
      <p:ext uri="{BB962C8B-B14F-4D97-AF65-F5344CB8AC3E}">
        <p14:creationId xmlns:p14="http://schemas.microsoft.com/office/powerpoint/2010/main" val="3016269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0"/>
            <a:ext cx="7271384" cy="452120"/>
          </a:xfrm>
          <a:prstGeom prst="rect">
            <a:avLst/>
          </a:prstGeom>
        </p:spPr>
        <p:txBody>
          <a:bodyPr vert="horz" wrap="square" lIns="0" tIns="12700" rIns="0" bIns="0" rtlCol="0">
            <a:spAutoFit/>
          </a:bodyPr>
          <a:lstStyle/>
          <a:p>
            <a:pPr marL="12700">
              <a:lnSpc>
                <a:spcPct val="100000"/>
              </a:lnSpc>
              <a:spcBef>
                <a:spcPts val="100"/>
              </a:spcBef>
            </a:pPr>
            <a:r>
              <a:rPr sz="2800" spc="-10" dirty="0">
                <a:solidFill>
                  <a:srgbClr val="000000"/>
                </a:solidFill>
                <a:latin typeface="Calibri" panose="020F0502020204030204"/>
                <a:cs typeface="Calibri" panose="020F0502020204030204"/>
              </a:rPr>
              <a:t>Functions</a:t>
            </a:r>
            <a:r>
              <a:rPr sz="2800" spc="-20"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are</a:t>
            </a:r>
            <a:r>
              <a:rPr sz="2800" spc="-15" dirty="0">
                <a:solidFill>
                  <a:srgbClr val="000000"/>
                </a:solidFill>
                <a:latin typeface="Calibri" panose="020F0502020204030204"/>
                <a:cs typeface="Calibri" panose="020F0502020204030204"/>
              </a:rPr>
              <a:t> </a:t>
            </a:r>
            <a:r>
              <a:rPr sz="2800" spc="-10" dirty="0">
                <a:solidFill>
                  <a:srgbClr val="000000"/>
                </a:solidFill>
                <a:latin typeface="Calibri" panose="020F0502020204030204"/>
                <a:cs typeface="Calibri" panose="020F0502020204030204"/>
              </a:rPr>
              <a:t>First-Class</a:t>
            </a:r>
            <a:r>
              <a:rPr sz="2800" spc="-20"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and</a:t>
            </a:r>
            <a:r>
              <a:rPr sz="2800" spc="-15"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can</a:t>
            </a:r>
            <a:r>
              <a:rPr sz="2800" spc="-15"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be</a:t>
            </a:r>
            <a:r>
              <a:rPr sz="2800" spc="-15"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Higher-Order</a:t>
            </a:r>
            <a:endParaRPr sz="2800">
              <a:latin typeface="Calibri" panose="020F0502020204030204"/>
              <a:cs typeface="Calibri" panose="020F0502020204030204"/>
            </a:endParaRP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6" name="object 6"/>
          <p:cNvSpPr txBox="1"/>
          <p:nvPr/>
        </p:nvSpPr>
        <p:spPr>
          <a:xfrm>
            <a:off x="381000" y="577464"/>
            <a:ext cx="14859000" cy="3956211"/>
          </a:xfrm>
          <a:prstGeom prst="rect">
            <a:avLst/>
          </a:prstGeom>
        </p:spPr>
        <p:txBody>
          <a:bodyPr vert="horz" wrap="square" lIns="0" tIns="146050" rIns="0" bIns="0" rtlCol="0">
            <a:spAutoFit/>
          </a:bodyPr>
          <a:lstStyle/>
          <a:p>
            <a:pPr marL="19050">
              <a:lnSpc>
                <a:spcPct val="100000"/>
              </a:lnSpc>
              <a:spcBef>
                <a:spcPts val="1150"/>
              </a:spcBef>
            </a:pPr>
            <a:r>
              <a:rPr sz="2200" b="1" dirty="0">
                <a:latin typeface="Times New Roman" panose="02020603050405020304" pitchFamily="18" charset="0"/>
                <a:cs typeface="Times New Roman" panose="02020603050405020304" pitchFamily="18" charset="0"/>
              </a:rPr>
              <a:t>Map</a:t>
            </a:r>
            <a:endParaRPr sz="2200" dirty="0">
              <a:latin typeface="Times New Roman" panose="02020603050405020304" pitchFamily="18" charset="0"/>
              <a:cs typeface="Times New Roman" panose="02020603050405020304" pitchFamily="18" charset="0"/>
            </a:endParaRPr>
          </a:p>
          <a:p>
            <a:pPr marL="19050" marR="2051050" indent="450850">
              <a:lnSpc>
                <a:spcPct val="150000"/>
              </a:lnSpc>
            </a:pPr>
            <a:r>
              <a:rPr sz="2200" spc="-5" dirty="0">
                <a:latin typeface="Times New Roman" panose="02020603050405020304" pitchFamily="18" charset="0"/>
                <a:cs typeface="Times New Roman" panose="02020603050405020304" pitchFamily="18" charset="0"/>
              </a:rPr>
              <a:t>map() can run the function on each item </a:t>
            </a:r>
            <a:r>
              <a:rPr sz="2200" dirty="0">
                <a:latin typeface="Times New Roman" panose="02020603050405020304" pitchFamily="18" charset="0"/>
                <a:cs typeface="Times New Roman" panose="02020603050405020304" pitchFamily="18" charset="0"/>
              </a:rPr>
              <a:t>and </a:t>
            </a:r>
            <a:r>
              <a:rPr sz="2200" spc="-5" dirty="0">
                <a:latin typeface="Times New Roman" panose="02020603050405020304" pitchFamily="18" charset="0"/>
                <a:cs typeface="Times New Roman" panose="02020603050405020304" pitchFamily="18" charset="0"/>
              </a:rPr>
              <a:t>insert the return values into the new collection.</a:t>
            </a:r>
            <a:r>
              <a:rPr sz="2200" dirty="0">
                <a:latin typeface="Times New Roman" panose="02020603050405020304" pitchFamily="18" charset="0"/>
                <a:cs typeface="Times New Roman" panose="02020603050405020304" pitchFamily="18" charset="0"/>
              </a:rPr>
              <a:t> </a:t>
            </a:r>
            <a:endParaRPr lang="en-US" sz="2200" dirty="0" smtClean="0">
              <a:latin typeface="Times New Roman" panose="02020603050405020304" pitchFamily="18" charset="0"/>
              <a:cs typeface="Times New Roman" panose="02020603050405020304" pitchFamily="18" charset="0"/>
            </a:endParaRPr>
          </a:p>
          <a:p>
            <a:pPr marL="19050" marR="2051050" indent="450850">
              <a:lnSpc>
                <a:spcPct val="150000"/>
              </a:lnSpc>
            </a:pPr>
            <a:r>
              <a:rPr sz="2200" spc="-5" dirty="0" smtClean="0">
                <a:latin typeface="Times New Roman" panose="02020603050405020304" pitchFamily="18" charset="0"/>
                <a:cs typeface="Times New Roman" panose="02020603050405020304" pitchFamily="18" charset="0"/>
              </a:rPr>
              <a:t>Example</a:t>
            </a:r>
            <a:r>
              <a:rPr sz="2200" spc="-5" dirty="0">
                <a:latin typeface="Times New Roman" panose="02020603050405020304" pitchFamily="18" charset="0"/>
                <a:cs typeface="Times New Roman" panose="02020603050405020304" pitchFamily="18" charset="0"/>
              </a:rPr>
              <a:t>: </a:t>
            </a:r>
            <a:r>
              <a:rPr sz="2200" spc="-38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squares</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t>
            </a:r>
            <a:r>
              <a:rPr sz="2200" spc="-5" dirty="0">
                <a:latin typeface="Times New Roman" panose="02020603050405020304" pitchFamily="18" charset="0"/>
                <a:cs typeface="Times New Roman" panose="02020603050405020304" pitchFamily="18" charset="0"/>
              </a:rPr>
              <a:t> map(lambda x: </a:t>
            </a:r>
            <a:r>
              <a:rPr sz="2200" dirty="0">
                <a:latin typeface="Times New Roman" panose="02020603050405020304" pitchFamily="18" charset="0"/>
                <a:cs typeface="Times New Roman" panose="02020603050405020304" pitchFamily="18" charset="0"/>
              </a:rPr>
              <a:t>x</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t>
            </a:r>
            <a:r>
              <a:rPr sz="2200" spc="-5" dirty="0">
                <a:latin typeface="Times New Roman" panose="02020603050405020304" pitchFamily="18" charset="0"/>
                <a:cs typeface="Times New Roman" panose="02020603050405020304" pitchFamily="18" charset="0"/>
              </a:rPr>
              <a:t> x, [0, 1, 2, 3,</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4])</a:t>
            </a:r>
            <a:endParaRPr sz="2200" dirty="0">
              <a:latin typeface="Times New Roman" panose="02020603050405020304" pitchFamily="18" charset="0"/>
              <a:cs typeface="Times New Roman" panose="02020603050405020304" pitchFamily="18" charset="0"/>
            </a:endParaRPr>
          </a:p>
          <a:p>
            <a:pPr marL="19050">
              <a:lnSpc>
                <a:spcPct val="100000"/>
              </a:lnSpc>
              <a:spcBef>
                <a:spcPts val="1050"/>
              </a:spcBef>
            </a:pPr>
            <a:r>
              <a:rPr sz="2200" spc="-5" dirty="0">
                <a:latin typeface="Times New Roman" panose="02020603050405020304" pitchFamily="18" charset="0"/>
                <a:cs typeface="Times New Roman" panose="02020603050405020304" pitchFamily="18" charset="0"/>
              </a:rPr>
              <a:t>import</a:t>
            </a:r>
            <a:r>
              <a:rPr sz="2200" spc="-4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random</a:t>
            </a:r>
            <a:endParaRPr sz="2200" dirty="0">
              <a:latin typeface="Times New Roman" panose="02020603050405020304" pitchFamily="18" charset="0"/>
              <a:cs typeface="Times New Roman" panose="02020603050405020304" pitchFamily="18" charset="0"/>
            </a:endParaRPr>
          </a:p>
          <a:p>
            <a:pPr marL="19050">
              <a:lnSpc>
                <a:spcPct val="100000"/>
              </a:lnSpc>
              <a:spcBef>
                <a:spcPts val="1050"/>
              </a:spcBef>
            </a:pPr>
            <a:r>
              <a:rPr sz="2200" spc="-5" dirty="0">
                <a:latin typeface="Times New Roman" panose="02020603050405020304" pitchFamily="18" charset="0"/>
                <a:cs typeface="Times New Roman" panose="02020603050405020304" pitchFamily="18" charset="0"/>
              </a:rPr>
              <a:t>names</a:t>
            </a:r>
            <a:r>
              <a:rPr sz="2200" spc="-2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['Seth',</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'Ann',</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'Morganna']</a:t>
            </a:r>
            <a:endParaRPr sz="2200" dirty="0">
              <a:latin typeface="Times New Roman" panose="02020603050405020304" pitchFamily="18" charset="0"/>
              <a:cs typeface="Times New Roman" panose="02020603050405020304" pitchFamily="18" charset="0"/>
            </a:endParaRPr>
          </a:p>
          <a:p>
            <a:pPr marL="19050" marR="5066665">
              <a:lnSpc>
                <a:spcPct val="150000"/>
              </a:lnSpc>
            </a:pPr>
            <a:r>
              <a:rPr sz="2200" spc="-5" dirty="0">
                <a:latin typeface="Times New Roman" panose="02020603050405020304" pitchFamily="18" charset="0"/>
                <a:cs typeface="Times New Roman" panose="02020603050405020304" pitchFamily="18" charset="0"/>
              </a:rPr>
              <a:t>team_names </a:t>
            </a:r>
            <a:r>
              <a:rPr sz="2200" dirty="0">
                <a:latin typeface="Times New Roman" panose="02020603050405020304" pitchFamily="18" charset="0"/>
                <a:cs typeface="Times New Roman" panose="02020603050405020304" pitchFamily="18" charset="0"/>
              </a:rPr>
              <a:t>= </a:t>
            </a:r>
            <a:r>
              <a:rPr sz="2200" spc="-5" dirty="0" smtClean="0">
                <a:latin typeface="Times New Roman" panose="02020603050405020304" pitchFamily="18" charset="0"/>
                <a:cs typeface="Times New Roman" panose="02020603050405020304" pitchFamily="18" charset="0"/>
              </a:rPr>
              <a:t>map</a:t>
            </a:r>
            <a:r>
              <a:rPr lang="en-US" sz="2200" spc="-5" dirty="0" smtClean="0">
                <a:latin typeface="Times New Roman" panose="02020603050405020304" pitchFamily="18" charset="0"/>
                <a:cs typeface="Times New Roman" panose="02020603050405020304" pitchFamily="18" charset="0"/>
              </a:rPr>
              <a:t> </a:t>
            </a:r>
            <a:r>
              <a:rPr sz="2200" spc="-5" dirty="0" smtClean="0">
                <a:latin typeface="Times New Roman" panose="02020603050405020304" pitchFamily="18" charset="0"/>
                <a:cs typeface="Times New Roman" panose="02020603050405020304" pitchFamily="18" charset="0"/>
              </a:rPr>
              <a:t>(</a:t>
            </a:r>
            <a:r>
              <a:rPr sz="2200" spc="-5" dirty="0">
                <a:latin typeface="Times New Roman" panose="02020603050405020304" pitchFamily="18" charset="0"/>
                <a:cs typeface="Times New Roman" panose="02020603050405020304" pitchFamily="18" charset="0"/>
              </a:rPr>
              <a:t>lambda x: </a:t>
            </a:r>
            <a:r>
              <a:rPr sz="2200" spc="-5" dirty="0" err="1" smtClean="0">
                <a:latin typeface="Times New Roman" panose="02020603050405020304" pitchFamily="18" charset="0"/>
                <a:cs typeface="Times New Roman" panose="02020603050405020304" pitchFamily="18" charset="0"/>
              </a:rPr>
              <a:t>random.choice</a:t>
            </a:r>
            <a:r>
              <a:rPr lang="en-US" sz="2200" spc="-5" dirty="0" smtClean="0">
                <a:latin typeface="Times New Roman" panose="02020603050405020304" pitchFamily="18" charset="0"/>
                <a:cs typeface="Times New Roman" panose="02020603050405020304" pitchFamily="18" charset="0"/>
              </a:rPr>
              <a:t> </a:t>
            </a:r>
            <a:r>
              <a:rPr sz="2200" spc="-5" dirty="0" smtClean="0">
                <a:latin typeface="Times New Roman" panose="02020603050405020304" pitchFamily="18" charset="0"/>
                <a:cs typeface="Times New Roman" panose="02020603050405020304" pitchFamily="18" charset="0"/>
              </a:rPr>
              <a:t>([</a:t>
            </a:r>
            <a:r>
              <a:rPr sz="2200" spc="-5" dirty="0">
                <a:latin typeface="Times New Roman" panose="02020603050405020304" pitchFamily="18" charset="0"/>
                <a:cs typeface="Times New Roman" panose="02020603050405020304" pitchFamily="18" charset="0"/>
              </a:rPr>
              <a:t>'A </a:t>
            </a:r>
            <a:r>
              <a:rPr sz="2200" spc="-5" dirty="0" err="1">
                <a:latin typeface="Times New Roman" panose="02020603050405020304" pitchFamily="18" charset="0"/>
                <a:cs typeface="Times New Roman" panose="02020603050405020304" pitchFamily="18" charset="0"/>
              </a:rPr>
              <a:t>Team',</a:t>
            </a:r>
            <a:r>
              <a:rPr sz="2200" spc="-5" dirty="0" err="1" smtClean="0">
                <a:latin typeface="Times New Roman" panose="02020603050405020304" pitchFamily="18" charset="0"/>
                <a:cs typeface="Times New Roman" panose="02020603050405020304" pitchFamily="18" charset="0"/>
              </a:rPr>
              <a:t>'B</a:t>
            </a:r>
            <a:r>
              <a:rPr lang="en-US" sz="2200" spc="-5" dirty="0">
                <a:latin typeface="Times New Roman" panose="02020603050405020304" pitchFamily="18" charset="0"/>
                <a:cs typeface="Times New Roman" panose="02020603050405020304" pitchFamily="18" charset="0"/>
              </a:rPr>
              <a:t> </a:t>
            </a:r>
            <a:r>
              <a:rPr sz="2200" spc="-5" dirty="0" smtClean="0">
                <a:latin typeface="Times New Roman" panose="02020603050405020304" pitchFamily="18" charset="0"/>
                <a:cs typeface="Times New Roman" panose="02020603050405020304" pitchFamily="18" charset="0"/>
              </a:rPr>
              <a:t>Team']),</a:t>
            </a:r>
            <a:r>
              <a:rPr lang="en-US" sz="2200" spc="-5" dirty="0" smtClean="0">
                <a:latin typeface="Times New Roman" panose="02020603050405020304" pitchFamily="18" charset="0"/>
                <a:cs typeface="Times New Roman" panose="02020603050405020304" pitchFamily="18" charset="0"/>
              </a:rPr>
              <a:t> </a:t>
            </a:r>
            <a:r>
              <a:rPr sz="2200" spc="-5" dirty="0" smtClean="0">
                <a:latin typeface="Times New Roman" panose="02020603050405020304" pitchFamily="18" charset="0"/>
                <a:cs typeface="Times New Roman" panose="02020603050405020304" pitchFamily="18" charset="0"/>
              </a:rPr>
              <a:t>names</a:t>
            </a:r>
            <a:r>
              <a:rPr sz="2200" spc="-5" dirty="0">
                <a:latin typeface="Times New Roman" panose="02020603050405020304" pitchFamily="18" charset="0"/>
                <a:cs typeface="Times New Roman" panose="02020603050405020304" pitchFamily="18" charset="0"/>
              </a:rPr>
              <a:t>) </a:t>
            </a:r>
            <a:r>
              <a:rPr sz="2200" spc="-385" dirty="0">
                <a:latin typeface="Times New Roman" panose="02020603050405020304" pitchFamily="18" charset="0"/>
                <a:cs typeface="Times New Roman" panose="02020603050405020304" pitchFamily="18" charset="0"/>
              </a:rPr>
              <a:t> </a:t>
            </a:r>
            <a:endParaRPr lang="en-US" sz="2200" spc="-385" dirty="0" smtClean="0">
              <a:latin typeface="Times New Roman" panose="02020603050405020304" pitchFamily="18" charset="0"/>
              <a:cs typeface="Times New Roman" panose="02020603050405020304" pitchFamily="18" charset="0"/>
            </a:endParaRPr>
          </a:p>
          <a:p>
            <a:pPr marL="19050" marR="5066665">
              <a:lnSpc>
                <a:spcPct val="150000"/>
              </a:lnSpc>
            </a:pPr>
            <a:r>
              <a:rPr sz="2200" spc="-5" dirty="0" smtClean="0">
                <a:latin typeface="Times New Roman" panose="02020603050405020304" pitchFamily="18" charset="0"/>
                <a:cs typeface="Times New Roman" panose="02020603050405020304" pitchFamily="18" charset="0"/>
              </a:rPr>
              <a:t>print</a:t>
            </a:r>
            <a:r>
              <a:rPr sz="2200" spc="-10" dirty="0" smtClean="0">
                <a:latin typeface="Times New Roman" panose="02020603050405020304" pitchFamily="18" charset="0"/>
                <a:cs typeface="Times New Roman" panose="02020603050405020304" pitchFamily="18" charset="0"/>
              </a:rPr>
              <a:t> </a:t>
            </a:r>
            <a:r>
              <a:rPr lang="en-US" sz="2200" spc="-10" dirty="0" smtClean="0">
                <a:latin typeface="Times New Roman" panose="02020603050405020304" pitchFamily="18" charset="0"/>
                <a:cs typeface="Times New Roman" panose="02020603050405020304" pitchFamily="18" charset="0"/>
              </a:rPr>
              <a:t>(</a:t>
            </a:r>
            <a:r>
              <a:rPr sz="2200" spc="-5" dirty="0" smtClean="0">
                <a:latin typeface="Times New Roman" panose="02020603050405020304" pitchFamily="18" charset="0"/>
                <a:cs typeface="Times New Roman" panose="02020603050405020304" pitchFamily="18" charset="0"/>
              </a:rPr>
              <a:t>names</a:t>
            </a:r>
            <a:r>
              <a:rPr lang="en-US" sz="2200" spc="-5" dirty="0" smtClean="0">
                <a:latin typeface="Times New Roman" panose="02020603050405020304" pitchFamily="18" charset="0"/>
                <a:cs typeface="Times New Roman" panose="02020603050405020304" pitchFamily="18" charset="0"/>
              </a:rPr>
              <a:t>)</a:t>
            </a:r>
            <a:endParaRPr sz="2200" dirty="0">
              <a:latin typeface="Times New Roman" panose="02020603050405020304" pitchFamily="18" charset="0"/>
              <a:cs typeface="Times New Roman" panose="02020603050405020304" pitchFamily="18" charset="0"/>
            </a:endParaRPr>
          </a:p>
          <a:p>
            <a:pPr marL="19050">
              <a:lnSpc>
                <a:spcPct val="100000"/>
              </a:lnSpc>
              <a:spcBef>
                <a:spcPts val="1050"/>
              </a:spcBef>
            </a:pPr>
            <a:r>
              <a:rPr sz="2200" spc="-5" dirty="0">
                <a:latin typeface="Times New Roman" panose="02020603050405020304" pitchFamily="18" charset="0"/>
                <a:cs typeface="Times New Roman" panose="02020603050405020304" pitchFamily="18" charset="0"/>
              </a:rPr>
              <a:t>//</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['A</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Team',</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'B</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Team',</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'B</a:t>
            </a:r>
            <a:r>
              <a:rPr sz="2200" spc="-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Team</a:t>
            </a:r>
            <a:r>
              <a:rPr sz="2200" spc="-5" dirty="0" smtClean="0">
                <a:latin typeface="Times New Roman" panose="02020603050405020304" pitchFamily="18" charset="0"/>
                <a:cs typeface="Times New Roman" panose="02020603050405020304" pitchFamily="18" charset="0"/>
              </a:rPr>
              <a:t>']</a:t>
            </a:r>
          </a:p>
        </p:txBody>
      </p:sp>
      <p:sp>
        <p:nvSpPr>
          <p:cNvPr id="7" name="Slide Number Placeholder 6"/>
          <p:cNvSpPr>
            <a:spLocks noGrp="1"/>
          </p:cNvSpPr>
          <p:nvPr>
            <p:ph type="sldNum" sz="quarter" idx="7"/>
          </p:nvPr>
        </p:nvSpPr>
        <p:spPr/>
        <p:txBody>
          <a:bodyPr/>
          <a:lstStyle/>
          <a:p>
            <a:fld id="{B6F15528-21DE-4FAA-801E-634DDDAF4B2B}" type="slidenum">
              <a:rPr/>
              <a:t>16</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0"/>
            <a:ext cx="7271384" cy="452120"/>
          </a:xfrm>
          <a:prstGeom prst="rect">
            <a:avLst/>
          </a:prstGeom>
        </p:spPr>
        <p:txBody>
          <a:bodyPr vert="horz" wrap="square" lIns="0" tIns="12700" rIns="0" bIns="0" rtlCol="0">
            <a:spAutoFit/>
          </a:bodyPr>
          <a:lstStyle/>
          <a:p>
            <a:pPr marL="12700">
              <a:lnSpc>
                <a:spcPct val="100000"/>
              </a:lnSpc>
              <a:spcBef>
                <a:spcPts val="100"/>
              </a:spcBef>
            </a:pPr>
            <a:r>
              <a:rPr sz="2800" spc="-10" dirty="0">
                <a:solidFill>
                  <a:srgbClr val="000000"/>
                </a:solidFill>
                <a:latin typeface="Calibri" panose="020F0502020204030204"/>
                <a:cs typeface="Calibri" panose="020F0502020204030204"/>
              </a:rPr>
              <a:t>Functions</a:t>
            </a:r>
            <a:r>
              <a:rPr sz="2800" spc="-20"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are</a:t>
            </a:r>
            <a:r>
              <a:rPr sz="2800" spc="-15" dirty="0">
                <a:solidFill>
                  <a:srgbClr val="000000"/>
                </a:solidFill>
                <a:latin typeface="Calibri" panose="020F0502020204030204"/>
                <a:cs typeface="Calibri" panose="020F0502020204030204"/>
              </a:rPr>
              <a:t> </a:t>
            </a:r>
            <a:r>
              <a:rPr sz="2800" spc="-10" dirty="0">
                <a:solidFill>
                  <a:srgbClr val="000000"/>
                </a:solidFill>
                <a:latin typeface="Calibri" panose="020F0502020204030204"/>
                <a:cs typeface="Calibri" panose="020F0502020204030204"/>
              </a:rPr>
              <a:t>First-Class</a:t>
            </a:r>
            <a:r>
              <a:rPr sz="2800" spc="-20"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and</a:t>
            </a:r>
            <a:r>
              <a:rPr sz="2800" spc="-15"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can</a:t>
            </a:r>
            <a:r>
              <a:rPr sz="2800" spc="-15"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be</a:t>
            </a:r>
            <a:r>
              <a:rPr sz="2800" spc="-15" dirty="0">
                <a:solidFill>
                  <a:srgbClr val="000000"/>
                </a:solidFill>
                <a:latin typeface="Calibri" panose="020F0502020204030204"/>
                <a:cs typeface="Calibri" panose="020F0502020204030204"/>
              </a:rPr>
              <a:t> </a:t>
            </a:r>
            <a:r>
              <a:rPr sz="2800" spc="-5" dirty="0">
                <a:solidFill>
                  <a:srgbClr val="000000"/>
                </a:solidFill>
                <a:latin typeface="Calibri" panose="020F0502020204030204"/>
                <a:cs typeface="Calibri" panose="020F0502020204030204"/>
              </a:rPr>
              <a:t>Higher-Order</a:t>
            </a:r>
            <a:endParaRPr sz="2800">
              <a:latin typeface="Calibri" panose="020F0502020204030204"/>
              <a:cs typeface="Calibri" panose="020F0502020204030204"/>
            </a:endParaRP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6" name="object 6"/>
          <p:cNvSpPr txBox="1"/>
          <p:nvPr/>
        </p:nvSpPr>
        <p:spPr>
          <a:xfrm>
            <a:off x="381000" y="577464"/>
            <a:ext cx="11799388" cy="2996974"/>
          </a:xfrm>
          <a:prstGeom prst="rect">
            <a:avLst/>
          </a:prstGeom>
        </p:spPr>
        <p:txBody>
          <a:bodyPr vert="horz" wrap="square" lIns="0" tIns="146050" rIns="0" bIns="0" rtlCol="0">
            <a:spAutoFit/>
          </a:bodyPr>
          <a:lstStyle/>
          <a:p>
            <a:pPr marL="12700">
              <a:lnSpc>
                <a:spcPct val="100000"/>
              </a:lnSpc>
              <a:spcBef>
                <a:spcPts val="1050"/>
              </a:spcBef>
            </a:pPr>
            <a:r>
              <a:rPr sz="2200" b="1" spc="-5" dirty="0" smtClean="0">
                <a:latin typeface="Times New Roman" panose="02020603050405020304" pitchFamily="18" charset="0"/>
                <a:cs typeface="Times New Roman" panose="02020603050405020304" pitchFamily="18" charset="0"/>
              </a:rPr>
              <a:t>reduce</a:t>
            </a:r>
            <a:r>
              <a:rPr sz="2200" b="1" spc="-5" dirty="0">
                <a:latin typeface="Times New Roman" panose="02020603050405020304" pitchFamily="18" charset="0"/>
                <a:cs typeface="Times New Roman" panose="02020603050405020304" pitchFamily="18" charset="0"/>
              </a:rPr>
              <a:t>()</a:t>
            </a:r>
            <a:endParaRPr sz="2200" dirty="0">
              <a:latin typeface="Times New Roman" panose="02020603050405020304" pitchFamily="18" charset="0"/>
              <a:cs typeface="Times New Roman" panose="02020603050405020304" pitchFamily="18" charset="0"/>
            </a:endParaRPr>
          </a:p>
          <a:p>
            <a:pPr marL="369570" marR="5080" indent="-323850">
              <a:lnSpc>
                <a:spcPct val="150000"/>
              </a:lnSpc>
              <a:buFont typeface="Arial MT"/>
              <a:buChar char="•"/>
              <a:tabLst>
                <a:tab pos="369570" algn="l"/>
                <a:tab pos="370205" algn="l"/>
              </a:tabLst>
            </a:pPr>
            <a:r>
              <a:rPr lang="en-US" sz="2200" spc="-5" dirty="0">
                <a:latin typeface="Times New Roman" panose="02020603050405020304" pitchFamily="18" charset="0"/>
                <a:cs typeface="Times New Roman" panose="02020603050405020304" pitchFamily="18" charset="0"/>
              </a:rPr>
              <a:t>reduce function in Python is used to apply a given function cumulatively to the items of an </a:t>
            </a:r>
            <a:r>
              <a:rPr lang="en-US" sz="2200" spc="-5" dirty="0" err="1">
                <a:latin typeface="Times New Roman" panose="02020603050405020304" pitchFamily="18" charset="0"/>
                <a:cs typeface="Times New Roman" panose="02020603050405020304" pitchFamily="18" charset="0"/>
              </a:rPr>
              <a:t>iterable</a:t>
            </a:r>
            <a:r>
              <a:rPr lang="en-US" sz="2200" spc="-5" dirty="0">
                <a:latin typeface="Times New Roman" panose="02020603050405020304" pitchFamily="18" charset="0"/>
                <a:cs typeface="Times New Roman" panose="02020603050405020304" pitchFamily="18" charset="0"/>
              </a:rPr>
              <a:t>, from left to right, to reduce the </a:t>
            </a:r>
            <a:r>
              <a:rPr lang="en-US" sz="2200" spc="-5" dirty="0" err="1">
                <a:latin typeface="Times New Roman" panose="02020603050405020304" pitchFamily="18" charset="0"/>
                <a:cs typeface="Times New Roman" panose="02020603050405020304" pitchFamily="18" charset="0"/>
              </a:rPr>
              <a:t>iterable</a:t>
            </a:r>
            <a:r>
              <a:rPr lang="en-US" sz="2200" spc="-5" dirty="0">
                <a:latin typeface="Times New Roman" panose="02020603050405020304" pitchFamily="18" charset="0"/>
                <a:cs typeface="Times New Roman" panose="02020603050405020304" pitchFamily="18" charset="0"/>
              </a:rPr>
              <a:t> to a single result. </a:t>
            </a:r>
            <a:endParaRPr lang="en-US" sz="2200" spc="-5" dirty="0" smtClean="0">
              <a:latin typeface="Times New Roman" panose="02020603050405020304" pitchFamily="18" charset="0"/>
              <a:cs typeface="Times New Roman" panose="02020603050405020304" pitchFamily="18" charset="0"/>
            </a:endParaRPr>
          </a:p>
          <a:p>
            <a:pPr marL="369570" marR="5080" indent="-323850">
              <a:lnSpc>
                <a:spcPct val="150000"/>
              </a:lnSpc>
              <a:buFont typeface="Arial MT"/>
              <a:buChar char="•"/>
              <a:tabLst>
                <a:tab pos="369570" algn="l"/>
                <a:tab pos="370205" algn="l"/>
              </a:tabLst>
            </a:pPr>
            <a:r>
              <a:rPr sz="2200" spc="-5" dirty="0" smtClean="0">
                <a:latin typeface="Times New Roman" panose="02020603050405020304" pitchFamily="18" charset="0"/>
                <a:cs typeface="Times New Roman" panose="02020603050405020304" pitchFamily="18" charset="0"/>
              </a:rPr>
              <a:t>reduce</a:t>
            </a:r>
            <a:r>
              <a:rPr sz="2200" spc="-5" dirty="0">
                <a:latin typeface="Times New Roman" panose="02020603050405020304" pitchFamily="18" charset="0"/>
                <a:cs typeface="Times New Roman" panose="02020603050405020304" pitchFamily="18" charset="0"/>
              </a:rPr>
              <a:t>()</a:t>
            </a:r>
            <a:r>
              <a:rPr sz="2200" spc="2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is</a:t>
            </a:r>
            <a:r>
              <a:rPr sz="2200" spc="22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another</a:t>
            </a:r>
            <a:r>
              <a:rPr sz="2200" spc="22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higher</a:t>
            </a:r>
            <a:r>
              <a:rPr sz="2200" spc="22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order</a:t>
            </a:r>
            <a:r>
              <a:rPr sz="2200" spc="22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a:t>
            </a:r>
            <a:r>
              <a:rPr sz="2200" spc="22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for</a:t>
            </a:r>
            <a:r>
              <a:rPr sz="2200" spc="2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performing</a:t>
            </a:r>
            <a:r>
              <a:rPr sz="2200" spc="22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iterations.</a:t>
            </a:r>
            <a:r>
              <a:rPr sz="2200" spc="225" dirty="0">
                <a:latin typeface="Times New Roman" panose="02020603050405020304" pitchFamily="18" charset="0"/>
                <a:cs typeface="Times New Roman" panose="02020603050405020304" pitchFamily="18" charset="0"/>
              </a:rPr>
              <a:t> </a:t>
            </a:r>
            <a:endParaRPr lang="en-US" sz="2200" spc="225" dirty="0" smtClean="0">
              <a:latin typeface="Times New Roman" panose="02020603050405020304" pitchFamily="18" charset="0"/>
              <a:cs typeface="Times New Roman" panose="02020603050405020304" pitchFamily="18" charset="0"/>
            </a:endParaRPr>
          </a:p>
          <a:p>
            <a:pPr marL="369570" marR="5080" indent="-323850">
              <a:lnSpc>
                <a:spcPct val="150000"/>
              </a:lnSpc>
              <a:buFont typeface="Arial MT"/>
              <a:buChar char="•"/>
              <a:tabLst>
                <a:tab pos="369570" algn="l"/>
                <a:tab pos="370205" algn="l"/>
              </a:tabLst>
            </a:pPr>
            <a:r>
              <a:rPr sz="2200" spc="-5" dirty="0" smtClean="0">
                <a:latin typeface="Times New Roman" panose="02020603050405020304" pitchFamily="18" charset="0"/>
                <a:cs typeface="Times New Roman" panose="02020603050405020304" pitchFamily="18" charset="0"/>
              </a:rPr>
              <a:t>It</a:t>
            </a:r>
            <a:r>
              <a:rPr sz="2200" spc="220" dirty="0" smtClean="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takes</a:t>
            </a:r>
            <a:r>
              <a:rPr sz="2200" spc="2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functions</a:t>
            </a:r>
            <a:r>
              <a:rPr sz="2200" spc="22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22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collections</a:t>
            </a:r>
            <a:r>
              <a:rPr sz="2200" spc="21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of</a:t>
            </a:r>
            <a:r>
              <a:rPr sz="2200" spc="22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items,</a:t>
            </a:r>
            <a:r>
              <a:rPr sz="2200" spc="22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and</a:t>
            </a:r>
            <a:r>
              <a:rPr sz="2200" spc="22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then</a:t>
            </a:r>
            <a:r>
              <a:rPr sz="2200" spc="2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it </a:t>
            </a:r>
            <a:r>
              <a:rPr sz="2200" spc="-38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returns</a:t>
            </a:r>
            <a:r>
              <a:rPr sz="2200" spc="-1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 value of combining the items</a:t>
            </a:r>
            <a:endParaRPr sz="2200" dirty="0">
              <a:latin typeface="Times New Roman" panose="02020603050405020304" pitchFamily="18" charset="0"/>
              <a:cs typeface="Times New Roman" panose="02020603050405020304" pitchFamily="18" charset="0"/>
            </a:endParaRPr>
          </a:p>
          <a:p>
            <a:pPr marL="12700">
              <a:lnSpc>
                <a:spcPct val="100000"/>
              </a:lnSpc>
              <a:spcBef>
                <a:spcPts val="1050"/>
              </a:spcBef>
            </a:pPr>
            <a:r>
              <a:rPr sz="2200" spc="-5" dirty="0">
                <a:latin typeface="Times New Roman" panose="02020603050405020304" pitchFamily="18" charset="0"/>
                <a:cs typeface="Times New Roman" panose="02020603050405020304" pitchFamily="18" charset="0"/>
              </a:rPr>
              <a:t>Example</a:t>
            </a:r>
            <a:r>
              <a:rPr sz="2200" spc="-5" dirty="0" smtClean="0">
                <a:latin typeface="Times New Roman" panose="02020603050405020304" pitchFamily="18" charset="0"/>
                <a:cs typeface="Times New Roman" panose="02020603050405020304" pitchFamily="18" charset="0"/>
              </a:rPr>
              <a:t>:</a:t>
            </a:r>
            <a:endParaRPr sz="2200"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7"/>
          </p:nvPr>
        </p:nvSpPr>
        <p:spPr/>
        <p:txBody>
          <a:bodyPr/>
          <a:lstStyle/>
          <a:p>
            <a:fld id="{B6F15528-21DE-4FAA-801E-634DDDAF4B2B}" type="slidenum">
              <a:rPr/>
              <a:t>17</a:t>
            </a:fld>
            <a:endParaRPr/>
          </a:p>
        </p:txBody>
      </p:sp>
      <p:sp>
        <p:nvSpPr>
          <p:cNvPr id="8" name="Footer Placeholder 7"/>
          <p:cNvSpPr>
            <a:spLocks noGrp="1"/>
          </p:cNvSpPr>
          <p:nvPr>
            <p:ph type="ftr" sz="quarter" idx="5"/>
          </p:nvPr>
        </p:nvSpPr>
        <p:spPr/>
        <p:txBody>
          <a:bodyPr/>
          <a:lstStyle/>
          <a:p>
            <a:r>
              <a:t>UNIT IV : Pythonic Programming Paradigm</a:t>
            </a:r>
          </a:p>
        </p:txBody>
      </p:sp>
      <p:sp>
        <p:nvSpPr>
          <p:cNvPr id="9" name="Rectangle 8"/>
          <p:cNvSpPr/>
          <p:nvPr/>
        </p:nvSpPr>
        <p:spPr>
          <a:xfrm>
            <a:off x="1954348" y="3804176"/>
            <a:ext cx="8942251" cy="646331"/>
          </a:xfrm>
          <a:prstGeom prst="rect">
            <a:avLst/>
          </a:prstGeom>
        </p:spPr>
        <p:txBody>
          <a:bodyPr wrap="square">
            <a:spAutoFit/>
          </a:bodyPr>
          <a:lstStyle/>
          <a:p>
            <a:r>
              <a:rPr lang="en-US" b="1" dirty="0">
                <a:solidFill>
                  <a:srgbClr val="000000"/>
                </a:solidFill>
                <a:latin typeface="Courier New" panose="02070309020205020404" pitchFamily="49" charset="0"/>
              </a:rPr>
              <a:t>sum = </a:t>
            </a:r>
            <a:r>
              <a:rPr lang="en-US" b="1" dirty="0" err="1">
                <a:solidFill>
                  <a:srgbClr val="000000"/>
                </a:solidFill>
                <a:latin typeface="Courier New" panose="02070309020205020404" pitchFamily="49" charset="0"/>
              </a:rPr>
              <a:t>functools.reduce</a:t>
            </a:r>
            <a:r>
              <a:rPr lang="en-US" b="1" dirty="0">
                <a:solidFill>
                  <a:srgbClr val="000000"/>
                </a:solidFill>
                <a:latin typeface="Courier New" panose="02070309020205020404" pitchFamily="49" charset="0"/>
              </a:rPr>
              <a:t>(</a:t>
            </a:r>
            <a:r>
              <a:rPr lang="en-US" b="1" dirty="0">
                <a:solidFill>
                  <a:srgbClr val="0000FF"/>
                </a:solidFill>
                <a:latin typeface="Courier New" panose="02070309020205020404" pitchFamily="49" charset="0"/>
              </a:rPr>
              <a:t>lambda</a:t>
            </a:r>
            <a:r>
              <a:rPr lang="en-US" b="1" dirty="0">
                <a:solidFill>
                  <a:srgbClr val="000000"/>
                </a:solidFill>
                <a:latin typeface="Courier New" panose="02070309020205020404" pitchFamily="49" charset="0"/>
              </a:rPr>
              <a:t> a, x: a + x,[ </a:t>
            </a:r>
            <a:r>
              <a:rPr lang="en-US" b="1" dirty="0">
                <a:solidFill>
                  <a:srgbClr val="098156"/>
                </a:solidFill>
                <a:latin typeface="Courier New" panose="02070309020205020404" pitchFamily="49" charset="0"/>
              </a:rPr>
              <a:t>0</a:t>
            </a:r>
            <a:r>
              <a:rPr lang="en-US" b="1" dirty="0">
                <a:solidFill>
                  <a:srgbClr val="000000"/>
                </a:solidFill>
                <a:latin typeface="Courier New" panose="02070309020205020404" pitchFamily="49" charset="0"/>
              </a:rPr>
              <a:t>, </a:t>
            </a:r>
            <a:r>
              <a:rPr lang="en-US" b="1" dirty="0">
                <a:solidFill>
                  <a:srgbClr val="098156"/>
                </a:solidFill>
                <a:latin typeface="Courier New" panose="02070309020205020404" pitchFamily="49" charset="0"/>
              </a:rPr>
              <a:t>1</a:t>
            </a:r>
            <a:r>
              <a:rPr lang="en-US" b="1" dirty="0">
                <a:solidFill>
                  <a:srgbClr val="000000"/>
                </a:solidFill>
                <a:latin typeface="Courier New" panose="02070309020205020404" pitchFamily="49" charset="0"/>
              </a:rPr>
              <a:t>, </a:t>
            </a:r>
            <a:r>
              <a:rPr lang="en-US" b="1" dirty="0">
                <a:solidFill>
                  <a:srgbClr val="098156"/>
                </a:solidFill>
                <a:latin typeface="Courier New" panose="02070309020205020404" pitchFamily="49" charset="0"/>
              </a:rPr>
              <a:t>2</a:t>
            </a:r>
            <a:r>
              <a:rPr lang="en-US" b="1" dirty="0">
                <a:solidFill>
                  <a:srgbClr val="000000"/>
                </a:solidFill>
                <a:latin typeface="Courier New" panose="02070309020205020404" pitchFamily="49" charset="0"/>
              </a:rPr>
              <a:t>, </a:t>
            </a:r>
            <a:r>
              <a:rPr lang="en-US" b="1" dirty="0">
                <a:solidFill>
                  <a:srgbClr val="098156"/>
                </a:solidFill>
                <a:latin typeface="Courier New" panose="02070309020205020404" pitchFamily="49" charset="0"/>
              </a:rPr>
              <a:t>3</a:t>
            </a:r>
            <a:r>
              <a:rPr lang="en-US" b="1" dirty="0">
                <a:solidFill>
                  <a:srgbClr val="000000"/>
                </a:solidFill>
                <a:latin typeface="Courier New" panose="02070309020205020404" pitchFamily="49" charset="0"/>
              </a:rPr>
              <a:t>, </a:t>
            </a:r>
            <a:r>
              <a:rPr lang="en-US" b="1" dirty="0">
                <a:solidFill>
                  <a:srgbClr val="098156"/>
                </a:solidFill>
                <a:latin typeface="Courier New" panose="02070309020205020404" pitchFamily="49" charset="0"/>
              </a:rPr>
              <a:t>4</a:t>
            </a:r>
            <a:r>
              <a:rPr lang="en-US" b="1" dirty="0">
                <a:solidFill>
                  <a:srgbClr val="000000"/>
                </a:solidFill>
                <a:latin typeface="Courier New" panose="02070309020205020404" pitchFamily="49" charset="0"/>
              </a:rPr>
              <a:t>])  </a:t>
            </a:r>
          </a:p>
          <a:p>
            <a:r>
              <a:rPr lang="en-US" b="1" dirty="0">
                <a:solidFill>
                  <a:srgbClr val="000000"/>
                </a:solidFill>
                <a:latin typeface="Courier New" panose="02070309020205020404" pitchFamily="49" charset="0"/>
              </a:rPr>
              <a:t>print (sum)</a:t>
            </a:r>
            <a:endParaRPr lang="en-US" b="1"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9139017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19698"/>
            <a:ext cx="9436100" cy="391160"/>
          </a:xfrm>
          <a:prstGeom prst="rect">
            <a:avLst/>
          </a:prstGeom>
        </p:spPr>
        <p:txBody>
          <a:bodyPr vert="horz" wrap="square" lIns="0" tIns="12700" rIns="0" bIns="0" rtlCol="0">
            <a:spAutoFit/>
          </a:bodyPr>
          <a:lstStyle/>
          <a:p>
            <a:pPr marL="12700">
              <a:lnSpc>
                <a:spcPct val="100000"/>
              </a:lnSpc>
              <a:spcBef>
                <a:spcPts val="100"/>
              </a:spcBef>
              <a:tabLst>
                <a:tab pos="8698865" algn="l"/>
              </a:tabLst>
            </a:pPr>
            <a:r>
              <a:rPr spc="-5" dirty="0">
                <a:solidFill>
                  <a:srgbClr val="000000"/>
                </a:solidFill>
                <a:latin typeface="Calibri" panose="020F0502020204030204"/>
                <a:cs typeface="Calibri" panose="020F0502020204030204"/>
              </a:rPr>
              <a:t>Function</a:t>
            </a:r>
            <a:r>
              <a:rPr dirty="0">
                <a:solidFill>
                  <a:srgbClr val="000000"/>
                </a:solidFill>
                <a:latin typeface="Calibri" panose="020F0502020204030204"/>
                <a:cs typeface="Calibri" panose="020F0502020204030204"/>
              </a:rPr>
              <a:t>s</a:t>
            </a:r>
            <a:r>
              <a:rPr spc="-5" dirty="0">
                <a:solidFill>
                  <a:srgbClr val="000000"/>
                </a:solidFill>
                <a:latin typeface="Calibri" panose="020F0502020204030204"/>
                <a:cs typeface="Calibri" panose="020F0502020204030204"/>
              </a:rPr>
              <a:t> ar</a:t>
            </a:r>
            <a:r>
              <a:rPr dirty="0">
                <a:solidFill>
                  <a:srgbClr val="000000"/>
                </a:solidFill>
                <a:latin typeface="Calibri" panose="020F0502020204030204"/>
                <a:cs typeface="Calibri" panose="020F0502020204030204"/>
              </a:rPr>
              <a:t>e</a:t>
            </a:r>
            <a:r>
              <a:rPr spc="-5" dirty="0">
                <a:solidFill>
                  <a:srgbClr val="000000"/>
                </a:solidFill>
                <a:latin typeface="Calibri" panose="020F0502020204030204"/>
                <a:cs typeface="Calibri" panose="020F0502020204030204"/>
              </a:rPr>
              <a:t> First-Clas</a:t>
            </a:r>
            <a:r>
              <a:rPr dirty="0">
                <a:solidFill>
                  <a:srgbClr val="000000"/>
                </a:solidFill>
                <a:latin typeface="Calibri" panose="020F0502020204030204"/>
                <a:cs typeface="Calibri" panose="020F0502020204030204"/>
              </a:rPr>
              <a:t>s</a:t>
            </a:r>
            <a:r>
              <a:rPr spc="-5" dirty="0">
                <a:solidFill>
                  <a:srgbClr val="000000"/>
                </a:solidFill>
                <a:latin typeface="Calibri" panose="020F0502020204030204"/>
                <a:cs typeface="Calibri" panose="020F0502020204030204"/>
              </a:rPr>
              <a:t> an</a:t>
            </a:r>
            <a:r>
              <a:rPr dirty="0">
                <a:solidFill>
                  <a:srgbClr val="000000"/>
                </a:solidFill>
                <a:latin typeface="Calibri" panose="020F0502020204030204"/>
                <a:cs typeface="Calibri" panose="020F0502020204030204"/>
              </a:rPr>
              <a:t>d</a:t>
            </a:r>
            <a:r>
              <a:rPr spc="-5" dirty="0">
                <a:solidFill>
                  <a:srgbClr val="000000"/>
                </a:solidFill>
                <a:latin typeface="Calibri" panose="020F0502020204030204"/>
                <a:cs typeface="Calibri" panose="020F0502020204030204"/>
              </a:rPr>
              <a:t> ca</a:t>
            </a:r>
            <a:r>
              <a:rPr dirty="0">
                <a:solidFill>
                  <a:srgbClr val="000000"/>
                </a:solidFill>
                <a:latin typeface="Calibri" panose="020F0502020204030204"/>
                <a:cs typeface="Calibri" panose="020F0502020204030204"/>
              </a:rPr>
              <a:t>n</a:t>
            </a:r>
            <a:r>
              <a:rPr spc="-5" dirty="0">
                <a:solidFill>
                  <a:srgbClr val="000000"/>
                </a:solidFill>
                <a:latin typeface="Calibri" panose="020F0502020204030204"/>
                <a:cs typeface="Calibri" panose="020F0502020204030204"/>
              </a:rPr>
              <a:t> b</a:t>
            </a:r>
            <a:r>
              <a:rPr dirty="0">
                <a:solidFill>
                  <a:srgbClr val="000000"/>
                </a:solidFill>
                <a:latin typeface="Calibri" panose="020F0502020204030204"/>
                <a:cs typeface="Calibri" panose="020F0502020204030204"/>
              </a:rPr>
              <a:t>e</a:t>
            </a:r>
            <a:r>
              <a:rPr spc="-5" dirty="0">
                <a:solidFill>
                  <a:srgbClr val="000000"/>
                </a:solidFill>
                <a:latin typeface="Calibri" panose="020F0502020204030204"/>
                <a:cs typeface="Calibri" panose="020F0502020204030204"/>
              </a:rPr>
              <a:t> Higher-Orde</a:t>
            </a:r>
            <a:r>
              <a:rPr dirty="0">
                <a:solidFill>
                  <a:srgbClr val="000000"/>
                </a:solidFill>
                <a:latin typeface="Calibri" panose="020F0502020204030204"/>
                <a:cs typeface="Calibri" panose="020F0502020204030204"/>
              </a:rPr>
              <a:t>r	</a:t>
            </a:r>
            <a:r>
              <a:rPr spc="-5" dirty="0">
                <a:solidFill>
                  <a:srgbClr val="000000"/>
                </a:solidFill>
                <a:latin typeface="Calibri" panose="020F0502020204030204"/>
                <a:cs typeface="Calibri" panose="020F0502020204030204"/>
              </a:rPr>
              <a:t>..cont</a:t>
            </a: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3"/>
            <a:ext cx="12105640" cy="5979795"/>
          </a:xfrm>
          <a:custGeom>
            <a:avLst/>
            <a:gdLst/>
            <a:ahLst/>
            <a:cxnLst/>
            <a:rect l="l" t="t" r="r" b="b"/>
            <a:pathLst>
              <a:path w="12105640" h="5979795">
                <a:moveTo>
                  <a:pt x="0" y="0"/>
                </a:moveTo>
                <a:lnTo>
                  <a:pt x="12105503" y="0"/>
                </a:lnTo>
                <a:lnTo>
                  <a:pt x="12105503" y="5979174"/>
                </a:lnTo>
                <a:lnTo>
                  <a:pt x="0" y="5979174"/>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379730" y="838200"/>
            <a:ext cx="11202670" cy="2489143"/>
          </a:xfrm>
          <a:prstGeom prst="rect">
            <a:avLst/>
          </a:prstGeom>
        </p:spPr>
        <p:txBody>
          <a:bodyPr vert="horz" wrap="square" lIns="0" tIns="146050" rIns="0" bIns="0" rtlCol="0">
            <a:spAutoFit/>
          </a:bodyPr>
          <a:lstStyle/>
          <a:p>
            <a:pPr marL="12700">
              <a:lnSpc>
                <a:spcPct val="100000"/>
              </a:lnSpc>
              <a:spcBef>
                <a:spcPts val="1150"/>
              </a:spcBef>
            </a:pPr>
            <a:r>
              <a:rPr sz="2200" b="1" spc="-5" dirty="0">
                <a:latin typeface="Times New Roman" panose="02020603050405020304" pitchFamily="18" charset="0"/>
                <a:cs typeface="Times New Roman" panose="02020603050405020304" pitchFamily="18" charset="0"/>
              </a:rPr>
              <a:t>filter()</a:t>
            </a:r>
            <a:endParaRPr sz="2200" dirty="0">
              <a:latin typeface="Times New Roman" panose="02020603050405020304" pitchFamily="18" charset="0"/>
              <a:cs typeface="Times New Roman" panose="02020603050405020304" pitchFamily="18" charset="0"/>
            </a:endParaRPr>
          </a:p>
          <a:p>
            <a:pPr marL="298450" marR="5080" indent="-252730" algn="just">
              <a:lnSpc>
                <a:spcPct val="150000"/>
              </a:lnSpc>
              <a:buFont typeface="Arial MT"/>
              <a:buChar char="•"/>
              <a:tabLst>
                <a:tab pos="298450" algn="l"/>
              </a:tabLst>
            </a:pPr>
            <a:r>
              <a:rPr sz="2200" spc="-5" dirty="0">
                <a:latin typeface="Times New Roman" panose="02020603050405020304" pitchFamily="18" charset="0"/>
                <a:cs typeface="Times New Roman" panose="02020603050405020304" pitchFamily="18" charset="0"/>
              </a:rPr>
              <a:t>filter function expects </a:t>
            </a:r>
            <a:r>
              <a:rPr sz="2200" dirty="0">
                <a:latin typeface="Times New Roman" panose="02020603050405020304" pitchFamily="18" charset="0"/>
                <a:cs typeface="Times New Roman" panose="02020603050405020304" pitchFamily="18" charset="0"/>
              </a:rPr>
              <a:t>a </a:t>
            </a:r>
            <a:r>
              <a:rPr sz="2200" spc="-5" dirty="0">
                <a:latin typeface="Times New Roman" panose="02020603050405020304" pitchFamily="18" charset="0"/>
                <a:cs typeface="Times New Roman" panose="02020603050405020304" pitchFamily="18" charset="0"/>
              </a:rPr>
              <a:t>true or false value to determine if the element should or should not be included in the result collection. </a:t>
            </a:r>
            <a:r>
              <a:rPr sz="22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Basically, if the call-back expression is true, the filter function will include the element in the result collection. Otherwise, it will </a:t>
            </a:r>
            <a:r>
              <a:rPr sz="22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not.</a:t>
            </a:r>
            <a:endParaRPr sz="2200" dirty="0">
              <a:latin typeface="Times New Roman" panose="02020603050405020304" pitchFamily="18" charset="0"/>
              <a:cs typeface="Times New Roman" panose="02020603050405020304" pitchFamily="18" charset="0"/>
            </a:endParaRPr>
          </a:p>
          <a:p>
            <a:pPr marL="12700">
              <a:lnSpc>
                <a:spcPct val="100000"/>
              </a:lnSpc>
              <a:spcBef>
                <a:spcPts val="1050"/>
              </a:spcBef>
            </a:pPr>
            <a:r>
              <a:rPr sz="2200" spc="-5" dirty="0">
                <a:latin typeface="Times New Roman" panose="02020603050405020304" pitchFamily="18" charset="0"/>
                <a:cs typeface="Times New Roman" panose="02020603050405020304" pitchFamily="18" charset="0"/>
              </a:rPr>
              <a:t>Example</a:t>
            </a:r>
            <a:r>
              <a:rPr sz="2200" spc="-5" dirty="0" smtClean="0">
                <a:latin typeface="Times New Roman" panose="02020603050405020304" pitchFamily="18" charset="0"/>
                <a:cs typeface="Times New Roman" panose="02020603050405020304" pitchFamily="18" charset="0"/>
              </a:rPr>
              <a:t>:</a:t>
            </a:r>
            <a:endParaRPr sz="2200"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7"/>
          </p:nvPr>
        </p:nvSpPr>
        <p:spPr/>
        <p:txBody>
          <a:bodyPr/>
          <a:lstStyle/>
          <a:p>
            <a:fld id="{B6F15528-21DE-4FAA-801E-634DDDAF4B2B}" type="slidenum">
              <a:rPr/>
              <a:t>18</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498727"/>
            <a:ext cx="12190095" cy="6198870"/>
            <a:chOff x="0" y="498727"/>
            <a:chExt cx="12190095" cy="6198870"/>
          </a:xfrm>
        </p:grpSpPr>
        <p:sp>
          <p:nvSpPr>
            <p:cNvPr id="3" name="object 3"/>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4" name="object 4"/>
            <p:cNvSpPr/>
            <p:nvPr/>
          </p:nvSpPr>
          <p:spPr>
            <a:xfrm>
              <a:off x="0" y="6640336"/>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53791" y="573517"/>
              <a:ext cx="12105640" cy="6025515"/>
            </a:xfrm>
            <a:custGeom>
              <a:avLst/>
              <a:gdLst/>
              <a:ahLst/>
              <a:cxnLst/>
              <a:rect l="l" t="t" r="r" b="b"/>
              <a:pathLst>
                <a:path w="12105640" h="6025515">
                  <a:moveTo>
                    <a:pt x="0" y="0"/>
                  </a:moveTo>
                  <a:lnTo>
                    <a:pt x="12105503" y="0"/>
                  </a:lnTo>
                  <a:lnTo>
                    <a:pt x="12105503" y="6024938"/>
                  </a:lnTo>
                  <a:lnTo>
                    <a:pt x="0" y="6024938"/>
                  </a:lnTo>
                  <a:lnTo>
                    <a:pt x="0" y="0"/>
                  </a:lnTo>
                  <a:close/>
                </a:path>
              </a:pathLst>
            </a:custGeom>
            <a:ln w="12699">
              <a:solidFill>
                <a:srgbClr val="00B0F0"/>
              </a:solidFill>
            </a:ln>
          </p:spPr>
          <p:txBody>
            <a:bodyPr wrap="square" lIns="0" tIns="0" rIns="0" bIns="0" rtlCol="0"/>
            <a:lstStyle/>
            <a:p>
              <a:endParaRPr/>
            </a:p>
          </p:txBody>
        </p:sp>
      </p:grpSp>
      <p:sp>
        <p:nvSpPr>
          <p:cNvPr id="6" name="object 6"/>
          <p:cNvSpPr txBox="1">
            <a:spLocks noGrp="1"/>
          </p:cNvSpPr>
          <p:nvPr>
            <p:ph type="title"/>
          </p:nvPr>
        </p:nvSpPr>
        <p:spPr>
          <a:xfrm>
            <a:off x="76970" y="19698"/>
            <a:ext cx="6087110"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Functional</a:t>
            </a:r>
            <a:r>
              <a:rPr spc="-2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Programming</a:t>
            </a:r>
            <a:r>
              <a:rPr spc="-20" dirty="0">
                <a:solidFill>
                  <a:srgbClr val="000000"/>
                </a:solidFill>
                <a:latin typeface="Calibri" panose="020F0502020204030204"/>
                <a:cs typeface="Calibri" panose="020F0502020204030204"/>
              </a:rPr>
              <a:t> </a:t>
            </a:r>
            <a:r>
              <a:rPr dirty="0">
                <a:solidFill>
                  <a:srgbClr val="000000"/>
                </a:solidFill>
                <a:latin typeface="Calibri" panose="020F0502020204030204"/>
                <a:cs typeface="Calibri" panose="020F0502020204030204"/>
              </a:rPr>
              <a:t>–</a:t>
            </a:r>
            <a:r>
              <a:rPr spc="-2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Non</a:t>
            </a:r>
            <a:r>
              <a:rPr spc="-2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Strict</a:t>
            </a:r>
            <a:r>
              <a:rPr spc="-2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Evaluation</a:t>
            </a:r>
          </a:p>
        </p:txBody>
      </p:sp>
      <p:sp>
        <p:nvSpPr>
          <p:cNvPr id="7" name="object 7"/>
          <p:cNvSpPr txBox="1"/>
          <p:nvPr/>
        </p:nvSpPr>
        <p:spPr>
          <a:xfrm>
            <a:off x="209096" y="1143000"/>
            <a:ext cx="12004675" cy="4167808"/>
          </a:xfrm>
          <a:prstGeom prst="rect">
            <a:avLst/>
          </a:prstGeom>
        </p:spPr>
        <p:txBody>
          <a:bodyPr vert="horz" wrap="square" lIns="0" tIns="12700" rIns="0" bIns="0" rtlCol="0">
            <a:spAutoFit/>
          </a:bodyPr>
          <a:lstStyle/>
          <a:p>
            <a:pPr marL="298450" marR="11430" indent="-252730" algn="just">
              <a:lnSpc>
                <a:spcPct val="150000"/>
              </a:lnSpc>
              <a:buFont typeface="Arial MT"/>
              <a:buChar char="•"/>
              <a:tabLst>
                <a:tab pos="297815" algn="l"/>
                <a:tab pos="298450" algn="l"/>
              </a:tabLst>
            </a:pPr>
            <a:r>
              <a:rPr lang="en-US" sz="2000" spc="-5" dirty="0">
                <a:latin typeface="Times New Roman" panose="02020603050405020304" pitchFamily="18" charset="0"/>
                <a:cs typeface="Times New Roman" panose="02020603050405020304" pitchFamily="18" charset="0"/>
              </a:rPr>
              <a:t>In functional programming, "non-strict evaluation" refers to an evaluation strategy where the arguments of a function are not evaluated until their values are actually needed. </a:t>
            </a:r>
            <a:endParaRPr lang="en-US" sz="2000" spc="-5" dirty="0" smtClean="0">
              <a:latin typeface="Times New Roman" panose="02020603050405020304" pitchFamily="18" charset="0"/>
              <a:cs typeface="Times New Roman" panose="02020603050405020304" pitchFamily="18" charset="0"/>
            </a:endParaRPr>
          </a:p>
          <a:p>
            <a:pPr marL="298450" marR="11430" indent="-252730" algn="just">
              <a:lnSpc>
                <a:spcPct val="150000"/>
              </a:lnSpc>
              <a:buFont typeface="Arial MT"/>
              <a:buChar char="•"/>
              <a:tabLst>
                <a:tab pos="297815" algn="l"/>
                <a:tab pos="298450" algn="l"/>
              </a:tabLst>
            </a:pPr>
            <a:r>
              <a:rPr lang="en-US" sz="2000" spc="-5" dirty="0" smtClean="0">
                <a:latin typeface="Times New Roman" panose="02020603050405020304" pitchFamily="18" charset="0"/>
                <a:cs typeface="Times New Roman" panose="02020603050405020304" pitchFamily="18" charset="0"/>
              </a:rPr>
              <a:t>Non-strict </a:t>
            </a:r>
            <a:r>
              <a:rPr lang="en-US" sz="2000" spc="-5" dirty="0">
                <a:latin typeface="Times New Roman" panose="02020603050405020304" pitchFamily="18" charset="0"/>
                <a:cs typeface="Times New Roman" panose="02020603050405020304" pitchFamily="18" charset="0"/>
              </a:rPr>
              <a:t>evaluation is also sometimes referred to as "lazy evaluation." This is in contrast to "strict evaluation," where function arguments are evaluated immediately, regardless of whether their values are needed or not</a:t>
            </a:r>
            <a:r>
              <a:rPr lang="en-US" sz="2000" spc="-5" dirty="0" smtClean="0">
                <a:latin typeface="Times New Roman" panose="02020603050405020304" pitchFamily="18" charset="0"/>
                <a:cs typeface="Times New Roman" panose="02020603050405020304" pitchFamily="18" charset="0"/>
              </a:rPr>
              <a:t>. </a:t>
            </a:r>
            <a:r>
              <a:rPr sz="2000" dirty="0" smtClean="0">
                <a:latin typeface="Times New Roman" panose="02020603050405020304" pitchFamily="18" charset="0"/>
                <a:cs typeface="Times New Roman" panose="02020603050405020304" pitchFamily="18" charset="0"/>
              </a:rPr>
              <a:t>and</a:t>
            </a:r>
            <a:r>
              <a:rPr sz="2000" spc="-5" dirty="0" smtClean="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which </a:t>
            </a:r>
            <a:r>
              <a:rPr sz="2000" dirty="0">
                <a:latin typeface="Times New Roman" panose="02020603050405020304" pitchFamily="18" charset="0"/>
                <a:cs typeface="Times New Roman" panose="02020603050405020304" pitchFamily="18" charset="0"/>
              </a:rPr>
              <a:t>also</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avoids</a:t>
            </a:r>
            <a:r>
              <a:rPr sz="2000" spc="-5" dirty="0">
                <a:latin typeface="Times New Roman" panose="02020603050405020304" pitchFamily="18" charset="0"/>
                <a:cs typeface="Times New Roman" panose="02020603050405020304" pitchFamily="18" charset="0"/>
              </a:rPr>
              <a:t> repeated</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evaluations</a:t>
            </a:r>
            <a:endParaRPr sz="2000" dirty="0">
              <a:latin typeface="Times New Roman" panose="02020603050405020304" pitchFamily="18" charset="0"/>
              <a:cs typeface="Times New Roman" panose="02020603050405020304" pitchFamily="18" charset="0"/>
            </a:endParaRPr>
          </a:p>
          <a:p>
            <a:pPr marL="298450" indent="-252730" algn="just">
              <a:lnSpc>
                <a:spcPct val="150000"/>
              </a:lnSpc>
              <a:buFont typeface="Arial MT"/>
              <a:buChar char="•"/>
              <a:tabLst>
                <a:tab pos="297815" algn="l"/>
                <a:tab pos="298450" algn="l"/>
              </a:tabLst>
            </a:pPr>
            <a:r>
              <a:rPr sz="2000" spc="-5" dirty="0">
                <a:latin typeface="Times New Roman" panose="02020603050405020304" pitchFamily="18" charset="0"/>
                <a:cs typeface="Times New Roman" panose="02020603050405020304" pitchFamily="18" charset="0"/>
              </a:rPr>
              <a:t>Allows</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Functions</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having</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variables</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that</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have</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not</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yet</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been</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computed</a:t>
            </a:r>
            <a:endParaRPr sz="2000" dirty="0">
              <a:latin typeface="Times New Roman" panose="02020603050405020304" pitchFamily="18" charset="0"/>
              <a:cs typeface="Times New Roman" panose="02020603050405020304" pitchFamily="18" charset="0"/>
            </a:endParaRPr>
          </a:p>
          <a:p>
            <a:pPr marL="355600" marR="5080" indent="-342900" algn="just">
              <a:lnSpc>
                <a:spcPct val="150000"/>
              </a:lnSpc>
              <a:buFont typeface="Arial" panose="020B0604020202020204" pitchFamily="34" charset="0"/>
              <a:buChar char="•"/>
            </a:pPr>
            <a:r>
              <a:rPr sz="2000" spc="-5" dirty="0" smtClean="0">
                <a:latin typeface="Times New Roman" panose="02020603050405020304" pitchFamily="18" charset="0"/>
                <a:cs typeface="Times New Roman" panose="02020603050405020304" pitchFamily="18" charset="0"/>
              </a:rPr>
              <a:t>In</a:t>
            </a:r>
            <a:r>
              <a:rPr sz="2000" spc="30" dirty="0" smtClean="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Python,</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the</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logical</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expression</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operators</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or,</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if-then-else</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all</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non-strict.</a:t>
            </a:r>
            <a:r>
              <a:rPr sz="2000" spc="25" dirty="0">
                <a:latin typeface="Times New Roman" panose="02020603050405020304" pitchFamily="18" charset="0"/>
                <a:cs typeface="Times New Roman" panose="02020603050405020304" pitchFamily="18" charset="0"/>
              </a:rPr>
              <a:t> </a:t>
            </a:r>
            <a:endParaRPr lang="en-US" sz="2000" spc="25" dirty="0" smtClean="0">
              <a:latin typeface="Times New Roman" panose="02020603050405020304" pitchFamily="18" charset="0"/>
              <a:cs typeface="Times New Roman" panose="02020603050405020304" pitchFamily="18" charset="0"/>
            </a:endParaRPr>
          </a:p>
          <a:p>
            <a:pPr marL="355600" marR="5080" indent="-342900" algn="just">
              <a:lnSpc>
                <a:spcPct val="150000"/>
              </a:lnSpc>
              <a:buFont typeface="Arial" panose="020B0604020202020204" pitchFamily="34" charset="0"/>
              <a:buChar char="•"/>
            </a:pPr>
            <a:r>
              <a:rPr sz="2000" spc="-5" dirty="0" smtClean="0">
                <a:latin typeface="Times New Roman" panose="02020603050405020304" pitchFamily="18" charset="0"/>
                <a:cs typeface="Times New Roman" panose="02020603050405020304" pitchFamily="18" charset="0"/>
              </a:rPr>
              <a:t>We</a:t>
            </a:r>
            <a:r>
              <a:rPr sz="2000" spc="25" dirty="0" smtClean="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sometimes</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call</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them</a:t>
            </a:r>
            <a:r>
              <a:rPr sz="2000" spc="409"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short-circuit </a:t>
            </a:r>
            <a:r>
              <a:rPr sz="2000" spc="-38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operators</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because they don't need to evaluate </a:t>
            </a:r>
            <a:r>
              <a:rPr sz="2000" dirty="0">
                <a:latin typeface="Times New Roman" panose="02020603050405020304" pitchFamily="18" charset="0"/>
                <a:cs typeface="Times New Roman" panose="02020603050405020304" pitchFamily="18" charset="0"/>
              </a:rPr>
              <a:t>all</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arguments</a:t>
            </a:r>
            <a:r>
              <a:rPr sz="2000" spc="-5" dirty="0">
                <a:latin typeface="Times New Roman" panose="02020603050405020304" pitchFamily="18" charset="0"/>
                <a:cs typeface="Times New Roman" panose="02020603050405020304" pitchFamily="18" charset="0"/>
              </a:rPr>
              <a:t> to</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determine the resulting value</a:t>
            </a:r>
            <a:r>
              <a:rPr sz="2000" spc="-5" dirty="0" smtClean="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7"/>
          </p:nvPr>
        </p:nvSpPr>
        <p:spPr/>
        <p:txBody>
          <a:bodyPr/>
          <a:lstStyle/>
          <a:p>
            <a:fld id="{B6F15528-21DE-4FAA-801E-634DDDAF4B2B}" type="slidenum">
              <a:rPr/>
              <a:t>19</a:t>
            </a:fld>
            <a:endParaRPr/>
          </a:p>
        </p:txBody>
      </p:sp>
      <p:sp>
        <p:nvSpPr>
          <p:cNvPr id="9" name="Footer Placeholder 8"/>
          <p:cNvSpPr>
            <a:spLocks noGrp="1"/>
          </p:cNvSpPr>
          <p:nvPr>
            <p:ph type="ftr" sz="quarter" idx="5"/>
          </p:nvPr>
        </p:nvSpPr>
        <p:spPr/>
        <p:txBody>
          <a:bodyPr/>
          <a:lstStyle/>
          <a:p>
            <a:r>
              <a:t>UNIT IV : Pythonic Programming Paradigm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498727"/>
            <a:ext cx="12190095" cy="6198870"/>
            <a:chOff x="0" y="498727"/>
            <a:chExt cx="12190095" cy="6198870"/>
          </a:xfrm>
        </p:grpSpPr>
        <p:sp>
          <p:nvSpPr>
            <p:cNvPr id="3" name="object 3"/>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4" name="object 4"/>
            <p:cNvSpPr/>
            <p:nvPr/>
          </p:nvSpPr>
          <p:spPr>
            <a:xfrm>
              <a:off x="0" y="6640336"/>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53791" y="573517"/>
              <a:ext cx="12105640" cy="6025515"/>
            </a:xfrm>
            <a:custGeom>
              <a:avLst/>
              <a:gdLst/>
              <a:ahLst/>
              <a:cxnLst/>
              <a:rect l="l" t="t" r="r" b="b"/>
              <a:pathLst>
                <a:path w="12105640" h="6025515">
                  <a:moveTo>
                    <a:pt x="0" y="0"/>
                  </a:moveTo>
                  <a:lnTo>
                    <a:pt x="12105503" y="0"/>
                  </a:lnTo>
                  <a:lnTo>
                    <a:pt x="12105503" y="6024938"/>
                  </a:lnTo>
                  <a:lnTo>
                    <a:pt x="0" y="6024938"/>
                  </a:lnTo>
                  <a:lnTo>
                    <a:pt x="0" y="0"/>
                  </a:lnTo>
                  <a:close/>
                </a:path>
              </a:pathLst>
            </a:custGeom>
            <a:ln w="12699">
              <a:solidFill>
                <a:srgbClr val="00B0F0"/>
              </a:solidFill>
            </a:ln>
          </p:spPr>
          <p:txBody>
            <a:bodyPr wrap="square" lIns="0" tIns="0" rIns="0" bIns="0" rtlCol="0"/>
            <a:lstStyle/>
            <a:p>
              <a:endParaRPr/>
            </a:p>
          </p:txBody>
        </p:sp>
      </p:grpSp>
      <p:sp>
        <p:nvSpPr>
          <p:cNvPr id="6" name="object 6"/>
          <p:cNvSpPr txBox="1">
            <a:spLocks noGrp="1"/>
          </p:cNvSpPr>
          <p:nvPr>
            <p:ph type="title"/>
          </p:nvPr>
        </p:nvSpPr>
        <p:spPr>
          <a:xfrm>
            <a:off x="76970" y="19698"/>
            <a:ext cx="6087110"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Functional</a:t>
            </a:r>
            <a:r>
              <a:rPr spc="-2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Programming</a:t>
            </a:r>
            <a:r>
              <a:rPr spc="-20" dirty="0">
                <a:solidFill>
                  <a:srgbClr val="000000"/>
                </a:solidFill>
                <a:latin typeface="Calibri" panose="020F0502020204030204"/>
                <a:cs typeface="Calibri" panose="020F0502020204030204"/>
              </a:rPr>
              <a:t> </a:t>
            </a:r>
            <a:r>
              <a:rPr dirty="0">
                <a:solidFill>
                  <a:srgbClr val="000000"/>
                </a:solidFill>
                <a:latin typeface="Calibri" panose="020F0502020204030204"/>
                <a:cs typeface="Calibri" panose="020F0502020204030204"/>
              </a:rPr>
              <a:t>–</a:t>
            </a:r>
            <a:r>
              <a:rPr spc="-2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Non</a:t>
            </a:r>
            <a:r>
              <a:rPr spc="-2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Strict</a:t>
            </a:r>
            <a:r>
              <a:rPr spc="-2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Evaluation</a:t>
            </a:r>
          </a:p>
        </p:txBody>
      </p:sp>
      <p:sp>
        <p:nvSpPr>
          <p:cNvPr id="7" name="object 7"/>
          <p:cNvSpPr txBox="1"/>
          <p:nvPr/>
        </p:nvSpPr>
        <p:spPr>
          <a:xfrm>
            <a:off x="92709" y="648584"/>
            <a:ext cx="11718291" cy="2967479"/>
          </a:xfrm>
          <a:prstGeom prst="rect">
            <a:avLst/>
          </a:prstGeom>
        </p:spPr>
        <p:txBody>
          <a:bodyPr vert="horz" wrap="square" lIns="0" tIns="12700" rIns="0" bIns="0" rtlCol="0">
            <a:spAutoFit/>
          </a:bodyPr>
          <a:lstStyle/>
          <a:p>
            <a:pPr marL="12700" algn="just">
              <a:lnSpc>
                <a:spcPct val="150000"/>
              </a:lnSpc>
            </a:pPr>
            <a:r>
              <a:rPr sz="2400" spc="-5" dirty="0" smtClean="0">
                <a:latin typeface="Times New Roman" panose="02020603050405020304" pitchFamily="18" charset="0"/>
                <a:cs typeface="Times New Roman" panose="02020603050405020304" pitchFamily="18" charset="0"/>
              </a:rPr>
              <a:t>The</a:t>
            </a:r>
            <a:r>
              <a:rPr sz="2400" spc="-15" dirty="0" smtClean="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following</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command</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snippet</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shows</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the</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operator's</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non-strict</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feature:</a:t>
            </a:r>
            <a:endParaRPr sz="2400" dirty="0">
              <a:latin typeface="Times New Roman" panose="02020603050405020304" pitchFamily="18" charset="0"/>
              <a:cs typeface="Times New Roman" panose="02020603050405020304" pitchFamily="18" charset="0"/>
            </a:endParaRPr>
          </a:p>
          <a:p>
            <a:r>
              <a:rPr sz="2400" spc="-5" dirty="0" smtClean="0">
                <a:latin typeface="Times New Roman" panose="02020603050405020304" pitchFamily="18" charset="0"/>
                <a:cs typeface="Times New Roman" panose="02020603050405020304" pitchFamily="18" charset="0"/>
              </a:rPr>
              <a:t>&gt;&gt;&gt;</a:t>
            </a:r>
            <a:r>
              <a:rPr sz="2400" spc="-35"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0 and print("right")</a:t>
            </a:r>
          </a:p>
          <a:p>
            <a:r>
              <a:rPr sz="2400" spc="-5" dirty="0" smtClean="0">
                <a:latin typeface="Times New Roman" panose="02020603050405020304" pitchFamily="18" charset="0"/>
                <a:cs typeface="Times New Roman" panose="02020603050405020304" pitchFamily="18" charset="0"/>
              </a:rPr>
              <a:t>&gt;&gt;&gt; </a:t>
            </a:r>
            <a:r>
              <a:rPr lang="en-US" sz="2400" dirty="0">
                <a:latin typeface="Times New Roman" panose="02020603050405020304" pitchFamily="18" charset="0"/>
                <a:cs typeface="Times New Roman" panose="02020603050405020304" pitchFamily="18" charset="0"/>
              </a:rPr>
              <a:t>True and print("right")</a:t>
            </a:r>
          </a:p>
          <a:p>
            <a:pPr marL="12700" marR="9525" algn="just">
              <a:lnSpc>
                <a:spcPct val="150000"/>
              </a:lnSpc>
            </a:pPr>
            <a:r>
              <a:rPr sz="2400" spc="-5" dirty="0" smtClean="0">
                <a:latin typeface="Times New Roman" panose="02020603050405020304" pitchFamily="18" charset="0"/>
                <a:cs typeface="Times New Roman" panose="02020603050405020304" pitchFamily="18" charset="0"/>
              </a:rPr>
              <a:t>When</a:t>
            </a:r>
            <a:r>
              <a:rPr sz="2400" spc="30"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we</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execute</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the</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preceding</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command</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snippet,</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the</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left-hand</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side</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of</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the</a:t>
            </a:r>
            <a:r>
              <a:rPr sz="2400" spc="35" dirty="0" smtClean="0">
                <a:latin typeface="Times New Roman" panose="02020603050405020304" pitchFamily="18" charset="0"/>
                <a:cs typeface="Times New Roman" panose="02020603050405020304" pitchFamily="18" charset="0"/>
              </a:rPr>
              <a:t> </a:t>
            </a:r>
            <a:r>
              <a:rPr sz="2400" dirty="0" smtClean="0">
                <a:latin typeface="Times New Roman" panose="02020603050405020304" pitchFamily="18" charset="0"/>
                <a:cs typeface="Times New Roman" panose="02020603050405020304" pitchFamily="18" charset="0"/>
              </a:rPr>
              <a:t>and</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operator</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is</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equivalent</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to</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False;</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the</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right-hand</a:t>
            </a:r>
            <a:r>
              <a:rPr sz="2400" spc="3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side </a:t>
            </a:r>
            <a:r>
              <a:rPr sz="2400" spc="-385"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is</a:t>
            </a:r>
            <a:r>
              <a:rPr sz="2400" spc="-10" dirty="0" smtClean="0">
                <a:latin typeface="Times New Roman" panose="02020603050405020304" pitchFamily="18" charset="0"/>
                <a:cs typeface="Times New Roman" panose="02020603050405020304" pitchFamily="18" charset="0"/>
              </a:rPr>
              <a:t> </a:t>
            </a:r>
            <a:r>
              <a:rPr sz="2400" spc="-5" dirty="0" smtClean="0">
                <a:latin typeface="Times New Roman" panose="02020603050405020304" pitchFamily="18" charset="0"/>
                <a:cs typeface="Times New Roman" panose="02020603050405020304" pitchFamily="18" charset="0"/>
              </a:rPr>
              <a:t>not evaluated. When the left-hand side is equivalent to True, the right-hand side is evaluated</a:t>
            </a:r>
            <a:endParaRPr sz="24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7"/>
          </p:nvPr>
        </p:nvSpPr>
        <p:spPr/>
        <p:txBody>
          <a:bodyPr/>
          <a:lstStyle/>
          <a:p>
            <a:fld id="{B6F15528-21DE-4FAA-801E-634DDDAF4B2B}" type="slidenum">
              <a:rPr/>
              <a:t>20</a:t>
            </a:fld>
            <a:endParaRPr/>
          </a:p>
        </p:txBody>
      </p:sp>
      <p:sp>
        <p:nvSpPr>
          <p:cNvPr id="9" name="Footer Placeholder 8"/>
          <p:cNvSpPr>
            <a:spLocks noGrp="1"/>
          </p:cNvSpPr>
          <p:nvPr>
            <p:ph type="ftr" sz="quarter" idx="5"/>
          </p:nvPr>
        </p:nvSpPr>
        <p:spPr/>
        <p:txBody>
          <a:bodyPr/>
          <a:lstStyle/>
          <a:p>
            <a:r>
              <a:t>UNIT IV : Pythonic Programming Paradigm</a:t>
            </a:r>
          </a:p>
        </p:txBody>
      </p:sp>
    </p:spTree>
    <p:extLst>
      <p:ext uri="{BB962C8B-B14F-4D97-AF65-F5344CB8AC3E}">
        <p14:creationId xmlns:p14="http://schemas.microsoft.com/office/powerpoint/2010/main" val="770348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19698"/>
            <a:ext cx="5441315"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Functional</a:t>
            </a:r>
            <a:r>
              <a:rPr spc="-2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Programming</a:t>
            </a:r>
            <a:r>
              <a:rPr spc="-25" dirty="0">
                <a:solidFill>
                  <a:srgbClr val="000000"/>
                </a:solidFill>
                <a:latin typeface="Calibri" panose="020F0502020204030204"/>
                <a:cs typeface="Calibri" panose="020F0502020204030204"/>
              </a:rPr>
              <a:t> </a:t>
            </a:r>
            <a:r>
              <a:rPr dirty="0">
                <a:solidFill>
                  <a:srgbClr val="000000"/>
                </a:solidFill>
                <a:latin typeface="Calibri" panose="020F0502020204030204"/>
                <a:cs typeface="Calibri" panose="020F0502020204030204"/>
              </a:rPr>
              <a:t>–</a:t>
            </a:r>
            <a:r>
              <a:rPr spc="-2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lambda</a:t>
            </a:r>
            <a:r>
              <a:rPr spc="-2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calculus</a:t>
            </a: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3"/>
            <a:ext cx="12105640" cy="5979795"/>
          </a:xfrm>
          <a:custGeom>
            <a:avLst/>
            <a:gdLst/>
            <a:ahLst/>
            <a:cxnLst/>
            <a:rect l="l" t="t" r="r" b="b"/>
            <a:pathLst>
              <a:path w="12105640" h="5979795">
                <a:moveTo>
                  <a:pt x="0" y="0"/>
                </a:moveTo>
                <a:lnTo>
                  <a:pt x="12105503" y="0"/>
                </a:lnTo>
                <a:lnTo>
                  <a:pt x="12105503" y="5979174"/>
                </a:lnTo>
                <a:lnTo>
                  <a:pt x="0" y="5979174"/>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94136" y="460059"/>
            <a:ext cx="11818620" cy="4425950"/>
          </a:xfrm>
          <a:prstGeom prst="rect">
            <a:avLst/>
          </a:prstGeom>
        </p:spPr>
        <p:txBody>
          <a:bodyPr vert="horz" wrap="square" lIns="0" tIns="12700" rIns="0" bIns="0" rtlCol="0">
            <a:spAutoFit/>
          </a:bodyPr>
          <a:lstStyle/>
          <a:p>
            <a:pPr marL="12700" marR="10160">
              <a:lnSpc>
                <a:spcPct val="150000"/>
              </a:lnSpc>
              <a:spcBef>
                <a:spcPts val="100"/>
              </a:spcBef>
            </a:pPr>
            <a:r>
              <a:rPr sz="1750" spc="-5" dirty="0">
                <a:latin typeface="Calibri" panose="020F0502020204030204"/>
                <a:cs typeface="Calibri" panose="020F0502020204030204"/>
              </a:rPr>
              <a:t>Lambda</a:t>
            </a:r>
            <a:r>
              <a:rPr sz="1750" spc="10" dirty="0">
                <a:latin typeface="Calibri" panose="020F0502020204030204"/>
                <a:cs typeface="Calibri" panose="020F0502020204030204"/>
              </a:rPr>
              <a:t> </a:t>
            </a:r>
            <a:r>
              <a:rPr sz="1750" spc="-5" dirty="0">
                <a:latin typeface="Calibri" panose="020F0502020204030204"/>
                <a:cs typeface="Calibri" panose="020F0502020204030204"/>
              </a:rPr>
              <a:t>expressions</a:t>
            </a:r>
            <a:r>
              <a:rPr sz="1750" spc="15" dirty="0">
                <a:latin typeface="Calibri" panose="020F0502020204030204"/>
                <a:cs typeface="Calibri" panose="020F0502020204030204"/>
              </a:rPr>
              <a:t> </a:t>
            </a:r>
            <a:r>
              <a:rPr sz="1750" spc="-5" dirty="0">
                <a:latin typeface="Calibri" panose="020F0502020204030204"/>
                <a:cs typeface="Calibri" panose="020F0502020204030204"/>
              </a:rPr>
              <a:t>in</a:t>
            </a:r>
            <a:r>
              <a:rPr sz="1750" spc="15" dirty="0">
                <a:latin typeface="Calibri" panose="020F0502020204030204"/>
                <a:cs typeface="Calibri" panose="020F0502020204030204"/>
              </a:rPr>
              <a:t> </a:t>
            </a:r>
            <a:r>
              <a:rPr sz="1750" spc="-5" dirty="0">
                <a:latin typeface="Calibri" panose="020F0502020204030204"/>
                <a:cs typeface="Calibri" panose="020F0502020204030204"/>
              </a:rPr>
              <a:t>Python</a:t>
            </a:r>
            <a:r>
              <a:rPr sz="1750" spc="15" dirty="0">
                <a:latin typeface="Calibri" panose="020F0502020204030204"/>
                <a:cs typeface="Calibri" panose="020F0502020204030204"/>
              </a:rPr>
              <a:t> </a:t>
            </a:r>
            <a:r>
              <a:rPr sz="1750" dirty="0">
                <a:latin typeface="Calibri" panose="020F0502020204030204"/>
                <a:cs typeface="Calibri" panose="020F0502020204030204"/>
              </a:rPr>
              <a:t>and</a:t>
            </a:r>
            <a:r>
              <a:rPr sz="1750" spc="10" dirty="0">
                <a:latin typeface="Calibri" panose="020F0502020204030204"/>
                <a:cs typeface="Calibri" panose="020F0502020204030204"/>
              </a:rPr>
              <a:t> </a:t>
            </a:r>
            <a:r>
              <a:rPr sz="1750" spc="-5" dirty="0">
                <a:latin typeface="Calibri" panose="020F0502020204030204"/>
                <a:cs typeface="Calibri" panose="020F0502020204030204"/>
              </a:rPr>
              <a:t>other</a:t>
            </a:r>
            <a:r>
              <a:rPr sz="1750" spc="15" dirty="0">
                <a:latin typeface="Calibri" panose="020F0502020204030204"/>
                <a:cs typeface="Calibri" panose="020F0502020204030204"/>
              </a:rPr>
              <a:t> </a:t>
            </a:r>
            <a:r>
              <a:rPr sz="1750" spc="-5" dirty="0">
                <a:latin typeface="Calibri" panose="020F0502020204030204"/>
                <a:cs typeface="Calibri" panose="020F0502020204030204"/>
              </a:rPr>
              <a:t>programming</a:t>
            </a:r>
            <a:r>
              <a:rPr sz="1750" spc="15" dirty="0">
                <a:latin typeface="Calibri" panose="020F0502020204030204"/>
                <a:cs typeface="Calibri" panose="020F0502020204030204"/>
              </a:rPr>
              <a:t> </a:t>
            </a:r>
            <a:r>
              <a:rPr sz="1750" spc="-5" dirty="0">
                <a:latin typeface="Calibri" panose="020F0502020204030204"/>
                <a:cs typeface="Calibri" panose="020F0502020204030204"/>
              </a:rPr>
              <a:t>languages</a:t>
            </a:r>
            <a:r>
              <a:rPr sz="1750" spc="15" dirty="0">
                <a:latin typeface="Calibri" panose="020F0502020204030204"/>
                <a:cs typeface="Calibri" panose="020F0502020204030204"/>
              </a:rPr>
              <a:t> </a:t>
            </a:r>
            <a:r>
              <a:rPr sz="1750" spc="-5" dirty="0">
                <a:latin typeface="Calibri" panose="020F0502020204030204"/>
                <a:cs typeface="Calibri" panose="020F0502020204030204"/>
              </a:rPr>
              <a:t>have</a:t>
            </a:r>
            <a:r>
              <a:rPr sz="1750" spc="10" dirty="0">
                <a:latin typeface="Calibri" panose="020F0502020204030204"/>
                <a:cs typeface="Calibri" panose="020F0502020204030204"/>
              </a:rPr>
              <a:t> </a:t>
            </a:r>
            <a:r>
              <a:rPr sz="1750" spc="-5" dirty="0">
                <a:latin typeface="Calibri" panose="020F0502020204030204"/>
                <a:cs typeface="Calibri" panose="020F0502020204030204"/>
              </a:rPr>
              <a:t>their</a:t>
            </a:r>
            <a:r>
              <a:rPr sz="1750" spc="10" dirty="0">
                <a:latin typeface="Calibri" panose="020F0502020204030204"/>
                <a:cs typeface="Calibri" panose="020F0502020204030204"/>
              </a:rPr>
              <a:t> </a:t>
            </a:r>
            <a:r>
              <a:rPr sz="1750" spc="-5" dirty="0">
                <a:latin typeface="Calibri" panose="020F0502020204030204"/>
                <a:cs typeface="Calibri" panose="020F0502020204030204"/>
              </a:rPr>
              <a:t>roots</a:t>
            </a:r>
            <a:r>
              <a:rPr sz="1750" spc="15" dirty="0">
                <a:latin typeface="Calibri" panose="020F0502020204030204"/>
                <a:cs typeface="Calibri" panose="020F0502020204030204"/>
              </a:rPr>
              <a:t> </a:t>
            </a:r>
            <a:r>
              <a:rPr sz="1750" spc="-5" dirty="0">
                <a:latin typeface="Calibri" panose="020F0502020204030204"/>
                <a:cs typeface="Calibri" panose="020F0502020204030204"/>
              </a:rPr>
              <a:t>in</a:t>
            </a:r>
            <a:r>
              <a:rPr sz="1750" spc="15" dirty="0">
                <a:latin typeface="Calibri" panose="020F0502020204030204"/>
                <a:cs typeface="Calibri" panose="020F0502020204030204"/>
              </a:rPr>
              <a:t> </a:t>
            </a:r>
            <a:r>
              <a:rPr sz="1750" spc="-5" dirty="0">
                <a:latin typeface="Calibri" panose="020F0502020204030204"/>
                <a:cs typeface="Calibri" panose="020F0502020204030204"/>
              </a:rPr>
              <a:t>lambda</a:t>
            </a:r>
            <a:r>
              <a:rPr sz="1750" spc="15" dirty="0">
                <a:latin typeface="Calibri" panose="020F0502020204030204"/>
                <a:cs typeface="Calibri" panose="020F0502020204030204"/>
              </a:rPr>
              <a:t> </a:t>
            </a:r>
            <a:r>
              <a:rPr sz="1750" spc="-5" dirty="0">
                <a:latin typeface="Calibri" panose="020F0502020204030204"/>
                <a:cs typeface="Calibri" panose="020F0502020204030204"/>
              </a:rPr>
              <a:t>calculus.</a:t>
            </a:r>
            <a:r>
              <a:rPr sz="1750" spc="5" dirty="0">
                <a:latin typeface="Calibri" panose="020F0502020204030204"/>
                <a:cs typeface="Calibri" panose="020F0502020204030204"/>
              </a:rPr>
              <a:t> </a:t>
            </a:r>
            <a:r>
              <a:rPr sz="1750" spc="-5" dirty="0">
                <a:latin typeface="Calibri" panose="020F0502020204030204"/>
                <a:cs typeface="Calibri" panose="020F0502020204030204"/>
              </a:rPr>
              <a:t>Lambda</a:t>
            </a:r>
            <a:r>
              <a:rPr sz="1750" spc="15" dirty="0">
                <a:latin typeface="Calibri" panose="020F0502020204030204"/>
                <a:cs typeface="Calibri" panose="020F0502020204030204"/>
              </a:rPr>
              <a:t> </a:t>
            </a:r>
            <a:r>
              <a:rPr sz="1750" spc="-5" dirty="0">
                <a:latin typeface="Calibri" panose="020F0502020204030204"/>
                <a:cs typeface="Calibri" panose="020F0502020204030204"/>
              </a:rPr>
              <a:t>calculus</a:t>
            </a:r>
            <a:r>
              <a:rPr sz="1750" spc="10" dirty="0">
                <a:latin typeface="Calibri" panose="020F0502020204030204"/>
                <a:cs typeface="Calibri" panose="020F0502020204030204"/>
              </a:rPr>
              <a:t> </a:t>
            </a:r>
            <a:r>
              <a:rPr sz="1750" spc="-5" dirty="0">
                <a:latin typeface="Calibri" panose="020F0502020204030204"/>
                <a:cs typeface="Calibri" panose="020F0502020204030204"/>
              </a:rPr>
              <a:t>can</a:t>
            </a:r>
            <a:r>
              <a:rPr sz="1750" spc="10" dirty="0">
                <a:latin typeface="Calibri" panose="020F0502020204030204"/>
                <a:cs typeface="Calibri" panose="020F0502020204030204"/>
              </a:rPr>
              <a:t> </a:t>
            </a:r>
            <a:r>
              <a:rPr sz="1750" spc="-5" dirty="0">
                <a:latin typeface="Calibri" panose="020F0502020204030204"/>
                <a:cs typeface="Calibri" panose="020F0502020204030204"/>
              </a:rPr>
              <a:t>encode </a:t>
            </a:r>
            <a:r>
              <a:rPr sz="1750" spc="-380" dirty="0">
                <a:latin typeface="Calibri" panose="020F0502020204030204"/>
                <a:cs typeface="Calibri" panose="020F0502020204030204"/>
              </a:rPr>
              <a:t> </a:t>
            </a:r>
            <a:r>
              <a:rPr sz="1750" dirty="0">
                <a:latin typeface="Calibri" panose="020F0502020204030204"/>
                <a:cs typeface="Calibri" panose="020F0502020204030204"/>
              </a:rPr>
              <a:t>any</a:t>
            </a:r>
            <a:r>
              <a:rPr sz="1750" spc="-10" dirty="0">
                <a:latin typeface="Calibri" panose="020F0502020204030204"/>
                <a:cs typeface="Calibri" panose="020F0502020204030204"/>
              </a:rPr>
              <a:t> </a:t>
            </a:r>
            <a:r>
              <a:rPr sz="1750" spc="-5" dirty="0">
                <a:latin typeface="Calibri" panose="020F0502020204030204"/>
                <a:cs typeface="Calibri" panose="020F0502020204030204"/>
              </a:rPr>
              <a:t>computation. Functional languages get their origin in</a:t>
            </a:r>
            <a:r>
              <a:rPr sz="1750" spc="-10" dirty="0">
                <a:latin typeface="Calibri" panose="020F0502020204030204"/>
                <a:cs typeface="Calibri" panose="020F0502020204030204"/>
              </a:rPr>
              <a:t> </a:t>
            </a:r>
            <a:r>
              <a:rPr sz="1750" spc="-5" dirty="0">
                <a:latin typeface="Calibri" panose="020F0502020204030204"/>
                <a:cs typeface="Calibri" panose="020F0502020204030204"/>
              </a:rPr>
              <a:t>mathematical logic </a:t>
            </a:r>
            <a:r>
              <a:rPr sz="1750" dirty="0">
                <a:latin typeface="Calibri" panose="020F0502020204030204"/>
                <a:cs typeface="Calibri" panose="020F0502020204030204"/>
              </a:rPr>
              <a:t>and</a:t>
            </a:r>
            <a:r>
              <a:rPr sz="1750" spc="-5" dirty="0">
                <a:latin typeface="Calibri" panose="020F0502020204030204"/>
                <a:cs typeface="Calibri" panose="020F0502020204030204"/>
              </a:rPr>
              <a:t> lambda calculus</a:t>
            </a:r>
            <a:endParaRPr sz="1750">
              <a:latin typeface="Calibri" panose="020F0502020204030204"/>
              <a:cs typeface="Calibri" panose="020F0502020204030204"/>
            </a:endParaRPr>
          </a:p>
          <a:p>
            <a:pPr marL="12700" marR="6350">
              <a:lnSpc>
                <a:spcPct val="150000"/>
              </a:lnSpc>
            </a:pPr>
            <a:r>
              <a:rPr sz="1750" spc="-5" dirty="0">
                <a:latin typeface="Calibri" panose="020F0502020204030204"/>
                <a:cs typeface="Calibri" panose="020F0502020204030204"/>
              </a:rPr>
              <a:t>In</a:t>
            </a:r>
            <a:r>
              <a:rPr sz="1750" spc="70" dirty="0">
                <a:latin typeface="Calibri" panose="020F0502020204030204"/>
                <a:cs typeface="Calibri" panose="020F0502020204030204"/>
              </a:rPr>
              <a:t> </a:t>
            </a:r>
            <a:r>
              <a:rPr sz="1750" spc="-5" dirty="0">
                <a:latin typeface="Calibri" panose="020F0502020204030204"/>
                <a:cs typeface="Calibri" panose="020F0502020204030204"/>
              </a:rPr>
              <a:t>Python,</a:t>
            </a:r>
            <a:r>
              <a:rPr sz="1750" spc="80" dirty="0">
                <a:latin typeface="Calibri" panose="020F0502020204030204"/>
                <a:cs typeface="Calibri" panose="020F0502020204030204"/>
              </a:rPr>
              <a:t> </a:t>
            </a:r>
            <a:r>
              <a:rPr sz="1750" spc="-5" dirty="0">
                <a:latin typeface="Calibri" panose="020F0502020204030204"/>
                <a:cs typeface="Calibri" panose="020F0502020204030204"/>
              </a:rPr>
              <a:t>we</a:t>
            </a:r>
            <a:r>
              <a:rPr sz="1750" spc="75" dirty="0">
                <a:latin typeface="Calibri" panose="020F0502020204030204"/>
                <a:cs typeface="Calibri" panose="020F0502020204030204"/>
              </a:rPr>
              <a:t> </a:t>
            </a:r>
            <a:r>
              <a:rPr sz="1750" spc="-5" dirty="0">
                <a:latin typeface="Calibri" panose="020F0502020204030204"/>
                <a:cs typeface="Calibri" panose="020F0502020204030204"/>
              </a:rPr>
              <a:t>use</a:t>
            </a:r>
            <a:r>
              <a:rPr sz="1750" spc="80" dirty="0">
                <a:latin typeface="Calibri" panose="020F0502020204030204"/>
                <a:cs typeface="Calibri" panose="020F0502020204030204"/>
              </a:rPr>
              <a:t> </a:t>
            </a:r>
            <a:r>
              <a:rPr sz="1750" spc="-5" dirty="0">
                <a:latin typeface="Calibri" panose="020F0502020204030204"/>
                <a:cs typeface="Calibri" panose="020F0502020204030204"/>
              </a:rPr>
              <a:t>the</a:t>
            </a:r>
            <a:r>
              <a:rPr sz="1750" spc="75" dirty="0">
                <a:latin typeface="Calibri" panose="020F0502020204030204"/>
                <a:cs typeface="Calibri" panose="020F0502020204030204"/>
              </a:rPr>
              <a:t> </a:t>
            </a:r>
            <a:r>
              <a:rPr sz="1750" spc="-5" dirty="0">
                <a:latin typeface="Calibri" panose="020F0502020204030204"/>
                <a:cs typeface="Calibri" panose="020F0502020204030204"/>
              </a:rPr>
              <a:t>lambda</a:t>
            </a:r>
            <a:r>
              <a:rPr sz="1750" spc="80" dirty="0">
                <a:latin typeface="Calibri" panose="020F0502020204030204"/>
                <a:cs typeface="Calibri" panose="020F0502020204030204"/>
              </a:rPr>
              <a:t> </a:t>
            </a:r>
            <a:r>
              <a:rPr sz="1750" spc="-5" dirty="0">
                <a:latin typeface="Calibri" panose="020F0502020204030204"/>
                <a:cs typeface="Calibri" panose="020F0502020204030204"/>
              </a:rPr>
              <a:t>keyword</a:t>
            </a:r>
            <a:r>
              <a:rPr sz="1750" spc="80" dirty="0">
                <a:latin typeface="Calibri" panose="020F0502020204030204"/>
                <a:cs typeface="Calibri" panose="020F0502020204030204"/>
              </a:rPr>
              <a:t> </a:t>
            </a:r>
            <a:r>
              <a:rPr sz="1750" spc="-5" dirty="0">
                <a:latin typeface="Calibri" panose="020F0502020204030204"/>
                <a:cs typeface="Calibri" panose="020F0502020204030204"/>
              </a:rPr>
              <a:t>to</a:t>
            </a:r>
            <a:r>
              <a:rPr sz="1750" spc="75" dirty="0">
                <a:latin typeface="Calibri" panose="020F0502020204030204"/>
                <a:cs typeface="Calibri" panose="020F0502020204030204"/>
              </a:rPr>
              <a:t> </a:t>
            </a:r>
            <a:r>
              <a:rPr sz="1750" spc="-5" dirty="0">
                <a:latin typeface="Calibri" panose="020F0502020204030204"/>
                <a:cs typeface="Calibri" panose="020F0502020204030204"/>
              </a:rPr>
              <a:t>declare</a:t>
            </a:r>
            <a:r>
              <a:rPr sz="1750" spc="80" dirty="0">
                <a:latin typeface="Calibri" panose="020F0502020204030204"/>
                <a:cs typeface="Calibri" panose="020F0502020204030204"/>
              </a:rPr>
              <a:t> </a:t>
            </a:r>
            <a:r>
              <a:rPr sz="1750" dirty="0">
                <a:latin typeface="Calibri" panose="020F0502020204030204"/>
                <a:cs typeface="Calibri" panose="020F0502020204030204"/>
              </a:rPr>
              <a:t>an</a:t>
            </a:r>
            <a:r>
              <a:rPr sz="1750" spc="80" dirty="0">
                <a:latin typeface="Calibri" panose="020F0502020204030204"/>
                <a:cs typeface="Calibri" panose="020F0502020204030204"/>
              </a:rPr>
              <a:t> </a:t>
            </a:r>
            <a:r>
              <a:rPr sz="1750" dirty="0">
                <a:latin typeface="Calibri" panose="020F0502020204030204"/>
                <a:cs typeface="Calibri" panose="020F0502020204030204"/>
              </a:rPr>
              <a:t>anonymous</a:t>
            </a:r>
            <a:r>
              <a:rPr sz="1750" spc="75"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80" dirty="0">
                <a:latin typeface="Calibri" panose="020F0502020204030204"/>
                <a:cs typeface="Calibri" panose="020F0502020204030204"/>
              </a:rPr>
              <a:t> </a:t>
            </a:r>
            <a:r>
              <a:rPr sz="1750" spc="-5" dirty="0">
                <a:latin typeface="Calibri" panose="020F0502020204030204"/>
                <a:cs typeface="Calibri" panose="020F0502020204030204"/>
              </a:rPr>
              <a:t>which</a:t>
            </a:r>
            <a:r>
              <a:rPr sz="1750" spc="75" dirty="0">
                <a:latin typeface="Calibri" panose="020F0502020204030204"/>
                <a:cs typeface="Calibri" panose="020F0502020204030204"/>
              </a:rPr>
              <a:t> </a:t>
            </a:r>
            <a:r>
              <a:rPr sz="1750" spc="-5" dirty="0">
                <a:latin typeface="Calibri" panose="020F0502020204030204"/>
                <a:cs typeface="Calibri" panose="020F0502020204030204"/>
              </a:rPr>
              <a:t>is</a:t>
            </a:r>
            <a:r>
              <a:rPr sz="1750" spc="80" dirty="0">
                <a:latin typeface="Calibri" panose="020F0502020204030204"/>
                <a:cs typeface="Calibri" panose="020F0502020204030204"/>
              </a:rPr>
              <a:t> </a:t>
            </a:r>
            <a:r>
              <a:rPr sz="1750" spc="-5" dirty="0">
                <a:latin typeface="Calibri" panose="020F0502020204030204"/>
                <a:cs typeface="Calibri" panose="020F0502020204030204"/>
              </a:rPr>
              <a:t>why</a:t>
            </a:r>
            <a:r>
              <a:rPr sz="1750" spc="75" dirty="0">
                <a:latin typeface="Calibri" panose="020F0502020204030204"/>
                <a:cs typeface="Calibri" panose="020F0502020204030204"/>
              </a:rPr>
              <a:t> </a:t>
            </a:r>
            <a:r>
              <a:rPr sz="1750" spc="-5" dirty="0">
                <a:latin typeface="Calibri" panose="020F0502020204030204"/>
                <a:cs typeface="Calibri" panose="020F0502020204030204"/>
              </a:rPr>
              <a:t>we</a:t>
            </a:r>
            <a:r>
              <a:rPr sz="1750" spc="75" dirty="0">
                <a:latin typeface="Calibri" panose="020F0502020204030204"/>
                <a:cs typeface="Calibri" panose="020F0502020204030204"/>
              </a:rPr>
              <a:t> </a:t>
            </a:r>
            <a:r>
              <a:rPr sz="1750" spc="-5" dirty="0">
                <a:latin typeface="Calibri" panose="020F0502020204030204"/>
                <a:cs typeface="Calibri" panose="020F0502020204030204"/>
              </a:rPr>
              <a:t>refer</a:t>
            </a:r>
            <a:r>
              <a:rPr sz="1750" spc="75" dirty="0">
                <a:latin typeface="Calibri" panose="020F0502020204030204"/>
                <a:cs typeface="Calibri" panose="020F0502020204030204"/>
              </a:rPr>
              <a:t> </a:t>
            </a:r>
            <a:r>
              <a:rPr sz="1750" spc="-5" dirty="0">
                <a:latin typeface="Calibri" panose="020F0502020204030204"/>
                <a:cs typeface="Calibri" panose="020F0502020204030204"/>
              </a:rPr>
              <a:t>to</a:t>
            </a:r>
            <a:r>
              <a:rPr sz="1750" spc="75" dirty="0">
                <a:latin typeface="Calibri" panose="020F0502020204030204"/>
                <a:cs typeface="Calibri" panose="020F0502020204030204"/>
              </a:rPr>
              <a:t> </a:t>
            </a:r>
            <a:r>
              <a:rPr sz="1750" spc="-5" dirty="0">
                <a:latin typeface="Calibri" panose="020F0502020204030204"/>
                <a:cs typeface="Calibri" panose="020F0502020204030204"/>
              </a:rPr>
              <a:t>them</a:t>
            </a:r>
            <a:r>
              <a:rPr sz="1750" spc="75" dirty="0">
                <a:latin typeface="Calibri" panose="020F0502020204030204"/>
                <a:cs typeface="Calibri" panose="020F0502020204030204"/>
              </a:rPr>
              <a:t> </a:t>
            </a:r>
            <a:r>
              <a:rPr sz="1750" dirty="0">
                <a:latin typeface="Calibri" panose="020F0502020204030204"/>
                <a:cs typeface="Calibri" panose="020F0502020204030204"/>
              </a:rPr>
              <a:t>as</a:t>
            </a:r>
            <a:r>
              <a:rPr sz="1750" spc="80" dirty="0">
                <a:latin typeface="Calibri" panose="020F0502020204030204"/>
                <a:cs typeface="Calibri" panose="020F0502020204030204"/>
              </a:rPr>
              <a:t> </a:t>
            </a:r>
            <a:r>
              <a:rPr sz="1750" spc="-5" dirty="0">
                <a:latin typeface="Calibri" panose="020F0502020204030204"/>
                <a:cs typeface="Calibri" panose="020F0502020204030204"/>
              </a:rPr>
              <a:t>"lambda</a:t>
            </a:r>
            <a:r>
              <a:rPr sz="1750" spc="75" dirty="0">
                <a:latin typeface="Calibri" panose="020F0502020204030204"/>
                <a:cs typeface="Calibri" panose="020F0502020204030204"/>
              </a:rPr>
              <a:t> </a:t>
            </a:r>
            <a:r>
              <a:rPr sz="1750" spc="-5" dirty="0">
                <a:latin typeface="Calibri" panose="020F0502020204030204"/>
                <a:cs typeface="Calibri" panose="020F0502020204030204"/>
              </a:rPr>
              <a:t>functions". </a:t>
            </a:r>
            <a:r>
              <a:rPr sz="1750" spc="-385" dirty="0">
                <a:latin typeface="Calibri" panose="020F0502020204030204"/>
                <a:cs typeface="Calibri" panose="020F0502020204030204"/>
              </a:rPr>
              <a:t> </a:t>
            </a:r>
            <a:r>
              <a:rPr sz="1750" spc="-5" dirty="0">
                <a:latin typeface="Calibri" panose="020F0502020204030204"/>
                <a:cs typeface="Calibri" panose="020F0502020204030204"/>
              </a:rPr>
              <a:t>An</a:t>
            </a:r>
            <a:r>
              <a:rPr sz="1750" spc="-10" dirty="0">
                <a:latin typeface="Calibri" panose="020F0502020204030204"/>
                <a:cs typeface="Calibri" panose="020F0502020204030204"/>
              </a:rPr>
              <a:t> </a:t>
            </a:r>
            <a:r>
              <a:rPr sz="1750" dirty="0">
                <a:latin typeface="Calibri" panose="020F0502020204030204"/>
                <a:cs typeface="Calibri" panose="020F0502020204030204"/>
              </a:rPr>
              <a:t>anonymous</a:t>
            </a:r>
            <a:r>
              <a:rPr sz="1750" spc="-5" dirty="0">
                <a:latin typeface="Calibri" panose="020F0502020204030204"/>
                <a:cs typeface="Calibri" panose="020F0502020204030204"/>
              </a:rPr>
              <a:t> function refers to </a:t>
            </a:r>
            <a:r>
              <a:rPr sz="1750" dirty="0">
                <a:latin typeface="Calibri" panose="020F0502020204030204"/>
                <a:cs typeface="Calibri" panose="020F0502020204030204"/>
              </a:rPr>
              <a:t>a</a:t>
            </a:r>
            <a:r>
              <a:rPr sz="1750" spc="-5" dirty="0">
                <a:latin typeface="Calibri" panose="020F0502020204030204"/>
                <a:cs typeface="Calibri" panose="020F0502020204030204"/>
              </a:rPr>
              <a:t> function declared with no name.</a:t>
            </a:r>
            <a:endParaRPr sz="1750">
              <a:latin typeface="Calibri" panose="020F0502020204030204"/>
              <a:cs typeface="Calibri" panose="020F0502020204030204"/>
            </a:endParaRPr>
          </a:p>
          <a:p>
            <a:pPr marL="12700" marR="5080">
              <a:lnSpc>
                <a:spcPct val="150000"/>
              </a:lnSpc>
            </a:pPr>
            <a:r>
              <a:rPr sz="1750" spc="-5" dirty="0">
                <a:latin typeface="Calibri" panose="020F0502020204030204"/>
                <a:cs typeface="Calibri" panose="020F0502020204030204"/>
              </a:rPr>
              <a:t>when</a:t>
            </a:r>
            <a:r>
              <a:rPr sz="1750" spc="120" dirty="0">
                <a:latin typeface="Calibri" panose="020F0502020204030204"/>
                <a:cs typeface="Calibri" panose="020F0502020204030204"/>
              </a:rPr>
              <a:t> </a:t>
            </a:r>
            <a:r>
              <a:rPr sz="1750" spc="-5" dirty="0">
                <a:latin typeface="Calibri" panose="020F0502020204030204"/>
                <a:cs typeface="Calibri" panose="020F0502020204030204"/>
              </a:rPr>
              <a:t>you</a:t>
            </a:r>
            <a:r>
              <a:rPr sz="1750" spc="125" dirty="0">
                <a:latin typeface="Calibri" panose="020F0502020204030204"/>
                <a:cs typeface="Calibri" panose="020F0502020204030204"/>
              </a:rPr>
              <a:t> </a:t>
            </a:r>
            <a:r>
              <a:rPr sz="1750" spc="-5" dirty="0">
                <a:latin typeface="Calibri" panose="020F0502020204030204"/>
                <a:cs typeface="Calibri" panose="020F0502020204030204"/>
              </a:rPr>
              <a:t>want</a:t>
            </a:r>
            <a:r>
              <a:rPr sz="1750" spc="125" dirty="0">
                <a:latin typeface="Calibri" panose="020F0502020204030204"/>
                <a:cs typeface="Calibri" panose="020F0502020204030204"/>
              </a:rPr>
              <a:t> </a:t>
            </a:r>
            <a:r>
              <a:rPr sz="1750" spc="-5" dirty="0">
                <a:latin typeface="Calibri" panose="020F0502020204030204"/>
                <a:cs typeface="Calibri" panose="020F0502020204030204"/>
              </a:rPr>
              <a:t>to</a:t>
            </a:r>
            <a:r>
              <a:rPr sz="1750" spc="125" dirty="0">
                <a:latin typeface="Calibri" panose="020F0502020204030204"/>
                <a:cs typeface="Calibri" panose="020F0502020204030204"/>
              </a:rPr>
              <a:t> </a:t>
            </a:r>
            <a:r>
              <a:rPr sz="1750" spc="-5" dirty="0">
                <a:latin typeface="Calibri" panose="020F0502020204030204"/>
                <a:cs typeface="Calibri" panose="020F0502020204030204"/>
              </a:rPr>
              <a:t>pass</a:t>
            </a:r>
            <a:r>
              <a:rPr sz="1750" spc="125" dirty="0">
                <a:latin typeface="Calibri" panose="020F0502020204030204"/>
                <a:cs typeface="Calibri" panose="020F0502020204030204"/>
              </a:rPr>
              <a:t> </a:t>
            </a:r>
            <a:r>
              <a:rPr sz="1750" dirty="0">
                <a:latin typeface="Calibri" panose="020F0502020204030204"/>
                <a:cs typeface="Calibri" panose="020F0502020204030204"/>
              </a:rPr>
              <a:t>a</a:t>
            </a:r>
            <a:r>
              <a:rPr sz="1750" spc="120"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125" dirty="0">
                <a:latin typeface="Calibri" panose="020F0502020204030204"/>
                <a:cs typeface="Calibri" panose="020F0502020204030204"/>
              </a:rPr>
              <a:t> </a:t>
            </a:r>
            <a:r>
              <a:rPr sz="1750" dirty="0">
                <a:latin typeface="Calibri" panose="020F0502020204030204"/>
                <a:cs typeface="Calibri" panose="020F0502020204030204"/>
              </a:rPr>
              <a:t>as</a:t>
            </a:r>
            <a:r>
              <a:rPr sz="1750" spc="125" dirty="0">
                <a:latin typeface="Calibri" panose="020F0502020204030204"/>
                <a:cs typeface="Calibri" panose="020F0502020204030204"/>
              </a:rPr>
              <a:t> </a:t>
            </a:r>
            <a:r>
              <a:rPr sz="1750" dirty="0">
                <a:latin typeface="Calibri" panose="020F0502020204030204"/>
                <a:cs typeface="Calibri" panose="020F0502020204030204"/>
              </a:rPr>
              <a:t>an</a:t>
            </a:r>
            <a:r>
              <a:rPr sz="1750" spc="125" dirty="0">
                <a:latin typeface="Calibri" panose="020F0502020204030204"/>
                <a:cs typeface="Calibri" panose="020F0502020204030204"/>
              </a:rPr>
              <a:t> </a:t>
            </a:r>
            <a:r>
              <a:rPr sz="1750" dirty="0">
                <a:latin typeface="Calibri" panose="020F0502020204030204"/>
                <a:cs typeface="Calibri" panose="020F0502020204030204"/>
              </a:rPr>
              <a:t>argument</a:t>
            </a:r>
            <a:r>
              <a:rPr sz="1750" spc="125" dirty="0">
                <a:latin typeface="Calibri" panose="020F0502020204030204"/>
                <a:cs typeface="Calibri" panose="020F0502020204030204"/>
              </a:rPr>
              <a:t> </a:t>
            </a:r>
            <a:r>
              <a:rPr sz="1750" spc="-5" dirty="0">
                <a:latin typeface="Calibri" panose="020F0502020204030204"/>
                <a:cs typeface="Calibri" panose="020F0502020204030204"/>
              </a:rPr>
              <a:t>to</a:t>
            </a:r>
            <a:r>
              <a:rPr sz="1750" spc="120" dirty="0">
                <a:latin typeface="Calibri" panose="020F0502020204030204"/>
                <a:cs typeface="Calibri" panose="020F0502020204030204"/>
              </a:rPr>
              <a:t> </a:t>
            </a:r>
            <a:r>
              <a:rPr sz="1750" spc="-5" dirty="0">
                <a:latin typeface="Calibri" panose="020F0502020204030204"/>
                <a:cs typeface="Calibri" panose="020F0502020204030204"/>
              </a:rPr>
              <a:t>higher-order</a:t>
            </a:r>
            <a:r>
              <a:rPr sz="1750" spc="125" dirty="0">
                <a:latin typeface="Calibri" panose="020F0502020204030204"/>
                <a:cs typeface="Calibri" panose="020F0502020204030204"/>
              </a:rPr>
              <a:t> </a:t>
            </a:r>
            <a:r>
              <a:rPr sz="1750" spc="-5" dirty="0">
                <a:latin typeface="Calibri" panose="020F0502020204030204"/>
                <a:cs typeface="Calibri" panose="020F0502020204030204"/>
              </a:rPr>
              <a:t>functions,</a:t>
            </a:r>
            <a:r>
              <a:rPr sz="1750" spc="125" dirty="0">
                <a:latin typeface="Calibri" panose="020F0502020204030204"/>
                <a:cs typeface="Calibri" panose="020F0502020204030204"/>
              </a:rPr>
              <a:t> </a:t>
            </a:r>
            <a:r>
              <a:rPr sz="1750" spc="-5" dirty="0">
                <a:latin typeface="Calibri" panose="020F0502020204030204"/>
                <a:cs typeface="Calibri" panose="020F0502020204030204"/>
              </a:rPr>
              <a:t>that</a:t>
            </a:r>
            <a:r>
              <a:rPr sz="1750" spc="125" dirty="0">
                <a:latin typeface="Calibri" panose="020F0502020204030204"/>
                <a:cs typeface="Calibri" panose="020F0502020204030204"/>
              </a:rPr>
              <a:t> </a:t>
            </a:r>
            <a:r>
              <a:rPr sz="1750" spc="-5" dirty="0">
                <a:latin typeface="Calibri" panose="020F0502020204030204"/>
                <a:cs typeface="Calibri" panose="020F0502020204030204"/>
              </a:rPr>
              <a:t>is,</a:t>
            </a:r>
            <a:r>
              <a:rPr sz="1750" spc="125" dirty="0">
                <a:latin typeface="Calibri" panose="020F0502020204030204"/>
                <a:cs typeface="Calibri" panose="020F0502020204030204"/>
              </a:rPr>
              <a:t> </a:t>
            </a:r>
            <a:r>
              <a:rPr sz="1750" spc="-5" dirty="0">
                <a:latin typeface="Calibri" panose="020F0502020204030204"/>
                <a:cs typeface="Calibri" panose="020F0502020204030204"/>
              </a:rPr>
              <a:t>functions</a:t>
            </a:r>
            <a:r>
              <a:rPr sz="1750" spc="125" dirty="0">
                <a:latin typeface="Calibri" panose="020F0502020204030204"/>
                <a:cs typeface="Calibri" panose="020F0502020204030204"/>
              </a:rPr>
              <a:t> </a:t>
            </a:r>
            <a:r>
              <a:rPr sz="1750" spc="-5" dirty="0">
                <a:latin typeface="Calibri" panose="020F0502020204030204"/>
                <a:cs typeface="Calibri" panose="020F0502020204030204"/>
              </a:rPr>
              <a:t>that</a:t>
            </a:r>
            <a:r>
              <a:rPr sz="1750" spc="120" dirty="0">
                <a:latin typeface="Calibri" panose="020F0502020204030204"/>
                <a:cs typeface="Calibri" panose="020F0502020204030204"/>
              </a:rPr>
              <a:t> </a:t>
            </a:r>
            <a:r>
              <a:rPr sz="1750" spc="-5" dirty="0">
                <a:latin typeface="Calibri" panose="020F0502020204030204"/>
                <a:cs typeface="Calibri" panose="020F0502020204030204"/>
              </a:rPr>
              <a:t>take</a:t>
            </a:r>
            <a:r>
              <a:rPr sz="1750" spc="125" dirty="0">
                <a:latin typeface="Calibri" panose="020F0502020204030204"/>
                <a:cs typeface="Calibri" panose="020F0502020204030204"/>
              </a:rPr>
              <a:t> </a:t>
            </a:r>
            <a:r>
              <a:rPr sz="1750" spc="-5" dirty="0">
                <a:latin typeface="Calibri" panose="020F0502020204030204"/>
                <a:cs typeface="Calibri" panose="020F0502020204030204"/>
              </a:rPr>
              <a:t>other</a:t>
            </a:r>
            <a:r>
              <a:rPr sz="1750" spc="125" dirty="0">
                <a:latin typeface="Calibri" panose="020F0502020204030204"/>
                <a:cs typeface="Calibri" panose="020F0502020204030204"/>
              </a:rPr>
              <a:t> </a:t>
            </a:r>
            <a:r>
              <a:rPr sz="1750" spc="-5" dirty="0">
                <a:latin typeface="Calibri" panose="020F0502020204030204"/>
                <a:cs typeface="Calibri" panose="020F0502020204030204"/>
              </a:rPr>
              <a:t>functions</a:t>
            </a:r>
            <a:r>
              <a:rPr sz="1750" spc="125" dirty="0">
                <a:latin typeface="Calibri" panose="020F0502020204030204"/>
                <a:cs typeface="Calibri" panose="020F0502020204030204"/>
              </a:rPr>
              <a:t> </a:t>
            </a:r>
            <a:r>
              <a:rPr sz="1750" dirty="0">
                <a:latin typeface="Calibri" panose="020F0502020204030204"/>
                <a:cs typeface="Calibri" panose="020F0502020204030204"/>
              </a:rPr>
              <a:t>as</a:t>
            </a:r>
            <a:r>
              <a:rPr sz="1750" spc="125" dirty="0">
                <a:latin typeface="Calibri" panose="020F0502020204030204"/>
                <a:cs typeface="Calibri" panose="020F0502020204030204"/>
              </a:rPr>
              <a:t> </a:t>
            </a:r>
            <a:r>
              <a:rPr sz="1750" spc="-5" dirty="0">
                <a:latin typeface="Calibri" panose="020F0502020204030204"/>
                <a:cs typeface="Calibri" panose="020F0502020204030204"/>
              </a:rPr>
              <a:t>their </a:t>
            </a:r>
            <a:r>
              <a:rPr sz="1750" spc="-380" dirty="0">
                <a:latin typeface="Calibri" panose="020F0502020204030204"/>
                <a:cs typeface="Calibri" panose="020F0502020204030204"/>
              </a:rPr>
              <a:t> </a:t>
            </a:r>
            <a:r>
              <a:rPr sz="1750" dirty="0">
                <a:latin typeface="Calibri" panose="020F0502020204030204"/>
                <a:cs typeface="Calibri" panose="020F0502020204030204"/>
              </a:rPr>
              <a:t>arguments</a:t>
            </a:r>
            <a:endParaRPr sz="1750">
              <a:latin typeface="Calibri" panose="020F0502020204030204"/>
              <a:cs typeface="Calibri" panose="020F0502020204030204"/>
            </a:endParaRPr>
          </a:p>
          <a:p>
            <a:pPr marL="12700">
              <a:lnSpc>
                <a:spcPct val="100000"/>
              </a:lnSpc>
              <a:spcBef>
                <a:spcPts val="1050"/>
              </a:spcBef>
            </a:pPr>
            <a:r>
              <a:rPr sz="1750" b="1" spc="-5" dirty="0">
                <a:latin typeface="Calibri" panose="020F0502020204030204"/>
                <a:cs typeface="Calibri" panose="020F0502020204030204"/>
              </a:rPr>
              <a:t>Characteristics</a:t>
            </a:r>
            <a:r>
              <a:rPr sz="1750" b="1" spc="-20" dirty="0">
                <a:latin typeface="Calibri" panose="020F0502020204030204"/>
                <a:cs typeface="Calibri" panose="020F0502020204030204"/>
              </a:rPr>
              <a:t> </a:t>
            </a:r>
            <a:r>
              <a:rPr sz="1750" b="1" spc="-5" dirty="0">
                <a:latin typeface="Calibri" panose="020F0502020204030204"/>
                <a:cs typeface="Calibri" panose="020F0502020204030204"/>
              </a:rPr>
              <a:t>of</a:t>
            </a:r>
            <a:r>
              <a:rPr sz="1750" b="1" spc="-20" dirty="0">
                <a:latin typeface="Calibri" panose="020F0502020204030204"/>
                <a:cs typeface="Calibri" panose="020F0502020204030204"/>
              </a:rPr>
              <a:t> </a:t>
            </a:r>
            <a:r>
              <a:rPr sz="1750" b="1" spc="-5" dirty="0">
                <a:latin typeface="Calibri" panose="020F0502020204030204"/>
                <a:cs typeface="Calibri" panose="020F0502020204030204"/>
              </a:rPr>
              <a:t>Python</a:t>
            </a:r>
            <a:r>
              <a:rPr sz="1750" b="1" spc="-20" dirty="0">
                <a:latin typeface="Calibri" panose="020F0502020204030204"/>
                <a:cs typeface="Calibri" panose="020F0502020204030204"/>
              </a:rPr>
              <a:t> </a:t>
            </a:r>
            <a:r>
              <a:rPr sz="1750" b="1" spc="-5" dirty="0">
                <a:latin typeface="Calibri" panose="020F0502020204030204"/>
                <a:cs typeface="Calibri" panose="020F0502020204030204"/>
              </a:rPr>
              <a:t>lambda</a:t>
            </a:r>
            <a:r>
              <a:rPr sz="1750" b="1" spc="-20" dirty="0">
                <a:latin typeface="Calibri" panose="020F0502020204030204"/>
                <a:cs typeface="Calibri" panose="020F0502020204030204"/>
              </a:rPr>
              <a:t> </a:t>
            </a:r>
            <a:r>
              <a:rPr sz="1750" b="1" spc="-5" dirty="0">
                <a:latin typeface="Calibri" panose="020F0502020204030204"/>
                <a:cs typeface="Calibri" panose="020F0502020204030204"/>
              </a:rPr>
              <a:t>functions:</a:t>
            </a:r>
            <a:endParaRPr sz="1750">
              <a:latin typeface="Calibri" panose="020F0502020204030204"/>
              <a:cs typeface="Calibri" panose="020F0502020204030204"/>
            </a:endParaRPr>
          </a:p>
          <a:p>
            <a:pPr marL="298450" marR="5080" indent="-252730">
              <a:lnSpc>
                <a:spcPct val="150000"/>
              </a:lnSpc>
              <a:buFont typeface="Arial MT"/>
              <a:buChar char="•"/>
              <a:tabLst>
                <a:tab pos="297815" algn="l"/>
                <a:tab pos="298450" algn="l"/>
              </a:tabLst>
            </a:pPr>
            <a:r>
              <a:rPr sz="1750" dirty="0">
                <a:latin typeface="Calibri" panose="020F0502020204030204"/>
                <a:cs typeface="Calibri" panose="020F0502020204030204"/>
              </a:rPr>
              <a:t>A</a:t>
            </a:r>
            <a:r>
              <a:rPr sz="1750" spc="140" dirty="0">
                <a:latin typeface="Calibri" panose="020F0502020204030204"/>
                <a:cs typeface="Calibri" panose="020F0502020204030204"/>
              </a:rPr>
              <a:t> </a:t>
            </a:r>
            <a:r>
              <a:rPr sz="1750" spc="-5" dirty="0">
                <a:latin typeface="Calibri" panose="020F0502020204030204"/>
                <a:cs typeface="Calibri" panose="020F0502020204030204"/>
              </a:rPr>
              <a:t>lambda</a:t>
            </a:r>
            <a:r>
              <a:rPr sz="1750" spc="145"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145" dirty="0">
                <a:latin typeface="Calibri" panose="020F0502020204030204"/>
                <a:cs typeface="Calibri" panose="020F0502020204030204"/>
              </a:rPr>
              <a:t> </a:t>
            </a:r>
            <a:r>
              <a:rPr sz="1750" spc="-5" dirty="0">
                <a:latin typeface="Calibri" panose="020F0502020204030204"/>
                <a:cs typeface="Calibri" panose="020F0502020204030204"/>
              </a:rPr>
              <a:t>can</a:t>
            </a:r>
            <a:r>
              <a:rPr sz="1750" spc="145" dirty="0">
                <a:latin typeface="Calibri" panose="020F0502020204030204"/>
                <a:cs typeface="Calibri" panose="020F0502020204030204"/>
              </a:rPr>
              <a:t> </a:t>
            </a:r>
            <a:r>
              <a:rPr sz="1750" spc="-5" dirty="0">
                <a:latin typeface="Calibri" panose="020F0502020204030204"/>
                <a:cs typeface="Calibri" panose="020F0502020204030204"/>
              </a:rPr>
              <a:t>take</a:t>
            </a:r>
            <a:r>
              <a:rPr sz="1750" spc="145" dirty="0">
                <a:latin typeface="Calibri" panose="020F0502020204030204"/>
                <a:cs typeface="Calibri" panose="020F0502020204030204"/>
              </a:rPr>
              <a:t> </a:t>
            </a:r>
            <a:r>
              <a:rPr sz="1750" dirty="0">
                <a:latin typeface="Calibri" panose="020F0502020204030204"/>
                <a:cs typeface="Calibri" panose="020F0502020204030204"/>
              </a:rPr>
              <a:t>any</a:t>
            </a:r>
            <a:r>
              <a:rPr sz="1750" spc="140" dirty="0">
                <a:latin typeface="Calibri" panose="020F0502020204030204"/>
                <a:cs typeface="Calibri" panose="020F0502020204030204"/>
              </a:rPr>
              <a:t> </a:t>
            </a:r>
            <a:r>
              <a:rPr sz="1750" spc="-5" dirty="0">
                <a:latin typeface="Calibri" panose="020F0502020204030204"/>
                <a:cs typeface="Calibri" panose="020F0502020204030204"/>
              </a:rPr>
              <a:t>number</a:t>
            </a:r>
            <a:r>
              <a:rPr sz="1750" spc="145" dirty="0">
                <a:latin typeface="Calibri" panose="020F0502020204030204"/>
                <a:cs typeface="Calibri" panose="020F0502020204030204"/>
              </a:rPr>
              <a:t> </a:t>
            </a:r>
            <a:r>
              <a:rPr sz="1750" spc="-5" dirty="0">
                <a:latin typeface="Calibri" panose="020F0502020204030204"/>
                <a:cs typeface="Calibri" panose="020F0502020204030204"/>
              </a:rPr>
              <a:t>of</a:t>
            </a:r>
            <a:r>
              <a:rPr sz="1750" spc="145" dirty="0">
                <a:latin typeface="Calibri" panose="020F0502020204030204"/>
                <a:cs typeface="Calibri" panose="020F0502020204030204"/>
              </a:rPr>
              <a:t> </a:t>
            </a:r>
            <a:r>
              <a:rPr sz="1750" dirty="0">
                <a:latin typeface="Calibri" panose="020F0502020204030204"/>
                <a:cs typeface="Calibri" panose="020F0502020204030204"/>
              </a:rPr>
              <a:t>arguments,</a:t>
            </a:r>
            <a:r>
              <a:rPr sz="1750" spc="145" dirty="0">
                <a:latin typeface="Calibri" panose="020F0502020204030204"/>
                <a:cs typeface="Calibri" panose="020F0502020204030204"/>
              </a:rPr>
              <a:t> </a:t>
            </a:r>
            <a:r>
              <a:rPr sz="1750" spc="-5" dirty="0">
                <a:latin typeface="Calibri" panose="020F0502020204030204"/>
                <a:cs typeface="Calibri" panose="020F0502020204030204"/>
              </a:rPr>
              <a:t>but</a:t>
            </a:r>
            <a:r>
              <a:rPr sz="1750" spc="145" dirty="0">
                <a:latin typeface="Calibri" panose="020F0502020204030204"/>
                <a:cs typeface="Calibri" panose="020F0502020204030204"/>
              </a:rPr>
              <a:t> </a:t>
            </a:r>
            <a:r>
              <a:rPr sz="1750" spc="-5" dirty="0">
                <a:latin typeface="Calibri" panose="020F0502020204030204"/>
                <a:cs typeface="Calibri" panose="020F0502020204030204"/>
              </a:rPr>
              <a:t>they</a:t>
            </a:r>
            <a:r>
              <a:rPr sz="1750" spc="140" dirty="0">
                <a:latin typeface="Calibri" panose="020F0502020204030204"/>
                <a:cs typeface="Calibri" panose="020F0502020204030204"/>
              </a:rPr>
              <a:t> </a:t>
            </a:r>
            <a:r>
              <a:rPr sz="1750" spc="-5" dirty="0">
                <a:latin typeface="Calibri" panose="020F0502020204030204"/>
                <a:cs typeface="Calibri" panose="020F0502020204030204"/>
              </a:rPr>
              <a:t>contain</a:t>
            </a:r>
            <a:r>
              <a:rPr sz="1750" spc="145" dirty="0">
                <a:latin typeface="Calibri" panose="020F0502020204030204"/>
                <a:cs typeface="Calibri" panose="020F0502020204030204"/>
              </a:rPr>
              <a:t> </a:t>
            </a:r>
            <a:r>
              <a:rPr sz="1750" spc="-5" dirty="0">
                <a:latin typeface="Calibri" panose="020F0502020204030204"/>
                <a:cs typeface="Calibri" panose="020F0502020204030204"/>
              </a:rPr>
              <a:t>only</a:t>
            </a:r>
            <a:r>
              <a:rPr sz="1750" spc="145" dirty="0">
                <a:latin typeface="Calibri" panose="020F0502020204030204"/>
                <a:cs typeface="Calibri" panose="020F0502020204030204"/>
              </a:rPr>
              <a:t> </a:t>
            </a:r>
            <a:r>
              <a:rPr sz="1750" dirty="0">
                <a:latin typeface="Calibri" panose="020F0502020204030204"/>
                <a:cs typeface="Calibri" panose="020F0502020204030204"/>
              </a:rPr>
              <a:t>a</a:t>
            </a:r>
            <a:r>
              <a:rPr sz="1750" spc="145" dirty="0">
                <a:latin typeface="Calibri" panose="020F0502020204030204"/>
                <a:cs typeface="Calibri" panose="020F0502020204030204"/>
              </a:rPr>
              <a:t> </a:t>
            </a:r>
            <a:r>
              <a:rPr sz="1750" spc="-5" dirty="0">
                <a:latin typeface="Calibri" panose="020F0502020204030204"/>
                <a:cs typeface="Calibri" panose="020F0502020204030204"/>
              </a:rPr>
              <a:t>single</a:t>
            </a:r>
            <a:r>
              <a:rPr sz="1750" spc="145" dirty="0">
                <a:latin typeface="Calibri" panose="020F0502020204030204"/>
                <a:cs typeface="Calibri" panose="020F0502020204030204"/>
              </a:rPr>
              <a:t> </a:t>
            </a:r>
            <a:r>
              <a:rPr sz="1750" spc="-5" dirty="0">
                <a:latin typeface="Calibri" panose="020F0502020204030204"/>
                <a:cs typeface="Calibri" panose="020F0502020204030204"/>
              </a:rPr>
              <a:t>expression.</a:t>
            </a:r>
            <a:r>
              <a:rPr sz="1750" spc="145" dirty="0">
                <a:latin typeface="Calibri" panose="020F0502020204030204"/>
                <a:cs typeface="Calibri" panose="020F0502020204030204"/>
              </a:rPr>
              <a:t> </a:t>
            </a:r>
            <a:r>
              <a:rPr sz="1750" spc="-5" dirty="0">
                <a:latin typeface="Calibri" panose="020F0502020204030204"/>
                <a:cs typeface="Calibri" panose="020F0502020204030204"/>
              </a:rPr>
              <a:t>An</a:t>
            </a:r>
            <a:r>
              <a:rPr sz="1750" spc="140" dirty="0">
                <a:latin typeface="Calibri" panose="020F0502020204030204"/>
                <a:cs typeface="Calibri" panose="020F0502020204030204"/>
              </a:rPr>
              <a:t> </a:t>
            </a:r>
            <a:r>
              <a:rPr sz="1750" spc="-5" dirty="0">
                <a:latin typeface="Calibri" panose="020F0502020204030204"/>
                <a:cs typeface="Calibri" panose="020F0502020204030204"/>
              </a:rPr>
              <a:t>expression</a:t>
            </a:r>
            <a:r>
              <a:rPr sz="1750" spc="145" dirty="0">
                <a:latin typeface="Calibri" panose="020F0502020204030204"/>
                <a:cs typeface="Calibri" panose="020F0502020204030204"/>
              </a:rPr>
              <a:t> </a:t>
            </a:r>
            <a:r>
              <a:rPr sz="1750" spc="-5" dirty="0">
                <a:latin typeface="Calibri" panose="020F0502020204030204"/>
                <a:cs typeface="Calibri" panose="020F0502020204030204"/>
              </a:rPr>
              <a:t>is</a:t>
            </a:r>
            <a:r>
              <a:rPr sz="1750" spc="145" dirty="0">
                <a:latin typeface="Calibri" panose="020F0502020204030204"/>
                <a:cs typeface="Calibri" panose="020F0502020204030204"/>
              </a:rPr>
              <a:t> </a:t>
            </a:r>
            <a:r>
              <a:rPr sz="1750" dirty="0">
                <a:latin typeface="Calibri" panose="020F0502020204030204"/>
                <a:cs typeface="Calibri" panose="020F0502020204030204"/>
              </a:rPr>
              <a:t>a</a:t>
            </a:r>
            <a:r>
              <a:rPr sz="1750" spc="145" dirty="0">
                <a:latin typeface="Calibri" panose="020F0502020204030204"/>
                <a:cs typeface="Calibri" panose="020F0502020204030204"/>
              </a:rPr>
              <a:t> </a:t>
            </a:r>
            <a:r>
              <a:rPr sz="1750" spc="-5" dirty="0">
                <a:latin typeface="Calibri" panose="020F0502020204030204"/>
                <a:cs typeface="Calibri" panose="020F0502020204030204"/>
              </a:rPr>
              <a:t>piece</a:t>
            </a:r>
            <a:r>
              <a:rPr sz="1750" spc="145" dirty="0">
                <a:latin typeface="Calibri" panose="020F0502020204030204"/>
                <a:cs typeface="Calibri" panose="020F0502020204030204"/>
              </a:rPr>
              <a:t> </a:t>
            </a:r>
            <a:r>
              <a:rPr sz="1750" spc="-5" dirty="0">
                <a:latin typeface="Calibri" panose="020F0502020204030204"/>
                <a:cs typeface="Calibri" panose="020F0502020204030204"/>
              </a:rPr>
              <a:t>of </a:t>
            </a:r>
            <a:r>
              <a:rPr sz="1750" spc="-385" dirty="0">
                <a:latin typeface="Calibri" panose="020F0502020204030204"/>
                <a:cs typeface="Calibri" panose="020F0502020204030204"/>
              </a:rPr>
              <a:t> </a:t>
            </a:r>
            <a:r>
              <a:rPr sz="1750" spc="-5" dirty="0">
                <a:latin typeface="Calibri" panose="020F0502020204030204"/>
                <a:cs typeface="Calibri" panose="020F0502020204030204"/>
              </a:rPr>
              <a:t>code</a:t>
            </a:r>
            <a:r>
              <a:rPr sz="1750" spc="-10" dirty="0">
                <a:latin typeface="Calibri" panose="020F0502020204030204"/>
                <a:cs typeface="Calibri" panose="020F0502020204030204"/>
              </a:rPr>
              <a:t> </a:t>
            </a:r>
            <a:r>
              <a:rPr sz="1750" spc="-5" dirty="0">
                <a:latin typeface="Calibri" panose="020F0502020204030204"/>
                <a:cs typeface="Calibri" panose="020F0502020204030204"/>
              </a:rPr>
              <a:t>executed by the lambda function, which may or may not return </a:t>
            </a:r>
            <a:r>
              <a:rPr sz="1750" dirty="0">
                <a:latin typeface="Calibri" panose="020F0502020204030204"/>
                <a:cs typeface="Calibri" panose="020F0502020204030204"/>
              </a:rPr>
              <a:t>any</a:t>
            </a:r>
            <a:r>
              <a:rPr sz="1750" spc="-10" dirty="0">
                <a:latin typeface="Calibri" panose="020F0502020204030204"/>
                <a:cs typeface="Calibri" panose="020F0502020204030204"/>
              </a:rPr>
              <a:t> </a:t>
            </a:r>
            <a:r>
              <a:rPr sz="1750" spc="-5" dirty="0">
                <a:latin typeface="Calibri" panose="020F0502020204030204"/>
                <a:cs typeface="Calibri" panose="020F0502020204030204"/>
              </a:rPr>
              <a:t>value.</a:t>
            </a:r>
            <a:endParaRPr sz="1750">
              <a:latin typeface="Calibri" panose="020F0502020204030204"/>
              <a:cs typeface="Calibri" panose="020F0502020204030204"/>
            </a:endParaRPr>
          </a:p>
          <a:p>
            <a:pPr marL="298450" indent="-252730">
              <a:lnSpc>
                <a:spcPct val="100000"/>
              </a:lnSpc>
              <a:spcBef>
                <a:spcPts val="1050"/>
              </a:spcBef>
              <a:buFont typeface="Arial MT"/>
              <a:buChar char="•"/>
              <a:tabLst>
                <a:tab pos="297815" algn="l"/>
                <a:tab pos="298450" algn="l"/>
              </a:tabLst>
            </a:pPr>
            <a:r>
              <a:rPr sz="1750" spc="-5" dirty="0">
                <a:latin typeface="Calibri" panose="020F0502020204030204"/>
                <a:cs typeface="Calibri" panose="020F0502020204030204"/>
              </a:rPr>
              <a:t>Lambda</a:t>
            </a:r>
            <a:r>
              <a:rPr sz="1750" spc="-15" dirty="0">
                <a:latin typeface="Calibri" panose="020F0502020204030204"/>
                <a:cs typeface="Calibri" panose="020F0502020204030204"/>
              </a:rPr>
              <a:t> </a:t>
            </a:r>
            <a:r>
              <a:rPr sz="1750" spc="-5" dirty="0">
                <a:latin typeface="Calibri" panose="020F0502020204030204"/>
                <a:cs typeface="Calibri" panose="020F0502020204030204"/>
              </a:rPr>
              <a:t>functions</a:t>
            </a:r>
            <a:r>
              <a:rPr sz="1750" spc="-10" dirty="0">
                <a:latin typeface="Calibri" panose="020F0502020204030204"/>
                <a:cs typeface="Calibri" panose="020F0502020204030204"/>
              </a:rPr>
              <a:t> </a:t>
            </a:r>
            <a:r>
              <a:rPr sz="1750" spc="-5" dirty="0">
                <a:latin typeface="Calibri" panose="020F0502020204030204"/>
                <a:cs typeface="Calibri" panose="020F0502020204030204"/>
              </a:rPr>
              <a:t>can</a:t>
            </a:r>
            <a:r>
              <a:rPr sz="1750" spc="-10" dirty="0">
                <a:latin typeface="Calibri" panose="020F0502020204030204"/>
                <a:cs typeface="Calibri" panose="020F0502020204030204"/>
              </a:rPr>
              <a:t> </a:t>
            </a:r>
            <a:r>
              <a:rPr sz="1750" spc="-5" dirty="0">
                <a:latin typeface="Calibri" panose="020F0502020204030204"/>
                <a:cs typeface="Calibri" panose="020F0502020204030204"/>
              </a:rPr>
              <a:t>be</a:t>
            </a:r>
            <a:r>
              <a:rPr sz="1750" spc="-15" dirty="0">
                <a:latin typeface="Calibri" panose="020F0502020204030204"/>
                <a:cs typeface="Calibri" panose="020F0502020204030204"/>
              </a:rPr>
              <a:t> </a:t>
            </a:r>
            <a:r>
              <a:rPr sz="1750" spc="-5" dirty="0">
                <a:latin typeface="Calibri" panose="020F0502020204030204"/>
                <a:cs typeface="Calibri" panose="020F0502020204030204"/>
              </a:rPr>
              <a:t>used</a:t>
            </a:r>
            <a:r>
              <a:rPr sz="1750" spc="-10" dirty="0">
                <a:latin typeface="Calibri" panose="020F0502020204030204"/>
                <a:cs typeface="Calibri" panose="020F0502020204030204"/>
              </a:rPr>
              <a:t> </a:t>
            </a:r>
            <a:r>
              <a:rPr sz="1750" spc="-5" dirty="0">
                <a:latin typeface="Calibri" panose="020F0502020204030204"/>
                <a:cs typeface="Calibri" panose="020F0502020204030204"/>
              </a:rPr>
              <a:t>to</a:t>
            </a:r>
            <a:r>
              <a:rPr sz="1750" spc="-10" dirty="0">
                <a:latin typeface="Calibri" panose="020F0502020204030204"/>
                <a:cs typeface="Calibri" panose="020F0502020204030204"/>
              </a:rPr>
              <a:t> </a:t>
            </a:r>
            <a:r>
              <a:rPr sz="1750" spc="-5" dirty="0">
                <a:latin typeface="Calibri" panose="020F0502020204030204"/>
                <a:cs typeface="Calibri" panose="020F0502020204030204"/>
              </a:rPr>
              <a:t>return</a:t>
            </a:r>
            <a:r>
              <a:rPr sz="1750" spc="-10"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15" dirty="0">
                <a:latin typeface="Calibri" panose="020F0502020204030204"/>
                <a:cs typeface="Calibri" panose="020F0502020204030204"/>
              </a:rPr>
              <a:t> </a:t>
            </a:r>
            <a:r>
              <a:rPr sz="1750" spc="-5" dirty="0">
                <a:latin typeface="Calibri" panose="020F0502020204030204"/>
                <a:cs typeface="Calibri" panose="020F0502020204030204"/>
              </a:rPr>
              <a:t>objects.</a:t>
            </a:r>
            <a:endParaRPr sz="1750">
              <a:latin typeface="Calibri" panose="020F0502020204030204"/>
              <a:cs typeface="Calibri" panose="020F0502020204030204"/>
            </a:endParaRPr>
          </a:p>
          <a:p>
            <a:pPr marL="298450" indent="-252730">
              <a:lnSpc>
                <a:spcPct val="100000"/>
              </a:lnSpc>
              <a:spcBef>
                <a:spcPts val="1050"/>
              </a:spcBef>
              <a:buFont typeface="Arial MT"/>
              <a:buChar char="•"/>
              <a:tabLst>
                <a:tab pos="297815" algn="l"/>
                <a:tab pos="298450" algn="l"/>
              </a:tabLst>
            </a:pPr>
            <a:r>
              <a:rPr sz="1750" spc="-5" dirty="0">
                <a:latin typeface="Calibri" panose="020F0502020204030204"/>
                <a:cs typeface="Calibri" panose="020F0502020204030204"/>
              </a:rPr>
              <a:t>Syntactically,</a:t>
            </a:r>
            <a:r>
              <a:rPr sz="1750" spc="-15" dirty="0">
                <a:latin typeface="Calibri" panose="020F0502020204030204"/>
                <a:cs typeface="Calibri" panose="020F0502020204030204"/>
              </a:rPr>
              <a:t> </a:t>
            </a:r>
            <a:r>
              <a:rPr sz="1750" spc="-5" dirty="0">
                <a:latin typeface="Calibri" panose="020F0502020204030204"/>
                <a:cs typeface="Calibri" panose="020F0502020204030204"/>
              </a:rPr>
              <a:t>lambda</a:t>
            </a:r>
            <a:r>
              <a:rPr sz="1750" spc="-10" dirty="0">
                <a:latin typeface="Calibri" panose="020F0502020204030204"/>
                <a:cs typeface="Calibri" panose="020F0502020204030204"/>
              </a:rPr>
              <a:t> </a:t>
            </a:r>
            <a:r>
              <a:rPr sz="1750" spc="-5" dirty="0">
                <a:latin typeface="Calibri" panose="020F0502020204030204"/>
                <a:cs typeface="Calibri" panose="020F0502020204030204"/>
              </a:rPr>
              <a:t>functions</a:t>
            </a:r>
            <a:r>
              <a:rPr sz="1750" spc="-10" dirty="0">
                <a:latin typeface="Calibri" panose="020F0502020204030204"/>
                <a:cs typeface="Calibri" panose="020F0502020204030204"/>
              </a:rPr>
              <a:t> </a:t>
            </a:r>
            <a:r>
              <a:rPr sz="1750" dirty="0">
                <a:latin typeface="Calibri" panose="020F0502020204030204"/>
                <a:cs typeface="Calibri" panose="020F0502020204030204"/>
              </a:rPr>
              <a:t>are</a:t>
            </a:r>
            <a:r>
              <a:rPr sz="1750" spc="-10" dirty="0">
                <a:latin typeface="Calibri" panose="020F0502020204030204"/>
                <a:cs typeface="Calibri" panose="020F0502020204030204"/>
              </a:rPr>
              <a:t> </a:t>
            </a:r>
            <a:r>
              <a:rPr sz="1750" spc="-5" dirty="0">
                <a:latin typeface="Calibri" panose="020F0502020204030204"/>
                <a:cs typeface="Calibri" panose="020F0502020204030204"/>
              </a:rPr>
              <a:t>restricted</a:t>
            </a:r>
            <a:r>
              <a:rPr sz="1750" spc="-15" dirty="0">
                <a:latin typeface="Calibri" panose="020F0502020204030204"/>
                <a:cs typeface="Calibri" panose="020F0502020204030204"/>
              </a:rPr>
              <a:t> </a:t>
            </a:r>
            <a:r>
              <a:rPr sz="1750" spc="-5" dirty="0">
                <a:latin typeface="Calibri" panose="020F0502020204030204"/>
                <a:cs typeface="Calibri" panose="020F0502020204030204"/>
              </a:rPr>
              <a:t>to</a:t>
            </a:r>
            <a:r>
              <a:rPr sz="1750" spc="-10" dirty="0">
                <a:latin typeface="Calibri" panose="020F0502020204030204"/>
                <a:cs typeface="Calibri" panose="020F0502020204030204"/>
              </a:rPr>
              <a:t> </a:t>
            </a:r>
            <a:r>
              <a:rPr sz="1750" spc="-5" dirty="0">
                <a:latin typeface="Calibri" panose="020F0502020204030204"/>
                <a:cs typeface="Calibri" panose="020F0502020204030204"/>
              </a:rPr>
              <a:t>only</a:t>
            </a:r>
            <a:r>
              <a:rPr sz="1750" spc="-10" dirty="0">
                <a:latin typeface="Calibri" panose="020F0502020204030204"/>
                <a:cs typeface="Calibri" panose="020F0502020204030204"/>
              </a:rPr>
              <a:t> </a:t>
            </a:r>
            <a:r>
              <a:rPr sz="1750" dirty="0">
                <a:latin typeface="Calibri" panose="020F0502020204030204"/>
                <a:cs typeface="Calibri" panose="020F0502020204030204"/>
              </a:rPr>
              <a:t>a</a:t>
            </a:r>
            <a:r>
              <a:rPr sz="1750" spc="-10" dirty="0">
                <a:latin typeface="Calibri" panose="020F0502020204030204"/>
                <a:cs typeface="Calibri" panose="020F0502020204030204"/>
              </a:rPr>
              <a:t> </a:t>
            </a:r>
            <a:r>
              <a:rPr sz="1750" spc="-5" dirty="0">
                <a:latin typeface="Calibri" panose="020F0502020204030204"/>
                <a:cs typeface="Calibri" panose="020F0502020204030204"/>
              </a:rPr>
              <a:t>single</a:t>
            </a:r>
            <a:r>
              <a:rPr sz="1750" spc="-15" dirty="0">
                <a:latin typeface="Calibri" panose="020F0502020204030204"/>
                <a:cs typeface="Calibri" panose="020F0502020204030204"/>
              </a:rPr>
              <a:t> </a:t>
            </a:r>
            <a:r>
              <a:rPr sz="1750" spc="-5" dirty="0">
                <a:latin typeface="Calibri" panose="020F0502020204030204"/>
                <a:cs typeface="Calibri" panose="020F0502020204030204"/>
              </a:rPr>
              <a:t>expression.</a:t>
            </a:r>
            <a:endParaRPr sz="1750">
              <a:latin typeface="Calibri" panose="020F0502020204030204"/>
              <a:cs typeface="Calibri" panose="020F0502020204030204"/>
            </a:endParaRPr>
          </a:p>
        </p:txBody>
      </p:sp>
      <p:sp>
        <p:nvSpPr>
          <p:cNvPr id="7" name="object 7"/>
          <p:cNvSpPr txBox="1"/>
          <p:nvPr/>
        </p:nvSpPr>
        <p:spPr>
          <a:xfrm>
            <a:off x="4208936" y="6042472"/>
            <a:ext cx="3423285" cy="269240"/>
          </a:xfrm>
          <a:prstGeom prst="rect">
            <a:avLst/>
          </a:prstGeom>
        </p:spPr>
        <p:txBody>
          <a:bodyPr vert="horz" wrap="square" lIns="0" tIns="12700" rIns="0" bIns="0" rtlCol="0">
            <a:spAutoFit/>
          </a:bodyPr>
          <a:lstStyle/>
          <a:p>
            <a:pPr marL="12700">
              <a:lnSpc>
                <a:spcPct val="100000"/>
              </a:lnSpc>
              <a:spcBef>
                <a:spcPts val="100"/>
              </a:spcBef>
            </a:pPr>
            <a:r>
              <a:rPr sz="1600" spc="-5" dirty="0">
                <a:latin typeface="Calibri" panose="020F0502020204030204"/>
                <a:cs typeface="Calibri" panose="020F0502020204030204"/>
              </a:rPr>
              <a:t>[(lambda</a:t>
            </a:r>
            <a:r>
              <a:rPr sz="1600" spc="-20" dirty="0">
                <a:latin typeface="Calibri" panose="020F0502020204030204"/>
                <a:cs typeface="Calibri" panose="020F0502020204030204"/>
              </a:rPr>
              <a:t> </a:t>
            </a:r>
            <a:r>
              <a:rPr sz="1600" spc="-5" dirty="0">
                <a:latin typeface="Calibri" panose="020F0502020204030204"/>
                <a:cs typeface="Calibri" panose="020F0502020204030204"/>
              </a:rPr>
              <a:t>x:</a:t>
            </a:r>
            <a:r>
              <a:rPr sz="1600" spc="-15" dirty="0">
                <a:latin typeface="Calibri" panose="020F0502020204030204"/>
                <a:cs typeface="Calibri" panose="020F0502020204030204"/>
              </a:rPr>
              <a:t> </a:t>
            </a:r>
            <a:r>
              <a:rPr sz="1600" spc="-5" dirty="0">
                <a:latin typeface="Calibri" panose="020F0502020204030204"/>
                <a:cs typeface="Calibri" panose="020F0502020204030204"/>
              </a:rPr>
              <a:t>x*x)(x)</a:t>
            </a:r>
            <a:r>
              <a:rPr sz="1600" spc="-15" dirty="0">
                <a:latin typeface="Calibri" panose="020F0502020204030204"/>
                <a:cs typeface="Calibri" panose="020F0502020204030204"/>
              </a:rPr>
              <a:t> </a:t>
            </a:r>
            <a:r>
              <a:rPr sz="1600" spc="-5" dirty="0">
                <a:latin typeface="Calibri" panose="020F0502020204030204"/>
                <a:cs typeface="Calibri" panose="020F0502020204030204"/>
              </a:rPr>
              <a:t>for</a:t>
            </a:r>
            <a:r>
              <a:rPr sz="1600" spc="-15" dirty="0">
                <a:latin typeface="Calibri" panose="020F0502020204030204"/>
                <a:cs typeface="Calibri" panose="020F0502020204030204"/>
              </a:rPr>
              <a:t> </a:t>
            </a:r>
            <a:r>
              <a:rPr sz="1600" dirty="0">
                <a:latin typeface="Calibri" panose="020F0502020204030204"/>
                <a:cs typeface="Calibri" panose="020F0502020204030204"/>
              </a:rPr>
              <a:t>x</a:t>
            </a:r>
            <a:r>
              <a:rPr sz="1600" spc="-20" dirty="0">
                <a:latin typeface="Calibri" panose="020F0502020204030204"/>
                <a:cs typeface="Calibri" panose="020F0502020204030204"/>
              </a:rPr>
              <a:t> </a:t>
            </a:r>
            <a:r>
              <a:rPr sz="1600" spc="-5" dirty="0">
                <a:latin typeface="Calibri" panose="020F0502020204030204"/>
                <a:cs typeface="Calibri" panose="020F0502020204030204"/>
              </a:rPr>
              <a:t>in</a:t>
            </a:r>
            <a:r>
              <a:rPr sz="1600" spc="-15" dirty="0">
                <a:latin typeface="Calibri" panose="020F0502020204030204"/>
                <a:cs typeface="Calibri" panose="020F0502020204030204"/>
              </a:rPr>
              <a:t> </a:t>
            </a:r>
            <a:r>
              <a:rPr sz="1600" spc="-5" dirty="0">
                <a:latin typeface="Calibri" panose="020F0502020204030204"/>
                <a:cs typeface="Calibri" panose="020F0502020204030204"/>
              </a:rPr>
              <a:t>[2,6,9,3,6,4,8]]</a:t>
            </a:r>
            <a:endParaRPr sz="1600" dirty="0">
              <a:latin typeface="Calibri" panose="020F0502020204030204"/>
              <a:cs typeface="Calibri" panose="020F0502020204030204"/>
            </a:endParaRPr>
          </a:p>
        </p:txBody>
      </p:sp>
      <p:sp>
        <p:nvSpPr>
          <p:cNvPr id="8" name="object 8"/>
          <p:cNvSpPr txBox="1"/>
          <p:nvPr/>
        </p:nvSpPr>
        <p:spPr>
          <a:xfrm>
            <a:off x="94136" y="5239824"/>
            <a:ext cx="3389629" cy="1320165"/>
          </a:xfrm>
          <a:prstGeom prst="rect">
            <a:avLst/>
          </a:prstGeom>
        </p:spPr>
        <p:txBody>
          <a:bodyPr vert="horz" wrap="square" lIns="0" tIns="33655" rIns="0" bIns="0" rtlCol="0">
            <a:spAutoFit/>
          </a:bodyPr>
          <a:lstStyle/>
          <a:p>
            <a:pPr marL="12700">
              <a:lnSpc>
                <a:spcPct val="100000"/>
              </a:lnSpc>
              <a:spcBef>
                <a:spcPts val="265"/>
              </a:spcBef>
            </a:pPr>
            <a:r>
              <a:rPr sz="1750" b="1" spc="-5" dirty="0">
                <a:latin typeface="Calibri" panose="020F0502020204030204"/>
                <a:cs typeface="Calibri" panose="020F0502020204030204"/>
              </a:rPr>
              <a:t>Syntax:</a:t>
            </a:r>
            <a:endParaRPr sz="1750" dirty="0">
              <a:latin typeface="Calibri" panose="020F0502020204030204"/>
              <a:cs typeface="Calibri" panose="020F0502020204030204"/>
            </a:endParaRPr>
          </a:p>
          <a:p>
            <a:pPr marL="469900">
              <a:lnSpc>
                <a:spcPct val="100000"/>
              </a:lnSpc>
              <a:spcBef>
                <a:spcPts val="150"/>
              </a:spcBef>
            </a:pPr>
            <a:r>
              <a:rPr sz="1600" spc="-5" dirty="0">
                <a:latin typeface="Calibri" panose="020F0502020204030204"/>
                <a:cs typeface="Calibri" panose="020F0502020204030204"/>
              </a:rPr>
              <a:t>lambda</a:t>
            </a:r>
            <a:r>
              <a:rPr sz="1600" spc="-35" dirty="0">
                <a:latin typeface="Calibri" panose="020F0502020204030204"/>
                <a:cs typeface="Calibri" panose="020F0502020204030204"/>
              </a:rPr>
              <a:t> </a:t>
            </a:r>
            <a:r>
              <a:rPr sz="1600" dirty="0">
                <a:latin typeface="Calibri" panose="020F0502020204030204"/>
                <a:cs typeface="Calibri" panose="020F0502020204030204"/>
              </a:rPr>
              <a:t>argument(s):</a:t>
            </a:r>
            <a:r>
              <a:rPr sz="1600" spc="-30" dirty="0">
                <a:latin typeface="Calibri" panose="020F0502020204030204"/>
                <a:cs typeface="Calibri" panose="020F0502020204030204"/>
              </a:rPr>
              <a:t> </a:t>
            </a:r>
            <a:r>
              <a:rPr sz="1600" spc="-5" dirty="0">
                <a:latin typeface="Calibri" panose="020F0502020204030204"/>
                <a:cs typeface="Calibri" panose="020F0502020204030204"/>
              </a:rPr>
              <a:t>expression</a:t>
            </a:r>
            <a:endParaRPr sz="1600" dirty="0">
              <a:latin typeface="Calibri" panose="020F0502020204030204"/>
              <a:cs typeface="Calibri" panose="020F0502020204030204"/>
            </a:endParaRPr>
          </a:p>
          <a:p>
            <a:pPr marL="12700">
              <a:lnSpc>
                <a:spcPct val="100000"/>
              </a:lnSpc>
              <a:spcBef>
                <a:spcPts val="35"/>
              </a:spcBef>
            </a:pPr>
            <a:r>
              <a:rPr sz="1600" b="1" spc="-5" dirty="0">
                <a:latin typeface="Calibri" panose="020F0502020204030204"/>
                <a:cs typeface="Calibri" panose="020F0502020204030204"/>
              </a:rPr>
              <a:t>Example:</a:t>
            </a:r>
            <a:endParaRPr sz="1600" dirty="0">
              <a:latin typeface="Calibri" panose="020F0502020204030204"/>
              <a:cs typeface="Calibri" panose="020F0502020204030204"/>
            </a:endParaRPr>
          </a:p>
          <a:p>
            <a:pPr marL="469900" marR="5080">
              <a:lnSpc>
                <a:spcPct val="102000"/>
              </a:lnSpc>
            </a:pPr>
            <a:r>
              <a:rPr sz="1600" spc="-5" dirty="0">
                <a:latin typeface="Calibri" panose="020F0502020204030204"/>
                <a:cs typeface="Calibri" panose="020F0502020204030204"/>
              </a:rPr>
              <a:t>remainder</a:t>
            </a:r>
            <a:r>
              <a:rPr sz="1600" spc="-20" dirty="0">
                <a:latin typeface="Calibri" panose="020F0502020204030204"/>
                <a:cs typeface="Calibri" panose="020F0502020204030204"/>
              </a:rPr>
              <a:t> </a:t>
            </a:r>
            <a:r>
              <a:rPr sz="1600" dirty="0">
                <a:latin typeface="Calibri" panose="020F0502020204030204"/>
                <a:cs typeface="Calibri" panose="020F0502020204030204"/>
              </a:rPr>
              <a:t>=</a:t>
            </a:r>
            <a:r>
              <a:rPr sz="1600" spc="-20" dirty="0">
                <a:latin typeface="Calibri" panose="020F0502020204030204"/>
                <a:cs typeface="Calibri" panose="020F0502020204030204"/>
              </a:rPr>
              <a:t> </a:t>
            </a:r>
            <a:r>
              <a:rPr sz="1600" spc="-5" dirty="0">
                <a:latin typeface="Calibri" panose="020F0502020204030204"/>
                <a:cs typeface="Calibri" panose="020F0502020204030204"/>
              </a:rPr>
              <a:t>lambda</a:t>
            </a:r>
            <a:r>
              <a:rPr sz="1600" spc="-15" dirty="0">
                <a:latin typeface="Calibri" panose="020F0502020204030204"/>
                <a:cs typeface="Calibri" panose="020F0502020204030204"/>
              </a:rPr>
              <a:t> </a:t>
            </a:r>
            <a:r>
              <a:rPr sz="1600" spc="-5" dirty="0">
                <a:latin typeface="Calibri" panose="020F0502020204030204"/>
                <a:cs typeface="Calibri" panose="020F0502020204030204"/>
              </a:rPr>
              <a:t>num:</a:t>
            </a:r>
            <a:r>
              <a:rPr sz="1600" spc="-20" dirty="0">
                <a:latin typeface="Calibri" panose="020F0502020204030204"/>
                <a:cs typeface="Calibri" panose="020F0502020204030204"/>
              </a:rPr>
              <a:t> </a:t>
            </a:r>
            <a:r>
              <a:rPr sz="1600" spc="-5" dirty="0">
                <a:latin typeface="Calibri" panose="020F0502020204030204"/>
                <a:cs typeface="Calibri" panose="020F0502020204030204"/>
              </a:rPr>
              <a:t>num</a:t>
            </a:r>
            <a:r>
              <a:rPr sz="1600" spc="-15" dirty="0">
                <a:latin typeface="Calibri" panose="020F0502020204030204"/>
                <a:cs typeface="Calibri" panose="020F0502020204030204"/>
              </a:rPr>
              <a:t> </a:t>
            </a:r>
            <a:r>
              <a:rPr sz="1600" dirty="0">
                <a:latin typeface="Calibri" panose="020F0502020204030204"/>
                <a:cs typeface="Calibri" panose="020F0502020204030204"/>
              </a:rPr>
              <a:t>%</a:t>
            </a:r>
            <a:r>
              <a:rPr sz="1600" spc="-20" dirty="0">
                <a:latin typeface="Calibri" panose="020F0502020204030204"/>
                <a:cs typeface="Calibri" panose="020F0502020204030204"/>
              </a:rPr>
              <a:t> </a:t>
            </a:r>
            <a:r>
              <a:rPr sz="1600" dirty="0">
                <a:latin typeface="Calibri" panose="020F0502020204030204"/>
                <a:cs typeface="Calibri" panose="020F0502020204030204"/>
              </a:rPr>
              <a:t>2 </a:t>
            </a:r>
            <a:r>
              <a:rPr sz="1600" spc="-345" dirty="0">
                <a:latin typeface="Calibri" panose="020F0502020204030204"/>
                <a:cs typeface="Calibri" panose="020F0502020204030204"/>
              </a:rPr>
              <a:t> </a:t>
            </a:r>
            <a:r>
              <a:rPr sz="1600" spc="-5" dirty="0">
                <a:latin typeface="Calibri" panose="020F0502020204030204"/>
                <a:cs typeface="Calibri" panose="020F0502020204030204"/>
              </a:rPr>
              <a:t>print(remainder(5))</a:t>
            </a:r>
            <a:endParaRPr sz="1600" dirty="0">
              <a:latin typeface="Calibri" panose="020F0502020204030204"/>
              <a:cs typeface="Calibri" panose="020F0502020204030204"/>
            </a:endParaRPr>
          </a:p>
        </p:txBody>
      </p:sp>
      <p:sp>
        <p:nvSpPr>
          <p:cNvPr id="9" name="Slide Number Placeholder 8"/>
          <p:cNvSpPr>
            <a:spLocks noGrp="1"/>
          </p:cNvSpPr>
          <p:nvPr>
            <p:ph type="sldNum" sz="quarter" idx="7"/>
          </p:nvPr>
        </p:nvSpPr>
        <p:spPr/>
        <p:txBody>
          <a:bodyPr/>
          <a:lstStyle/>
          <a:p>
            <a:fld id="{B6F15528-21DE-4FAA-801E-634DDDAF4B2B}" type="slidenum">
              <a:rPr/>
              <a:t>21</a:t>
            </a:fld>
            <a:endParaRPr/>
          </a:p>
        </p:txBody>
      </p:sp>
      <p:sp>
        <p:nvSpPr>
          <p:cNvPr id="10" name="Footer Placeholder 9"/>
          <p:cNvSpPr>
            <a:spLocks noGrp="1"/>
          </p:cNvSpPr>
          <p:nvPr>
            <p:ph type="ftr" sz="quarter" idx="5"/>
          </p:nvPr>
        </p:nvSpPr>
        <p:spPr/>
        <p:txBody>
          <a:bodyPr/>
          <a:lstStyle/>
          <a:p>
            <a:r>
              <a:t>UNIT IV : Pythonic Programming Paradigm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19698"/>
            <a:ext cx="4367530"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Functional</a:t>
            </a:r>
            <a:r>
              <a:rPr spc="-3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Programming</a:t>
            </a:r>
            <a:r>
              <a:rPr spc="-30" dirty="0">
                <a:solidFill>
                  <a:srgbClr val="000000"/>
                </a:solidFill>
                <a:latin typeface="Calibri" panose="020F0502020204030204"/>
                <a:cs typeface="Calibri" panose="020F0502020204030204"/>
              </a:rPr>
              <a:t> </a:t>
            </a:r>
            <a:r>
              <a:rPr dirty="0">
                <a:solidFill>
                  <a:srgbClr val="000000"/>
                </a:solidFill>
                <a:latin typeface="Calibri" panose="020F0502020204030204"/>
                <a:cs typeface="Calibri" panose="020F0502020204030204"/>
              </a:rPr>
              <a:t>–</a:t>
            </a:r>
            <a:r>
              <a:rPr spc="-3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Closure</a:t>
            </a: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4"/>
            <a:ext cx="12105640" cy="5979795"/>
          </a:xfrm>
          <a:custGeom>
            <a:avLst/>
            <a:gdLst/>
            <a:ahLst/>
            <a:cxnLst/>
            <a:rect l="l" t="t" r="r" b="b"/>
            <a:pathLst>
              <a:path w="12105640" h="5979795">
                <a:moveTo>
                  <a:pt x="0" y="0"/>
                </a:moveTo>
                <a:lnTo>
                  <a:pt x="12105503" y="0"/>
                </a:lnTo>
                <a:lnTo>
                  <a:pt x="12105503" y="5979175"/>
                </a:lnTo>
                <a:lnTo>
                  <a:pt x="0" y="5979175"/>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94136" y="460061"/>
            <a:ext cx="11812270" cy="5985510"/>
          </a:xfrm>
          <a:prstGeom prst="rect">
            <a:avLst/>
          </a:prstGeom>
        </p:spPr>
        <p:txBody>
          <a:bodyPr vert="horz" wrap="square" lIns="0" tIns="12700" rIns="0" bIns="0" rtlCol="0">
            <a:spAutoFit/>
          </a:bodyPr>
          <a:lstStyle/>
          <a:p>
            <a:pPr marL="12700" marR="5080">
              <a:lnSpc>
                <a:spcPct val="150000"/>
              </a:lnSpc>
              <a:spcBef>
                <a:spcPts val="100"/>
              </a:spcBef>
            </a:pPr>
            <a:r>
              <a:rPr sz="1750" spc="-5" dirty="0">
                <a:latin typeface="Calibri" panose="020F0502020204030204"/>
                <a:cs typeface="Calibri" panose="020F0502020204030204"/>
              </a:rPr>
              <a:t>Basically,</a:t>
            </a:r>
            <a:r>
              <a:rPr sz="1750" spc="100" dirty="0">
                <a:latin typeface="Calibri" panose="020F0502020204030204"/>
                <a:cs typeface="Calibri" panose="020F0502020204030204"/>
              </a:rPr>
              <a:t> </a:t>
            </a:r>
            <a:r>
              <a:rPr sz="1750" spc="-5" dirty="0">
                <a:latin typeface="Calibri" panose="020F0502020204030204"/>
                <a:cs typeface="Calibri" panose="020F0502020204030204"/>
              </a:rPr>
              <a:t>the</a:t>
            </a:r>
            <a:r>
              <a:rPr sz="1750" spc="105" dirty="0">
                <a:latin typeface="Calibri" panose="020F0502020204030204"/>
                <a:cs typeface="Calibri" panose="020F0502020204030204"/>
              </a:rPr>
              <a:t> </a:t>
            </a:r>
            <a:r>
              <a:rPr sz="1750" spc="-5" dirty="0">
                <a:latin typeface="Calibri" panose="020F0502020204030204"/>
                <a:cs typeface="Calibri" panose="020F0502020204030204"/>
              </a:rPr>
              <a:t>method</a:t>
            </a:r>
            <a:r>
              <a:rPr sz="1750" spc="105" dirty="0">
                <a:latin typeface="Calibri" panose="020F0502020204030204"/>
                <a:cs typeface="Calibri" panose="020F0502020204030204"/>
              </a:rPr>
              <a:t> </a:t>
            </a:r>
            <a:r>
              <a:rPr sz="1750" spc="-5" dirty="0">
                <a:latin typeface="Calibri" panose="020F0502020204030204"/>
                <a:cs typeface="Calibri" panose="020F0502020204030204"/>
              </a:rPr>
              <a:t>of</a:t>
            </a:r>
            <a:r>
              <a:rPr sz="1750" spc="110" dirty="0">
                <a:latin typeface="Calibri" panose="020F0502020204030204"/>
                <a:cs typeface="Calibri" panose="020F0502020204030204"/>
              </a:rPr>
              <a:t> </a:t>
            </a:r>
            <a:r>
              <a:rPr sz="1750" spc="-5" dirty="0">
                <a:latin typeface="Calibri" panose="020F0502020204030204"/>
                <a:cs typeface="Calibri" panose="020F0502020204030204"/>
              </a:rPr>
              <a:t>binding</a:t>
            </a:r>
            <a:r>
              <a:rPr sz="1750" spc="110" dirty="0">
                <a:latin typeface="Calibri" panose="020F0502020204030204"/>
                <a:cs typeface="Calibri" panose="020F0502020204030204"/>
              </a:rPr>
              <a:t> </a:t>
            </a:r>
            <a:r>
              <a:rPr sz="1750" spc="-5" dirty="0">
                <a:latin typeface="Calibri" panose="020F0502020204030204"/>
                <a:cs typeface="Calibri" panose="020F0502020204030204"/>
              </a:rPr>
              <a:t>data</a:t>
            </a:r>
            <a:r>
              <a:rPr sz="1750" spc="110" dirty="0">
                <a:latin typeface="Calibri" panose="020F0502020204030204"/>
                <a:cs typeface="Calibri" panose="020F0502020204030204"/>
              </a:rPr>
              <a:t> </a:t>
            </a:r>
            <a:r>
              <a:rPr sz="1750" spc="-5" dirty="0">
                <a:latin typeface="Calibri" panose="020F0502020204030204"/>
                <a:cs typeface="Calibri" panose="020F0502020204030204"/>
              </a:rPr>
              <a:t>to</a:t>
            </a:r>
            <a:r>
              <a:rPr sz="1750" spc="105" dirty="0">
                <a:latin typeface="Calibri" panose="020F0502020204030204"/>
                <a:cs typeface="Calibri" panose="020F0502020204030204"/>
              </a:rPr>
              <a:t> </a:t>
            </a:r>
            <a:r>
              <a:rPr sz="1750" dirty="0">
                <a:latin typeface="Calibri" panose="020F0502020204030204"/>
                <a:cs typeface="Calibri" panose="020F0502020204030204"/>
              </a:rPr>
              <a:t>a</a:t>
            </a:r>
            <a:r>
              <a:rPr sz="1750" spc="105"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110" dirty="0">
                <a:latin typeface="Calibri" panose="020F0502020204030204"/>
                <a:cs typeface="Calibri" panose="020F0502020204030204"/>
              </a:rPr>
              <a:t> </a:t>
            </a:r>
            <a:r>
              <a:rPr sz="1750" spc="-5" dirty="0">
                <a:latin typeface="Calibri" panose="020F0502020204030204"/>
                <a:cs typeface="Calibri" panose="020F0502020204030204"/>
              </a:rPr>
              <a:t>without</a:t>
            </a:r>
            <a:r>
              <a:rPr sz="1750" spc="105" dirty="0">
                <a:latin typeface="Calibri" panose="020F0502020204030204"/>
                <a:cs typeface="Calibri" panose="020F0502020204030204"/>
              </a:rPr>
              <a:t> </a:t>
            </a:r>
            <a:r>
              <a:rPr sz="1750" dirty="0">
                <a:latin typeface="Calibri" panose="020F0502020204030204"/>
                <a:cs typeface="Calibri" panose="020F0502020204030204"/>
              </a:rPr>
              <a:t>actually</a:t>
            </a:r>
            <a:r>
              <a:rPr sz="1750" spc="110" dirty="0">
                <a:latin typeface="Calibri" panose="020F0502020204030204"/>
                <a:cs typeface="Calibri" panose="020F0502020204030204"/>
              </a:rPr>
              <a:t> </a:t>
            </a:r>
            <a:r>
              <a:rPr sz="1750" spc="-5" dirty="0">
                <a:latin typeface="Calibri" panose="020F0502020204030204"/>
                <a:cs typeface="Calibri" panose="020F0502020204030204"/>
              </a:rPr>
              <a:t>passing</a:t>
            </a:r>
            <a:r>
              <a:rPr sz="1750" spc="110" dirty="0">
                <a:latin typeface="Calibri" panose="020F0502020204030204"/>
                <a:cs typeface="Calibri" panose="020F0502020204030204"/>
              </a:rPr>
              <a:t> </a:t>
            </a:r>
            <a:r>
              <a:rPr sz="1750" spc="-5" dirty="0">
                <a:latin typeface="Calibri" panose="020F0502020204030204"/>
                <a:cs typeface="Calibri" panose="020F0502020204030204"/>
              </a:rPr>
              <a:t>them</a:t>
            </a:r>
            <a:r>
              <a:rPr sz="1750" spc="105" dirty="0">
                <a:latin typeface="Calibri" panose="020F0502020204030204"/>
                <a:cs typeface="Calibri" panose="020F0502020204030204"/>
              </a:rPr>
              <a:t> </a:t>
            </a:r>
            <a:r>
              <a:rPr sz="1750" dirty="0">
                <a:latin typeface="Calibri" panose="020F0502020204030204"/>
                <a:cs typeface="Calibri" panose="020F0502020204030204"/>
              </a:rPr>
              <a:t>as</a:t>
            </a:r>
            <a:r>
              <a:rPr sz="1750" spc="110" dirty="0">
                <a:latin typeface="Calibri" panose="020F0502020204030204"/>
                <a:cs typeface="Calibri" panose="020F0502020204030204"/>
              </a:rPr>
              <a:t> </a:t>
            </a:r>
            <a:r>
              <a:rPr sz="1750" spc="-5" dirty="0">
                <a:latin typeface="Calibri" panose="020F0502020204030204"/>
                <a:cs typeface="Calibri" panose="020F0502020204030204"/>
              </a:rPr>
              <a:t>parameters</a:t>
            </a:r>
            <a:r>
              <a:rPr sz="1750" spc="105" dirty="0">
                <a:latin typeface="Calibri" panose="020F0502020204030204"/>
                <a:cs typeface="Calibri" panose="020F0502020204030204"/>
              </a:rPr>
              <a:t> </a:t>
            </a:r>
            <a:r>
              <a:rPr sz="1750" spc="-5" dirty="0">
                <a:latin typeface="Calibri" panose="020F0502020204030204"/>
                <a:cs typeface="Calibri" panose="020F0502020204030204"/>
              </a:rPr>
              <a:t>is</a:t>
            </a:r>
            <a:r>
              <a:rPr sz="1750" spc="110" dirty="0">
                <a:latin typeface="Calibri" panose="020F0502020204030204"/>
                <a:cs typeface="Calibri" panose="020F0502020204030204"/>
              </a:rPr>
              <a:t> </a:t>
            </a:r>
            <a:r>
              <a:rPr sz="1750" spc="-5" dirty="0">
                <a:latin typeface="Calibri" panose="020F0502020204030204"/>
                <a:cs typeface="Calibri" panose="020F0502020204030204"/>
              </a:rPr>
              <a:t>called</a:t>
            </a:r>
            <a:r>
              <a:rPr sz="1750" spc="105" dirty="0">
                <a:latin typeface="Calibri" panose="020F0502020204030204"/>
                <a:cs typeface="Calibri" panose="020F0502020204030204"/>
              </a:rPr>
              <a:t> </a:t>
            </a:r>
            <a:r>
              <a:rPr sz="1750" spc="-5" dirty="0">
                <a:latin typeface="Calibri" panose="020F0502020204030204"/>
                <a:cs typeface="Calibri" panose="020F0502020204030204"/>
              </a:rPr>
              <a:t>closure.</a:t>
            </a:r>
            <a:r>
              <a:rPr sz="1750" spc="105" dirty="0">
                <a:latin typeface="Calibri" panose="020F0502020204030204"/>
                <a:cs typeface="Calibri" panose="020F0502020204030204"/>
              </a:rPr>
              <a:t> </a:t>
            </a:r>
            <a:r>
              <a:rPr sz="1750" spc="-5" dirty="0">
                <a:latin typeface="Calibri" panose="020F0502020204030204"/>
                <a:cs typeface="Calibri" panose="020F0502020204030204"/>
              </a:rPr>
              <a:t>It</a:t>
            </a:r>
            <a:r>
              <a:rPr sz="1750" spc="105" dirty="0">
                <a:latin typeface="Calibri" panose="020F0502020204030204"/>
                <a:cs typeface="Calibri" panose="020F0502020204030204"/>
              </a:rPr>
              <a:t> </a:t>
            </a:r>
            <a:r>
              <a:rPr sz="1750" spc="-5" dirty="0">
                <a:latin typeface="Calibri" panose="020F0502020204030204"/>
                <a:cs typeface="Calibri" panose="020F0502020204030204"/>
              </a:rPr>
              <a:t>is</a:t>
            </a:r>
            <a:r>
              <a:rPr sz="1750" spc="110" dirty="0">
                <a:latin typeface="Calibri" panose="020F0502020204030204"/>
                <a:cs typeface="Calibri" panose="020F0502020204030204"/>
              </a:rPr>
              <a:t> </a:t>
            </a:r>
            <a:r>
              <a:rPr sz="1750" dirty="0">
                <a:latin typeface="Calibri" panose="020F0502020204030204"/>
                <a:cs typeface="Calibri" panose="020F0502020204030204"/>
              </a:rPr>
              <a:t>a</a:t>
            </a:r>
            <a:r>
              <a:rPr sz="1750" spc="110" dirty="0">
                <a:latin typeface="Calibri" panose="020F0502020204030204"/>
                <a:cs typeface="Calibri" panose="020F0502020204030204"/>
              </a:rPr>
              <a:t> </a:t>
            </a:r>
            <a:r>
              <a:rPr sz="1750" spc="-5" dirty="0">
                <a:latin typeface="Calibri" panose="020F0502020204030204"/>
                <a:cs typeface="Calibri" panose="020F0502020204030204"/>
              </a:rPr>
              <a:t>function </a:t>
            </a:r>
            <a:r>
              <a:rPr sz="1750" spc="-385" dirty="0">
                <a:latin typeface="Calibri" panose="020F0502020204030204"/>
                <a:cs typeface="Calibri" panose="020F0502020204030204"/>
              </a:rPr>
              <a:t> </a:t>
            </a:r>
            <a:r>
              <a:rPr sz="1750" spc="-5" dirty="0">
                <a:latin typeface="Calibri" panose="020F0502020204030204"/>
                <a:cs typeface="Calibri" panose="020F0502020204030204"/>
              </a:rPr>
              <a:t>object</a:t>
            </a:r>
            <a:r>
              <a:rPr sz="1750" spc="-10" dirty="0">
                <a:latin typeface="Calibri" panose="020F0502020204030204"/>
                <a:cs typeface="Calibri" panose="020F0502020204030204"/>
              </a:rPr>
              <a:t> </a:t>
            </a:r>
            <a:r>
              <a:rPr sz="1750" spc="-5" dirty="0">
                <a:latin typeface="Calibri" panose="020F0502020204030204"/>
                <a:cs typeface="Calibri" panose="020F0502020204030204"/>
              </a:rPr>
              <a:t>that remembers values in enclosing scopes even if they </a:t>
            </a:r>
            <a:r>
              <a:rPr sz="1750" dirty="0">
                <a:latin typeface="Calibri" panose="020F0502020204030204"/>
                <a:cs typeface="Calibri" panose="020F0502020204030204"/>
              </a:rPr>
              <a:t>are</a:t>
            </a:r>
            <a:r>
              <a:rPr sz="1750" spc="-5" dirty="0">
                <a:latin typeface="Calibri" panose="020F0502020204030204"/>
                <a:cs typeface="Calibri" panose="020F0502020204030204"/>
              </a:rPr>
              <a:t> not present</a:t>
            </a:r>
            <a:r>
              <a:rPr sz="1750" spc="-10" dirty="0">
                <a:latin typeface="Calibri" panose="020F0502020204030204"/>
                <a:cs typeface="Calibri" panose="020F0502020204030204"/>
              </a:rPr>
              <a:t> </a:t>
            </a:r>
            <a:r>
              <a:rPr sz="1750" spc="-5" dirty="0">
                <a:latin typeface="Calibri" panose="020F0502020204030204"/>
                <a:cs typeface="Calibri" panose="020F0502020204030204"/>
              </a:rPr>
              <a:t>in memory.</a:t>
            </a:r>
            <a:endParaRPr sz="1750" dirty="0">
              <a:latin typeface="Calibri" panose="020F0502020204030204"/>
              <a:cs typeface="Calibri" panose="020F0502020204030204"/>
            </a:endParaRPr>
          </a:p>
          <a:p>
            <a:pPr>
              <a:lnSpc>
                <a:spcPct val="100000"/>
              </a:lnSpc>
            </a:pPr>
            <a:endParaRPr sz="1700" dirty="0">
              <a:latin typeface="Calibri" panose="020F0502020204030204"/>
              <a:cs typeface="Calibri" panose="020F0502020204030204"/>
            </a:endParaRPr>
          </a:p>
          <a:p>
            <a:pPr>
              <a:lnSpc>
                <a:spcPct val="100000"/>
              </a:lnSpc>
              <a:spcBef>
                <a:spcPts val="45"/>
              </a:spcBef>
            </a:pPr>
            <a:endParaRPr sz="1700" dirty="0">
              <a:latin typeface="Calibri" panose="020F0502020204030204"/>
              <a:cs typeface="Calibri" panose="020F0502020204030204"/>
            </a:endParaRPr>
          </a:p>
          <a:p>
            <a:pPr marL="12700">
              <a:lnSpc>
                <a:spcPct val="100000"/>
              </a:lnSpc>
              <a:spcBef>
                <a:spcPts val="5"/>
              </a:spcBef>
            </a:pPr>
            <a:r>
              <a:rPr sz="1750" spc="-5" dirty="0">
                <a:latin typeface="Calibri" panose="020F0502020204030204"/>
                <a:cs typeface="Calibri" panose="020F0502020204030204"/>
              </a:rPr>
              <a:t>Example:.</a:t>
            </a:r>
            <a:endParaRPr sz="1750" dirty="0">
              <a:latin typeface="Calibri" panose="020F0502020204030204"/>
              <a:cs typeface="Calibri" panose="020F0502020204030204"/>
            </a:endParaRPr>
          </a:p>
          <a:p>
            <a:pPr marL="334010" marR="9413240" indent="-321945">
              <a:lnSpc>
                <a:spcPct val="148000"/>
              </a:lnSpc>
              <a:spcBef>
                <a:spcPts val="125"/>
              </a:spcBef>
            </a:pPr>
            <a:r>
              <a:rPr sz="1600" spc="-5" dirty="0">
                <a:latin typeface="Calibri" panose="020F0502020204030204"/>
                <a:cs typeface="Calibri" panose="020F0502020204030204"/>
              </a:rPr>
              <a:t>def counter(start=0, step=1): </a:t>
            </a:r>
            <a:r>
              <a:rPr sz="1600" spc="-350" dirty="0">
                <a:latin typeface="Calibri" panose="020F0502020204030204"/>
                <a:cs typeface="Calibri" panose="020F0502020204030204"/>
              </a:rPr>
              <a:t> </a:t>
            </a:r>
            <a:r>
              <a:rPr sz="1600" dirty="0">
                <a:latin typeface="Calibri" panose="020F0502020204030204"/>
                <a:cs typeface="Calibri" panose="020F0502020204030204"/>
              </a:rPr>
              <a:t>x</a:t>
            </a:r>
            <a:r>
              <a:rPr sz="1600" spc="-10" dirty="0">
                <a:latin typeface="Calibri" panose="020F0502020204030204"/>
                <a:cs typeface="Calibri" panose="020F0502020204030204"/>
              </a:rPr>
              <a:t> </a:t>
            </a:r>
            <a:r>
              <a:rPr sz="1600" dirty="0">
                <a:latin typeface="Calibri" panose="020F0502020204030204"/>
                <a:cs typeface="Calibri" panose="020F0502020204030204"/>
              </a:rPr>
              <a:t>=</a:t>
            </a:r>
            <a:r>
              <a:rPr sz="1600" spc="-10" dirty="0">
                <a:latin typeface="Calibri" panose="020F0502020204030204"/>
                <a:cs typeface="Calibri" panose="020F0502020204030204"/>
              </a:rPr>
              <a:t> </a:t>
            </a:r>
            <a:r>
              <a:rPr sz="1600" spc="-5" dirty="0">
                <a:latin typeface="Calibri" panose="020F0502020204030204"/>
                <a:cs typeface="Calibri" panose="020F0502020204030204"/>
              </a:rPr>
              <a:t>[start]</a:t>
            </a:r>
            <a:endParaRPr sz="1600" dirty="0">
              <a:latin typeface="Calibri" panose="020F0502020204030204"/>
              <a:cs typeface="Calibri" panose="020F0502020204030204"/>
            </a:endParaRPr>
          </a:p>
          <a:p>
            <a:pPr marL="517525" marR="10320655" indent="-184150">
              <a:lnSpc>
                <a:spcPct val="148000"/>
              </a:lnSpc>
            </a:pPr>
            <a:r>
              <a:rPr sz="1600" spc="-5" dirty="0">
                <a:latin typeface="Calibri" panose="020F0502020204030204"/>
                <a:cs typeface="Calibri" panose="020F0502020204030204"/>
              </a:rPr>
              <a:t>def</a:t>
            </a:r>
            <a:r>
              <a:rPr sz="1600" spc="85" dirty="0">
                <a:latin typeface="Calibri" panose="020F0502020204030204"/>
                <a:cs typeface="Calibri" panose="020F0502020204030204"/>
              </a:rPr>
              <a:t> </a:t>
            </a:r>
            <a:r>
              <a:rPr sz="1600" spc="-5" dirty="0">
                <a:latin typeface="Calibri" panose="020F0502020204030204"/>
                <a:cs typeface="Calibri" panose="020F0502020204030204"/>
              </a:rPr>
              <a:t>_inc(): </a:t>
            </a:r>
            <a:r>
              <a:rPr sz="1600" dirty="0">
                <a:latin typeface="Calibri" panose="020F0502020204030204"/>
                <a:cs typeface="Calibri" panose="020F0502020204030204"/>
              </a:rPr>
              <a:t> </a:t>
            </a:r>
            <a:r>
              <a:rPr sz="1600" spc="-5" dirty="0">
                <a:latin typeface="Calibri" panose="020F0502020204030204"/>
                <a:cs typeface="Calibri" panose="020F0502020204030204"/>
              </a:rPr>
              <a:t>x[0]</a:t>
            </a:r>
            <a:r>
              <a:rPr sz="1600" spc="-50" dirty="0">
                <a:latin typeface="Calibri" panose="020F0502020204030204"/>
                <a:cs typeface="Calibri" panose="020F0502020204030204"/>
              </a:rPr>
              <a:t> </a:t>
            </a:r>
            <a:r>
              <a:rPr sz="1600" spc="-5" dirty="0">
                <a:latin typeface="Calibri" panose="020F0502020204030204"/>
                <a:cs typeface="Calibri" panose="020F0502020204030204"/>
              </a:rPr>
              <a:t>+=</a:t>
            </a:r>
            <a:r>
              <a:rPr sz="1600" spc="-45" dirty="0">
                <a:latin typeface="Calibri" panose="020F0502020204030204"/>
                <a:cs typeface="Calibri" panose="020F0502020204030204"/>
              </a:rPr>
              <a:t> </a:t>
            </a:r>
            <a:r>
              <a:rPr sz="1600" spc="-5" dirty="0">
                <a:latin typeface="Calibri" panose="020F0502020204030204"/>
                <a:cs typeface="Calibri" panose="020F0502020204030204"/>
              </a:rPr>
              <a:t>step </a:t>
            </a:r>
            <a:r>
              <a:rPr sz="1600" spc="-345" dirty="0">
                <a:latin typeface="Calibri" panose="020F0502020204030204"/>
                <a:cs typeface="Calibri" panose="020F0502020204030204"/>
              </a:rPr>
              <a:t> </a:t>
            </a:r>
            <a:r>
              <a:rPr sz="1600" spc="-5" dirty="0">
                <a:latin typeface="Calibri" panose="020F0502020204030204"/>
                <a:cs typeface="Calibri" panose="020F0502020204030204"/>
              </a:rPr>
              <a:t>return</a:t>
            </a:r>
            <a:r>
              <a:rPr sz="1600" spc="-40" dirty="0">
                <a:latin typeface="Calibri" panose="020F0502020204030204"/>
                <a:cs typeface="Calibri" panose="020F0502020204030204"/>
              </a:rPr>
              <a:t> </a:t>
            </a:r>
            <a:r>
              <a:rPr sz="1600" spc="-5" dirty="0">
                <a:latin typeface="Calibri" panose="020F0502020204030204"/>
                <a:cs typeface="Calibri" panose="020F0502020204030204"/>
              </a:rPr>
              <a:t>x[0]</a:t>
            </a:r>
            <a:endParaRPr sz="1600" dirty="0">
              <a:latin typeface="Calibri" panose="020F0502020204030204"/>
              <a:cs typeface="Calibri" panose="020F0502020204030204"/>
            </a:endParaRPr>
          </a:p>
          <a:p>
            <a:pPr marL="12700" marR="10560050" indent="321310">
              <a:lnSpc>
                <a:spcPct val="148000"/>
              </a:lnSpc>
            </a:pPr>
            <a:r>
              <a:rPr sz="1600" spc="-5" dirty="0">
                <a:latin typeface="Calibri" panose="020F0502020204030204"/>
                <a:cs typeface="Calibri" panose="020F0502020204030204"/>
              </a:rPr>
              <a:t>retur</a:t>
            </a:r>
            <a:r>
              <a:rPr sz="1600" dirty="0">
                <a:latin typeface="Calibri" panose="020F0502020204030204"/>
                <a:cs typeface="Calibri" panose="020F0502020204030204"/>
              </a:rPr>
              <a:t>n</a:t>
            </a:r>
            <a:r>
              <a:rPr sz="1600" spc="-5" dirty="0">
                <a:latin typeface="Calibri" panose="020F0502020204030204"/>
                <a:cs typeface="Calibri" panose="020F0502020204030204"/>
              </a:rPr>
              <a:t> _inc  c1</a:t>
            </a:r>
            <a:r>
              <a:rPr sz="1600" spc="-30" dirty="0">
                <a:latin typeface="Calibri" panose="020F0502020204030204"/>
                <a:cs typeface="Calibri" panose="020F0502020204030204"/>
              </a:rPr>
              <a:t> </a:t>
            </a:r>
            <a:r>
              <a:rPr sz="1600" dirty="0">
                <a:latin typeface="Calibri" panose="020F0502020204030204"/>
                <a:cs typeface="Calibri" panose="020F0502020204030204"/>
              </a:rPr>
              <a:t>=</a:t>
            </a:r>
            <a:r>
              <a:rPr sz="1600" spc="-30" dirty="0">
                <a:latin typeface="Calibri" panose="020F0502020204030204"/>
                <a:cs typeface="Calibri" panose="020F0502020204030204"/>
              </a:rPr>
              <a:t> </a:t>
            </a:r>
            <a:r>
              <a:rPr sz="1600" spc="-5" dirty="0">
                <a:latin typeface="Calibri" panose="020F0502020204030204"/>
                <a:cs typeface="Calibri" panose="020F0502020204030204"/>
              </a:rPr>
              <a:t>counter()</a:t>
            </a:r>
            <a:endParaRPr sz="1600" dirty="0">
              <a:latin typeface="Calibri" panose="020F0502020204030204"/>
              <a:cs typeface="Calibri" panose="020F0502020204030204"/>
            </a:endParaRPr>
          </a:p>
          <a:p>
            <a:pPr marL="12700" marR="9970135">
              <a:lnSpc>
                <a:spcPct val="148000"/>
              </a:lnSpc>
            </a:pPr>
            <a:r>
              <a:rPr sz="1600" spc="-5" dirty="0">
                <a:latin typeface="Calibri" panose="020F0502020204030204"/>
                <a:cs typeface="Calibri" panose="020F0502020204030204"/>
              </a:rPr>
              <a:t>c2</a:t>
            </a:r>
            <a:r>
              <a:rPr sz="1600" spc="-35" dirty="0">
                <a:latin typeface="Calibri" panose="020F0502020204030204"/>
                <a:cs typeface="Calibri" panose="020F0502020204030204"/>
              </a:rPr>
              <a:t> </a:t>
            </a:r>
            <a:r>
              <a:rPr sz="1600" dirty="0">
                <a:latin typeface="Calibri" panose="020F0502020204030204"/>
                <a:cs typeface="Calibri" panose="020F0502020204030204"/>
              </a:rPr>
              <a:t>=</a:t>
            </a:r>
            <a:r>
              <a:rPr sz="1600" spc="-35" dirty="0">
                <a:latin typeface="Calibri" panose="020F0502020204030204"/>
                <a:cs typeface="Calibri" panose="020F0502020204030204"/>
              </a:rPr>
              <a:t> </a:t>
            </a:r>
            <a:r>
              <a:rPr sz="1600" spc="-5" dirty="0">
                <a:latin typeface="Calibri" panose="020F0502020204030204"/>
                <a:cs typeface="Calibri" panose="020F0502020204030204"/>
              </a:rPr>
              <a:t>counter(100,</a:t>
            </a:r>
            <a:r>
              <a:rPr sz="1600" spc="-30" dirty="0">
                <a:latin typeface="Calibri" panose="020F0502020204030204"/>
                <a:cs typeface="Calibri" panose="020F0502020204030204"/>
              </a:rPr>
              <a:t> </a:t>
            </a:r>
            <a:r>
              <a:rPr sz="1600" spc="-5" dirty="0">
                <a:latin typeface="Calibri" panose="020F0502020204030204"/>
                <a:cs typeface="Calibri" panose="020F0502020204030204"/>
              </a:rPr>
              <a:t>-10) </a:t>
            </a:r>
            <a:r>
              <a:rPr sz="1600" spc="-350" dirty="0">
                <a:latin typeface="Calibri" panose="020F0502020204030204"/>
                <a:cs typeface="Calibri" panose="020F0502020204030204"/>
              </a:rPr>
              <a:t> </a:t>
            </a:r>
            <a:r>
              <a:rPr sz="1600" spc="-5" dirty="0">
                <a:latin typeface="Calibri" panose="020F0502020204030204"/>
                <a:cs typeface="Calibri" panose="020F0502020204030204"/>
              </a:rPr>
              <a:t>c1()</a:t>
            </a:r>
            <a:endParaRPr sz="1600" dirty="0">
              <a:latin typeface="Calibri" panose="020F0502020204030204"/>
              <a:cs typeface="Calibri" panose="020F0502020204030204"/>
            </a:endParaRPr>
          </a:p>
          <a:p>
            <a:pPr marL="12700" marR="11479530" algn="just">
              <a:lnSpc>
                <a:spcPct val="148000"/>
              </a:lnSpc>
              <a:spcBef>
                <a:spcPts val="5"/>
              </a:spcBef>
            </a:pPr>
            <a:r>
              <a:rPr sz="1600" spc="-5" dirty="0">
                <a:latin typeface="Calibri" panose="020F0502020204030204"/>
                <a:cs typeface="Calibri" panose="020F0502020204030204"/>
              </a:rPr>
              <a:t>//1 </a:t>
            </a:r>
            <a:r>
              <a:rPr sz="1600" spc="-350" dirty="0">
                <a:latin typeface="Calibri" panose="020F0502020204030204"/>
                <a:cs typeface="Calibri" panose="020F0502020204030204"/>
              </a:rPr>
              <a:t> </a:t>
            </a:r>
            <a:r>
              <a:rPr sz="1600" spc="-5" dirty="0">
                <a:latin typeface="Calibri" panose="020F0502020204030204"/>
                <a:cs typeface="Calibri" panose="020F0502020204030204"/>
              </a:rPr>
              <a:t>c2()  90</a:t>
            </a:r>
            <a:endParaRPr sz="1600" dirty="0">
              <a:latin typeface="Calibri" panose="020F0502020204030204"/>
              <a:cs typeface="Calibri" panose="020F0502020204030204"/>
            </a:endParaRPr>
          </a:p>
        </p:txBody>
      </p:sp>
      <p:sp>
        <p:nvSpPr>
          <p:cNvPr id="7" name="Slide Number Placeholder 6"/>
          <p:cNvSpPr>
            <a:spLocks noGrp="1"/>
          </p:cNvSpPr>
          <p:nvPr>
            <p:ph type="sldNum" sz="quarter" idx="7"/>
          </p:nvPr>
        </p:nvSpPr>
        <p:spPr/>
        <p:txBody>
          <a:bodyPr/>
          <a:lstStyle/>
          <a:p>
            <a:fld id="{B6F15528-21DE-4FAA-801E-634DDDAF4B2B}" type="slidenum">
              <a:rPr/>
              <a:t>22</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19698"/>
            <a:ext cx="3178810"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Pure</a:t>
            </a:r>
            <a:r>
              <a:rPr spc="-3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Functions</a:t>
            </a:r>
            <a:r>
              <a:rPr spc="-3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in</a:t>
            </a:r>
            <a:r>
              <a:rPr spc="-3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Python</a:t>
            </a: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4"/>
            <a:ext cx="12105640" cy="5979795"/>
          </a:xfrm>
          <a:custGeom>
            <a:avLst/>
            <a:gdLst/>
            <a:ahLst/>
            <a:cxnLst/>
            <a:rect l="l" t="t" r="r" b="b"/>
            <a:pathLst>
              <a:path w="12105640" h="5979795">
                <a:moveTo>
                  <a:pt x="0" y="0"/>
                </a:moveTo>
                <a:lnTo>
                  <a:pt x="12105503" y="0"/>
                </a:lnTo>
                <a:lnTo>
                  <a:pt x="12105503" y="5979174"/>
                </a:lnTo>
                <a:lnTo>
                  <a:pt x="0" y="5979174"/>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127469" y="593411"/>
            <a:ext cx="11406505" cy="292100"/>
          </a:xfrm>
          <a:prstGeom prst="rect">
            <a:avLst/>
          </a:prstGeom>
        </p:spPr>
        <p:txBody>
          <a:bodyPr vert="horz" wrap="square" lIns="0" tIns="12700" rIns="0" bIns="0" rtlCol="0">
            <a:spAutoFit/>
          </a:bodyPr>
          <a:lstStyle/>
          <a:p>
            <a:pPr marL="264795" indent="-252730">
              <a:lnSpc>
                <a:spcPct val="100000"/>
              </a:lnSpc>
              <a:spcBef>
                <a:spcPts val="100"/>
              </a:spcBef>
              <a:buFont typeface="Arial MT"/>
              <a:buChar char="•"/>
              <a:tabLst>
                <a:tab pos="264795" algn="l"/>
                <a:tab pos="265430" algn="l"/>
              </a:tabLst>
            </a:pPr>
            <a:r>
              <a:rPr sz="1750" spc="-5" dirty="0">
                <a:latin typeface="Calibri" panose="020F0502020204030204"/>
                <a:cs typeface="Calibri" panose="020F0502020204030204"/>
              </a:rPr>
              <a:t>If</a:t>
            </a:r>
            <a:r>
              <a:rPr sz="1750" spc="-10" dirty="0">
                <a:latin typeface="Calibri" panose="020F0502020204030204"/>
                <a:cs typeface="Calibri" panose="020F0502020204030204"/>
              </a:rPr>
              <a:t> </a:t>
            </a:r>
            <a:r>
              <a:rPr sz="1750" dirty="0">
                <a:latin typeface="Calibri" panose="020F0502020204030204"/>
                <a:cs typeface="Calibri" panose="020F0502020204030204"/>
              </a:rPr>
              <a:t>a</a:t>
            </a:r>
            <a:r>
              <a:rPr sz="1750" spc="-5" dirty="0">
                <a:latin typeface="Calibri" panose="020F0502020204030204"/>
                <a:cs typeface="Calibri" panose="020F0502020204030204"/>
              </a:rPr>
              <a:t> function uses </a:t>
            </a:r>
            <a:r>
              <a:rPr sz="1750" dirty="0">
                <a:latin typeface="Calibri" panose="020F0502020204030204"/>
                <a:cs typeface="Calibri" panose="020F0502020204030204"/>
              </a:rPr>
              <a:t>an</a:t>
            </a:r>
            <a:r>
              <a:rPr sz="1750" spc="-5" dirty="0">
                <a:latin typeface="Calibri" panose="020F0502020204030204"/>
                <a:cs typeface="Calibri" panose="020F0502020204030204"/>
              </a:rPr>
              <a:t> object from </a:t>
            </a:r>
            <a:r>
              <a:rPr sz="1750" dirty="0">
                <a:latin typeface="Calibri" panose="020F0502020204030204"/>
                <a:cs typeface="Calibri" panose="020F0502020204030204"/>
              </a:rPr>
              <a:t>a</a:t>
            </a:r>
            <a:r>
              <a:rPr sz="1750" spc="-5" dirty="0">
                <a:latin typeface="Calibri" panose="020F0502020204030204"/>
                <a:cs typeface="Calibri" panose="020F0502020204030204"/>
              </a:rPr>
              <a:t> higher scope or random</a:t>
            </a:r>
            <a:r>
              <a:rPr sz="1750" spc="-10" dirty="0">
                <a:latin typeface="Calibri" panose="020F0502020204030204"/>
                <a:cs typeface="Calibri" panose="020F0502020204030204"/>
              </a:rPr>
              <a:t> </a:t>
            </a:r>
            <a:r>
              <a:rPr sz="1750" spc="-5" dirty="0">
                <a:latin typeface="Calibri" panose="020F0502020204030204"/>
                <a:cs typeface="Calibri" panose="020F0502020204030204"/>
              </a:rPr>
              <a:t>numbers, communicates with files </a:t>
            </a:r>
            <a:r>
              <a:rPr sz="1750" dirty="0">
                <a:latin typeface="Calibri" panose="020F0502020204030204"/>
                <a:cs typeface="Calibri" panose="020F0502020204030204"/>
              </a:rPr>
              <a:t>and</a:t>
            </a:r>
            <a:r>
              <a:rPr sz="1750" spc="-5" dirty="0">
                <a:latin typeface="Calibri" panose="020F0502020204030204"/>
                <a:cs typeface="Calibri" panose="020F0502020204030204"/>
              </a:rPr>
              <a:t> so on, it might be impure</a:t>
            </a:r>
            <a:endParaRPr sz="1750">
              <a:latin typeface="Calibri" panose="020F0502020204030204"/>
              <a:cs typeface="Calibri" panose="020F0502020204030204"/>
            </a:endParaRPr>
          </a:p>
        </p:txBody>
      </p:sp>
      <p:grpSp>
        <p:nvGrpSpPr>
          <p:cNvPr id="7" name="object 7"/>
          <p:cNvGrpSpPr/>
          <p:nvPr/>
        </p:nvGrpSpPr>
        <p:grpSpPr>
          <a:xfrm>
            <a:off x="0" y="1097955"/>
            <a:ext cx="12105640" cy="5191125"/>
            <a:chOff x="0" y="1097955"/>
            <a:chExt cx="12105640" cy="5191125"/>
          </a:xfrm>
        </p:grpSpPr>
        <p:pic>
          <p:nvPicPr>
            <p:cNvPr id="8" name="object 8"/>
            <p:cNvPicPr/>
            <p:nvPr/>
          </p:nvPicPr>
          <p:blipFill>
            <a:blip r:embed="rId3" cstate="print"/>
            <a:stretch>
              <a:fillRect/>
            </a:stretch>
          </p:blipFill>
          <p:spPr>
            <a:xfrm>
              <a:off x="0" y="1097955"/>
              <a:ext cx="5889811" cy="3379764"/>
            </a:xfrm>
            <a:prstGeom prst="rect">
              <a:avLst/>
            </a:prstGeom>
          </p:spPr>
        </p:pic>
        <p:pic>
          <p:nvPicPr>
            <p:cNvPr id="9" name="object 9"/>
            <p:cNvPicPr/>
            <p:nvPr/>
          </p:nvPicPr>
          <p:blipFill>
            <a:blip r:embed="rId4" cstate="print"/>
            <a:stretch>
              <a:fillRect/>
            </a:stretch>
          </p:blipFill>
          <p:spPr>
            <a:xfrm>
              <a:off x="6024282" y="2191145"/>
              <a:ext cx="6081221" cy="4097595"/>
            </a:xfrm>
            <a:prstGeom prst="rect">
              <a:avLst/>
            </a:prstGeom>
          </p:spPr>
        </p:pic>
      </p:grpSp>
      <p:sp>
        <p:nvSpPr>
          <p:cNvPr id="10" name="Slide Number Placeholder 9"/>
          <p:cNvSpPr>
            <a:spLocks noGrp="1"/>
          </p:cNvSpPr>
          <p:nvPr>
            <p:ph type="sldNum" sz="quarter" idx="7"/>
          </p:nvPr>
        </p:nvSpPr>
        <p:spPr/>
        <p:txBody>
          <a:bodyPr/>
          <a:lstStyle/>
          <a:p>
            <a:fld id="{B6F15528-21DE-4FAA-801E-634DDDAF4B2B}" type="slidenum">
              <a:rPr/>
              <a:t>23</a:t>
            </a:fld>
            <a:endParaRPr/>
          </a:p>
        </p:txBody>
      </p:sp>
      <p:sp>
        <p:nvSpPr>
          <p:cNvPr id="11" name="Footer Placeholder 10"/>
          <p:cNvSpPr>
            <a:spLocks noGrp="1"/>
          </p:cNvSpPr>
          <p:nvPr>
            <p:ph type="ftr" sz="quarter" idx="5"/>
          </p:nvPr>
        </p:nvSpPr>
        <p:spPr/>
        <p:txBody>
          <a:bodyPr/>
          <a:lstStyle/>
          <a:p>
            <a:r>
              <a:t>UNIT IV : Pythonic Programming Paradigm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19698"/>
            <a:ext cx="3945254"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Built-in</a:t>
            </a:r>
            <a:r>
              <a:rPr spc="-3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Higher</a:t>
            </a:r>
            <a:r>
              <a:rPr spc="-3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Order</a:t>
            </a:r>
            <a:r>
              <a:rPr spc="-3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Functions</a:t>
            </a: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4"/>
            <a:ext cx="12105640" cy="5979795"/>
          </a:xfrm>
          <a:custGeom>
            <a:avLst/>
            <a:gdLst/>
            <a:ahLst/>
            <a:cxnLst/>
            <a:rect l="l" t="t" r="r" b="b"/>
            <a:pathLst>
              <a:path w="12105640" h="5979795">
                <a:moveTo>
                  <a:pt x="0" y="0"/>
                </a:moveTo>
                <a:lnTo>
                  <a:pt x="12105503" y="0"/>
                </a:lnTo>
                <a:lnTo>
                  <a:pt x="12105503" y="5979174"/>
                </a:lnTo>
                <a:lnTo>
                  <a:pt x="0" y="5979174"/>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94136" y="460061"/>
            <a:ext cx="11818620" cy="4425950"/>
          </a:xfrm>
          <a:prstGeom prst="rect">
            <a:avLst/>
          </a:prstGeom>
        </p:spPr>
        <p:txBody>
          <a:bodyPr vert="horz" wrap="square" lIns="0" tIns="146050" rIns="0" bIns="0" rtlCol="0">
            <a:spAutoFit/>
          </a:bodyPr>
          <a:lstStyle/>
          <a:p>
            <a:pPr marL="12700">
              <a:lnSpc>
                <a:spcPct val="100000"/>
              </a:lnSpc>
              <a:spcBef>
                <a:spcPts val="1150"/>
              </a:spcBef>
            </a:pPr>
            <a:r>
              <a:rPr sz="1750" b="1" dirty="0">
                <a:latin typeface="Calibri" panose="020F0502020204030204"/>
                <a:cs typeface="Calibri" panose="020F0502020204030204"/>
              </a:rPr>
              <a:t>Map</a:t>
            </a:r>
            <a:endParaRPr sz="1750">
              <a:latin typeface="Calibri" panose="020F0502020204030204"/>
              <a:cs typeface="Calibri" panose="020F0502020204030204"/>
            </a:endParaRPr>
          </a:p>
          <a:p>
            <a:pPr marL="298450" indent="-252730">
              <a:lnSpc>
                <a:spcPct val="100000"/>
              </a:lnSpc>
              <a:spcBef>
                <a:spcPts val="1050"/>
              </a:spcBef>
              <a:buFont typeface="Arial MT"/>
              <a:buChar char="•"/>
              <a:tabLst>
                <a:tab pos="297815" algn="l"/>
                <a:tab pos="298450" algn="l"/>
              </a:tabLst>
            </a:pPr>
            <a:r>
              <a:rPr sz="1750" spc="-5" dirty="0">
                <a:latin typeface="Calibri" panose="020F0502020204030204"/>
                <a:cs typeface="Calibri" panose="020F0502020204030204"/>
              </a:rPr>
              <a:t>The</a:t>
            </a:r>
            <a:r>
              <a:rPr sz="1750" spc="-10" dirty="0">
                <a:latin typeface="Calibri" panose="020F0502020204030204"/>
                <a:cs typeface="Calibri" panose="020F0502020204030204"/>
              </a:rPr>
              <a:t> </a:t>
            </a:r>
            <a:r>
              <a:rPr sz="1750" spc="-5" dirty="0">
                <a:latin typeface="Calibri" panose="020F0502020204030204"/>
                <a:cs typeface="Calibri" panose="020F0502020204030204"/>
              </a:rPr>
              <a:t>map</a:t>
            </a:r>
            <a:r>
              <a:rPr sz="1750" spc="-10" dirty="0">
                <a:latin typeface="Calibri" panose="020F0502020204030204"/>
                <a:cs typeface="Calibri" panose="020F0502020204030204"/>
              </a:rPr>
              <a:t> </a:t>
            </a:r>
            <a:r>
              <a:rPr sz="1750" spc="-5" dirty="0">
                <a:latin typeface="Calibri" panose="020F0502020204030204"/>
                <a:cs typeface="Calibri" panose="020F0502020204030204"/>
              </a:rPr>
              <a:t>function </a:t>
            </a:r>
            <a:r>
              <a:rPr sz="1750" dirty="0">
                <a:latin typeface="Calibri" panose="020F0502020204030204"/>
                <a:cs typeface="Calibri" panose="020F0502020204030204"/>
              </a:rPr>
              <a:t>allows</a:t>
            </a:r>
            <a:r>
              <a:rPr sz="1750" spc="-10" dirty="0">
                <a:latin typeface="Calibri" panose="020F0502020204030204"/>
                <a:cs typeface="Calibri" panose="020F0502020204030204"/>
              </a:rPr>
              <a:t> </a:t>
            </a:r>
            <a:r>
              <a:rPr sz="1750" spc="-5" dirty="0">
                <a:latin typeface="Calibri" panose="020F0502020204030204"/>
                <a:cs typeface="Calibri" panose="020F0502020204030204"/>
              </a:rPr>
              <a:t>us to</a:t>
            </a:r>
            <a:r>
              <a:rPr sz="1750" spc="-10" dirty="0">
                <a:latin typeface="Calibri" panose="020F0502020204030204"/>
                <a:cs typeface="Calibri" panose="020F0502020204030204"/>
              </a:rPr>
              <a:t> </a:t>
            </a:r>
            <a:r>
              <a:rPr sz="1750" dirty="0">
                <a:latin typeface="Calibri" panose="020F0502020204030204"/>
                <a:cs typeface="Calibri" panose="020F0502020204030204"/>
              </a:rPr>
              <a:t>apply</a:t>
            </a:r>
            <a:r>
              <a:rPr sz="1750" spc="-5" dirty="0">
                <a:latin typeface="Calibri" panose="020F0502020204030204"/>
                <a:cs typeface="Calibri" panose="020F0502020204030204"/>
              </a:rPr>
              <a:t> </a:t>
            </a:r>
            <a:r>
              <a:rPr sz="1750" dirty="0">
                <a:latin typeface="Calibri" panose="020F0502020204030204"/>
                <a:cs typeface="Calibri" panose="020F0502020204030204"/>
              </a:rPr>
              <a:t>a</a:t>
            </a:r>
            <a:r>
              <a:rPr sz="1750" spc="-10" dirty="0">
                <a:latin typeface="Calibri" panose="020F0502020204030204"/>
                <a:cs typeface="Calibri" panose="020F0502020204030204"/>
              </a:rPr>
              <a:t> </a:t>
            </a:r>
            <a:r>
              <a:rPr sz="1750" spc="-5" dirty="0">
                <a:latin typeface="Calibri" panose="020F0502020204030204"/>
                <a:cs typeface="Calibri" panose="020F0502020204030204"/>
              </a:rPr>
              <a:t>function to</a:t>
            </a:r>
            <a:r>
              <a:rPr sz="1750" spc="-10" dirty="0">
                <a:latin typeface="Calibri" panose="020F0502020204030204"/>
                <a:cs typeface="Calibri" panose="020F0502020204030204"/>
              </a:rPr>
              <a:t> </a:t>
            </a:r>
            <a:r>
              <a:rPr sz="1750" spc="-5" dirty="0">
                <a:latin typeface="Calibri" panose="020F0502020204030204"/>
                <a:cs typeface="Calibri" panose="020F0502020204030204"/>
              </a:rPr>
              <a:t>every element</a:t>
            </a:r>
            <a:r>
              <a:rPr sz="1750" spc="-10" dirty="0">
                <a:latin typeface="Calibri" panose="020F0502020204030204"/>
                <a:cs typeface="Calibri" panose="020F0502020204030204"/>
              </a:rPr>
              <a:t> </a:t>
            </a:r>
            <a:r>
              <a:rPr sz="1750" spc="-5" dirty="0">
                <a:latin typeface="Calibri" panose="020F0502020204030204"/>
                <a:cs typeface="Calibri" panose="020F0502020204030204"/>
              </a:rPr>
              <a:t>in</a:t>
            </a:r>
            <a:r>
              <a:rPr sz="1750" spc="-10" dirty="0">
                <a:latin typeface="Calibri" panose="020F0502020204030204"/>
                <a:cs typeface="Calibri" panose="020F0502020204030204"/>
              </a:rPr>
              <a:t> </a:t>
            </a:r>
            <a:r>
              <a:rPr sz="1750" dirty="0">
                <a:latin typeface="Calibri" panose="020F0502020204030204"/>
                <a:cs typeface="Calibri" panose="020F0502020204030204"/>
              </a:rPr>
              <a:t>an</a:t>
            </a:r>
            <a:r>
              <a:rPr sz="1750" spc="-5" dirty="0">
                <a:latin typeface="Calibri" panose="020F0502020204030204"/>
                <a:cs typeface="Calibri" panose="020F0502020204030204"/>
              </a:rPr>
              <a:t> iterable</a:t>
            </a:r>
            <a:r>
              <a:rPr sz="1750" spc="-10" dirty="0">
                <a:latin typeface="Calibri" panose="020F0502020204030204"/>
                <a:cs typeface="Calibri" panose="020F0502020204030204"/>
              </a:rPr>
              <a:t> </a:t>
            </a:r>
            <a:r>
              <a:rPr sz="1750" spc="-5" dirty="0">
                <a:latin typeface="Calibri" panose="020F0502020204030204"/>
                <a:cs typeface="Calibri" panose="020F0502020204030204"/>
              </a:rPr>
              <a:t>object</a:t>
            </a:r>
            <a:endParaRPr sz="1750">
              <a:latin typeface="Calibri" panose="020F0502020204030204"/>
              <a:cs typeface="Calibri" panose="020F0502020204030204"/>
            </a:endParaRPr>
          </a:p>
          <a:p>
            <a:pPr marL="12700">
              <a:lnSpc>
                <a:spcPct val="100000"/>
              </a:lnSpc>
              <a:spcBef>
                <a:spcPts val="1050"/>
              </a:spcBef>
            </a:pPr>
            <a:r>
              <a:rPr sz="1750" b="1" spc="-5" dirty="0">
                <a:latin typeface="Calibri" panose="020F0502020204030204"/>
                <a:cs typeface="Calibri" panose="020F0502020204030204"/>
              </a:rPr>
              <a:t>Filter</a:t>
            </a:r>
            <a:endParaRPr sz="1750">
              <a:latin typeface="Calibri" panose="020F0502020204030204"/>
              <a:cs typeface="Calibri" panose="020F0502020204030204"/>
            </a:endParaRPr>
          </a:p>
          <a:p>
            <a:pPr marL="298450" marR="7620" indent="-252730">
              <a:lnSpc>
                <a:spcPct val="150000"/>
              </a:lnSpc>
              <a:buFont typeface="Arial MT"/>
              <a:buChar char="•"/>
              <a:tabLst>
                <a:tab pos="297815" algn="l"/>
                <a:tab pos="298450" algn="l"/>
              </a:tabLst>
            </a:pPr>
            <a:r>
              <a:rPr sz="1750" spc="-5" dirty="0">
                <a:latin typeface="Calibri" panose="020F0502020204030204"/>
                <a:cs typeface="Calibri" panose="020F0502020204030204"/>
              </a:rPr>
              <a:t>The</a:t>
            </a:r>
            <a:r>
              <a:rPr sz="1750" spc="10" dirty="0">
                <a:latin typeface="Calibri" panose="020F0502020204030204"/>
                <a:cs typeface="Calibri" panose="020F0502020204030204"/>
              </a:rPr>
              <a:t> </a:t>
            </a:r>
            <a:r>
              <a:rPr sz="1750" spc="-5" dirty="0">
                <a:latin typeface="Calibri" panose="020F0502020204030204"/>
                <a:cs typeface="Calibri" panose="020F0502020204030204"/>
              </a:rPr>
              <a:t>filter</a:t>
            </a:r>
            <a:r>
              <a:rPr sz="1750" spc="15"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15" dirty="0">
                <a:latin typeface="Calibri" panose="020F0502020204030204"/>
                <a:cs typeface="Calibri" panose="020F0502020204030204"/>
              </a:rPr>
              <a:t> </a:t>
            </a:r>
            <a:r>
              <a:rPr sz="1750" spc="-5" dirty="0">
                <a:latin typeface="Calibri" panose="020F0502020204030204"/>
                <a:cs typeface="Calibri" panose="020F0502020204030204"/>
              </a:rPr>
              <a:t>tests</a:t>
            </a:r>
            <a:r>
              <a:rPr sz="1750" spc="15" dirty="0">
                <a:latin typeface="Calibri" panose="020F0502020204030204"/>
                <a:cs typeface="Calibri" panose="020F0502020204030204"/>
              </a:rPr>
              <a:t> </a:t>
            </a:r>
            <a:r>
              <a:rPr sz="1750" spc="-5" dirty="0">
                <a:latin typeface="Calibri" panose="020F0502020204030204"/>
                <a:cs typeface="Calibri" panose="020F0502020204030204"/>
              </a:rPr>
              <a:t>every</a:t>
            </a:r>
            <a:r>
              <a:rPr sz="1750" spc="15" dirty="0">
                <a:latin typeface="Calibri" panose="020F0502020204030204"/>
                <a:cs typeface="Calibri" panose="020F0502020204030204"/>
              </a:rPr>
              <a:t> </a:t>
            </a:r>
            <a:r>
              <a:rPr sz="1750" spc="-5" dirty="0">
                <a:latin typeface="Calibri" panose="020F0502020204030204"/>
                <a:cs typeface="Calibri" panose="020F0502020204030204"/>
              </a:rPr>
              <a:t>element</a:t>
            </a:r>
            <a:r>
              <a:rPr sz="1750" spc="15" dirty="0">
                <a:latin typeface="Calibri" panose="020F0502020204030204"/>
                <a:cs typeface="Calibri" panose="020F0502020204030204"/>
              </a:rPr>
              <a:t> </a:t>
            </a:r>
            <a:r>
              <a:rPr sz="1750" spc="-5" dirty="0">
                <a:latin typeface="Calibri" panose="020F0502020204030204"/>
                <a:cs typeface="Calibri" panose="020F0502020204030204"/>
              </a:rPr>
              <a:t>in</a:t>
            </a:r>
            <a:r>
              <a:rPr sz="1750" spc="15" dirty="0">
                <a:latin typeface="Calibri" panose="020F0502020204030204"/>
                <a:cs typeface="Calibri" panose="020F0502020204030204"/>
              </a:rPr>
              <a:t> </a:t>
            </a:r>
            <a:r>
              <a:rPr sz="1750" dirty="0">
                <a:latin typeface="Calibri" panose="020F0502020204030204"/>
                <a:cs typeface="Calibri" panose="020F0502020204030204"/>
              </a:rPr>
              <a:t>an</a:t>
            </a:r>
            <a:r>
              <a:rPr sz="1750" spc="15" dirty="0">
                <a:latin typeface="Calibri" panose="020F0502020204030204"/>
                <a:cs typeface="Calibri" panose="020F0502020204030204"/>
              </a:rPr>
              <a:t> </a:t>
            </a:r>
            <a:r>
              <a:rPr sz="1750" spc="-5" dirty="0">
                <a:latin typeface="Calibri" panose="020F0502020204030204"/>
                <a:cs typeface="Calibri" panose="020F0502020204030204"/>
              </a:rPr>
              <a:t>iterable</a:t>
            </a:r>
            <a:r>
              <a:rPr sz="1750" spc="15" dirty="0">
                <a:latin typeface="Calibri" panose="020F0502020204030204"/>
                <a:cs typeface="Calibri" panose="020F0502020204030204"/>
              </a:rPr>
              <a:t> </a:t>
            </a:r>
            <a:r>
              <a:rPr sz="1750" spc="-5" dirty="0">
                <a:latin typeface="Calibri" panose="020F0502020204030204"/>
                <a:cs typeface="Calibri" panose="020F0502020204030204"/>
              </a:rPr>
              <a:t>object</a:t>
            </a:r>
            <a:r>
              <a:rPr sz="1750" spc="15" dirty="0">
                <a:latin typeface="Calibri" panose="020F0502020204030204"/>
                <a:cs typeface="Calibri" panose="020F0502020204030204"/>
              </a:rPr>
              <a:t> </a:t>
            </a:r>
            <a:r>
              <a:rPr sz="1750" spc="-5" dirty="0">
                <a:latin typeface="Calibri" panose="020F0502020204030204"/>
                <a:cs typeface="Calibri" panose="020F0502020204030204"/>
              </a:rPr>
              <a:t>with</a:t>
            </a:r>
            <a:r>
              <a:rPr sz="1750" spc="15" dirty="0">
                <a:latin typeface="Calibri" panose="020F0502020204030204"/>
                <a:cs typeface="Calibri" panose="020F0502020204030204"/>
              </a:rPr>
              <a:t> </a:t>
            </a:r>
            <a:r>
              <a:rPr sz="1750" dirty="0">
                <a:latin typeface="Calibri" panose="020F0502020204030204"/>
                <a:cs typeface="Calibri" panose="020F0502020204030204"/>
              </a:rPr>
              <a:t>a</a:t>
            </a:r>
            <a:r>
              <a:rPr sz="1750" spc="15"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15" dirty="0">
                <a:latin typeface="Calibri" panose="020F0502020204030204"/>
                <a:cs typeface="Calibri" panose="020F0502020204030204"/>
              </a:rPr>
              <a:t> </a:t>
            </a:r>
            <a:r>
              <a:rPr sz="1750" spc="-5" dirty="0">
                <a:latin typeface="Calibri" panose="020F0502020204030204"/>
                <a:cs typeface="Calibri" panose="020F0502020204030204"/>
              </a:rPr>
              <a:t>that</a:t>
            </a:r>
            <a:r>
              <a:rPr sz="1750" spc="15" dirty="0">
                <a:latin typeface="Calibri" panose="020F0502020204030204"/>
                <a:cs typeface="Calibri" panose="020F0502020204030204"/>
              </a:rPr>
              <a:t> </a:t>
            </a:r>
            <a:r>
              <a:rPr sz="1750" spc="-5" dirty="0">
                <a:latin typeface="Calibri" panose="020F0502020204030204"/>
                <a:cs typeface="Calibri" panose="020F0502020204030204"/>
              </a:rPr>
              <a:t>returns</a:t>
            </a:r>
            <a:r>
              <a:rPr sz="1750" spc="15" dirty="0">
                <a:latin typeface="Calibri" panose="020F0502020204030204"/>
                <a:cs typeface="Calibri" panose="020F0502020204030204"/>
              </a:rPr>
              <a:t> </a:t>
            </a:r>
            <a:r>
              <a:rPr sz="1750" spc="-5" dirty="0">
                <a:latin typeface="Calibri" panose="020F0502020204030204"/>
                <a:cs typeface="Calibri" panose="020F0502020204030204"/>
              </a:rPr>
              <a:t>either</a:t>
            </a:r>
            <a:r>
              <a:rPr sz="1750" spc="15" dirty="0">
                <a:latin typeface="Calibri" panose="020F0502020204030204"/>
                <a:cs typeface="Calibri" panose="020F0502020204030204"/>
              </a:rPr>
              <a:t> </a:t>
            </a:r>
            <a:r>
              <a:rPr sz="1750" spc="-5" dirty="0">
                <a:latin typeface="Calibri" panose="020F0502020204030204"/>
                <a:cs typeface="Calibri" panose="020F0502020204030204"/>
              </a:rPr>
              <a:t>True</a:t>
            </a:r>
            <a:r>
              <a:rPr sz="1750" spc="15" dirty="0">
                <a:latin typeface="Calibri" panose="020F0502020204030204"/>
                <a:cs typeface="Calibri" panose="020F0502020204030204"/>
              </a:rPr>
              <a:t> </a:t>
            </a:r>
            <a:r>
              <a:rPr sz="1750" spc="-5" dirty="0">
                <a:latin typeface="Calibri" panose="020F0502020204030204"/>
                <a:cs typeface="Calibri" panose="020F0502020204030204"/>
              </a:rPr>
              <a:t>or</a:t>
            </a:r>
            <a:r>
              <a:rPr sz="1750" spc="15" dirty="0">
                <a:latin typeface="Calibri" panose="020F0502020204030204"/>
                <a:cs typeface="Calibri" panose="020F0502020204030204"/>
              </a:rPr>
              <a:t> </a:t>
            </a:r>
            <a:r>
              <a:rPr sz="1750" spc="-5" dirty="0">
                <a:latin typeface="Calibri" panose="020F0502020204030204"/>
                <a:cs typeface="Calibri" panose="020F0502020204030204"/>
              </a:rPr>
              <a:t>False,</a:t>
            </a:r>
            <a:r>
              <a:rPr sz="1750" spc="15" dirty="0">
                <a:latin typeface="Calibri" panose="020F0502020204030204"/>
                <a:cs typeface="Calibri" panose="020F0502020204030204"/>
              </a:rPr>
              <a:t> </a:t>
            </a:r>
            <a:r>
              <a:rPr sz="1750" spc="-5" dirty="0">
                <a:latin typeface="Calibri" panose="020F0502020204030204"/>
                <a:cs typeface="Calibri" panose="020F0502020204030204"/>
              </a:rPr>
              <a:t>only</a:t>
            </a:r>
            <a:r>
              <a:rPr sz="1750" spc="15" dirty="0">
                <a:latin typeface="Calibri" panose="020F0502020204030204"/>
                <a:cs typeface="Calibri" panose="020F0502020204030204"/>
              </a:rPr>
              <a:t> </a:t>
            </a:r>
            <a:r>
              <a:rPr sz="1750" spc="-5" dirty="0">
                <a:latin typeface="Calibri" panose="020F0502020204030204"/>
                <a:cs typeface="Calibri" panose="020F0502020204030204"/>
              </a:rPr>
              <a:t>keeping</a:t>
            </a:r>
            <a:r>
              <a:rPr sz="1750" spc="15" dirty="0">
                <a:latin typeface="Calibri" panose="020F0502020204030204"/>
                <a:cs typeface="Calibri" panose="020F0502020204030204"/>
              </a:rPr>
              <a:t> </a:t>
            </a:r>
            <a:r>
              <a:rPr sz="1750" spc="-5" dirty="0">
                <a:latin typeface="Calibri" panose="020F0502020204030204"/>
                <a:cs typeface="Calibri" panose="020F0502020204030204"/>
              </a:rPr>
              <a:t>those </a:t>
            </a:r>
            <a:r>
              <a:rPr sz="1750" spc="-385" dirty="0">
                <a:latin typeface="Calibri" panose="020F0502020204030204"/>
                <a:cs typeface="Calibri" panose="020F0502020204030204"/>
              </a:rPr>
              <a:t> </a:t>
            </a:r>
            <a:r>
              <a:rPr sz="1750" spc="-5" dirty="0">
                <a:latin typeface="Calibri" panose="020F0502020204030204"/>
                <a:cs typeface="Calibri" panose="020F0502020204030204"/>
              </a:rPr>
              <a:t>which</a:t>
            </a:r>
            <a:r>
              <a:rPr sz="1750" spc="-10" dirty="0">
                <a:latin typeface="Calibri" panose="020F0502020204030204"/>
                <a:cs typeface="Calibri" panose="020F0502020204030204"/>
              </a:rPr>
              <a:t> </a:t>
            </a:r>
            <a:r>
              <a:rPr sz="1750" spc="-5" dirty="0">
                <a:latin typeface="Calibri" panose="020F0502020204030204"/>
                <a:cs typeface="Calibri" panose="020F0502020204030204"/>
              </a:rPr>
              <a:t>evaluates to True.</a:t>
            </a:r>
            <a:endParaRPr sz="1750">
              <a:latin typeface="Calibri" panose="020F0502020204030204"/>
              <a:cs typeface="Calibri" panose="020F0502020204030204"/>
            </a:endParaRPr>
          </a:p>
          <a:p>
            <a:pPr marL="12700">
              <a:lnSpc>
                <a:spcPct val="100000"/>
              </a:lnSpc>
              <a:spcBef>
                <a:spcPts val="1050"/>
              </a:spcBef>
            </a:pPr>
            <a:r>
              <a:rPr sz="1750" b="1" spc="-5" dirty="0">
                <a:latin typeface="Calibri" panose="020F0502020204030204"/>
                <a:cs typeface="Calibri" panose="020F0502020204030204"/>
              </a:rPr>
              <a:t>Combining</a:t>
            </a:r>
            <a:r>
              <a:rPr sz="1750" b="1" spc="-25" dirty="0">
                <a:latin typeface="Calibri" panose="020F0502020204030204"/>
                <a:cs typeface="Calibri" panose="020F0502020204030204"/>
              </a:rPr>
              <a:t> </a:t>
            </a:r>
            <a:r>
              <a:rPr sz="1750" b="1" spc="-5" dirty="0">
                <a:latin typeface="Calibri" panose="020F0502020204030204"/>
                <a:cs typeface="Calibri" panose="020F0502020204030204"/>
              </a:rPr>
              <a:t>map</a:t>
            </a:r>
            <a:r>
              <a:rPr sz="1750" b="1" spc="-25" dirty="0">
                <a:latin typeface="Calibri" panose="020F0502020204030204"/>
                <a:cs typeface="Calibri" panose="020F0502020204030204"/>
              </a:rPr>
              <a:t> </a:t>
            </a:r>
            <a:r>
              <a:rPr sz="1750" b="1" spc="-5" dirty="0">
                <a:latin typeface="Calibri" panose="020F0502020204030204"/>
                <a:cs typeface="Calibri" panose="020F0502020204030204"/>
              </a:rPr>
              <a:t>and</a:t>
            </a:r>
            <a:r>
              <a:rPr sz="1750" b="1" spc="-25" dirty="0">
                <a:latin typeface="Calibri" panose="020F0502020204030204"/>
                <a:cs typeface="Calibri" panose="020F0502020204030204"/>
              </a:rPr>
              <a:t> </a:t>
            </a:r>
            <a:r>
              <a:rPr sz="1750" b="1" spc="-5" dirty="0">
                <a:latin typeface="Calibri" panose="020F0502020204030204"/>
                <a:cs typeface="Calibri" panose="020F0502020204030204"/>
              </a:rPr>
              <a:t>filter</a:t>
            </a:r>
            <a:endParaRPr sz="1750">
              <a:latin typeface="Calibri" panose="020F0502020204030204"/>
              <a:cs typeface="Calibri" panose="020F0502020204030204"/>
            </a:endParaRPr>
          </a:p>
          <a:p>
            <a:pPr marL="298450" marR="5080" indent="-252730">
              <a:lnSpc>
                <a:spcPct val="150000"/>
              </a:lnSpc>
              <a:buFont typeface="Arial MT"/>
              <a:buChar char="•"/>
              <a:tabLst>
                <a:tab pos="297815" algn="l"/>
                <a:tab pos="298450" algn="l"/>
              </a:tabLst>
            </a:pPr>
            <a:r>
              <a:rPr sz="1750" spc="-5" dirty="0">
                <a:latin typeface="Calibri" panose="020F0502020204030204"/>
                <a:cs typeface="Calibri" panose="020F0502020204030204"/>
              </a:rPr>
              <a:t>As</a:t>
            </a:r>
            <a:r>
              <a:rPr sz="1750" spc="5" dirty="0">
                <a:latin typeface="Calibri" panose="020F0502020204030204"/>
                <a:cs typeface="Calibri" panose="020F0502020204030204"/>
              </a:rPr>
              <a:t> </a:t>
            </a:r>
            <a:r>
              <a:rPr sz="1750" spc="-5" dirty="0">
                <a:latin typeface="Calibri" panose="020F0502020204030204"/>
                <a:cs typeface="Calibri" panose="020F0502020204030204"/>
              </a:rPr>
              <a:t>each</a:t>
            </a:r>
            <a:r>
              <a:rPr sz="1750"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5" dirty="0">
                <a:latin typeface="Calibri" panose="020F0502020204030204"/>
                <a:cs typeface="Calibri" panose="020F0502020204030204"/>
              </a:rPr>
              <a:t> </a:t>
            </a:r>
            <a:r>
              <a:rPr sz="1750" spc="-5" dirty="0">
                <a:latin typeface="Calibri" panose="020F0502020204030204"/>
                <a:cs typeface="Calibri" panose="020F0502020204030204"/>
              </a:rPr>
              <a:t>returns</a:t>
            </a:r>
            <a:r>
              <a:rPr sz="1750" dirty="0">
                <a:latin typeface="Calibri" panose="020F0502020204030204"/>
                <a:cs typeface="Calibri" panose="020F0502020204030204"/>
              </a:rPr>
              <a:t> an</a:t>
            </a:r>
            <a:r>
              <a:rPr sz="1750" spc="390" dirty="0">
                <a:latin typeface="Calibri" panose="020F0502020204030204"/>
                <a:cs typeface="Calibri" panose="020F0502020204030204"/>
              </a:rPr>
              <a:t> </a:t>
            </a:r>
            <a:r>
              <a:rPr sz="1750" spc="-5" dirty="0">
                <a:latin typeface="Calibri" panose="020F0502020204030204"/>
                <a:cs typeface="Calibri" panose="020F0502020204030204"/>
              </a:rPr>
              <a:t>iterator,</a:t>
            </a:r>
            <a:r>
              <a:rPr sz="1750" dirty="0">
                <a:latin typeface="Calibri" panose="020F0502020204030204"/>
                <a:cs typeface="Calibri" panose="020F0502020204030204"/>
              </a:rPr>
              <a:t> and  </a:t>
            </a:r>
            <a:r>
              <a:rPr sz="1750" spc="-5" dirty="0">
                <a:latin typeface="Calibri" panose="020F0502020204030204"/>
                <a:cs typeface="Calibri" panose="020F0502020204030204"/>
              </a:rPr>
              <a:t>they</a:t>
            </a:r>
            <a:r>
              <a:rPr sz="1750" dirty="0">
                <a:latin typeface="Calibri" panose="020F0502020204030204"/>
                <a:cs typeface="Calibri" panose="020F0502020204030204"/>
              </a:rPr>
              <a:t> </a:t>
            </a:r>
            <a:r>
              <a:rPr sz="1750" spc="-5" dirty="0">
                <a:latin typeface="Calibri" panose="020F0502020204030204"/>
                <a:cs typeface="Calibri" panose="020F0502020204030204"/>
              </a:rPr>
              <a:t>both</a:t>
            </a:r>
            <a:r>
              <a:rPr sz="1750" spc="5" dirty="0">
                <a:latin typeface="Calibri" panose="020F0502020204030204"/>
                <a:cs typeface="Calibri" panose="020F0502020204030204"/>
              </a:rPr>
              <a:t> </a:t>
            </a:r>
            <a:r>
              <a:rPr sz="1750" dirty="0">
                <a:latin typeface="Calibri" panose="020F0502020204030204"/>
                <a:cs typeface="Calibri" panose="020F0502020204030204"/>
              </a:rPr>
              <a:t>accept  </a:t>
            </a:r>
            <a:r>
              <a:rPr sz="1750" spc="-5" dirty="0">
                <a:latin typeface="Calibri" panose="020F0502020204030204"/>
                <a:cs typeface="Calibri" panose="020F0502020204030204"/>
              </a:rPr>
              <a:t>iterable</a:t>
            </a:r>
            <a:r>
              <a:rPr sz="1750" dirty="0">
                <a:latin typeface="Calibri" panose="020F0502020204030204"/>
                <a:cs typeface="Calibri" panose="020F0502020204030204"/>
              </a:rPr>
              <a:t> </a:t>
            </a:r>
            <a:r>
              <a:rPr sz="1750" spc="-5" dirty="0">
                <a:latin typeface="Calibri" panose="020F0502020204030204"/>
                <a:cs typeface="Calibri" panose="020F0502020204030204"/>
              </a:rPr>
              <a:t>objects,</a:t>
            </a:r>
            <a:r>
              <a:rPr sz="1750" spc="5" dirty="0">
                <a:latin typeface="Calibri" panose="020F0502020204030204"/>
                <a:cs typeface="Calibri" panose="020F0502020204030204"/>
              </a:rPr>
              <a:t> </a:t>
            </a:r>
            <a:r>
              <a:rPr sz="1750" spc="-5" dirty="0">
                <a:latin typeface="Calibri" panose="020F0502020204030204"/>
                <a:cs typeface="Calibri" panose="020F0502020204030204"/>
              </a:rPr>
              <a:t>we</a:t>
            </a:r>
            <a:r>
              <a:rPr sz="1750" dirty="0">
                <a:latin typeface="Calibri" panose="020F0502020204030204"/>
                <a:cs typeface="Calibri" panose="020F0502020204030204"/>
              </a:rPr>
              <a:t> </a:t>
            </a:r>
            <a:r>
              <a:rPr sz="1750" spc="-5" dirty="0">
                <a:latin typeface="Calibri" panose="020F0502020204030204"/>
                <a:cs typeface="Calibri" panose="020F0502020204030204"/>
              </a:rPr>
              <a:t>can</a:t>
            </a:r>
            <a:r>
              <a:rPr sz="1750" dirty="0">
                <a:latin typeface="Calibri" panose="020F0502020204030204"/>
                <a:cs typeface="Calibri" panose="020F0502020204030204"/>
              </a:rPr>
              <a:t> </a:t>
            </a:r>
            <a:r>
              <a:rPr sz="1750" spc="-5" dirty="0">
                <a:latin typeface="Calibri" panose="020F0502020204030204"/>
                <a:cs typeface="Calibri" panose="020F0502020204030204"/>
              </a:rPr>
              <a:t>use</a:t>
            </a:r>
            <a:r>
              <a:rPr sz="1750" spc="5" dirty="0">
                <a:latin typeface="Calibri" panose="020F0502020204030204"/>
                <a:cs typeface="Calibri" panose="020F0502020204030204"/>
              </a:rPr>
              <a:t> </a:t>
            </a:r>
            <a:r>
              <a:rPr sz="1750" spc="-5" dirty="0">
                <a:latin typeface="Calibri" panose="020F0502020204030204"/>
                <a:cs typeface="Calibri" panose="020F0502020204030204"/>
              </a:rPr>
              <a:t>them</a:t>
            </a:r>
            <a:r>
              <a:rPr sz="1750" dirty="0">
                <a:latin typeface="Calibri" panose="020F0502020204030204"/>
                <a:cs typeface="Calibri" panose="020F0502020204030204"/>
              </a:rPr>
              <a:t> </a:t>
            </a:r>
            <a:r>
              <a:rPr sz="1750" spc="-5" dirty="0">
                <a:latin typeface="Calibri" panose="020F0502020204030204"/>
                <a:cs typeface="Calibri" panose="020F0502020204030204"/>
              </a:rPr>
              <a:t>together</a:t>
            </a:r>
            <a:r>
              <a:rPr sz="1750" dirty="0">
                <a:latin typeface="Calibri" panose="020F0502020204030204"/>
                <a:cs typeface="Calibri" panose="020F0502020204030204"/>
              </a:rPr>
              <a:t> </a:t>
            </a:r>
            <a:r>
              <a:rPr sz="1750" spc="-5" dirty="0">
                <a:latin typeface="Calibri" panose="020F0502020204030204"/>
                <a:cs typeface="Calibri" panose="020F0502020204030204"/>
              </a:rPr>
              <a:t>for</a:t>
            </a:r>
            <a:r>
              <a:rPr sz="1750" spc="5" dirty="0">
                <a:latin typeface="Calibri" panose="020F0502020204030204"/>
                <a:cs typeface="Calibri" panose="020F0502020204030204"/>
              </a:rPr>
              <a:t> </a:t>
            </a:r>
            <a:r>
              <a:rPr sz="1750" spc="-5" dirty="0">
                <a:latin typeface="Calibri" panose="020F0502020204030204"/>
                <a:cs typeface="Calibri" panose="020F0502020204030204"/>
              </a:rPr>
              <a:t>some</a:t>
            </a:r>
            <a:r>
              <a:rPr sz="1750" spc="5" dirty="0">
                <a:latin typeface="Calibri" panose="020F0502020204030204"/>
                <a:cs typeface="Calibri" panose="020F0502020204030204"/>
              </a:rPr>
              <a:t> </a:t>
            </a:r>
            <a:r>
              <a:rPr sz="1750" spc="-5" dirty="0">
                <a:latin typeface="Calibri" panose="020F0502020204030204"/>
                <a:cs typeface="Calibri" panose="020F0502020204030204"/>
              </a:rPr>
              <a:t>really </a:t>
            </a:r>
            <a:r>
              <a:rPr sz="1750" spc="-385" dirty="0">
                <a:latin typeface="Calibri" panose="020F0502020204030204"/>
                <a:cs typeface="Calibri" panose="020F0502020204030204"/>
              </a:rPr>
              <a:t> </a:t>
            </a:r>
            <a:r>
              <a:rPr sz="1750" spc="-5" dirty="0">
                <a:latin typeface="Calibri" panose="020F0502020204030204"/>
                <a:cs typeface="Calibri" panose="020F0502020204030204"/>
              </a:rPr>
              <a:t>expressive</a:t>
            </a:r>
            <a:r>
              <a:rPr sz="1750" spc="-10" dirty="0">
                <a:latin typeface="Calibri" panose="020F0502020204030204"/>
                <a:cs typeface="Calibri" panose="020F0502020204030204"/>
              </a:rPr>
              <a:t> </a:t>
            </a:r>
            <a:r>
              <a:rPr sz="1750" spc="-5" dirty="0">
                <a:latin typeface="Calibri" panose="020F0502020204030204"/>
                <a:cs typeface="Calibri" panose="020F0502020204030204"/>
              </a:rPr>
              <a:t>data manipulations!</a:t>
            </a:r>
            <a:endParaRPr sz="1750">
              <a:latin typeface="Calibri" panose="020F0502020204030204"/>
              <a:cs typeface="Calibri" panose="020F0502020204030204"/>
            </a:endParaRPr>
          </a:p>
          <a:p>
            <a:pPr marL="12700">
              <a:lnSpc>
                <a:spcPct val="100000"/>
              </a:lnSpc>
              <a:spcBef>
                <a:spcPts val="1050"/>
              </a:spcBef>
            </a:pPr>
            <a:r>
              <a:rPr sz="1750" b="1" spc="-5" dirty="0">
                <a:latin typeface="Calibri" panose="020F0502020204030204"/>
                <a:cs typeface="Calibri" panose="020F0502020204030204"/>
              </a:rPr>
              <a:t>List</a:t>
            </a:r>
            <a:r>
              <a:rPr sz="1750" b="1" spc="-45" dirty="0">
                <a:latin typeface="Calibri" panose="020F0502020204030204"/>
                <a:cs typeface="Calibri" panose="020F0502020204030204"/>
              </a:rPr>
              <a:t> </a:t>
            </a:r>
            <a:r>
              <a:rPr sz="1750" b="1" spc="-5" dirty="0">
                <a:latin typeface="Calibri" panose="020F0502020204030204"/>
                <a:cs typeface="Calibri" panose="020F0502020204030204"/>
              </a:rPr>
              <a:t>Comprehensions</a:t>
            </a:r>
            <a:endParaRPr sz="1750">
              <a:latin typeface="Calibri" panose="020F0502020204030204"/>
              <a:cs typeface="Calibri" panose="020F0502020204030204"/>
            </a:endParaRPr>
          </a:p>
          <a:p>
            <a:pPr marL="298450" marR="8890" indent="-252730">
              <a:lnSpc>
                <a:spcPct val="150000"/>
              </a:lnSpc>
              <a:buFont typeface="Arial MT"/>
              <a:buChar char="•"/>
              <a:tabLst>
                <a:tab pos="297815" algn="l"/>
                <a:tab pos="298450" algn="l"/>
              </a:tabLst>
            </a:pPr>
            <a:r>
              <a:rPr sz="1750" dirty="0">
                <a:latin typeface="Calibri" panose="020F0502020204030204"/>
                <a:cs typeface="Calibri" panose="020F0502020204030204"/>
              </a:rPr>
              <a:t>A</a:t>
            </a:r>
            <a:r>
              <a:rPr sz="1750" spc="30" dirty="0">
                <a:latin typeface="Calibri" panose="020F0502020204030204"/>
                <a:cs typeface="Calibri" panose="020F0502020204030204"/>
              </a:rPr>
              <a:t> </a:t>
            </a:r>
            <a:r>
              <a:rPr sz="1750" spc="-5" dirty="0">
                <a:latin typeface="Calibri" panose="020F0502020204030204"/>
                <a:cs typeface="Calibri" panose="020F0502020204030204"/>
              </a:rPr>
              <a:t>popular</a:t>
            </a:r>
            <a:r>
              <a:rPr sz="1750" spc="40" dirty="0">
                <a:latin typeface="Calibri" panose="020F0502020204030204"/>
                <a:cs typeface="Calibri" panose="020F0502020204030204"/>
              </a:rPr>
              <a:t> </a:t>
            </a:r>
            <a:r>
              <a:rPr sz="1750" spc="-5" dirty="0">
                <a:latin typeface="Calibri" panose="020F0502020204030204"/>
                <a:cs typeface="Calibri" panose="020F0502020204030204"/>
              </a:rPr>
              <a:t>Python</a:t>
            </a:r>
            <a:r>
              <a:rPr sz="1750" spc="30" dirty="0">
                <a:latin typeface="Calibri" panose="020F0502020204030204"/>
                <a:cs typeface="Calibri" panose="020F0502020204030204"/>
              </a:rPr>
              <a:t> </a:t>
            </a:r>
            <a:r>
              <a:rPr sz="1750" spc="-5" dirty="0">
                <a:latin typeface="Calibri" panose="020F0502020204030204"/>
                <a:cs typeface="Calibri" panose="020F0502020204030204"/>
              </a:rPr>
              <a:t>feature</a:t>
            </a:r>
            <a:r>
              <a:rPr sz="1750" spc="40" dirty="0">
                <a:latin typeface="Calibri" panose="020F0502020204030204"/>
                <a:cs typeface="Calibri" panose="020F0502020204030204"/>
              </a:rPr>
              <a:t> </a:t>
            </a:r>
            <a:r>
              <a:rPr sz="1750" spc="-5" dirty="0">
                <a:latin typeface="Calibri" panose="020F0502020204030204"/>
                <a:cs typeface="Calibri" panose="020F0502020204030204"/>
              </a:rPr>
              <a:t>that</a:t>
            </a:r>
            <a:r>
              <a:rPr sz="1750" spc="35" dirty="0">
                <a:latin typeface="Calibri" panose="020F0502020204030204"/>
                <a:cs typeface="Calibri" panose="020F0502020204030204"/>
              </a:rPr>
              <a:t> </a:t>
            </a:r>
            <a:r>
              <a:rPr sz="1750" dirty="0">
                <a:latin typeface="Calibri" panose="020F0502020204030204"/>
                <a:cs typeface="Calibri" panose="020F0502020204030204"/>
              </a:rPr>
              <a:t>appears</a:t>
            </a:r>
            <a:r>
              <a:rPr sz="1750" spc="35" dirty="0">
                <a:latin typeface="Calibri" panose="020F0502020204030204"/>
                <a:cs typeface="Calibri" panose="020F0502020204030204"/>
              </a:rPr>
              <a:t> </a:t>
            </a:r>
            <a:r>
              <a:rPr sz="1750" spc="-5" dirty="0">
                <a:latin typeface="Calibri" panose="020F0502020204030204"/>
                <a:cs typeface="Calibri" panose="020F0502020204030204"/>
              </a:rPr>
              <a:t>prominently</a:t>
            </a:r>
            <a:r>
              <a:rPr sz="1750" spc="40" dirty="0">
                <a:latin typeface="Calibri" panose="020F0502020204030204"/>
                <a:cs typeface="Calibri" panose="020F0502020204030204"/>
              </a:rPr>
              <a:t> </a:t>
            </a:r>
            <a:r>
              <a:rPr sz="1750" spc="-5" dirty="0">
                <a:latin typeface="Calibri" panose="020F0502020204030204"/>
                <a:cs typeface="Calibri" panose="020F0502020204030204"/>
              </a:rPr>
              <a:t>in</a:t>
            </a:r>
            <a:r>
              <a:rPr sz="1750" spc="40" dirty="0">
                <a:latin typeface="Calibri" panose="020F0502020204030204"/>
                <a:cs typeface="Calibri" panose="020F0502020204030204"/>
              </a:rPr>
              <a:t> </a:t>
            </a:r>
            <a:r>
              <a:rPr sz="1750" spc="-5" dirty="0">
                <a:latin typeface="Calibri" panose="020F0502020204030204"/>
                <a:cs typeface="Calibri" panose="020F0502020204030204"/>
              </a:rPr>
              <a:t>Functional</a:t>
            </a:r>
            <a:r>
              <a:rPr sz="1750" spc="35" dirty="0">
                <a:latin typeface="Calibri" panose="020F0502020204030204"/>
                <a:cs typeface="Calibri" panose="020F0502020204030204"/>
              </a:rPr>
              <a:t> </a:t>
            </a:r>
            <a:r>
              <a:rPr sz="1750" spc="-5" dirty="0">
                <a:latin typeface="Calibri" panose="020F0502020204030204"/>
                <a:cs typeface="Calibri" panose="020F0502020204030204"/>
              </a:rPr>
              <a:t>Programming</a:t>
            </a:r>
            <a:r>
              <a:rPr sz="1750" spc="35" dirty="0">
                <a:latin typeface="Calibri" panose="020F0502020204030204"/>
                <a:cs typeface="Calibri" panose="020F0502020204030204"/>
              </a:rPr>
              <a:t> </a:t>
            </a:r>
            <a:r>
              <a:rPr sz="1750" spc="-5" dirty="0">
                <a:latin typeface="Calibri" panose="020F0502020204030204"/>
                <a:cs typeface="Calibri" panose="020F0502020204030204"/>
              </a:rPr>
              <a:t>Languages</a:t>
            </a:r>
            <a:r>
              <a:rPr sz="1750" spc="40" dirty="0">
                <a:latin typeface="Calibri" panose="020F0502020204030204"/>
                <a:cs typeface="Calibri" panose="020F0502020204030204"/>
              </a:rPr>
              <a:t> </a:t>
            </a:r>
            <a:r>
              <a:rPr sz="1750" spc="-5" dirty="0">
                <a:latin typeface="Calibri" panose="020F0502020204030204"/>
                <a:cs typeface="Calibri" panose="020F0502020204030204"/>
              </a:rPr>
              <a:t>is</a:t>
            </a:r>
            <a:r>
              <a:rPr sz="1750" spc="35" dirty="0">
                <a:latin typeface="Calibri" panose="020F0502020204030204"/>
                <a:cs typeface="Calibri" panose="020F0502020204030204"/>
              </a:rPr>
              <a:t> </a:t>
            </a:r>
            <a:r>
              <a:rPr sz="1750" spc="-5" dirty="0">
                <a:latin typeface="Calibri" panose="020F0502020204030204"/>
                <a:cs typeface="Calibri" panose="020F0502020204030204"/>
              </a:rPr>
              <a:t>list</a:t>
            </a:r>
            <a:r>
              <a:rPr sz="1750" spc="40" dirty="0">
                <a:latin typeface="Calibri" panose="020F0502020204030204"/>
                <a:cs typeface="Calibri" panose="020F0502020204030204"/>
              </a:rPr>
              <a:t> </a:t>
            </a:r>
            <a:r>
              <a:rPr sz="1750" spc="-5" dirty="0">
                <a:latin typeface="Calibri" panose="020F0502020204030204"/>
                <a:cs typeface="Calibri" panose="020F0502020204030204"/>
              </a:rPr>
              <a:t>comprehensions.</a:t>
            </a:r>
            <a:r>
              <a:rPr sz="1750" spc="30" dirty="0">
                <a:latin typeface="Calibri" panose="020F0502020204030204"/>
                <a:cs typeface="Calibri" panose="020F0502020204030204"/>
              </a:rPr>
              <a:t> </a:t>
            </a:r>
            <a:r>
              <a:rPr sz="1750" spc="-5" dirty="0">
                <a:latin typeface="Calibri" panose="020F0502020204030204"/>
                <a:cs typeface="Calibri" panose="020F0502020204030204"/>
              </a:rPr>
              <a:t>Like</a:t>
            </a:r>
            <a:r>
              <a:rPr sz="1750" spc="40" dirty="0">
                <a:latin typeface="Calibri" panose="020F0502020204030204"/>
                <a:cs typeface="Calibri" panose="020F0502020204030204"/>
              </a:rPr>
              <a:t> </a:t>
            </a:r>
            <a:r>
              <a:rPr sz="1750" spc="-5" dirty="0">
                <a:latin typeface="Calibri" panose="020F0502020204030204"/>
                <a:cs typeface="Calibri" panose="020F0502020204030204"/>
              </a:rPr>
              <a:t>the</a:t>
            </a:r>
            <a:r>
              <a:rPr sz="1750" spc="35" dirty="0">
                <a:latin typeface="Calibri" panose="020F0502020204030204"/>
                <a:cs typeface="Calibri" panose="020F0502020204030204"/>
              </a:rPr>
              <a:t> </a:t>
            </a:r>
            <a:r>
              <a:rPr sz="1750" spc="-5" dirty="0">
                <a:latin typeface="Calibri" panose="020F0502020204030204"/>
                <a:cs typeface="Calibri" panose="020F0502020204030204"/>
              </a:rPr>
              <a:t>map </a:t>
            </a:r>
            <a:r>
              <a:rPr sz="1750" spc="-380" dirty="0">
                <a:latin typeface="Calibri" panose="020F0502020204030204"/>
                <a:cs typeface="Calibri" panose="020F0502020204030204"/>
              </a:rPr>
              <a:t> </a:t>
            </a:r>
            <a:r>
              <a:rPr sz="1750" dirty="0">
                <a:latin typeface="Calibri" panose="020F0502020204030204"/>
                <a:cs typeface="Calibri" panose="020F0502020204030204"/>
              </a:rPr>
              <a:t>and</a:t>
            </a:r>
            <a:r>
              <a:rPr sz="1750" spc="-10" dirty="0">
                <a:latin typeface="Calibri" panose="020F0502020204030204"/>
                <a:cs typeface="Calibri" panose="020F0502020204030204"/>
              </a:rPr>
              <a:t> </a:t>
            </a:r>
            <a:r>
              <a:rPr sz="1750" spc="-5" dirty="0">
                <a:latin typeface="Calibri" panose="020F0502020204030204"/>
                <a:cs typeface="Calibri" panose="020F0502020204030204"/>
              </a:rPr>
              <a:t>filter functions, list comprehensions </a:t>
            </a:r>
            <a:r>
              <a:rPr sz="1750" dirty="0">
                <a:latin typeface="Calibri" panose="020F0502020204030204"/>
                <a:cs typeface="Calibri" panose="020F0502020204030204"/>
              </a:rPr>
              <a:t>allow</a:t>
            </a:r>
            <a:r>
              <a:rPr sz="1750" spc="-5" dirty="0">
                <a:latin typeface="Calibri" panose="020F0502020204030204"/>
                <a:cs typeface="Calibri" panose="020F0502020204030204"/>
              </a:rPr>
              <a:t> us to modify</a:t>
            </a:r>
            <a:r>
              <a:rPr sz="1750" spc="-10" dirty="0">
                <a:latin typeface="Calibri" panose="020F0502020204030204"/>
                <a:cs typeface="Calibri" panose="020F0502020204030204"/>
              </a:rPr>
              <a:t> </a:t>
            </a:r>
            <a:r>
              <a:rPr sz="1750" spc="-5" dirty="0">
                <a:latin typeface="Calibri" panose="020F0502020204030204"/>
                <a:cs typeface="Calibri" panose="020F0502020204030204"/>
              </a:rPr>
              <a:t>data in </a:t>
            </a:r>
            <a:r>
              <a:rPr sz="1750" dirty="0">
                <a:latin typeface="Calibri" panose="020F0502020204030204"/>
                <a:cs typeface="Calibri" panose="020F0502020204030204"/>
              </a:rPr>
              <a:t>a</a:t>
            </a:r>
            <a:r>
              <a:rPr sz="1750" spc="-5" dirty="0">
                <a:latin typeface="Calibri" panose="020F0502020204030204"/>
                <a:cs typeface="Calibri" panose="020F0502020204030204"/>
              </a:rPr>
              <a:t> concise, expressive way.</a:t>
            </a:r>
            <a:endParaRPr sz="1750">
              <a:latin typeface="Calibri" panose="020F0502020204030204"/>
              <a:cs typeface="Calibri" panose="020F0502020204030204"/>
            </a:endParaRPr>
          </a:p>
        </p:txBody>
      </p:sp>
      <p:sp>
        <p:nvSpPr>
          <p:cNvPr id="7" name="Slide Number Placeholder 6"/>
          <p:cNvSpPr>
            <a:spLocks noGrp="1"/>
          </p:cNvSpPr>
          <p:nvPr>
            <p:ph type="sldNum" sz="quarter" idx="7"/>
          </p:nvPr>
        </p:nvSpPr>
        <p:spPr/>
        <p:txBody>
          <a:bodyPr/>
          <a:lstStyle/>
          <a:p>
            <a:fld id="{B6F15528-21DE-4FAA-801E-634DDDAF4B2B}" type="slidenum">
              <a:rPr/>
              <a:t>24</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19698"/>
            <a:ext cx="2706370"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Anonymous</a:t>
            </a:r>
            <a:r>
              <a:rPr spc="-8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Function</a:t>
            </a: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4"/>
            <a:ext cx="12105640" cy="5979795"/>
          </a:xfrm>
          <a:custGeom>
            <a:avLst/>
            <a:gdLst/>
            <a:ahLst/>
            <a:cxnLst/>
            <a:rect l="l" t="t" r="r" b="b"/>
            <a:pathLst>
              <a:path w="12105640" h="5979795">
                <a:moveTo>
                  <a:pt x="0" y="0"/>
                </a:moveTo>
                <a:lnTo>
                  <a:pt x="12105503" y="0"/>
                </a:lnTo>
                <a:lnTo>
                  <a:pt x="12105503" y="5979175"/>
                </a:lnTo>
                <a:lnTo>
                  <a:pt x="0" y="5979175"/>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127469" y="460061"/>
            <a:ext cx="11975465" cy="3225800"/>
          </a:xfrm>
          <a:prstGeom prst="rect">
            <a:avLst/>
          </a:prstGeom>
        </p:spPr>
        <p:txBody>
          <a:bodyPr vert="horz" wrap="square" lIns="0" tIns="146050" rIns="0" bIns="0" rtlCol="0">
            <a:spAutoFit/>
          </a:bodyPr>
          <a:lstStyle/>
          <a:p>
            <a:pPr marL="264795" indent="-252730">
              <a:lnSpc>
                <a:spcPct val="100000"/>
              </a:lnSpc>
              <a:spcBef>
                <a:spcPts val="1150"/>
              </a:spcBef>
              <a:buFont typeface="Arial MT"/>
              <a:buChar char="•"/>
              <a:tabLst>
                <a:tab pos="264795" algn="l"/>
                <a:tab pos="265430" algn="l"/>
              </a:tabLst>
            </a:pPr>
            <a:r>
              <a:rPr sz="1750" spc="-5" dirty="0">
                <a:latin typeface="Calibri" panose="020F0502020204030204"/>
                <a:cs typeface="Calibri" panose="020F0502020204030204"/>
              </a:rPr>
              <a:t>In</a:t>
            </a:r>
            <a:r>
              <a:rPr sz="1750" spc="-10" dirty="0">
                <a:latin typeface="Calibri" panose="020F0502020204030204"/>
                <a:cs typeface="Calibri" panose="020F0502020204030204"/>
              </a:rPr>
              <a:t> </a:t>
            </a:r>
            <a:r>
              <a:rPr sz="1750" spc="-5" dirty="0">
                <a:latin typeface="Calibri" panose="020F0502020204030204"/>
                <a:cs typeface="Calibri" panose="020F0502020204030204"/>
              </a:rPr>
              <a:t>Python,</a:t>
            </a:r>
            <a:r>
              <a:rPr sz="1750" spc="-10" dirty="0">
                <a:latin typeface="Calibri" panose="020F0502020204030204"/>
                <a:cs typeface="Calibri" panose="020F0502020204030204"/>
              </a:rPr>
              <a:t> </a:t>
            </a:r>
            <a:r>
              <a:rPr sz="1750" dirty="0">
                <a:latin typeface="Calibri" panose="020F0502020204030204"/>
                <a:cs typeface="Calibri" panose="020F0502020204030204"/>
              </a:rPr>
              <a:t>anonymous</a:t>
            </a:r>
            <a:r>
              <a:rPr sz="1750" spc="-10"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10" dirty="0">
                <a:latin typeface="Calibri" panose="020F0502020204030204"/>
                <a:cs typeface="Calibri" panose="020F0502020204030204"/>
              </a:rPr>
              <a:t> </a:t>
            </a:r>
            <a:r>
              <a:rPr sz="1750" spc="-5" dirty="0">
                <a:latin typeface="Calibri" panose="020F0502020204030204"/>
                <a:cs typeface="Calibri" panose="020F0502020204030204"/>
              </a:rPr>
              <a:t>is</a:t>
            </a:r>
            <a:r>
              <a:rPr sz="1750" spc="-10" dirty="0">
                <a:latin typeface="Calibri" panose="020F0502020204030204"/>
                <a:cs typeface="Calibri" panose="020F0502020204030204"/>
              </a:rPr>
              <a:t> </a:t>
            </a:r>
            <a:r>
              <a:rPr sz="1750" dirty="0">
                <a:latin typeface="Calibri" panose="020F0502020204030204"/>
                <a:cs typeface="Calibri" panose="020F0502020204030204"/>
              </a:rPr>
              <a:t>a</a:t>
            </a:r>
            <a:r>
              <a:rPr sz="1750" spc="-5" dirty="0">
                <a:latin typeface="Calibri" panose="020F0502020204030204"/>
                <a:cs typeface="Calibri" panose="020F0502020204030204"/>
              </a:rPr>
              <a:t> function</a:t>
            </a:r>
            <a:r>
              <a:rPr sz="1750" spc="-10" dirty="0">
                <a:latin typeface="Calibri" panose="020F0502020204030204"/>
                <a:cs typeface="Calibri" panose="020F0502020204030204"/>
              </a:rPr>
              <a:t> </a:t>
            </a:r>
            <a:r>
              <a:rPr sz="1750" spc="-5" dirty="0">
                <a:latin typeface="Calibri" panose="020F0502020204030204"/>
                <a:cs typeface="Calibri" panose="020F0502020204030204"/>
              </a:rPr>
              <a:t>that</a:t>
            </a:r>
            <a:r>
              <a:rPr sz="1750" spc="-10" dirty="0">
                <a:latin typeface="Calibri" panose="020F0502020204030204"/>
                <a:cs typeface="Calibri" panose="020F0502020204030204"/>
              </a:rPr>
              <a:t> </a:t>
            </a:r>
            <a:r>
              <a:rPr sz="1750" spc="-5" dirty="0">
                <a:latin typeface="Calibri" panose="020F0502020204030204"/>
                <a:cs typeface="Calibri" panose="020F0502020204030204"/>
              </a:rPr>
              <a:t>is</a:t>
            </a:r>
            <a:r>
              <a:rPr sz="1750" spc="-10" dirty="0">
                <a:latin typeface="Calibri" panose="020F0502020204030204"/>
                <a:cs typeface="Calibri" panose="020F0502020204030204"/>
              </a:rPr>
              <a:t> </a:t>
            </a:r>
            <a:r>
              <a:rPr sz="1750" spc="-5" dirty="0">
                <a:latin typeface="Calibri" panose="020F0502020204030204"/>
                <a:cs typeface="Calibri" panose="020F0502020204030204"/>
              </a:rPr>
              <a:t>defined</a:t>
            </a:r>
            <a:r>
              <a:rPr sz="1750" spc="-10" dirty="0">
                <a:latin typeface="Calibri" panose="020F0502020204030204"/>
                <a:cs typeface="Calibri" panose="020F0502020204030204"/>
              </a:rPr>
              <a:t> </a:t>
            </a:r>
            <a:r>
              <a:rPr sz="1750" spc="-5" dirty="0">
                <a:latin typeface="Calibri" panose="020F0502020204030204"/>
                <a:cs typeface="Calibri" panose="020F0502020204030204"/>
              </a:rPr>
              <a:t>without </a:t>
            </a:r>
            <a:r>
              <a:rPr sz="1750" dirty="0">
                <a:latin typeface="Calibri" panose="020F0502020204030204"/>
                <a:cs typeface="Calibri" panose="020F0502020204030204"/>
              </a:rPr>
              <a:t>a</a:t>
            </a:r>
            <a:r>
              <a:rPr sz="1750" spc="-10" dirty="0">
                <a:latin typeface="Calibri" panose="020F0502020204030204"/>
                <a:cs typeface="Calibri" panose="020F0502020204030204"/>
              </a:rPr>
              <a:t> </a:t>
            </a:r>
            <a:r>
              <a:rPr sz="1750" spc="-5" dirty="0">
                <a:latin typeface="Calibri" panose="020F0502020204030204"/>
                <a:cs typeface="Calibri" panose="020F0502020204030204"/>
              </a:rPr>
              <a:t>name.</a:t>
            </a:r>
            <a:endParaRPr sz="1750">
              <a:latin typeface="Calibri" panose="020F0502020204030204"/>
              <a:cs typeface="Calibri" panose="020F0502020204030204"/>
            </a:endParaRPr>
          </a:p>
          <a:p>
            <a:pPr marL="264795" marR="5080" indent="-252730">
              <a:lnSpc>
                <a:spcPct val="150000"/>
              </a:lnSpc>
              <a:buFont typeface="Arial MT"/>
              <a:buChar char="•"/>
              <a:tabLst>
                <a:tab pos="264795" algn="l"/>
                <a:tab pos="265430" algn="l"/>
              </a:tabLst>
            </a:pPr>
            <a:r>
              <a:rPr sz="1750" spc="-5" dirty="0">
                <a:latin typeface="Calibri" panose="020F0502020204030204"/>
                <a:cs typeface="Calibri" panose="020F0502020204030204"/>
              </a:rPr>
              <a:t>While</a:t>
            </a:r>
            <a:r>
              <a:rPr sz="1750" spc="360" dirty="0">
                <a:latin typeface="Calibri" panose="020F0502020204030204"/>
                <a:cs typeface="Calibri" panose="020F0502020204030204"/>
              </a:rPr>
              <a:t> </a:t>
            </a:r>
            <a:r>
              <a:rPr sz="1750" spc="-5" dirty="0">
                <a:latin typeface="Calibri" panose="020F0502020204030204"/>
                <a:cs typeface="Calibri" panose="020F0502020204030204"/>
              </a:rPr>
              <a:t>normal</a:t>
            </a:r>
            <a:r>
              <a:rPr sz="1750" spc="370" dirty="0">
                <a:latin typeface="Calibri" panose="020F0502020204030204"/>
                <a:cs typeface="Calibri" panose="020F0502020204030204"/>
              </a:rPr>
              <a:t> </a:t>
            </a:r>
            <a:r>
              <a:rPr sz="1750" spc="-5" dirty="0">
                <a:latin typeface="Calibri" panose="020F0502020204030204"/>
                <a:cs typeface="Calibri" panose="020F0502020204030204"/>
              </a:rPr>
              <a:t>functions</a:t>
            </a:r>
            <a:r>
              <a:rPr sz="1750" spc="370" dirty="0">
                <a:latin typeface="Calibri" panose="020F0502020204030204"/>
                <a:cs typeface="Calibri" panose="020F0502020204030204"/>
              </a:rPr>
              <a:t> </a:t>
            </a:r>
            <a:r>
              <a:rPr sz="1750" dirty="0">
                <a:latin typeface="Calibri" panose="020F0502020204030204"/>
                <a:cs typeface="Calibri" panose="020F0502020204030204"/>
              </a:rPr>
              <a:t>are</a:t>
            </a:r>
            <a:r>
              <a:rPr sz="1750" spc="370" dirty="0">
                <a:latin typeface="Calibri" panose="020F0502020204030204"/>
                <a:cs typeface="Calibri" panose="020F0502020204030204"/>
              </a:rPr>
              <a:t> </a:t>
            </a:r>
            <a:r>
              <a:rPr sz="1750" spc="-5" dirty="0">
                <a:latin typeface="Calibri" panose="020F0502020204030204"/>
                <a:cs typeface="Calibri" panose="020F0502020204030204"/>
              </a:rPr>
              <a:t>defined</a:t>
            </a:r>
            <a:r>
              <a:rPr sz="1750" spc="365" dirty="0">
                <a:latin typeface="Calibri" panose="020F0502020204030204"/>
                <a:cs typeface="Calibri" panose="020F0502020204030204"/>
              </a:rPr>
              <a:t> </a:t>
            </a:r>
            <a:r>
              <a:rPr sz="1750" spc="-5" dirty="0">
                <a:latin typeface="Calibri" panose="020F0502020204030204"/>
                <a:cs typeface="Calibri" panose="020F0502020204030204"/>
              </a:rPr>
              <a:t>using</a:t>
            </a:r>
            <a:r>
              <a:rPr sz="1750" spc="370" dirty="0">
                <a:latin typeface="Calibri" panose="020F0502020204030204"/>
                <a:cs typeface="Calibri" panose="020F0502020204030204"/>
              </a:rPr>
              <a:t> </a:t>
            </a:r>
            <a:r>
              <a:rPr sz="1750" spc="-5" dirty="0">
                <a:latin typeface="Calibri" panose="020F0502020204030204"/>
                <a:cs typeface="Calibri" panose="020F0502020204030204"/>
              </a:rPr>
              <a:t>the</a:t>
            </a:r>
            <a:r>
              <a:rPr sz="1750" spc="365" dirty="0">
                <a:latin typeface="Calibri" panose="020F0502020204030204"/>
                <a:cs typeface="Calibri" panose="020F0502020204030204"/>
              </a:rPr>
              <a:t> </a:t>
            </a:r>
            <a:r>
              <a:rPr sz="1750" spc="-5" dirty="0">
                <a:latin typeface="Calibri" panose="020F0502020204030204"/>
                <a:cs typeface="Calibri" panose="020F0502020204030204"/>
              </a:rPr>
              <a:t>def</a:t>
            </a:r>
            <a:r>
              <a:rPr sz="1750" spc="370" dirty="0">
                <a:latin typeface="Calibri" panose="020F0502020204030204"/>
                <a:cs typeface="Calibri" panose="020F0502020204030204"/>
              </a:rPr>
              <a:t> </a:t>
            </a:r>
            <a:r>
              <a:rPr sz="1750" spc="-5" dirty="0">
                <a:latin typeface="Calibri" panose="020F0502020204030204"/>
                <a:cs typeface="Calibri" panose="020F0502020204030204"/>
              </a:rPr>
              <a:t>keyword,</a:t>
            </a:r>
            <a:r>
              <a:rPr sz="1750" spc="365" dirty="0">
                <a:latin typeface="Calibri" panose="020F0502020204030204"/>
                <a:cs typeface="Calibri" panose="020F0502020204030204"/>
              </a:rPr>
              <a:t> </a:t>
            </a:r>
            <a:r>
              <a:rPr sz="1750" spc="-5" dirty="0">
                <a:latin typeface="Calibri" panose="020F0502020204030204"/>
                <a:cs typeface="Calibri" panose="020F0502020204030204"/>
              </a:rPr>
              <a:t>in</a:t>
            </a:r>
            <a:r>
              <a:rPr sz="1750" spc="365" dirty="0">
                <a:latin typeface="Calibri" panose="020F0502020204030204"/>
                <a:cs typeface="Calibri" panose="020F0502020204030204"/>
              </a:rPr>
              <a:t> </a:t>
            </a:r>
            <a:r>
              <a:rPr sz="1750" spc="-5" dirty="0">
                <a:latin typeface="Calibri" panose="020F0502020204030204"/>
                <a:cs typeface="Calibri" panose="020F0502020204030204"/>
              </a:rPr>
              <a:t>Python</a:t>
            </a:r>
            <a:r>
              <a:rPr sz="1750" spc="365" dirty="0">
                <a:latin typeface="Calibri" panose="020F0502020204030204"/>
                <a:cs typeface="Calibri" panose="020F0502020204030204"/>
              </a:rPr>
              <a:t> </a:t>
            </a:r>
            <a:r>
              <a:rPr sz="1750" dirty="0">
                <a:latin typeface="Calibri" panose="020F0502020204030204"/>
                <a:cs typeface="Calibri" panose="020F0502020204030204"/>
              </a:rPr>
              <a:t>anonymous</a:t>
            </a:r>
            <a:r>
              <a:rPr sz="1750" spc="370" dirty="0">
                <a:latin typeface="Calibri" panose="020F0502020204030204"/>
                <a:cs typeface="Calibri" panose="020F0502020204030204"/>
              </a:rPr>
              <a:t> </a:t>
            </a:r>
            <a:r>
              <a:rPr sz="1750" spc="-5" dirty="0">
                <a:latin typeface="Calibri" panose="020F0502020204030204"/>
                <a:cs typeface="Calibri" panose="020F0502020204030204"/>
              </a:rPr>
              <a:t>functions</a:t>
            </a:r>
            <a:r>
              <a:rPr sz="1750" spc="370" dirty="0">
                <a:latin typeface="Calibri" panose="020F0502020204030204"/>
                <a:cs typeface="Calibri" panose="020F0502020204030204"/>
              </a:rPr>
              <a:t> </a:t>
            </a:r>
            <a:r>
              <a:rPr sz="1750" dirty="0">
                <a:latin typeface="Calibri" panose="020F0502020204030204"/>
                <a:cs typeface="Calibri" panose="020F0502020204030204"/>
              </a:rPr>
              <a:t>are</a:t>
            </a:r>
            <a:r>
              <a:rPr sz="1750" spc="365" dirty="0">
                <a:latin typeface="Calibri" panose="020F0502020204030204"/>
                <a:cs typeface="Calibri" panose="020F0502020204030204"/>
              </a:rPr>
              <a:t> </a:t>
            </a:r>
            <a:r>
              <a:rPr sz="1750" spc="-5" dirty="0">
                <a:latin typeface="Calibri" panose="020F0502020204030204"/>
                <a:cs typeface="Calibri" panose="020F0502020204030204"/>
              </a:rPr>
              <a:t>defined</a:t>
            </a:r>
            <a:r>
              <a:rPr sz="1750" spc="370" dirty="0">
                <a:latin typeface="Calibri" panose="020F0502020204030204"/>
                <a:cs typeface="Calibri" panose="020F0502020204030204"/>
              </a:rPr>
              <a:t> </a:t>
            </a:r>
            <a:r>
              <a:rPr sz="1750" spc="-5" dirty="0">
                <a:latin typeface="Calibri" panose="020F0502020204030204"/>
                <a:cs typeface="Calibri" panose="020F0502020204030204"/>
              </a:rPr>
              <a:t>using</a:t>
            </a:r>
            <a:r>
              <a:rPr sz="1750" spc="370" dirty="0">
                <a:latin typeface="Calibri" panose="020F0502020204030204"/>
                <a:cs typeface="Calibri" panose="020F0502020204030204"/>
              </a:rPr>
              <a:t> </a:t>
            </a:r>
            <a:r>
              <a:rPr sz="1750" spc="-5" dirty="0">
                <a:latin typeface="Calibri" panose="020F0502020204030204"/>
                <a:cs typeface="Calibri" panose="020F0502020204030204"/>
              </a:rPr>
              <a:t>the</a:t>
            </a:r>
            <a:r>
              <a:rPr sz="1750" spc="365" dirty="0">
                <a:latin typeface="Calibri" panose="020F0502020204030204"/>
                <a:cs typeface="Calibri" panose="020F0502020204030204"/>
              </a:rPr>
              <a:t> </a:t>
            </a:r>
            <a:r>
              <a:rPr sz="1750" spc="-5" dirty="0">
                <a:latin typeface="Calibri" panose="020F0502020204030204"/>
                <a:cs typeface="Calibri" panose="020F0502020204030204"/>
              </a:rPr>
              <a:t>lambda </a:t>
            </a:r>
            <a:r>
              <a:rPr sz="1750" spc="-380" dirty="0">
                <a:latin typeface="Calibri" panose="020F0502020204030204"/>
                <a:cs typeface="Calibri" panose="020F0502020204030204"/>
              </a:rPr>
              <a:t> </a:t>
            </a:r>
            <a:r>
              <a:rPr sz="1750" spc="-5" dirty="0">
                <a:latin typeface="Calibri" panose="020F0502020204030204"/>
                <a:cs typeface="Calibri" panose="020F0502020204030204"/>
              </a:rPr>
              <a:t>keyword.</a:t>
            </a:r>
            <a:endParaRPr sz="1750">
              <a:latin typeface="Calibri" panose="020F0502020204030204"/>
              <a:cs typeface="Calibri" panose="020F0502020204030204"/>
            </a:endParaRPr>
          </a:p>
          <a:p>
            <a:pPr marL="29210">
              <a:lnSpc>
                <a:spcPct val="100000"/>
              </a:lnSpc>
              <a:spcBef>
                <a:spcPts val="1050"/>
              </a:spcBef>
            </a:pPr>
            <a:r>
              <a:rPr sz="1750" b="1" spc="-5" dirty="0">
                <a:latin typeface="Calibri" panose="020F0502020204030204"/>
                <a:cs typeface="Calibri" panose="020F0502020204030204"/>
              </a:rPr>
              <a:t>Characteristics</a:t>
            </a:r>
            <a:r>
              <a:rPr sz="1750" b="1" spc="-20" dirty="0">
                <a:latin typeface="Calibri" panose="020F0502020204030204"/>
                <a:cs typeface="Calibri" panose="020F0502020204030204"/>
              </a:rPr>
              <a:t> </a:t>
            </a:r>
            <a:r>
              <a:rPr sz="1750" b="1" spc="-5" dirty="0">
                <a:latin typeface="Calibri" panose="020F0502020204030204"/>
                <a:cs typeface="Calibri" panose="020F0502020204030204"/>
              </a:rPr>
              <a:t>of</a:t>
            </a:r>
            <a:r>
              <a:rPr sz="1750" b="1" spc="-20" dirty="0">
                <a:latin typeface="Calibri" panose="020F0502020204030204"/>
                <a:cs typeface="Calibri" panose="020F0502020204030204"/>
              </a:rPr>
              <a:t> </a:t>
            </a:r>
            <a:r>
              <a:rPr sz="1750" b="1" spc="-5" dirty="0">
                <a:latin typeface="Calibri" panose="020F0502020204030204"/>
                <a:cs typeface="Calibri" panose="020F0502020204030204"/>
              </a:rPr>
              <a:t>Python</a:t>
            </a:r>
            <a:r>
              <a:rPr sz="1750" b="1" spc="-20" dirty="0">
                <a:latin typeface="Calibri" panose="020F0502020204030204"/>
                <a:cs typeface="Calibri" panose="020F0502020204030204"/>
              </a:rPr>
              <a:t> </a:t>
            </a:r>
            <a:r>
              <a:rPr sz="1750" b="1" spc="-5" dirty="0">
                <a:latin typeface="Calibri" panose="020F0502020204030204"/>
                <a:cs typeface="Calibri" panose="020F0502020204030204"/>
              </a:rPr>
              <a:t>lambda</a:t>
            </a:r>
            <a:r>
              <a:rPr sz="1750" b="1" spc="-20" dirty="0">
                <a:latin typeface="Calibri" panose="020F0502020204030204"/>
                <a:cs typeface="Calibri" panose="020F0502020204030204"/>
              </a:rPr>
              <a:t> </a:t>
            </a:r>
            <a:r>
              <a:rPr sz="1750" b="1" spc="-5" dirty="0">
                <a:latin typeface="Calibri" panose="020F0502020204030204"/>
                <a:cs typeface="Calibri" panose="020F0502020204030204"/>
              </a:rPr>
              <a:t>functions:</a:t>
            </a:r>
            <a:endParaRPr sz="1750">
              <a:latin typeface="Calibri" panose="020F0502020204030204"/>
              <a:cs typeface="Calibri" panose="020F0502020204030204"/>
            </a:endParaRPr>
          </a:p>
          <a:p>
            <a:pPr marL="264795" marR="12065" indent="-252730">
              <a:lnSpc>
                <a:spcPct val="150000"/>
              </a:lnSpc>
              <a:buFont typeface="Arial MT"/>
              <a:buChar char="•"/>
              <a:tabLst>
                <a:tab pos="264795" algn="l"/>
                <a:tab pos="265430" algn="l"/>
              </a:tabLst>
            </a:pPr>
            <a:r>
              <a:rPr sz="1750" dirty="0">
                <a:latin typeface="Calibri" panose="020F0502020204030204"/>
                <a:cs typeface="Calibri" panose="020F0502020204030204"/>
              </a:rPr>
              <a:t>A</a:t>
            </a:r>
            <a:r>
              <a:rPr sz="1750" spc="25" dirty="0">
                <a:latin typeface="Calibri" panose="020F0502020204030204"/>
                <a:cs typeface="Calibri" panose="020F0502020204030204"/>
              </a:rPr>
              <a:t> </a:t>
            </a:r>
            <a:r>
              <a:rPr sz="1750" spc="-5" dirty="0">
                <a:latin typeface="Calibri" panose="020F0502020204030204"/>
                <a:cs typeface="Calibri" panose="020F0502020204030204"/>
              </a:rPr>
              <a:t>lambda</a:t>
            </a:r>
            <a:r>
              <a:rPr sz="1750" spc="30"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30" dirty="0">
                <a:latin typeface="Calibri" panose="020F0502020204030204"/>
                <a:cs typeface="Calibri" panose="020F0502020204030204"/>
              </a:rPr>
              <a:t> </a:t>
            </a:r>
            <a:r>
              <a:rPr sz="1750" spc="-5" dirty="0">
                <a:latin typeface="Calibri" panose="020F0502020204030204"/>
                <a:cs typeface="Calibri" panose="020F0502020204030204"/>
              </a:rPr>
              <a:t>can</a:t>
            </a:r>
            <a:r>
              <a:rPr sz="1750" spc="30" dirty="0">
                <a:latin typeface="Calibri" panose="020F0502020204030204"/>
                <a:cs typeface="Calibri" panose="020F0502020204030204"/>
              </a:rPr>
              <a:t> </a:t>
            </a:r>
            <a:r>
              <a:rPr sz="1750" spc="-5" dirty="0">
                <a:latin typeface="Calibri" panose="020F0502020204030204"/>
                <a:cs typeface="Calibri" panose="020F0502020204030204"/>
              </a:rPr>
              <a:t>take</a:t>
            </a:r>
            <a:r>
              <a:rPr sz="1750" spc="25" dirty="0">
                <a:latin typeface="Calibri" panose="020F0502020204030204"/>
                <a:cs typeface="Calibri" panose="020F0502020204030204"/>
              </a:rPr>
              <a:t> </a:t>
            </a:r>
            <a:r>
              <a:rPr sz="1750" dirty="0">
                <a:latin typeface="Calibri" panose="020F0502020204030204"/>
                <a:cs typeface="Calibri" panose="020F0502020204030204"/>
              </a:rPr>
              <a:t>any</a:t>
            </a:r>
            <a:r>
              <a:rPr sz="1750" spc="30" dirty="0">
                <a:latin typeface="Calibri" panose="020F0502020204030204"/>
                <a:cs typeface="Calibri" panose="020F0502020204030204"/>
              </a:rPr>
              <a:t> </a:t>
            </a:r>
            <a:r>
              <a:rPr sz="1750" spc="-5" dirty="0">
                <a:latin typeface="Calibri" panose="020F0502020204030204"/>
                <a:cs typeface="Calibri" panose="020F0502020204030204"/>
              </a:rPr>
              <a:t>number</a:t>
            </a:r>
            <a:r>
              <a:rPr sz="1750" spc="30" dirty="0">
                <a:latin typeface="Calibri" panose="020F0502020204030204"/>
                <a:cs typeface="Calibri" panose="020F0502020204030204"/>
              </a:rPr>
              <a:t> </a:t>
            </a:r>
            <a:r>
              <a:rPr sz="1750" spc="-5" dirty="0">
                <a:latin typeface="Calibri" panose="020F0502020204030204"/>
                <a:cs typeface="Calibri" panose="020F0502020204030204"/>
              </a:rPr>
              <a:t>of</a:t>
            </a:r>
            <a:r>
              <a:rPr sz="1750" spc="25" dirty="0">
                <a:latin typeface="Calibri" panose="020F0502020204030204"/>
                <a:cs typeface="Calibri" panose="020F0502020204030204"/>
              </a:rPr>
              <a:t> </a:t>
            </a:r>
            <a:r>
              <a:rPr sz="1750" dirty="0">
                <a:latin typeface="Calibri" panose="020F0502020204030204"/>
                <a:cs typeface="Calibri" panose="020F0502020204030204"/>
              </a:rPr>
              <a:t>arguments,</a:t>
            </a:r>
            <a:r>
              <a:rPr sz="1750" spc="30" dirty="0">
                <a:latin typeface="Calibri" panose="020F0502020204030204"/>
                <a:cs typeface="Calibri" panose="020F0502020204030204"/>
              </a:rPr>
              <a:t> </a:t>
            </a:r>
            <a:r>
              <a:rPr sz="1750" spc="-5" dirty="0">
                <a:latin typeface="Calibri" panose="020F0502020204030204"/>
                <a:cs typeface="Calibri" panose="020F0502020204030204"/>
              </a:rPr>
              <a:t>but</a:t>
            </a:r>
            <a:r>
              <a:rPr sz="1750" spc="30" dirty="0">
                <a:latin typeface="Calibri" panose="020F0502020204030204"/>
                <a:cs typeface="Calibri" panose="020F0502020204030204"/>
              </a:rPr>
              <a:t> </a:t>
            </a:r>
            <a:r>
              <a:rPr sz="1750" spc="-5" dirty="0">
                <a:latin typeface="Calibri" panose="020F0502020204030204"/>
                <a:cs typeface="Calibri" panose="020F0502020204030204"/>
              </a:rPr>
              <a:t>they</a:t>
            </a:r>
            <a:r>
              <a:rPr sz="1750" spc="25" dirty="0">
                <a:latin typeface="Calibri" panose="020F0502020204030204"/>
                <a:cs typeface="Calibri" panose="020F0502020204030204"/>
              </a:rPr>
              <a:t> </a:t>
            </a:r>
            <a:r>
              <a:rPr sz="1750" spc="-5" dirty="0">
                <a:latin typeface="Calibri" panose="020F0502020204030204"/>
                <a:cs typeface="Calibri" panose="020F0502020204030204"/>
              </a:rPr>
              <a:t>contain</a:t>
            </a:r>
            <a:r>
              <a:rPr sz="1750" spc="30" dirty="0">
                <a:latin typeface="Calibri" panose="020F0502020204030204"/>
                <a:cs typeface="Calibri" panose="020F0502020204030204"/>
              </a:rPr>
              <a:t> </a:t>
            </a:r>
            <a:r>
              <a:rPr sz="1750" spc="-5" dirty="0">
                <a:latin typeface="Calibri" panose="020F0502020204030204"/>
                <a:cs typeface="Calibri" panose="020F0502020204030204"/>
              </a:rPr>
              <a:t>only</a:t>
            </a:r>
            <a:r>
              <a:rPr sz="1750" spc="30" dirty="0">
                <a:latin typeface="Calibri" panose="020F0502020204030204"/>
                <a:cs typeface="Calibri" panose="020F0502020204030204"/>
              </a:rPr>
              <a:t> </a:t>
            </a:r>
            <a:r>
              <a:rPr sz="1750" dirty="0">
                <a:latin typeface="Calibri" panose="020F0502020204030204"/>
                <a:cs typeface="Calibri" panose="020F0502020204030204"/>
              </a:rPr>
              <a:t>a</a:t>
            </a:r>
            <a:r>
              <a:rPr sz="1750" spc="30" dirty="0">
                <a:latin typeface="Calibri" panose="020F0502020204030204"/>
                <a:cs typeface="Calibri" panose="020F0502020204030204"/>
              </a:rPr>
              <a:t> </a:t>
            </a:r>
            <a:r>
              <a:rPr sz="1750" spc="-5" dirty="0">
                <a:latin typeface="Calibri" panose="020F0502020204030204"/>
                <a:cs typeface="Calibri" panose="020F0502020204030204"/>
              </a:rPr>
              <a:t>single</a:t>
            </a:r>
            <a:r>
              <a:rPr sz="1750" spc="30" dirty="0">
                <a:latin typeface="Calibri" panose="020F0502020204030204"/>
                <a:cs typeface="Calibri" panose="020F0502020204030204"/>
              </a:rPr>
              <a:t> </a:t>
            </a:r>
            <a:r>
              <a:rPr sz="1750" spc="-5" dirty="0">
                <a:latin typeface="Calibri" panose="020F0502020204030204"/>
                <a:cs typeface="Calibri" panose="020F0502020204030204"/>
              </a:rPr>
              <a:t>expression.</a:t>
            </a:r>
            <a:r>
              <a:rPr sz="1750" spc="25" dirty="0">
                <a:latin typeface="Calibri" panose="020F0502020204030204"/>
                <a:cs typeface="Calibri" panose="020F0502020204030204"/>
              </a:rPr>
              <a:t> </a:t>
            </a:r>
            <a:r>
              <a:rPr sz="1750" spc="-5" dirty="0">
                <a:latin typeface="Calibri" panose="020F0502020204030204"/>
                <a:cs typeface="Calibri" panose="020F0502020204030204"/>
              </a:rPr>
              <a:t>An</a:t>
            </a:r>
            <a:r>
              <a:rPr sz="1750" spc="30" dirty="0">
                <a:latin typeface="Calibri" panose="020F0502020204030204"/>
                <a:cs typeface="Calibri" panose="020F0502020204030204"/>
              </a:rPr>
              <a:t> </a:t>
            </a:r>
            <a:r>
              <a:rPr sz="1750" spc="-5" dirty="0">
                <a:latin typeface="Calibri" panose="020F0502020204030204"/>
                <a:cs typeface="Calibri" panose="020F0502020204030204"/>
              </a:rPr>
              <a:t>expression</a:t>
            </a:r>
            <a:r>
              <a:rPr sz="1750" spc="30" dirty="0">
                <a:latin typeface="Calibri" panose="020F0502020204030204"/>
                <a:cs typeface="Calibri" panose="020F0502020204030204"/>
              </a:rPr>
              <a:t> </a:t>
            </a:r>
            <a:r>
              <a:rPr sz="1750" spc="-5" dirty="0">
                <a:latin typeface="Calibri" panose="020F0502020204030204"/>
                <a:cs typeface="Calibri" panose="020F0502020204030204"/>
              </a:rPr>
              <a:t>is</a:t>
            </a:r>
            <a:r>
              <a:rPr sz="1750" spc="30" dirty="0">
                <a:latin typeface="Calibri" panose="020F0502020204030204"/>
                <a:cs typeface="Calibri" panose="020F0502020204030204"/>
              </a:rPr>
              <a:t> </a:t>
            </a:r>
            <a:r>
              <a:rPr sz="1750" dirty="0">
                <a:latin typeface="Calibri" panose="020F0502020204030204"/>
                <a:cs typeface="Calibri" panose="020F0502020204030204"/>
              </a:rPr>
              <a:t>a</a:t>
            </a:r>
            <a:r>
              <a:rPr sz="1750" spc="30" dirty="0">
                <a:latin typeface="Calibri" panose="020F0502020204030204"/>
                <a:cs typeface="Calibri" panose="020F0502020204030204"/>
              </a:rPr>
              <a:t> </a:t>
            </a:r>
            <a:r>
              <a:rPr sz="1750" spc="-5" dirty="0">
                <a:latin typeface="Calibri" panose="020F0502020204030204"/>
                <a:cs typeface="Calibri" panose="020F0502020204030204"/>
              </a:rPr>
              <a:t>piece</a:t>
            </a:r>
            <a:r>
              <a:rPr sz="1750" spc="30" dirty="0">
                <a:latin typeface="Calibri" panose="020F0502020204030204"/>
                <a:cs typeface="Calibri" panose="020F0502020204030204"/>
              </a:rPr>
              <a:t> </a:t>
            </a:r>
            <a:r>
              <a:rPr sz="1750" spc="-5" dirty="0">
                <a:latin typeface="Calibri" panose="020F0502020204030204"/>
                <a:cs typeface="Calibri" panose="020F0502020204030204"/>
              </a:rPr>
              <a:t>of</a:t>
            </a:r>
            <a:r>
              <a:rPr sz="1750" spc="30" dirty="0">
                <a:latin typeface="Calibri" panose="020F0502020204030204"/>
                <a:cs typeface="Calibri" panose="020F0502020204030204"/>
              </a:rPr>
              <a:t> </a:t>
            </a:r>
            <a:r>
              <a:rPr sz="1750" spc="-5" dirty="0">
                <a:latin typeface="Calibri" panose="020F0502020204030204"/>
                <a:cs typeface="Calibri" panose="020F0502020204030204"/>
              </a:rPr>
              <a:t>code </a:t>
            </a:r>
            <a:r>
              <a:rPr sz="1750" spc="-385" dirty="0">
                <a:latin typeface="Calibri" panose="020F0502020204030204"/>
                <a:cs typeface="Calibri" panose="020F0502020204030204"/>
              </a:rPr>
              <a:t> </a:t>
            </a:r>
            <a:r>
              <a:rPr sz="1750" spc="-5" dirty="0">
                <a:latin typeface="Calibri" panose="020F0502020204030204"/>
                <a:cs typeface="Calibri" panose="020F0502020204030204"/>
              </a:rPr>
              <a:t>executed</a:t>
            </a:r>
            <a:r>
              <a:rPr sz="1750" spc="-10" dirty="0">
                <a:latin typeface="Calibri" panose="020F0502020204030204"/>
                <a:cs typeface="Calibri" panose="020F0502020204030204"/>
              </a:rPr>
              <a:t> </a:t>
            </a:r>
            <a:r>
              <a:rPr sz="1750" spc="-5" dirty="0">
                <a:latin typeface="Calibri" panose="020F0502020204030204"/>
                <a:cs typeface="Calibri" panose="020F0502020204030204"/>
              </a:rPr>
              <a:t>by the lambda function, which may or may not return </a:t>
            </a:r>
            <a:r>
              <a:rPr sz="1750" dirty="0">
                <a:latin typeface="Calibri" panose="020F0502020204030204"/>
                <a:cs typeface="Calibri" panose="020F0502020204030204"/>
              </a:rPr>
              <a:t>any</a:t>
            </a:r>
            <a:r>
              <a:rPr sz="1750" spc="-5" dirty="0">
                <a:latin typeface="Calibri" panose="020F0502020204030204"/>
                <a:cs typeface="Calibri" panose="020F0502020204030204"/>
              </a:rPr>
              <a:t> value.</a:t>
            </a:r>
            <a:endParaRPr sz="1750">
              <a:latin typeface="Calibri" panose="020F0502020204030204"/>
              <a:cs typeface="Calibri" panose="020F0502020204030204"/>
            </a:endParaRPr>
          </a:p>
          <a:p>
            <a:pPr marL="264795" indent="-252730">
              <a:lnSpc>
                <a:spcPct val="100000"/>
              </a:lnSpc>
              <a:spcBef>
                <a:spcPts val="1050"/>
              </a:spcBef>
              <a:buFont typeface="Arial MT"/>
              <a:buChar char="•"/>
              <a:tabLst>
                <a:tab pos="264795" algn="l"/>
                <a:tab pos="265430" algn="l"/>
              </a:tabLst>
            </a:pPr>
            <a:r>
              <a:rPr sz="1750" spc="-5" dirty="0">
                <a:latin typeface="Calibri" panose="020F0502020204030204"/>
                <a:cs typeface="Calibri" panose="020F0502020204030204"/>
              </a:rPr>
              <a:t>Lambda</a:t>
            </a:r>
            <a:r>
              <a:rPr sz="1750" spc="-15" dirty="0">
                <a:latin typeface="Calibri" panose="020F0502020204030204"/>
                <a:cs typeface="Calibri" panose="020F0502020204030204"/>
              </a:rPr>
              <a:t> </a:t>
            </a:r>
            <a:r>
              <a:rPr sz="1750" spc="-5" dirty="0">
                <a:latin typeface="Calibri" panose="020F0502020204030204"/>
                <a:cs typeface="Calibri" panose="020F0502020204030204"/>
              </a:rPr>
              <a:t>functions</a:t>
            </a:r>
            <a:r>
              <a:rPr sz="1750" spc="-10" dirty="0">
                <a:latin typeface="Calibri" panose="020F0502020204030204"/>
                <a:cs typeface="Calibri" panose="020F0502020204030204"/>
              </a:rPr>
              <a:t> </a:t>
            </a:r>
            <a:r>
              <a:rPr sz="1750" spc="-5" dirty="0">
                <a:latin typeface="Calibri" panose="020F0502020204030204"/>
                <a:cs typeface="Calibri" panose="020F0502020204030204"/>
              </a:rPr>
              <a:t>can</a:t>
            </a:r>
            <a:r>
              <a:rPr sz="1750" spc="-10" dirty="0">
                <a:latin typeface="Calibri" panose="020F0502020204030204"/>
                <a:cs typeface="Calibri" panose="020F0502020204030204"/>
              </a:rPr>
              <a:t> </a:t>
            </a:r>
            <a:r>
              <a:rPr sz="1750" spc="-5" dirty="0">
                <a:latin typeface="Calibri" panose="020F0502020204030204"/>
                <a:cs typeface="Calibri" panose="020F0502020204030204"/>
              </a:rPr>
              <a:t>be</a:t>
            </a:r>
            <a:r>
              <a:rPr sz="1750" spc="-15" dirty="0">
                <a:latin typeface="Calibri" panose="020F0502020204030204"/>
                <a:cs typeface="Calibri" panose="020F0502020204030204"/>
              </a:rPr>
              <a:t> </a:t>
            </a:r>
            <a:r>
              <a:rPr sz="1750" spc="-5" dirty="0">
                <a:latin typeface="Calibri" panose="020F0502020204030204"/>
                <a:cs typeface="Calibri" panose="020F0502020204030204"/>
              </a:rPr>
              <a:t>used</a:t>
            </a:r>
            <a:r>
              <a:rPr sz="1750" spc="-10" dirty="0">
                <a:latin typeface="Calibri" panose="020F0502020204030204"/>
                <a:cs typeface="Calibri" panose="020F0502020204030204"/>
              </a:rPr>
              <a:t> </a:t>
            </a:r>
            <a:r>
              <a:rPr sz="1750" spc="-5" dirty="0">
                <a:latin typeface="Calibri" panose="020F0502020204030204"/>
                <a:cs typeface="Calibri" panose="020F0502020204030204"/>
              </a:rPr>
              <a:t>to</a:t>
            </a:r>
            <a:r>
              <a:rPr sz="1750" spc="-10" dirty="0">
                <a:latin typeface="Calibri" panose="020F0502020204030204"/>
                <a:cs typeface="Calibri" panose="020F0502020204030204"/>
              </a:rPr>
              <a:t> </a:t>
            </a:r>
            <a:r>
              <a:rPr sz="1750" spc="-5" dirty="0">
                <a:latin typeface="Calibri" panose="020F0502020204030204"/>
                <a:cs typeface="Calibri" panose="020F0502020204030204"/>
              </a:rPr>
              <a:t>return</a:t>
            </a:r>
            <a:r>
              <a:rPr sz="1750" spc="-10"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15" dirty="0">
                <a:latin typeface="Calibri" panose="020F0502020204030204"/>
                <a:cs typeface="Calibri" panose="020F0502020204030204"/>
              </a:rPr>
              <a:t> </a:t>
            </a:r>
            <a:r>
              <a:rPr sz="1750" spc="-5" dirty="0">
                <a:latin typeface="Calibri" panose="020F0502020204030204"/>
                <a:cs typeface="Calibri" panose="020F0502020204030204"/>
              </a:rPr>
              <a:t>objects.</a:t>
            </a:r>
            <a:endParaRPr sz="1750">
              <a:latin typeface="Calibri" panose="020F0502020204030204"/>
              <a:cs typeface="Calibri" panose="020F0502020204030204"/>
            </a:endParaRPr>
          </a:p>
          <a:p>
            <a:pPr marL="264795" indent="-252730">
              <a:lnSpc>
                <a:spcPct val="100000"/>
              </a:lnSpc>
              <a:spcBef>
                <a:spcPts val="1050"/>
              </a:spcBef>
              <a:buFont typeface="Arial MT"/>
              <a:buChar char="•"/>
              <a:tabLst>
                <a:tab pos="264795" algn="l"/>
                <a:tab pos="265430" algn="l"/>
              </a:tabLst>
            </a:pPr>
            <a:r>
              <a:rPr sz="1750" spc="-5" dirty="0">
                <a:latin typeface="Calibri" panose="020F0502020204030204"/>
                <a:cs typeface="Calibri" panose="020F0502020204030204"/>
              </a:rPr>
              <a:t>Syntactically,</a:t>
            </a:r>
            <a:r>
              <a:rPr sz="1750" spc="-15" dirty="0">
                <a:latin typeface="Calibri" panose="020F0502020204030204"/>
                <a:cs typeface="Calibri" panose="020F0502020204030204"/>
              </a:rPr>
              <a:t> </a:t>
            </a:r>
            <a:r>
              <a:rPr sz="1750" spc="-5" dirty="0">
                <a:latin typeface="Calibri" panose="020F0502020204030204"/>
                <a:cs typeface="Calibri" panose="020F0502020204030204"/>
              </a:rPr>
              <a:t>lambda</a:t>
            </a:r>
            <a:r>
              <a:rPr sz="1750" spc="-10" dirty="0">
                <a:latin typeface="Calibri" panose="020F0502020204030204"/>
                <a:cs typeface="Calibri" panose="020F0502020204030204"/>
              </a:rPr>
              <a:t> </a:t>
            </a:r>
            <a:r>
              <a:rPr sz="1750" spc="-5" dirty="0">
                <a:latin typeface="Calibri" panose="020F0502020204030204"/>
                <a:cs typeface="Calibri" panose="020F0502020204030204"/>
              </a:rPr>
              <a:t>functions</a:t>
            </a:r>
            <a:r>
              <a:rPr sz="1750" spc="-10" dirty="0">
                <a:latin typeface="Calibri" panose="020F0502020204030204"/>
                <a:cs typeface="Calibri" panose="020F0502020204030204"/>
              </a:rPr>
              <a:t> </a:t>
            </a:r>
            <a:r>
              <a:rPr sz="1750" dirty="0">
                <a:latin typeface="Calibri" panose="020F0502020204030204"/>
                <a:cs typeface="Calibri" panose="020F0502020204030204"/>
              </a:rPr>
              <a:t>are</a:t>
            </a:r>
            <a:r>
              <a:rPr sz="1750" spc="-10" dirty="0">
                <a:latin typeface="Calibri" panose="020F0502020204030204"/>
                <a:cs typeface="Calibri" panose="020F0502020204030204"/>
              </a:rPr>
              <a:t> </a:t>
            </a:r>
            <a:r>
              <a:rPr sz="1750" spc="-5" dirty="0">
                <a:latin typeface="Calibri" panose="020F0502020204030204"/>
                <a:cs typeface="Calibri" panose="020F0502020204030204"/>
              </a:rPr>
              <a:t>restricted</a:t>
            </a:r>
            <a:r>
              <a:rPr sz="1750" spc="-15" dirty="0">
                <a:latin typeface="Calibri" panose="020F0502020204030204"/>
                <a:cs typeface="Calibri" panose="020F0502020204030204"/>
              </a:rPr>
              <a:t> </a:t>
            </a:r>
            <a:r>
              <a:rPr sz="1750" spc="-5" dirty="0">
                <a:latin typeface="Calibri" panose="020F0502020204030204"/>
                <a:cs typeface="Calibri" panose="020F0502020204030204"/>
              </a:rPr>
              <a:t>to</a:t>
            </a:r>
            <a:r>
              <a:rPr sz="1750" spc="-10" dirty="0">
                <a:latin typeface="Calibri" panose="020F0502020204030204"/>
                <a:cs typeface="Calibri" panose="020F0502020204030204"/>
              </a:rPr>
              <a:t> </a:t>
            </a:r>
            <a:r>
              <a:rPr sz="1750" spc="-5" dirty="0">
                <a:latin typeface="Calibri" panose="020F0502020204030204"/>
                <a:cs typeface="Calibri" panose="020F0502020204030204"/>
              </a:rPr>
              <a:t>only</a:t>
            </a:r>
            <a:r>
              <a:rPr sz="1750" spc="-10" dirty="0">
                <a:latin typeface="Calibri" panose="020F0502020204030204"/>
                <a:cs typeface="Calibri" panose="020F0502020204030204"/>
              </a:rPr>
              <a:t> </a:t>
            </a:r>
            <a:r>
              <a:rPr sz="1750" dirty="0">
                <a:latin typeface="Calibri" panose="020F0502020204030204"/>
                <a:cs typeface="Calibri" panose="020F0502020204030204"/>
              </a:rPr>
              <a:t>a</a:t>
            </a:r>
            <a:r>
              <a:rPr sz="1750" spc="-10" dirty="0">
                <a:latin typeface="Calibri" panose="020F0502020204030204"/>
                <a:cs typeface="Calibri" panose="020F0502020204030204"/>
              </a:rPr>
              <a:t> </a:t>
            </a:r>
            <a:r>
              <a:rPr sz="1750" spc="-5" dirty="0">
                <a:latin typeface="Calibri" panose="020F0502020204030204"/>
                <a:cs typeface="Calibri" panose="020F0502020204030204"/>
              </a:rPr>
              <a:t>single</a:t>
            </a:r>
            <a:r>
              <a:rPr sz="1750" spc="-15" dirty="0">
                <a:latin typeface="Calibri" panose="020F0502020204030204"/>
                <a:cs typeface="Calibri" panose="020F0502020204030204"/>
              </a:rPr>
              <a:t> </a:t>
            </a:r>
            <a:r>
              <a:rPr sz="1750" spc="-5" dirty="0">
                <a:latin typeface="Calibri" panose="020F0502020204030204"/>
                <a:cs typeface="Calibri" panose="020F0502020204030204"/>
              </a:rPr>
              <a:t>expression.</a:t>
            </a:r>
            <a:endParaRPr sz="1750">
              <a:latin typeface="Calibri" panose="020F0502020204030204"/>
              <a:cs typeface="Calibri" panose="020F0502020204030204"/>
            </a:endParaRPr>
          </a:p>
        </p:txBody>
      </p:sp>
      <p:sp>
        <p:nvSpPr>
          <p:cNvPr id="7" name="object 7"/>
          <p:cNvSpPr txBox="1"/>
          <p:nvPr/>
        </p:nvSpPr>
        <p:spPr>
          <a:xfrm>
            <a:off x="4208936" y="4860611"/>
            <a:ext cx="2542540" cy="825500"/>
          </a:xfrm>
          <a:prstGeom prst="rect">
            <a:avLst/>
          </a:prstGeom>
        </p:spPr>
        <p:txBody>
          <a:bodyPr vert="horz" wrap="square" lIns="0" tIns="12700" rIns="0" bIns="0" rtlCol="0">
            <a:spAutoFit/>
          </a:bodyPr>
          <a:lstStyle/>
          <a:p>
            <a:pPr marL="12700" marR="5080">
              <a:lnSpc>
                <a:spcPct val="150000"/>
              </a:lnSpc>
              <a:spcBef>
                <a:spcPts val="100"/>
              </a:spcBef>
            </a:pPr>
            <a:r>
              <a:rPr sz="1750" spc="-5" dirty="0">
                <a:latin typeface="Calibri" panose="020F0502020204030204"/>
                <a:cs typeface="Calibri" panose="020F0502020204030204"/>
              </a:rPr>
              <a:t>product</a:t>
            </a:r>
            <a:r>
              <a:rPr sz="1750" spc="-20" dirty="0">
                <a:latin typeface="Calibri" panose="020F0502020204030204"/>
                <a:cs typeface="Calibri" panose="020F0502020204030204"/>
              </a:rPr>
              <a:t> </a:t>
            </a:r>
            <a:r>
              <a:rPr sz="1750" dirty="0">
                <a:latin typeface="Calibri" panose="020F0502020204030204"/>
                <a:cs typeface="Calibri" panose="020F0502020204030204"/>
              </a:rPr>
              <a:t>=</a:t>
            </a:r>
            <a:r>
              <a:rPr sz="1750" spc="-15" dirty="0">
                <a:latin typeface="Calibri" panose="020F0502020204030204"/>
                <a:cs typeface="Calibri" panose="020F0502020204030204"/>
              </a:rPr>
              <a:t> </a:t>
            </a:r>
            <a:r>
              <a:rPr sz="1750" spc="-5" dirty="0">
                <a:latin typeface="Calibri" panose="020F0502020204030204"/>
                <a:cs typeface="Calibri" panose="020F0502020204030204"/>
              </a:rPr>
              <a:t>lambda</a:t>
            </a:r>
            <a:r>
              <a:rPr sz="1750" spc="-15" dirty="0">
                <a:latin typeface="Calibri" panose="020F0502020204030204"/>
                <a:cs typeface="Calibri" panose="020F0502020204030204"/>
              </a:rPr>
              <a:t> </a:t>
            </a:r>
            <a:r>
              <a:rPr sz="1750" spc="-5" dirty="0">
                <a:latin typeface="Calibri" panose="020F0502020204030204"/>
                <a:cs typeface="Calibri" panose="020F0502020204030204"/>
              </a:rPr>
              <a:t>x,</a:t>
            </a:r>
            <a:r>
              <a:rPr sz="1750" spc="-15" dirty="0">
                <a:latin typeface="Calibri" panose="020F0502020204030204"/>
                <a:cs typeface="Calibri" panose="020F0502020204030204"/>
              </a:rPr>
              <a:t> </a:t>
            </a:r>
            <a:r>
              <a:rPr sz="1750" dirty="0">
                <a:latin typeface="Calibri" panose="020F0502020204030204"/>
                <a:cs typeface="Calibri" panose="020F0502020204030204"/>
              </a:rPr>
              <a:t>y</a:t>
            </a:r>
            <a:r>
              <a:rPr sz="1750" spc="-15" dirty="0">
                <a:latin typeface="Calibri" panose="020F0502020204030204"/>
                <a:cs typeface="Calibri" panose="020F0502020204030204"/>
              </a:rPr>
              <a:t> </a:t>
            </a:r>
            <a:r>
              <a:rPr sz="1750" dirty="0">
                <a:latin typeface="Calibri" panose="020F0502020204030204"/>
                <a:cs typeface="Calibri" panose="020F0502020204030204"/>
              </a:rPr>
              <a:t>:</a:t>
            </a:r>
            <a:r>
              <a:rPr sz="1750" spc="-15" dirty="0">
                <a:latin typeface="Calibri" panose="020F0502020204030204"/>
                <a:cs typeface="Calibri" panose="020F0502020204030204"/>
              </a:rPr>
              <a:t> </a:t>
            </a:r>
            <a:r>
              <a:rPr sz="1750" dirty="0">
                <a:latin typeface="Calibri" panose="020F0502020204030204"/>
                <a:cs typeface="Calibri" panose="020F0502020204030204"/>
              </a:rPr>
              <a:t>x</a:t>
            </a:r>
            <a:r>
              <a:rPr sz="1750" spc="-15" dirty="0">
                <a:latin typeface="Calibri" panose="020F0502020204030204"/>
                <a:cs typeface="Calibri" panose="020F0502020204030204"/>
              </a:rPr>
              <a:t> </a:t>
            </a:r>
            <a:r>
              <a:rPr sz="1750" dirty="0">
                <a:latin typeface="Calibri" panose="020F0502020204030204"/>
                <a:cs typeface="Calibri" panose="020F0502020204030204"/>
              </a:rPr>
              <a:t>*</a:t>
            </a:r>
            <a:r>
              <a:rPr sz="1750" spc="-15" dirty="0">
                <a:latin typeface="Calibri" panose="020F0502020204030204"/>
                <a:cs typeface="Calibri" panose="020F0502020204030204"/>
              </a:rPr>
              <a:t> </a:t>
            </a:r>
            <a:r>
              <a:rPr sz="1750" dirty="0">
                <a:latin typeface="Calibri" panose="020F0502020204030204"/>
                <a:cs typeface="Calibri" panose="020F0502020204030204"/>
              </a:rPr>
              <a:t>y </a:t>
            </a:r>
            <a:r>
              <a:rPr sz="1750" spc="-380" dirty="0">
                <a:latin typeface="Calibri" panose="020F0502020204030204"/>
                <a:cs typeface="Calibri" panose="020F0502020204030204"/>
              </a:rPr>
              <a:t> </a:t>
            </a:r>
            <a:r>
              <a:rPr sz="1750" spc="-5" dirty="0">
                <a:latin typeface="Calibri" panose="020F0502020204030204"/>
                <a:cs typeface="Calibri" panose="020F0502020204030204"/>
              </a:rPr>
              <a:t>print(product(2,</a:t>
            </a:r>
            <a:r>
              <a:rPr sz="1750" spc="-15" dirty="0">
                <a:latin typeface="Calibri" panose="020F0502020204030204"/>
                <a:cs typeface="Calibri" panose="020F0502020204030204"/>
              </a:rPr>
              <a:t> </a:t>
            </a:r>
            <a:r>
              <a:rPr sz="1750" spc="-5" dirty="0">
                <a:latin typeface="Calibri" panose="020F0502020204030204"/>
                <a:cs typeface="Calibri" panose="020F0502020204030204"/>
              </a:rPr>
              <a:t>3))</a:t>
            </a:r>
            <a:endParaRPr sz="1750">
              <a:latin typeface="Calibri" panose="020F0502020204030204"/>
              <a:cs typeface="Calibri" panose="020F0502020204030204"/>
            </a:endParaRPr>
          </a:p>
        </p:txBody>
      </p:sp>
      <p:sp>
        <p:nvSpPr>
          <p:cNvPr id="8" name="object 8"/>
          <p:cNvSpPr txBox="1"/>
          <p:nvPr/>
        </p:nvSpPr>
        <p:spPr>
          <a:xfrm>
            <a:off x="94136" y="3660461"/>
            <a:ext cx="3714750" cy="2425700"/>
          </a:xfrm>
          <a:prstGeom prst="rect">
            <a:avLst/>
          </a:prstGeom>
        </p:spPr>
        <p:txBody>
          <a:bodyPr vert="horz" wrap="square" lIns="0" tIns="146050" rIns="0" bIns="0" rtlCol="0">
            <a:spAutoFit/>
          </a:bodyPr>
          <a:lstStyle/>
          <a:p>
            <a:pPr marL="12700">
              <a:lnSpc>
                <a:spcPct val="100000"/>
              </a:lnSpc>
              <a:spcBef>
                <a:spcPts val="1150"/>
              </a:spcBef>
            </a:pPr>
            <a:r>
              <a:rPr sz="1750" b="1" spc="-5" dirty="0">
                <a:latin typeface="Calibri" panose="020F0502020204030204"/>
                <a:cs typeface="Calibri" panose="020F0502020204030204"/>
              </a:rPr>
              <a:t>Syntax</a:t>
            </a:r>
            <a:r>
              <a:rPr sz="1750" b="1" spc="-20" dirty="0">
                <a:latin typeface="Calibri" panose="020F0502020204030204"/>
                <a:cs typeface="Calibri" panose="020F0502020204030204"/>
              </a:rPr>
              <a:t> </a:t>
            </a:r>
            <a:r>
              <a:rPr sz="1750" b="1" spc="-5" dirty="0">
                <a:latin typeface="Calibri" panose="020F0502020204030204"/>
                <a:cs typeface="Calibri" panose="020F0502020204030204"/>
              </a:rPr>
              <a:t>of</a:t>
            </a:r>
            <a:r>
              <a:rPr sz="1750" b="1" spc="-15" dirty="0">
                <a:latin typeface="Calibri" panose="020F0502020204030204"/>
                <a:cs typeface="Calibri" panose="020F0502020204030204"/>
              </a:rPr>
              <a:t> </a:t>
            </a:r>
            <a:r>
              <a:rPr sz="1750" b="1" spc="-5" dirty="0">
                <a:latin typeface="Calibri" panose="020F0502020204030204"/>
                <a:cs typeface="Calibri" panose="020F0502020204030204"/>
              </a:rPr>
              <a:t>Lambda</a:t>
            </a:r>
            <a:r>
              <a:rPr sz="1750" b="1" spc="-15" dirty="0">
                <a:latin typeface="Calibri" panose="020F0502020204030204"/>
                <a:cs typeface="Calibri" panose="020F0502020204030204"/>
              </a:rPr>
              <a:t> </a:t>
            </a:r>
            <a:r>
              <a:rPr sz="1750" b="1" spc="-5" dirty="0">
                <a:latin typeface="Calibri" panose="020F0502020204030204"/>
                <a:cs typeface="Calibri" panose="020F0502020204030204"/>
              </a:rPr>
              <a:t>Function</a:t>
            </a:r>
            <a:r>
              <a:rPr sz="1750" b="1" spc="-20" dirty="0">
                <a:latin typeface="Calibri" panose="020F0502020204030204"/>
                <a:cs typeface="Calibri" panose="020F0502020204030204"/>
              </a:rPr>
              <a:t> </a:t>
            </a:r>
            <a:r>
              <a:rPr sz="1750" b="1" spc="-5" dirty="0">
                <a:latin typeface="Calibri" panose="020F0502020204030204"/>
                <a:cs typeface="Calibri" panose="020F0502020204030204"/>
              </a:rPr>
              <a:t>in</a:t>
            </a:r>
            <a:r>
              <a:rPr sz="1750" b="1" spc="-15" dirty="0">
                <a:latin typeface="Calibri" panose="020F0502020204030204"/>
                <a:cs typeface="Calibri" panose="020F0502020204030204"/>
              </a:rPr>
              <a:t> </a:t>
            </a:r>
            <a:r>
              <a:rPr sz="1750" b="1" spc="-5" dirty="0">
                <a:latin typeface="Calibri" panose="020F0502020204030204"/>
                <a:cs typeface="Calibri" panose="020F0502020204030204"/>
              </a:rPr>
              <a:t>python</a:t>
            </a:r>
            <a:endParaRPr sz="1750">
              <a:latin typeface="Calibri" panose="020F0502020204030204"/>
              <a:cs typeface="Calibri" panose="020F0502020204030204"/>
            </a:endParaRPr>
          </a:p>
          <a:p>
            <a:pPr marL="927100">
              <a:lnSpc>
                <a:spcPct val="100000"/>
              </a:lnSpc>
              <a:spcBef>
                <a:spcPts val="1050"/>
              </a:spcBef>
            </a:pPr>
            <a:r>
              <a:rPr sz="1750" spc="-5" dirty="0">
                <a:latin typeface="Calibri" panose="020F0502020204030204"/>
                <a:cs typeface="Calibri" panose="020F0502020204030204"/>
              </a:rPr>
              <a:t>lambda</a:t>
            </a:r>
            <a:r>
              <a:rPr sz="1750" spc="-45" dirty="0">
                <a:latin typeface="Calibri" panose="020F0502020204030204"/>
                <a:cs typeface="Calibri" panose="020F0502020204030204"/>
              </a:rPr>
              <a:t> </a:t>
            </a:r>
            <a:r>
              <a:rPr sz="1750" dirty="0">
                <a:latin typeface="Calibri" panose="020F0502020204030204"/>
                <a:cs typeface="Calibri" panose="020F0502020204030204"/>
              </a:rPr>
              <a:t>arguments:</a:t>
            </a:r>
            <a:r>
              <a:rPr sz="1750" spc="-45" dirty="0">
                <a:latin typeface="Calibri" panose="020F0502020204030204"/>
                <a:cs typeface="Calibri" panose="020F0502020204030204"/>
              </a:rPr>
              <a:t> </a:t>
            </a:r>
            <a:r>
              <a:rPr sz="1750" spc="-5" dirty="0">
                <a:latin typeface="Calibri" panose="020F0502020204030204"/>
                <a:cs typeface="Calibri" panose="020F0502020204030204"/>
              </a:rPr>
              <a:t>expression</a:t>
            </a:r>
            <a:endParaRPr sz="1750">
              <a:latin typeface="Calibri" panose="020F0502020204030204"/>
              <a:cs typeface="Calibri" panose="020F0502020204030204"/>
            </a:endParaRPr>
          </a:p>
          <a:p>
            <a:pPr marL="12700">
              <a:lnSpc>
                <a:spcPct val="100000"/>
              </a:lnSpc>
              <a:spcBef>
                <a:spcPts val="1050"/>
              </a:spcBef>
            </a:pPr>
            <a:r>
              <a:rPr sz="1750" b="1" spc="-5" dirty="0">
                <a:latin typeface="Calibri" panose="020F0502020204030204"/>
                <a:cs typeface="Calibri" panose="020F0502020204030204"/>
              </a:rPr>
              <a:t>Example:</a:t>
            </a:r>
            <a:endParaRPr sz="1750">
              <a:latin typeface="Calibri" panose="020F0502020204030204"/>
              <a:cs typeface="Calibri" panose="020F0502020204030204"/>
            </a:endParaRPr>
          </a:p>
          <a:p>
            <a:pPr marL="469900" marR="1047750">
              <a:lnSpc>
                <a:spcPct val="150000"/>
              </a:lnSpc>
            </a:pPr>
            <a:r>
              <a:rPr sz="1750" spc="-5" dirty="0">
                <a:latin typeface="Calibri" panose="020F0502020204030204"/>
                <a:cs typeface="Calibri" panose="020F0502020204030204"/>
              </a:rPr>
              <a:t>double</a:t>
            </a:r>
            <a:r>
              <a:rPr sz="1750" spc="-20" dirty="0">
                <a:latin typeface="Calibri" panose="020F0502020204030204"/>
                <a:cs typeface="Calibri" panose="020F0502020204030204"/>
              </a:rPr>
              <a:t> </a:t>
            </a:r>
            <a:r>
              <a:rPr sz="1750" dirty="0">
                <a:latin typeface="Calibri" panose="020F0502020204030204"/>
                <a:cs typeface="Calibri" panose="020F0502020204030204"/>
              </a:rPr>
              <a:t>=</a:t>
            </a:r>
            <a:r>
              <a:rPr sz="1750" spc="-20" dirty="0">
                <a:latin typeface="Calibri" panose="020F0502020204030204"/>
                <a:cs typeface="Calibri" panose="020F0502020204030204"/>
              </a:rPr>
              <a:t> </a:t>
            </a:r>
            <a:r>
              <a:rPr sz="1750" spc="-5" dirty="0">
                <a:latin typeface="Calibri" panose="020F0502020204030204"/>
                <a:cs typeface="Calibri" panose="020F0502020204030204"/>
              </a:rPr>
              <a:t>lambda</a:t>
            </a:r>
            <a:r>
              <a:rPr sz="1750" spc="-20" dirty="0">
                <a:latin typeface="Calibri" panose="020F0502020204030204"/>
                <a:cs typeface="Calibri" panose="020F0502020204030204"/>
              </a:rPr>
              <a:t> </a:t>
            </a:r>
            <a:r>
              <a:rPr sz="1750" spc="-5" dirty="0">
                <a:latin typeface="Calibri" panose="020F0502020204030204"/>
                <a:cs typeface="Calibri" panose="020F0502020204030204"/>
              </a:rPr>
              <a:t>x:</a:t>
            </a:r>
            <a:r>
              <a:rPr sz="1750" spc="-15" dirty="0">
                <a:latin typeface="Calibri" panose="020F0502020204030204"/>
                <a:cs typeface="Calibri" panose="020F0502020204030204"/>
              </a:rPr>
              <a:t> </a:t>
            </a:r>
            <a:r>
              <a:rPr sz="1750" dirty="0">
                <a:latin typeface="Calibri" panose="020F0502020204030204"/>
                <a:cs typeface="Calibri" panose="020F0502020204030204"/>
              </a:rPr>
              <a:t>x</a:t>
            </a:r>
            <a:r>
              <a:rPr sz="1750" spc="-20" dirty="0">
                <a:latin typeface="Calibri" panose="020F0502020204030204"/>
                <a:cs typeface="Calibri" panose="020F0502020204030204"/>
              </a:rPr>
              <a:t> </a:t>
            </a:r>
            <a:r>
              <a:rPr sz="1750" dirty="0">
                <a:latin typeface="Calibri" panose="020F0502020204030204"/>
                <a:cs typeface="Calibri" panose="020F0502020204030204"/>
              </a:rPr>
              <a:t>*</a:t>
            </a:r>
            <a:r>
              <a:rPr sz="1750" spc="-20" dirty="0">
                <a:latin typeface="Calibri" panose="020F0502020204030204"/>
                <a:cs typeface="Calibri" panose="020F0502020204030204"/>
              </a:rPr>
              <a:t> </a:t>
            </a:r>
            <a:r>
              <a:rPr sz="1750" dirty="0">
                <a:latin typeface="Calibri" panose="020F0502020204030204"/>
                <a:cs typeface="Calibri" panose="020F0502020204030204"/>
              </a:rPr>
              <a:t>2 </a:t>
            </a:r>
            <a:r>
              <a:rPr sz="1750" spc="-380" dirty="0">
                <a:latin typeface="Calibri" panose="020F0502020204030204"/>
                <a:cs typeface="Calibri" panose="020F0502020204030204"/>
              </a:rPr>
              <a:t> </a:t>
            </a:r>
            <a:r>
              <a:rPr sz="1750" spc="-5" dirty="0">
                <a:latin typeface="Calibri" panose="020F0502020204030204"/>
                <a:cs typeface="Calibri" panose="020F0502020204030204"/>
              </a:rPr>
              <a:t>print(double(5))</a:t>
            </a:r>
            <a:endParaRPr sz="1750">
              <a:latin typeface="Calibri" panose="020F0502020204030204"/>
              <a:cs typeface="Calibri" panose="020F0502020204030204"/>
            </a:endParaRPr>
          </a:p>
          <a:p>
            <a:pPr marL="469900">
              <a:lnSpc>
                <a:spcPct val="100000"/>
              </a:lnSpc>
              <a:spcBef>
                <a:spcPts val="1050"/>
              </a:spcBef>
            </a:pPr>
            <a:r>
              <a:rPr sz="1750" dirty="0">
                <a:latin typeface="Calibri" panose="020F0502020204030204"/>
                <a:cs typeface="Calibri" panose="020F0502020204030204"/>
              </a:rPr>
              <a:t>#</a:t>
            </a:r>
            <a:r>
              <a:rPr sz="1750" spc="-35" dirty="0">
                <a:latin typeface="Calibri" panose="020F0502020204030204"/>
                <a:cs typeface="Calibri" panose="020F0502020204030204"/>
              </a:rPr>
              <a:t> </a:t>
            </a:r>
            <a:r>
              <a:rPr sz="1750" spc="-5" dirty="0">
                <a:latin typeface="Calibri" panose="020F0502020204030204"/>
                <a:cs typeface="Calibri" panose="020F0502020204030204"/>
              </a:rPr>
              <a:t>Output:</a:t>
            </a:r>
            <a:r>
              <a:rPr sz="1750" spc="-30" dirty="0">
                <a:latin typeface="Calibri" panose="020F0502020204030204"/>
                <a:cs typeface="Calibri" panose="020F0502020204030204"/>
              </a:rPr>
              <a:t> </a:t>
            </a:r>
            <a:r>
              <a:rPr sz="1750" spc="-5" dirty="0">
                <a:latin typeface="Calibri" panose="020F0502020204030204"/>
                <a:cs typeface="Calibri" panose="020F0502020204030204"/>
              </a:rPr>
              <a:t>10</a:t>
            </a:r>
            <a:endParaRPr sz="1750">
              <a:latin typeface="Calibri" panose="020F0502020204030204"/>
              <a:cs typeface="Calibri" panose="020F0502020204030204"/>
            </a:endParaRPr>
          </a:p>
        </p:txBody>
      </p:sp>
      <p:sp>
        <p:nvSpPr>
          <p:cNvPr id="9" name="object 9"/>
          <p:cNvSpPr txBox="1"/>
          <p:nvPr/>
        </p:nvSpPr>
        <p:spPr>
          <a:xfrm>
            <a:off x="94136" y="6060761"/>
            <a:ext cx="12005310" cy="825500"/>
          </a:xfrm>
          <a:prstGeom prst="rect">
            <a:avLst/>
          </a:prstGeom>
        </p:spPr>
        <p:txBody>
          <a:bodyPr vert="horz" wrap="square" lIns="0" tIns="12700" rIns="0" bIns="0" rtlCol="0">
            <a:spAutoFit/>
          </a:bodyPr>
          <a:lstStyle/>
          <a:p>
            <a:pPr marL="12700" marR="5080">
              <a:lnSpc>
                <a:spcPct val="150000"/>
              </a:lnSpc>
              <a:spcBef>
                <a:spcPts val="100"/>
              </a:spcBef>
              <a:tabLst>
                <a:tab pos="660400" algn="l"/>
              </a:tabLst>
            </a:pPr>
            <a:r>
              <a:rPr sz="1750" spc="-5" dirty="0">
                <a:latin typeface="Calibri" panose="020F0502020204030204"/>
                <a:cs typeface="Calibri" panose="020F0502020204030204"/>
              </a:rPr>
              <a:t>Note:	you</a:t>
            </a:r>
            <a:r>
              <a:rPr sz="1750" spc="160" dirty="0">
                <a:latin typeface="Calibri" panose="020F0502020204030204"/>
                <a:cs typeface="Calibri" panose="020F0502020204030204"/>
              </a:rPr>
              <a:t> </a:t>
            </a:r>
            <a:r>
              <a:rPr sz="1750" spc="-5" dirty="0">
                <a:latin typeface="Calibri" panose="020F0502020204030204"/>
                <a:cs typeface="Calibri" panose="020F0502020204030204"/>
              </a:rPr>
              <a:t>want</a:t>
            </a:r>
            <a:r>
              <a:rPr sz="1750" spc="165" dirty="0">
                <a:latin typeface="Calibri" panose="020F0502020204030204"/>
                <a:cs typeface="Calibri" panose="020F0502020204030204"/>
              </a:rPr>
              <a:t> </a:t>
            </a:r>
            <a:r>
              <a:rPr sz="1750" spc="-5" dirty="0">
                <a:latin typeface="Calibri" panose="020F0502020204030204"/>
                <a:cs typeface="Calibri" panose="020F0502020204030204"/>
              </a:rPr>
              <a:t>to</a:t>
            </a:r>
            <a:r>
              <a:rPr sz="1750" spc="165" dirty="0">
                <a:latin typeface="Calibri" panose="020F0502020204030204"/>
                <a:cs typeface="Calibri" panose="020F0502020204030204"/>
              </a:rPr>
              <a:t> </a:t>
            </a:r>
            <a:r>
              <a:rPr sz="1750" spc="-5" dirty="0">
                <a:latin typeface="Calibri" panose="020F0502020204030204"/>
                <a:cs typeface="Calibri" panose="020F0502020204030204"/>
              </a:rPr>
              <a:t>pass</a:t>
            </a:r>
            <a:r>
              <a:rPr sz="1750" spc="170" dirty="0">
                <a:latin typeface="Calibri" panose="020F0502020204030204"/>
                <a:cs typeface="Calibri" panose="020F0502020204030204"/>
              </a:rPr>
              <a:t> </a:t>
            </a:r>
            <a:r>
              <a:rPr sz="1750" dirty="0">
                <a:latin typeface="Calibri" panose="020F0502020204030204"/>
                <a:cs typeface="Calibri" panose="020F0502020204030204"/>
              </a:rPr>
              <a:t>a</a:t>
            </a:r>
            <a:r>
              <a:rPr sz="1750" spc="165"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170" dirty="0">
                <a:latin typeface="Calibri" panose="020F0502020204030204"/>
                <a:cs typeface="Calibri" panose="020F0502020204030204"/>
              </a:rPr>
              <a:t> </a:t>
            </a:r>
            <a:r>
              <a:rPr sz="1750" dirty="0">
                <a:latin typeface="Calibri" panose="020F0502020204030204"/>
                <a:cs typeface="Calibri" panose="020F0502020204030204"/>
              </a:rPr>
              <a:t>as</a:t>
            </a:r>
            <a:r>
              <a:rPr sz="1750" spc="170" dirty="0">
                <a:latin typeface="Calibri" panose="020F0502020204030204"/>
                <a:cs typeface="Calibri" panose="020F0502020204030204"/>
              </a:rPr>
              <a:t> </a:t>
            </a:r>
            <a:r>
              <a:rPr sz="1750" dirty="0">
                <a:latin typeface="Calibri" panose="020F0502020204030204"/>
                <a:cs typeface="Calibri" panose="020F0502020204030204"/>
              </a:rPr>
              <a:t>an</a:t>
            </a:r>
            <a:r>
              <a:rPr sz="1750" spc="170" dirty="0">
                <a:latin typeface="Calibri" panose="020F0502020204030204"/>
                <a:cs typeface="Calibri" panose="020F0502020204030204"/>
              </a:rPr>
              <a:t> </a:t>
            </a:r>
            <a:r>
              <a:rPr sz="1750" dirty="0">
                <a:latin typeface="Calibri" panose="020F0502020204030204"/>
                <a:cs typeface="Calibri" panose="020F0502020204030204"/>
              </a:rPr>
              <a:t>argument</a:t>
            </a:r>
            <a:r>
              <a:rPr sz="1750" spc="165" dirty="0">
                <a:latin typeface="Calibri" panose="020F0502020204030204"/>
                <a:cs typeface="Calibri" panose="020F0502020204030204"/>
              </a:rPr>
              <a:t> </a:t>
            </a:r>
            <a:r>
              <a:rPr sz="1750" spc="-5" dirty="0">
                <a:latin typeface="Calibri" panose="020F0502020204030204"/>
                <a:cs typeface="Calibri" panose="020F0502020204030204"/>
              </a:rPr>
              <a:t>to</a:t>
            </a:r>
            <a:r>
              <a:rPr sz="1750" spc="165" dirty="0">
                <a:latin typeface="Calibri" panose="020F0502020204030204"/>
                <a:cs typeface="Calibri" panose="020F0502020204030204"/>
              </a:rPr>
              <a:t> </a:t>
            </a:r>
            <a:r>
              <a:rPr sz="1750" spc="-5" dirty="0">
                <a:latin typeface="Calibri" panose="020F0502020204030204"/>
                <a:cs typeface="Calibri" panose="020F0502020204030204"/>
              </a:rPr>
              <a:t>higher-order</a:t>
            </a:r>
            <a:r>
              <a:rPr sz="1750" spc="170" dirty="0">
                <a:latin typeface="Calibri" panose="020F0502020204030204"/>
                <a:cs typeface="Calibri" panose="020F0502020204030204"/>
              </a:rPr>
              <a:t> </a:t>
            </a:r>
            <a:r>
              <a:rPr sz="1750" spc="-5" dirty="0">
                <a:latin typeface="Calibri" panose="020F0502020204030204"/>
                <a:cs typeface="Calibri" panose="020F0502020204030204"/>
              </a:rPr>
              <a:t>functions,</a:t>
            </a:r>
            <a:r>
              <a:rPr sz="1750" spc="170" dirty="0">
                <a:latin typeface="Calibri" panose="020F0502020204030204"/>
                <a:cs typeface="Calibri" panose="020F0502020204030204"/>
              </a:rPr>
              <a:t> </a:t>
            </a:r>
            <a:r>
              <a:rPr sz="1750" spc="-5" dirty="0">
                <a:latin typeface="Calibri" panose="020F0502020204030204"/>
                <a:cs typeface="Calibri" panose="020F0502020204030204"/>
              </a:rPr>
              <a:t>that</a:t>
            </a:r>
            <a:r>
              <a:rPr sz="1750" spc="160" dirty="0">
                <a:latin typeface="Calibri" panose="020F0502020204030204"/>
                <a:cs typeface="Calibri" panose="020F0502020204030204"/>
              </a:rPr>
              <a:t> </a:t>
            </a:r>
            <a:r>
              <a:rPr sz="1750" spc="-5" dirty="0">
                <a:latin typeface="Calibri" panose="020F0502020204030204"/>
                <a:cs typeface="Calibri" panose="020F0502020204030204"/>
              </a:rPr>
              <a:t>is,</a:t>
            </a:r>
            <a:r>
              <a:rPr sz="1750" spc="165" dirty="0">
                <a:latin typeface="Calibri" panose="020F0502020204030204"/>
                <a:cs typeface="Calibri" panose="020F0502020204030204"/>
              </a:rPr>
              <a:t> </a:t>
            </a:r>
            <a:r>
              <a:rPr sz="1750" spc="-5" dirty="0">
                <a:latin typeface="Calibri" panose="020F0502020204030204"/>
                <a:cs typeface="Calibri" panose="020F0502020204030204"/>
              </a:rPr>
              <a:t>functions</a:t>
            </a:r>
            <a:r>
              <a:rPr sz="1750" spc="170" dirty="0">
                <a:latin typeface="Calibri" panose="020F0502020204030204"/>
                <a:cs typeface="Calibri" panose="020F0502020204030204"/>
              </a:rPr>
              <a:t> </a:t>
            </a:r>
            <a:r>
              <a:rPr sz="1750" spc="-5" dirty="0">
                <a:latin typeface="Calibri" panose="020F0502020204030204"/>
                <a:cs typeface="Calibri" panose="020F0502020204030204"/>
              </a:rPr>
              <a:t>that</a:t>
            </a:r>
            <a:r>
              <a:rPr sz="1750" spc="165" dirty="0">
                <a:latin typeface="Calibri" panose="020F0502020204030204"/>
                <a:cs typeface="Calibri" panose="020F0502020204030204"/>
              </a:rPr>
              <a:t> </a:t>
            </a:r>
            <a:r>
              <a:rPr sz="1750" spc="-5" dirty="0">
                <a:latin typeface="Calibri" panose="020F0502020204030204"/>
                <a:cs typeface="Calibri" panose="020F0502020204030204"/>
              </a:rPr>
              <a:t>take</a:t>
            </a:r>
            <a:r>
              <a:rPr sz="1750" spc="160" dirty="0">
                <a:latin typeface="Calibri" panose="020F0502020204030204"/>
                <a:cs typeface="Calibri" panose="020F0502020204030204"/>
              </a:rPr>
              <a:t> </a:t>
            </a:r>
            <a:r>
              <a:rPr sz="1750" spc="-5" dirty="0">
                <a:latin typeface="Calibri" panose="020F0502020204030204"/>
                <a:cs typeface="Calibri" panose="020F0502020204030204"/>
              </a:rPr>
              <a:t>other</a:t>
            </a:r>
            <a:r>
              <a:rPr sz="1750" spc="170" dirty="0">
                <a:latin typeface="Calibri" panose="020F0502020204030204"/>
                <a:cs typeface="Calibri" panose="020F0502020204030204"/>
              </a:rPr>
              <a:t> </a:t>
            </a:r>
            <a:r>
              <a:rPr sz="1750" spc="-5" dirty="0">
                <a:latin typeface="Calibri" panose="020F0502020204030204"/>
                <a:cs typeface="Calibri" panose="020F0502020204030204"/>
              </a:rPr>
              <a:t>functions</a:t>
            </a:r>
            <a:r>
              <a:rPr sz="1750" spc="170" dirty="0">
                <a:latin typeface="Calibri" panose="020F0502020204030204"/>
                <a:cs typeface="Calibri" panose="020F0502020204030204"/>
              </a:rPr>
              <a:t> </a:t>
            </a:r>
            <a:r>
              <a:rPr sz="1750" dirty="0">
                <a:latin typeface="Calibri" panose="020F0502020204030204"/>
                <a:cs typeface="Calibri" panose="020F0502020204030204"/>
              </a:rPr>
              <a:t>as</a:t>
            </a:r>
            <a:r>
              <a:rPr sz="1750" spc="170" dirty="0">
                <a:latin typeface="Calibri" panose="020F0502020204030204"/>
                <a:cs typeface="Calibri" panose="020F0502020204030204"/>
              </a:rPr>
              <a:t> </a:t>
            </a:r>
            <a:r>
              <a:rPr sz="1750" spc="-5" dirty="0">
                <a:latin typeface="Calibri" panose="020F0502020204030204"/>
                <a:cs typeface="Calibri" panose="020F0502020204030204"/>
              </a:rPr>
              <a:t>their </a:t>
            </a:r>
            <a:r>
              <a:rPr sz="1750" spc="-380" dirty="0">
                <a:latin typeface="Calibri" panose="020F0502020204030204"/>
                <a:cs typeface="Calibri" panose="020F0502020204030204"/>
              </a:rPr>
              <a:t> </a:t>
            </a:r>
            <a:r>
              <a:rPr sz="1750" dirty="0">
                <a:latin typeface="Calibri" panose="020F0502020204030204"/>
                <a:cs typeface="Calibri" panose="020F0502020204030204"/>
              </a:rPr>
              <a:t>arguments.</a:t>
            </a:r>
            <a:endParaRPr sz="1750">
              <a:latin typeface="Calibri" panose="020F0502020204030204"/>
              <a:cs typeface="Calibri" panose="020F0502020204030204"/>
            </a:endParaRPr>
          </a:p>
        </p:txBody>
      </p:sp>
      <p:sp>
        <p:nvSpPr>
          <p:cNvPr id="10" name="Slide Number Placeholder 9"/>
          <p:cNvSpPr>
            <a:spLocks noGrp="1"/>
          </p:cNvSpPr>
          <p:nvPr>
            <p:ph type="sldNum" sz="quarter" idx="7"/>
          </p:nvPr>
        </p:nvSpPr>
        <p:spPr/>
        <p:txBody>
          <a:bodyPr/>
          <a:lstStyle/>
          <a:p>
            <a:fld id="{B6F15528-21DE-4FAA-801E-634DDDAF4B2B}" type="slidenum">
              <a:rPr/>
              <a:t>25</a:t>
            </a:fld>
            <a:endParaRPr/>
          </a:p>
        </p:txBody>
      </p:sp>
      <p:sp>
        <p:nvSpPr>
          <p:cNvPr id="11" name="Footer Placeholder 10"/>
          <p:cNvSpPr>
            <a:spLocks noGrp="1"/>
          </p:cNvSpPr>
          <p:nvPr>
            <p:ph type="ftr" sz="quarter" idx="5"/>
          </p:nvPr>
        </p:nvSpPr>
        <p:spPr/>
        <p:txBody>
          <a:bodyPr/>
          <a:lstStyle/>
          <a:p>
            <a:r>
              <a:t>UNIT IV : Pythonic Programming Paradigm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575467"/>
            <a:ext cx="12105640" cy="5979795"/>
          </a:xfrm>
          <a:custGeom>
            <a:avLst/>
            <a:gdLst/>
            <a:ahLst/>
            <a:cxnLst/>
            <a:rect l="l" t="t" r="r" b="b"/>
            <a:pathLst>
              <a:path w="12105640" h="5979795">
                <a:moveTo>
                  <a:pt x="0" y="0"/>
                </a:moveTo>
                <a:lnTo>
                  <a:pt x="12105503" y="0"/>
                </a:lnTo>
                <a:lnTo>
                  <a:pt x="12105503" y="5979174"/>
                </a:lnTo>
                <a:lnTo>
                  <a:pt x="0" y="5979174"/>
                </a:lnTo>
                <a:lnTo>
                  <a:pt x="0" y="0"/>
                </a:lnTo>
                <a:close/>
              </a:path>
            </a:pathLst>
          </a:custGeom>
          <a:ln w="12699">
            <a:solidFill>
              <a:srgbClr val="00B0F0"/>
            </a:solidFill>
          </a:ln>
        </p:spPr>
        <p:txBody>
          <a:bodyPr wrap="square" lIns="0" tIns="0" rIns="0" bIns="0" rtlCol="0"/>
          <a:lstStyle/>
          <a:p>
            <a:endParaRPr/>
          </a:p>
        </p:txBody>
      </p:sp>
      <p:sp>
        <p:nvSpPr>
          <p:cNvPr id="3" name="object 3"/>
          <p:cNvSpPr txBox="1">
            <a:spLocks noGrp="1"/>
          </p:cNvSpPr>
          <p:nvPr>
            <p:ph type="title"/>
          </p:nvPr>
        </p:nvSpPr>
        <p:spPr>
          <a:xfrm>
            <a:off x="76970" y="19698"/>
            <a:ext cx="1945005"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map()</a:t>
            </a:r>
            <a:r>
              <a:rPr spc="-8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Function</a:t>
            </a: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txBox="1"/>
          <p:nvPr/>
        </p:nvSpPr>
        <p:spPr>
          <a:xfrm>
            <a:off x="147555" y="470434"/>
            <a:ext cx="3936365" cy="3625850"/>
          </a:xfrm>
          <a:prstGeom prst="rect">
            <a:avLst/>
          </a:prstGeom>
        </p:spPr>
        <p:txBody>
          <a:bodyPr vert="horz" wrap="square" lIns="0" tIns="146050" rIns="0" bIns="0" rtlCol="0">
            <a:spAutoFit/>
          </a:bodyPr>
          <a:lstStyle/>
          <a:p>
            <a:pPr marL="12700">
              <a:lnSpc>
                <a:spcPct val="100000"/>
              </a:lnSpc>
              <a:spcBef>
                <a:spcPts val="1150"/>
              </a:spcBef>
            </a:pPr>
            <a:r>
              <a:rPr sz="1750" b="1" spc="-5" dirty="0">
                <a:latin typeface="Calibri" panose="020F0502020204030204"/>
                <a:cs typeface="Calibri" panose="020F0502020204030204"/>
              </a:rPr>
              <a:t>Example</a:t>
            </a:r>
            <a:r>
              <a:rPr sz="1750" b="1" spc="-25" dirty="0">
                <a:latin typeface="Calibri" panose="020F0502020204030204"/>
                <a:cs typeface="Calibri" panose="020F0502020204030204"/>
              </a:rPr>
              <a:t> </a:t>
            </a:r>
            <a:r>
              <a:rPr sz="1750" b="1" spc="-5" dirty="0">
                <a:latin typeface="Calibri" panose="020F0502020204030204"/>
                <a:cs typeface="Calibri" panose="020F0502020204030204"/>
              </a:rPr>
              <a:t>Map</a:t>
            </a:r>
            <a:r>
              <a:rPr sz="1750" b="1" spc="-25" dirty="0">
                <a:latin typeface="Calibri" panose="020F0502020204030204"/>
                <a:cs typeface="Calibri" panose="020F0502020204030204"/>
              </a:rPr>
              <a:t> </a:t>
            </a:r>
            <a:r>
              <a:rPr sz="1750" b="1" spc="-5" dirty="0">
                <a:latin typeface="Calibri" panose="020F0502020204030204"/>
                <a:cs typeface="Calibri" panose="020F0502020204030204"/>
              </a:rPr>
              <a:t>with</a:t>
            </a:r>
            <a:r>
              <a:rPr sz="1750" b="1" spc="-25" dirty="0">
                <a:latin typeface="Calibri" panose="020F0502020204030204"/>
                <a:cs typeface="Calibri" panose="020F0502020204030204"/>
              </a:rPr>
              <a:t> </a:t>
            </a:r>
            <a:r>
              <a:rPr sz="1750" b="1" spc="-5" dirty="0">
                <a:latin typeface="Calibri" panose="020F0502020204030204"/>
                <a:cs typeface="Calibri" panose="020F0502020204030204"/>
              </a:rPr>
              <a:t>lambda</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tup=</a:t>
            </a:r>
            <a:r>
              <a:rPr sz="1750" spc="-10" dirty="0">
                <a:latin typeface="Calibri" panose="020F0502020204030204"/>
                <a:cs typeface="Calibri" panose="020F0502020204030204"/>
              </a:rPr>
              <a:t> </a:t>
            </a:r>
            <a:r>
              <a:rPr sz="1750" spc="-5" dirty="0">
                <a:latin typeface="Calibri" panose="020F0502020204030204"/>
                <a:cs typeface="Calibri" panose="020F0502020204030204"/>
              </a:rPr>
              <a:t>(5,</a:t>
            </a:r>
            <a:r>
              <a:rPr sz="1750" spc="-10" dirty="0">
                <a:latin typeface="Calibri" panose="020F0502020204030204"/>
                <a:cs typeface="Calibri" panose="020F0502020204030204"/>
              </a:rPr>
              <a:t> </a:t>
            </a:r>
            <a:r>
              <a:rPr sz="1750" spc="-5" dirty="0">
                <a:latin typeface="Calibri" panose="020F0502020204030204"/>
                <a:cs typeface="Calibri" panose="020F0502020204030204"/>
              </a:rPr>
              <a:t>7,</a:t>
            </a:r>
            <a:r>
              <a:rPr sz="1750" spc="-10" dirty="0">
                <a:latin typeface="Calibri" panose="020F0502020204030204"/>
                <a:cs typeface="Calibri" panose="020F0502020204030204"/>
              </a:rPr>
              <a:t> </a:t>
            </a:r>
            <a:r>
              <a:rPr sz="1750" spc="-5" dirty="0">
                <a:latin typeface="Calibri" panose="020F0502020204030204"/>
                <a:cs typeface="Calibri" panose="020F0502020204030204"/>
              </a:rPr>
              <a:t>22,</a:t>
            </a:r>
            <a:r>
              <a:rPr sz="1750" spc="-10" dirty="0">
                <a:latin typeface="Calibri" panose="020F0502020204030204"/>
                <a:cs typeface="Calibri" panose="020F0502020204030204"/>
              </a:rPr>
              <a:t> </a:t>
            </a:r>
            <a:r>
              <a:rPr sz="1750" spc="-5" dirty="0">
                <a:latin typeface="Calibri" panose="020F0502020204030204"/>
                <a:cs typeface="Calibri" panose="020F0502020204030204"/>
              </a:rPr>
              <a:t>97,</a:t>
            </a:r>
            <a:r>
              <a:rPr sz="1750" spc="-10" dirty="0">
                <a:latin typeface="Calibri" panose="020F0502020204030204"/>
                <a:cs typeface="Calibri" panose="020F0502020204030204"/>
              </a:rPr>
              <a:t> </a:t>
            </a:r>
            <a:r>
              <a:rPr sz="1750" spc="-5" dirty="0">
                <a:latin typeface="Calibri" panose="020F0502020204030204"/>
                <a:cs typeface="Calibri" panose="020F0502020204030204"/>
              </a:rPr>
              <a:t>54,</a:t>
            </a:r>
            <a:r>
              <a:rPr sz="1750" spc="-10" dirty="0">
                <a:latin typeface="Calibri" panose="020F0502020204030204"/>
                <a:cs typeface="Calibri" panose="020F0502020204030204"/>
              </a:rPr>
              <a:t> </a:t>
            </a:r>
            <a:r>
              <a:rPr sz="1750" spc="-5" dirty="0">
                <a:latin typeface="Calibri" panose="020F0502020204030204"/>
                <a:cs typeface="Calibri" panose="020F0502020204030204"/>
              </a:rPr>
              <a:t>62,</a:t>
            </a:r>
            <a:r>
              <a:rPr sz="1750" spc="-10" dirty="0">
                <a:latin typeface="Calibri" panose="020F0502020204030204"/>
                <a:cs typeface="Calibri" panose="020F0502020204030204"/>
              </a:rPr>
              <a:t> </a:t>
            </a:r>
            <a:r>
              <a:rPr sz="1750" spc="-5" dirty="0">
                <a:latin typeface="Calibri" panose="020F0502020204030204"/>
                <a:cs typeface="Calibri" panose="020F0502020204030204"/>
              </a:rPr>
              <a:t>77, 23,</a:t>
            </a:r>
            <a:r>
              <a:rPr sz="1750" spc="-10" dirty="0">
                <a:latin typeface="Calibri" panose="020F0502020204030204"/>
                <a:cs typeface="Calibri" panose="020F0502020204030204"/>
              </a:rPr>
              <a:t> </a:t>
            </a:r>
            <a:r>
              <a:rPr sz="1750" spc="-5" dirty="0">
                <a:latin typeface="Calibri" panose="020F0502020204030204"/>
                <a:cs typeface="Calibri" panose="020F0502020204030204"/>
              </a:rPr>
              <a:t>73,</a:t>
            </a:r>
            <a:r>
              <a:rPr sz="1750" spc="-10" dirty="0">
                <a:latin typeface="Calibri" panose="020F0502020204030204"/>
                <a:cs typeface="Calibri" panose="020F0502020204030204"/>
              </a:rPr>
              <a:t> </a:t>
            </a:r>
            <a:r>
              <a:rPr sz="1750" spc="-5" dirty="0">
                <a:latin typeface="Calibri" panose="020F0502020204030204"/>
                <a:cs typeface="Calibri" panose="020F0502020204030204"/>
              </a:rPr>
              <a:t>61)</a:t>
            </a:r>
            <a:endParaRPr sz="1750">
              <a:latin typeface="Calibri" panose="020F0502020204030204"/>
              <a:cs typeface="Calibri" panose="020F0502020204030204"/>
            </a:endParaRPr>
          </a:p>
          <a:p>
            <a:pPr marL="12700" marR="5080">
              <a:lnSpc>
                <a:spcPct val="150000"/>
              </a:lnSpc>
            </a:pPr>
            <a:r>
              <a:rPr sz="1750" spc="-5" dirty="0">
                <a:latin typeface="Calibri" panose="020F0502020204030204"/>
                <a:cs typeface="Calibri" panose="020F0502020204030204"/>
              </a:rPr>
              <a:t>newtuple </a:t>
            </a:r>
            <a:r>
              <a:rPr sz="1750" dirty="0">
                <a:latin typeface="Calibri" panose="020F0502020204030204"/>
                <a:cs typeface="Calibri" panose="020F0502020204030204"/>
              </a:rPr>
              <a:t>= </a:t>
            </a:r>
            <a:r>
              <a:rPr sz="1750" spc="-5" dirty="0">
                <a:latin typeface="Calibri" panose="020F0502020204030204"/>
                <a:cs typeface="Calibri" panose="020F0502020204030204"/>
              </a:rPr>
              <a:t>tuple(map(lambda x: x+3 </a:t>
            </a:r>
            <a:r>
              <a:rPr sz="1750" dirty="0">
                <a:latin typeface="Calibri" panose="020F0502020204030204"/>
                <a:cs typeface="Calibri" panose="020F0502020204030204"/>
              </a:rPr>
              <a:t>, </a:t>
            </a:r>
            <a:r>
              <a:rPr sz="1750" spc="-5" dirty="0">
                <a:latin typeface="Calibri" panose="020F0502020204030204"/>
                <a:cs typeface="Calibri" panose="020F0502020204030204"/>
              </a:rPr>
              <a:t>tup)) </a:t>
            </a:r>
            <a:r>
              <a:rPr sz="1750" spc="-385" dirty="0">
                <a:latin typeface="Calibri" panose="020F0502020204030204"/>
                <a:cs typeface="Calibri" panose="020F0502020204030204"/>
              </a:rPr>
              <a:t> </a:t>
            </a:r>
            <a:r>
              <a:rPr sz="1750" spc="-5" dirty="0">
                <a:latin typeface="Calibri" panose="020F0502020204030204"/>
                <a:cs typeface="Calibri" panose="020F0502020204030204"/>
              </a:rPr>
              <a:t>print(newtuple)</a:t>
            </a:r>
            <a:endParaRPr sz="1750">
              <a:latin typeface="Calibri" panose="020F0502020204030204"/>
              <a:cs typeface="Calibri" panose="020F0502020204030204"/>
            </a:endParaRPr>
          </a:p>
          <a:p>
            <a:pPr>
              <a:lnSpc>
                <a:spcPct val="100000"/>
              </a:lnSpc>
            </a:pPr>
            <a:endParaRPr sz="1700">
              <a:latin typeface="Calibri" panose="020F0502020204030204"/>
              <a:cs typeface="Calibri" panose="020F0502020204030204"/>
            </a:endParaRPr>
          </a:p>
          <a:p>
            <a:pPr>
              <a:lnSpc>
                <a:spcPct val="100000"/>
              </a:lnSpc>
              <a:spcBef>
                <a:spcPts val="45"/>
              </a:spcBef>
            </a:pPr>
            <a:endParaRPr sz="1700">
              <a:latin typeface="Calibri" panose="020F0502020204030204"/>
              <a:cs typeface="Calibri" panose="020F0502020204030204"/>
            </a:endParaRPr>
          </a:p>
          <a:p>
            <a:pPr marL="12700">
              <a:lnSpc>
                <a:spcPct val="100000"/>
              </a:lnSpc>
              <a:spcBef>
                <a:spcPts val="5"/>
              </a:spcBef>
            </a:pPr>
            <a:r>
              <a:rPr sz="1750" b="1" spc="-5" dirty="0">
                <a:latin typeface="Calibri" panose="020F0502020204030204"/>
                <a:cs typeface="Calibri" panose="020F0502020204030204"/>
              </a:rPr>
              <a:t>//with</a:t>
            </a:r>
            <a:r>
              <a:rPr sz="1750" b="1" spc="-35" dirty="0">
                <a:latin typeface="Calibri" panose="020F0502020204030204"/>
                <a:cs typeface="Calibri" panose="020F0502020204030204"/>
              </a:rPr>
              <a:t> </a:t>
            </a:r>
            <a:r>
              <a:rPr sz="1750" b="1" spc="-5" dirty="0">
                <a:latin typeface="Calibri" panose="020F0502020204030204"/>
                <a:cs typeface="Calibri" panose="020F0502020204030204"/>
              </a:rPr>
              <a:t>multiple</a:t>
            </a:r>
            <a:r>
              <a:rPr sz="1750" b="1" spc="-30" dirty="0">
                <a:latin typeface="Calibri" panose="020F0502020204030204"/>
                <a:cs typeface="Calibri" panose="020F0502020204030204"/>
              </a:rPr>
              <a:t> </a:t>
            </a:r>
            <a:r>
              <a:rPr sz="1750" b="1" spc="-5" dirty="0">
                <a:latin typeface="Calibri" panose="020F0502020204030204"/>
                <a:cs typeface="Calibri" panose="020F0502020204030204"/>
              </a:rPr>
              <a:t>iterables</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list_a</a:t>
            </a:r>
            <a:r>
              <a:rPr sz="1750" spc="-25" dirty="0">
                <a:latin typeface="Calibri" panose="020F0502020204030204"/>
                <a:cs typeface="Calibri" panose="020F0502020204030204"/>
              </a:rPr>
              <a:t> </a:t>
            </a:r>
            <a:r>
              <a:rPr sz="1750" dirty="0">
                <a:latin typeface="Calibri" panose="020F0502020204030204"/>
                <a:cs typeface="Calibri" panose="020F0502020204030204"/>
              </a:rPr>
              <a:t>=</a:t>
            </a:r>
            <a:r>
              <a:rPr sz="1750" spc="-20" dirty="0">
                <a:latin typeface="Calibri" panose="020F0502020204030204"/>
                <a:cs typeface="Calibri" panose="020F0502020204030204"/>
              </a:rPr>
              <a:t> </a:t>
            </a:r>
            <a:r>
              <a:rPr sz="1750" spc="-5" dirty="0">
                <a:latin typeface="Calibri" panose="020F0502020204030204"/>
                <a:cs typeface="Calibri" panose="020F0502020204030204"/>
              </a:rPr>
              <a:t>[1,</a:t>
            </a:r>
            <a:r>
              <a:rPr sz="1750" spc="-20" dirty="0">
                <a:latin typeface="Calibri" panose="020F0502020204030204"/>
                <a:cs typeface="Calibri" panose="020F0502020204030204"/>
              </a:rPr>
              <a:t> </a:t>
            </a:r>
            <a:r>
              <a:rPr sz="1750" spc="-5" dirty="0">
                <a:latin typeface="Calibri" panose="020F0502020204030204"/>
                <a:cs typeface="Calibri" panose="020F0502020204030204"/>
              </a:rPr>
              <a:t>2,</a:t>
            </a:r>
            <a:r>
              <a:rPr sz="1750" spc="-20" dirty="0">
                <a:latin typeface="Calibri" panose="020F0502020204030204"/>
                <a:cs typeface="Calibri" panose="020F0502020204030204"/>
              </a:rPr>
              <a:t> </a:t>
            </a:r>
            <a:r>
              <a:rPr sz="1750" spc="-5" dirty="0">
                <a:latin typeface="Calibri" panose="020F0502020204030204"/>
                <a:cs typeface="Calibri" panose="020F0502020204030204"/>
              </a:rPr>
              <a:t>3]</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list_b</a:t>
            </a:r>
            <a:r>
              <a:rPr sz="1750" spc="-25" dirty="0">
                <a:latin typeface="Calibri" panose="020F0502020204030204"/>
                <a:cs typeface="Calibri" panose="020F0502020204030204"/>
              </a:rPr>
              <a:t> </a:t>
            </a:r>
            <a:r>
              <a:rPr sz="1750" dirty="0">
                <a:latin typeface="Calibri" panose="020F0502020204030204"/>
                <a:cs typeface="Calibri" panose="020F0502020204030204"/>
              </a:rPr>
              <a:t>=</a:t>
            </a:r>
            <a:r>
              <a:rPr sz="1750" spc="-20" dirty="0">
                <a:latin typeface="Calibri" panose="020F0502020204030204"/>
                <a:cs typeface="Calibri" panose="020F0502020204030204"/>
              </a:rPr>
              <a:t> </a:t>
            </a:r>
            <a:r>
              <a:rPr sz="1750" spc="-5" dirty="0">
                <a:latin typeface="Calibri" panose="020F0502020204030204"/>
                <a:cs typeface="Calibri" panose="020F0502020204030204"/>
              </a:rPr>
              <a:t>[10,</a:t>
            </a:r>
            <a:r>
              <a:rPr sz="1750" spc="-20" dirty="0">
                <a:latin typeface="Calibri" panose="020F0502020204030204"/>
                <a:cs typeface="Calibri" panose="020F0502020204030204"/>
              </a:rPr>
              <a:t> </a:t>
            </a:r>
            <a:r>
              <a:rPr sz="1750" spc="-5" dirty="0">
                <a:latin typeface="Calibri" panose="020F0502020204030204"/>
                <a:cs typeface="Calibri" panose="020F0502020204030204"/>
              </a:rPr>
              <a:t>20,</a:t>
            </a:r>
            <a:r>
              <a:rPr sz="1750" spc="-20" dirty="0">
                <a:latin typeface="Calibri" panose="020F0502020204030204"/>
                <a:cs typeface="Calibri" panose="020F0502020204030204"/>
              </a:rPr>
              <a:t> </a:t>
            </a:r>
            <a:r>
              <a:rPr sz="1750" spc="-5" dirty="0">
                <a:latin typeface="Calibri" panose="020F0502020204030204"/>
                <a:cs typeface="Calibri" panose="020F0502020204030204"/>
              </a:rPr>
              <a:t>30]</a:t>
            </a:r>
            <a:endParaRPr sz="1750">
              <a:latin typeface="Calibri" panose="020F0502020204030204"/>
              <a:cs typeface="Calibri" panose="020F0502020204030204"/>
            </a:endParaRPr>
          </a:p>
          <a:p>
            <a:pPr marL="62865">
              <a:lnSpc>
                <a:spcPct val="100000"/>
              </a:lnSpc>
              <a:spcBef>
                <a:spcPts val="1050"/>
              </a:spcBef>
            </a:pPr>
            <a:r>
              <a:rPr sz="1750" spc="-5" dirty="0">
                <a:latin typeface="Calibri" panose="020F0502020204030204"/>
                <a:cs typeface="Calibri" panose="020F0502020204030204"/>
              </a:rPr>
              <a:t>map(lambda</a:t>
            </a:r>
            <a:r>
              <a:rPr sz="1750" spc="-15" dirty="0">
                <a:latin typeface="Calibri" panose="020F0502020204030204"/>
                <a:cs typeface="Calibri" panose="020F0502020204030204"/>
              </a:rPr>
              <a:t> </a:t>
            </a:r>
            <a:r>
              <a:rPr sz="1750" spc="-5" dirty="0">
                <a:latin typeface="Calibri" panose="020F0502020204030204"/>
                <a:cs typeface="Calibri" panose="020F0502020204030204"/>
              </a:rPr>
              <a:t>x,</a:t>
            </a:r>
            <a:r>
              <a:rPr sz="1750" spc="-15" dirty="0">
                <a:latin typeface="Calibri" panose="020F0502020204030204"/>
                <a:cs typeface="Calibri" panose="020F0502020204030204"/>
              </a:rPr>
              <a:t> </a:t>
            </a:r>
            <a:r>
              <a:rPr sz="1750" spc="-5" dirty="0">
                <a:latin typeface="Calibri" panose="020F0502020204030204"/>
                <a:cs typeface="Calibri" panose="020F0502020204030204"/>
              </a:rPr>
              <a:t>y:</a:t>
            </a:r>
            <a:r>
              <a:rPr sz="1750" spc="-15" dirty="0">
                <a:latin typeface="Calibri" panose="020F0502020204030204"/>
                <a:cs typeface="Calibri" panose="020F0502020204030204"/>
              </a:rPr>
              <a:t> </a:t>
            </a:r>
            <a:r>
              <a:rPr sz="1750" dirty="0">
                <a:latin typeface="Calibri" panose="020F0502020204030204"/>
                <a:cs typeface="Calibri" panose="020F0502020204030204"/>
              </a:rPr>
              <a:t>x</a:t>
            </a:r>
            <a:r>
              <a:rPr sz="1750" spc="-15" dirty="0">
                <a:latin typeface="Calibri" panose="020F0502020204030204"/>
                <a:cs typeface="Calibri" panose="020F0502020204030204"/>
              </a:rPr>
              <a:t> </a:t>
            </a:r>
            <a:r>
              <a:rPr sz="1750" dirty="0">
                <a:latin typeface="Calibri" panose="020F0502020204030204"/>
                <a:cs typeface="Calibri" panose="020F0502020204030204"/>
              </a:rPr>
              <a:t>+</a:t>
            </a:r>
            <a:r>
              <a:rPr sz="1750" spc="-10" dirty="0">
                <a:latin typeface="Calibri" panose="020F0502020204030204"/>
                <a:cs typeface="Calibri" panose="020F0502020204030204"/>
              </a:rPr>
              <a:t> </a:t>
            </a:r>
            <a:r>
              <a:rPr sz="1750" spc="-5" dirty="0">
                <a:latin typeface="Calibri" panose="020F0502020204030204"/>
                <a:cs typeface="Calibri" panose="020F0502020204030204"/>
              </a:rPr>
              <a:t>y,</a:t>
            </a:r>
            <a:r>
              <a:rPr sz="1750" spc="-15" dirty="0">
                <a:latin typeface="Calibri" panose="020F0502020204030204"/>
                <a:cs typeface="Calibri" panose="020F0502020204030204"/>
              </a:rPr>
              <a:t> </a:t>
            </a:r>
            <a:r>
              <a:rPr sz="1750" spc="-5" dirty="0">
                <a:latin typeface="Calibri" panose="020F0502020204030204"/>
                <a:cs typeface="Calibri" panose="020F0502020204030204"/>
              </a:rPr>
              <a:t>list_a,</a:t>
            </a:r>
            <a:r>
              <a:rPr sz="1750" spc="-15" dirty="0">
                <a:latin typeface="Calibri" panose="020F0502020204030204"/>
                <a:cs typeface="Calibri" panose="020F0502020204030204"/>
              </a:rPr>
              <a:t> </a:t>
            </a:r>
            <a:r>
              <a:rPr sz="1750" spc="-5" dirty="0">
                <a:latin typeface="Calibri" panose="020F0502020204030204"/>
                <a:cs typeface="Calibri" panose="020F0502020204030204"/>
              </a:rPr>
              <a:t>list_b)</a:t>
            </a:r>
            <a:endParaRPr sz="1750">
              <a:latin typeface="Calibri" panose="020F0502020204030204"/>
              <a:cs typeface="Calibri" panose="020F0502020204030204"/>
            </a:endParaRPr>
          </a:p>
        </p:txBody>
      </p:sp>
      <p:sp>
        <p:nvSpPr>
          <p:cNvPr id="6" name="object 6"/>
          <p:cNvSpPr txBox="1"/>
          <p:nvPr/>
        </p:nvSpPr>
        <p:spPr>
          <a:xfrm>
            <a:off x="5329130" y="420528"/>
            <a:ext cx="4376420" cy="3225800"/>
          </a:xfrm>
          <a:prstGeom prst="rect">
            <a:avLst/>
          </a:prstGeom>
        </p:spPr>
        <p:txBody>
          <a:bodyPr vert="horz" wrap="square" lIns="0" tIns="12700" rIns="0" bIns="0" rtlCol="0">
            <a:spAutoFit/>
          </a:bodyPr>
          <a:lstStyle/>
          <a:p>
            <a:pPr marL="12700" marR="2322195">
              <a:lnSpc>
                <a:spcPct val="150000"/>
              </a:lnSpc>
              <a:spcBef>
                <a:spcPts val="100"/>
              </a:spcBef>
            </a:pPr>
            <a:r>
              <a:rPr sz="1750" b="1" spc="-5" dirty="0">
                <a:latin typeface="Calibri" panose="020F0502020204030204"/>
                <a:cs typeface="Calibri" panose="020F0502020204030204"/>
              </a:rPr>
              <a:t>Example with </a:t>
            </a:r>
            <a:r>
              <a:rPr sz="1750" b="1" dirty="0">
                <a:latin typeface="Calibri" panose="020F0502020204030204"/>
                <a:cs typeface="Calibri" panose="020F0502020204030204"/>
              </a:rPr>
              <a:t>Map </a:t>
            </a:r>
            <a:r>
              <a:rPr sz="1750" b="1" spc="5" dirty="0">
                <a:latin typeface="Calibri" panose="020F0502020204030204"/>
                <a:cs typeface="Calibri" panose="020F0502020204030204"/>
              </a:rPr>
              <a:t> </a:t>
            </a:r>
            <a:r>
              <a:rPr sz="1750" spc="-5" dirty="0">
                <a:latin typeface="Calibri" panose="020F0502020204030204"/>
                <a:cs typeface="Calibri" panose="020F0502020204030204"/>
              </a:rPr>
              <a:t>from</a:t>
            </a:r>
            <a:r>
              <a:rPr sz="1750" spc="-35" dirty="0">
                <a:latin typeface="Calibri" panose="020F0502020204030204"/>
                <a:cs typeface="Calibri" panose="020F0502020204030204"/>
              </a:rPr>
              <a:t> </a:t>
            </a:r>
            <a:r>
              <a:rPr sz="1750" spc="-5" dirty="0">
                <a:latin typeface="Calibri" panose="020F0502020204030204"/>
                <a:cs typeface="Calibri" panose="020F0502020204030204"/>
              </a:rPr>
              <a:t>math</a:t>
            </a:r>
            <a:r>
              <a:rPr sz="1750" spc="-30" dirty="0">
                <a:latin typeface="Calibri" panose="020F0502020204030204"/>
                <a:cs typeface="Calibri" panose="020F0502020204030204"/>
              </a:rPr>
              <a:t> </a:t>
            </a:r>
            <a:r>
              <a:rPr sz="1750" spc="-5" dirty="0">
                <a:latin typeface="Calibri" panose="020F0502020204030204"/>
                <a:cs typeface="Calibri" panose="020F0502020204030204"/>
              </a:rPr>
              <a:t>import</a:t>
            </a:r>
            <a:r>
              <a:rPr sz="1750" spc="-30" dirty="0">
                <a:latin typeface="Calibri" panose="020F0502020204030204"/>
                <a:cs typeface="Calibri" panose="020F0502020204030204"/>
              </a:rPr>
              <a:t> </a:t>
            </a:r>
            <a:r>
              <a:rPr sz="1750" spc="-5" dirty="0">
                <a:latin typeface="Calibri" panose="020F0502020204030204"/>
                <a:cs typeface="Calibri" panose="020F0502020204030204"/>
              </a:rPr>
              <a:t>sqrt </a:t>
            </a:r>
            <a:r>
              <a:rPr sz="1750" spc="-380" dirty="0">
                <a:latin typeface="Calibri" panose="020F0502020204030204"/>
                <a:cs typeface="Calibri" panose="020F0502020204030204"/>
              </a:rPr>
              <a:t> </a:t>
            </a:r>
            <a:r>
              <a:rPr sz="1750" spc="-5" dirty="0">
                <a:latin typeface="Calibri" panose="020F0502020204030204"/>
                <a:cs typeface="Calibri" panose="020F0502020204030204"/>
              </a:rPr>
              <a:t>map(sqrt,</a:t>
            </a:r>
            <a:r>
              <a:rPr sz="1750" spc="-25" dirty="0">
                <a:latin typeface="Calibri" panose="020F0502020204030204"/>
                <a:cs typeface="Calibri" panose="020F0502020204030204"/>
              </a:rPr>
              <a:t> </a:t>
            </a:r>
            <a:r>
              <a:rPr sz="1750" spc="-5" dirty="0">
                <a:latin typeface="Calibri" panose="020F0502020204030204"/>
                <a:cs typeface="Calibri" panose="020F0502020204030204"/>
              </a:rPr>
              <a:t>[1,</a:t>
            </a:r>
            <a:r>
              <a:rPr sz="1750" spc="-20" dirty="0">
                <a:latin typeface="Calibri" panose="020F0502020204030204"/>
                <a:cs typeface="Calibri" panose="020F0502020204030204"/>
              </a:rPr>
              <a:t> </a:t>
            </a:r>
            <a:r>
              <a:rPr sz="1750" spc="-5" dirty="0">
                <a:latin typeface="Calibri" panose="020F0502020204030204"/>
                <a:cs typeface="Calibri" panose="020F0502020204030204"/>
              </a:rPr>
              <a:t>4,</a:t>
            </a:r>
            <a:r>
              <a:rPr sz="1750" spc="-25" dirty="0">
                <a:latin typeface="Calibri" panose="020F0502020204030204"/>
                <a:cs typeface="Calibri" panose="020F0502020204030204"/>
              </a:rPr>
              <a:t> </a:t>
            </a:r>
            <a:r>
              <a:rPr sz="1750" spc="-5" dirty="0">
                <a:latin typeface="Calibri" panose="020F0502020204030204"/>
                <a:cs typeface="Calibri" panose="020F0502020204030204"/>
              </a:rPr>
              <a:t>9,</a:t>
            </a:r>
            <a:r>
              <a:rPr sz="1750" spc="-20" dirty="0">
                <a:latin typeface="Calibri" panose="020F0502020204030204"/>
                <a:cs typeface="Calibri" panose="020F0502020204030204"/>
              </a:rPr>
              <a:t> </a:t>
            </a:r>
            <a:r>
              <a:rPr sz="1750" spc="-5" dirty="0">
                <a:latin typeface="Calibri" panose="020F0502020204030204"/>
                <a:cs typeface="Calibri" panose="020F0502020204030204"/>
              </a:rPr>
              <a:t>16])</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[1.0,</a:t>
            </a:r>
            <a:r>
              <a:rPr sz="1750" spc="-25" dirty="0">
                <a:latin typeface="Calibri" panose="020F0502020204030204"/>
                <a:cs typeface="Calibri" panose="020F0502020204030204"/>
              </a:rPr>
              <a:t> </a:t>
            </a:r>
            <a:r>
              <a:rPr sz="1750" spc="-5" dirty="0">
                <a:latin typeface="Calibri" panose="020F0502020204030204"/>
                <a:cs typeface="Calibri" panose="020F0502020204030204"/>
              </a:rPr>
              <a:t>2.0,</a:t>
            </a:r>
            <a:r>
              <a:rPr sz="1750" spc="-25" dirty="0">
                <a:latin typeface="Calibri" panose="020F0502020204030204"/>
                <a:cs typeface="Calibri" panose="020F0502020204030204"/>
              </a:rPr>
              <a:t> </a:t>
            </a:r>
            <a:r>
              <a:rPr sz="1750" spc="-5" dirty="0">
                <a:latin typeface="Calibri" panose="020F0502020204030204"/>
                <a:cs typeface="Calibri" panose="020F0502020204030204"/>
              </a:rPr>
              <a:t>3.0,</a:t>
            </a:r>
            <a:r>
              <a:rPr sz="1750" spc="-25" dirty="0">
                <a:latin typeface="Calibri" panose="020F0502020204030204"/>
                <a:cs typeface="Calibri" panose="020F0502020204030204"/>
              </a:rPr>
              <a:t> </a:t>
            </a:r>
            <a:r>
              <a:rPr sz="1750" spc="-5" dirty="0">
                <a:latin typeface="Calibri" panose="020F0502020204030204"/>
                <a:cs typeface="Calibri" panose="020F0502020204030204"/>
              </a:rPr>
              <a:t>4.0]</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map(str.lower,</a:t>
            </a:r>
            <a:r>
              <a:rPr sz="1750" spc="-25" dirty="0">
                <a:latin typeface="Calibri" panose="020F0502020204030204"/>
                <a:cs typeface="Calibri" panose="020F0502020204030204"/>
              </a:rPr>
              <a:t> </a:t>
            </a:r>
            <a:r>
              <a:rPr sz="1750" spc="-5" dirty="0">
                <a:latin typeface="Calibri" panose="020F0502020204030204"/>
                <a:cs typeface="Calibri" panose="020F0502020204030204"/>
              </a:rPr>
              <a:t>['A',</a:t>
            </a:r>
            <a:r>
              <a:rPr sz="1750" spc="-25" dirty="0">
                <a:latin typeface="Calibri" panose="020F0502020204030204"/>
                <a:cs typeface="Calibri" panose="020F0502020204030204"/>
              </a:rPr>
              <a:t> </a:t>
            </a:r>
            <a:r>
              <a:rPr sz="1750" spc="-5" dirty="0">
                <a:latin typeface="Calibri" panose="020F0502020204030204"/>
                <a:cs typeface="Calibri" panose="020F0502020204030204"/>
              </a:rPr>
              <a:t>'b',</a:t>
            </a:r>
            <a:r>
              <a:rPr sz="1750" spc="-25" dirty="0">
                <a:latin typeface="Calibri" panose="020F0502020204030204"/>
                <a:cs typeface="Calibri" panose="020F0502020204030204"/>
              </a:rPr>
              <a:t> </a:t>
            </a:r>
            <a:r>
              <a:rPr sz="1750" spc="-5" dirty="0">
                <a:latin typeface="Calibri" panose="020F0502020204030204"/>
                <a:cs typeface="Calibri" panose="020F0502020204030204"/>
              </a:rPr>
              <a:t>'C'])</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['a',</a:t>
            </a:r>
            <a:r>
              <a:rPr sz="1750" spc="-35" dirty="0">
                <a:latin typeface="Calibri" panose="020F0502020204030204"/>
                <a:cs typeface="Calibri" panose="020F0502020204030204"/>
              </a:rPr>
              <a:t> </a:t>
            </a:r>
            <a:r>
              <a:rPr sz="1750" spc="-5" dirty="0">
                <a:latin typeface="Calibri" panose="020F0502020204030204"/>
                <a:cs typeface="Calibri" panose="020F0502020204030204"/>
              </a:rPr>
              <a:t>'b',</a:t>
            </a:r>
            <a:r>
              <a:rPr sz="1750" spc="-30" dirty="0">
                <a:latin typeface="Calibri" panose="020F0502020204030204"/>
                <a:cs typeface="Calibri" panose="020F0502020204030204"/>
              </a:rPr>
              <a:t> </a:t>
            </a:r>
            <a:r>
              <a:rPr sz="1750" spc="-5" dirty="0">
                <a:latin typeface="Calibri" panose="020F0502020204030204"/>
                <a:cs typeface="Calibri" panose="020F0502020204030204"/>
              </a:rPr>
              <a:t>'c']</a:t>
            </a:r>
            <a:endParaRPr sz="1750">
              <a:latin typeface="Calibri" panose="020F0502020204030204"/>
              <a:cs typeface="Calibri" panose="020F0502020204030204"/>
            </a:endParaRPr>
          </a:p>
          <a:p>
            <a:pPr marL="12700" marR="5080">
              <a:lnSpc>
                <a:spcPct val="150000"/>
              </a:lnSpc>
            </a:pPr>
            <a:r>
              <a:rPr sz="1750" spc="-5" dirty="0">
                <a:latin typeface="Calibri" panose="020F0502020204030204"/>
                <a:cs typeface="Calibri" panose="020F0502020204030204"/>
              </a:rPr>
              <a:t>#splitting the input </a:t>
            </a:r>
            <a:r>
              <a:rPr sz="1750" dirty="0">
                <a:latin typeface="Calibri" panose="020F0502020204030204"/>
                <a:cs typeface="Calibri" panose="020F0502020204030204"/>
              </a:rPr>
              <a:t>and </a:t>
            </a:r>
            <a:r>
              <a:rPr sz="1750" spc="-5" dirty="0">
                <a:latin typeface="Calibri" panose="020F0502020204030204"/>
                <a:cs typeface="Calibri" panose="020F0502020204030204"/>
              </a:rPr>
              <a:t>convert to int using map </a:t>
            </a:r>
            <a:r>
              <a:rPr sz="1750" spc="-385" dirty="0">
                <a:latin typeface="Calibri" panose="020F0502020204030204"/>
                <a:cs typeface="Calibri" panose="020F0502020204030204"/>
              </a:rPr>
              <a:t> </a:t>
            </a:r>
            <a:r>
              <a:rPr sz="1750" spc="-5" dirty="0">
                <a:latin typeface="Calibri" panose="020F0502020204030204"/>
                <a:cs typeface="Calibri" panose="020F0502020204030204"/>
              </a:rPr>
              <a:t>print(list(map(int,</a:t>
            </a:r>
            <a:r>
              <a:rPr sz="1750" spc="-10" dirty="0">
                <a:latin typeface="Calibri" panose="020F0502020204030204"/>
                <a:cs typeface="Calibri" panose="020F0502020204030204"/>
              </a:rPr>
              <a:t> </a:t>
            </a:r>
            <a:r>
              <a:rPr sz="1750" spc="-5" dirty="0">
                <a:latin typeface="Calibri" panose="020F0502020204030204"/>
                <a:cs typeface="Calibri" panose="020F0502020204030204"/>
              </a:rPr>
              <a:t>input.split(‘</a:t>
            </a:r>
            <a:r>
              <a:rPr sz="1750" spc="-10" dirty="0">
                <a:latin typeface="Calibri" panose="020F0502020204030204"/>
                <a:cs typeface="Calibri" panose="020F0502020204030204"/>
              </a:rPr>
              <a:t> </a:t>
            </a:r>
            <a:r>
              <a:rPr sz="1750" spc="-5" dirty="0">
                <a:latin typeface="Calibri" panose="020F0502020204030204"/>
                <a:cs typeface="Calibri" panose="020F0502020204030204"/>
              </a:rPr>
              <a:t>‘)))</a:t>
            </a:r>
            <a:endParaRPr sz="1750">
              <a:latin typeface="Calibri" panose="020F0502020204030204"/>
              <a:cs typeface="Calibri" panose="020F0502020204030204"/>
            </a:endParaRPr>
          </a:p>
        </p:txBody>
      </p:sp>
      <p:pic>
        <p:nvPicPr>
          <p:cNvPr id="7" name="object 7"/>
          <p:cNvPicPr/>
          <p:nvPr/>
        </p:nvPicPr>
        <p:blipFill>
          <a:blip r:embed="rId3" cstate="print"/>
          <a:stretch>
            <a:fillRect/>
          </a:stretch>
        </p:blipFill>
        <p:spPr>
          <a:xfrm>
            <a:off x="1359778" y="4664941"/>
            <a:ext cx="7649751" cy="1842520"/>
          </a:xfrm>
          <a:prstGeom prst="rect">
            <a:avLst/>
          </a:prstGeom>
        </p:spPr>
      </p:pic>
      <p:sp>
        <p:nvSpPr>
          <p:cNvPr id="8" name="Slide Number Placeholder 7"/>
          <p:cNvSpPr>
            <a:spLocks noGrp="1"/>
          </p:cNvSpPr>
          <p:nvPr>
            <p:ph type="sldNum" sz="quarter" idx="7"/>
          </p:nvPr>
        </p:nvSpPr>
        <p:spPr/>
        <p:txBody>
          <a:bodyPr/>
          <a:lstStyle/>
          <a:p>
            <a:fld id="{B6F15528-21DE-4FAA-801E-634DDDAF4B2B}" type="slidenum">
              <a:rPr/>
              <a:t>26</a:t>
            </a:fld>
            <a:endParaRPr/>
          </a:p>
        </p:txBody>
      </p:sp>
      <p:sp>
        <p:nvSpPr>
          <p:cNvPr id="9" name="Footer Placeholder 8"/>
          <p:cNvSpPr>
            <a:spLocks noGrp="1"/>
          </p:cNvSpPr>
          <p:nvPr>
            <p:ph type="ftr" sz="quarter" idx="5"/>
          </p:nvPr>
        </p:nvSpPr>
        <p:spPr/>
        <p:txBody>
          <a:bodyPr/>
          <a:lstStyle/>
          <a:p>
            <a:r>
              <a:t>UNIT IV : Pythonic Programming Paradigm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883" y="498727"/>
            <a:ext cx="12168505" cy="6062345"/>
            <a:chOff x="11883" y="498727"/>
            <a:chExt cx="12168505" cy="6062345"/>
          </a:xfrm>
        </p:grpSpPr>
        <p:sp>
          <p:nvSpPr>
            <p:cNvPr id="3" name="object 3"/>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4" name="object 4"/>
            <p:cNvSpPr/>
            <p:nvPr/>
          </p:nvSpPr>
          <p:spPr>
            <a:xfrm>
              <a:off x="53418" y="575467"/>
              <a:ext cx="12105640" cy="5979795"/>
            </a:xfrm>
            <a:custGeom>
              <a:avLst/>
              <a:gdLst/>
              <a:ahLst/>
              <a:cxnLst/>
              <a:rect l="l" t="t" r="r" b="b"/>
              <a:pathLst>
                <a:path w="12105640" h="5979795">
                  <a:moveTo>
                    <a:pt x="0" y="0"/>
                  </a:moveTo>
                  <a:lnTo>
                    <a:pt x="12105503" y="0"/>
                  </a:lnTo>
                  <a:lnTo>
                    <a:pt x="12105503" y="5979174"/>
                  </a:lnTo>
                  <a:lnTo>
                    <a:pt x="0" y="5979174"/>
                  </a:lnTo>
                  <a:lnTo>
                    <a:pt x="0" y="0"/>
                  </a:lnTo>
                  <a:close/>
                </a:path>
              </a:pathLst>
            </a:custGeom>
            <a:ln w="12699">
              <a:solidFill>
                <a:srgbClr val="00B0F0"/>
              </a:solidFill>
            </a:ln>
          </p:spPr>
          <p:txBody>
            <a:bodyPr wrap="square" lIns="0" tIns="0" rIns="0" bIns="0" rtlCol="0"/>
            <a:lstStyle/>
            <a:p>
              <a:endParaRPr/>
            </a:p>
          </p:txBody>
        </p:sp>
      </p:grpSp>
      <p:sp>
        <p:nvSpPr>
          <p:cNvPr id="5" name="object 5"/>
          <p:cNvSpPr txBox="1">
            <a:spLocks noGrp="1"/>
          </p:cNvSpPr>
          <p:nvPr>
            <p:ph type="title"/>
          </p:nvPr>
        </p:nvSpPr>
        <p:spPr>
          <a:xfrm>
            <a:off x="76970" y="19698"/>
            <a:ext cx="1945005"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map()</a:t>
            </a:r>
            <a:r>
              <a:rPr spc="-8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Function</a:t>
            </a:r>
          </a:p>
        </p:txBody>
      </p:sp>
      <p:sp>
        <p:nvSpPr>
          <p:cNvPr id="6" name="object 6"/>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7" name="object 7"/>
          <p:cNvSpPr txBox="1"/>
          <p:nvPr/>
        </p:nvSpPr>
        <p:spPr>
          <a:xfrm>
            <a:off x="147554" y="448564"/>
            <a:ext cx="12004040" cy="2025650"/>
          </a:xfrm>
          <a:prstGeom prst="rect">
            <a:avLst/>
          </a:prstGeom>
        </p:spPr>
        <p:txBody>
          <a:bodyPr vert="horz" wrap="square" lIns="0" tIns="12700" rIns="0" bIns="0" rtlCol="0">
            <a:spAutoFit/>
          </a:bodyPr>
          <a:lstStyle/>
          <a:p>
            <a:pPr marL="298450" marR="5080" indent="-252730">
              <a:lnSpc>
                <a:spcPct val="150000"/>
              </a:lnSpc>
              <a:spcBef>
                <a:spcPts val="100"/>
              </a:spcBef>
              <a:buFont typeface="Arial MT"/>
              <a:buChar char="•"/>
              <a:tabLst>
                <a:tab pos="297815" algn="l"/>
                <a:tab pos="298450" algn="l"/>
              </a:tabLst>
            </a:pPr>
            <a:r>
              <a:rPr sz="1750" spc="-5" dirty="0">
                <a:latin typeface="Calibri" panose="020F0502020204030204"/>
                <a:cs typeface="Calibri" panose="020F0502020204030204"/>
              </a:rPr>
              <a:t>map()</a:t>
            </a:r>
            <a:r>
              <a:rPr sz="1750" spc="85"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90" dirty="0">
                <a:latin typeface="Calibri" panose="020F0502020204030204"/>
                <a:cs typeface="Calibri" panose="020F0502020204030204"/>
              </a:rPr>
              <a:t> </a:t>
            </a:r>
            <a:r>
              <a:rPr sz="1750" spc="-5" dirty="0">
                <a:latin typeface="Calibri" panose="020F0502020204030204"/>
                <a:cs typeface="Calibri" panose="020F0502020204030204"/>
              </a:rPr>
              <a:t>is</a:t>
            </a:r>
            <a:r>
              <a:rPr sz="1750" spc="90" dirty="0">
                <a:latin typeface="Calibri" panose="020F0502020204030204"/>
                <a:cs typeface="Calibri" panose="020F0502020204030204"/>
              </a:rPr>
              <a:t> </a:t>
            </a:r>
            <a:r>
              <a:rPr sz="1750" dirty="0">
                <a:latin typeface="Calibri" panose="020F0502020204030204"/>
                <a:cs typeface="Calibri" panose="020F0502020204030204"/>
              </a:rPr>
              <a:t>a</a:t>
            </a:r>
            <a:r>
              <a:rPr sz="1750" spc="90" dirty="0">
                <a:latin typeface="Calibri" panose="020F0502020204030204"/>
                <a:cs typeface="Calibri" panose="020F0502020204030204"/>
              </a:rPr>
              <a:t> </a:t>
            </a:r>
            <a:r>
              <a:rPr sz="1750" spc="-5" dirty="0">
                <a:latin typeface="Calibri" panose="020F0502020204030204"/>
                <a:cs typeface="Calibri" panose="020F0502020204030204"/>
              </a:rPr>
              <a:t>type</a:t>
            </a:r>
            <a:r>
              <a:rPr sz="1750" spc="85" dirty="0">
                <a:latin typeface="Calibri" panose="020F0502020204030204"/>
                <a:cs typeface="Calibri" panose="020F0502020204030204"/>
              </a:rPr>
              <a:t> </a:t>
            </a:r>
            <a:r>
              <a:rPr sz="1750" spc="-5" dirty="0">
                <a:latin typeface="Calibri" panose="020F0502020204030204"/>
                <a:cs typeface="Calibri" panose="020F0502020204030204"/>
              </a:rPr>
              <a:t>of</a:t>
            </a:r>
            <a:r>
              <a:rPr sz="1750" spc="90" dirty="0">
                <a:latin typeface="Calibri" panose="020F0502020204030204"/>
                <a:cs typeface="Calibri" panose="020F0502020204030204"/>
              </a:rPr>
              <a:t> </a:t>
            </a:r>
            <a:r>
              <a:rPr sz="1750" spc="-5" dirty="0">
                <a:latin typeface="Calibri" panose="020F0502020204030204"/>
                <a:cs typeface="Calibri" panose="020F0502020204030204"/>
              </a:rPr>
              <a:t>higher-order.</a:t>
            </a:r>
            <a:r>
              <a:rPr sz="1750" spc="90" dirty="0">
                <a:latin typeface="Calibri" panose="020F0502020204030204"/>
                <a:cs typeface="Calibri" panose="020F0502020204030204"/>
              </a:rPr>
              <a:t> </a:t>
            </a:r>
            <a:r>
              <a:rPr sz="1750" spc="-5" dirty="0">
                <a:latin typeface="Calibri" panose="020F0502020204030204"/>
                <a:cs typeface="Calibri" panose="020F0502020204030204"/>
              </a:rPr>
              <a:t>As</a:t>
            </a:r>
            <a:r>
              <a:rPr sz="1750" spc="90" dirty="0">
                <a:latin typeface="Calibri" panose="020F0502020204030204"/>
                <a:cs typeface="Calibri" panose="020F0502020204030204"/>
              </a:rPr>
              <a:t> </a:t>
            </a:r>
            <a:r>
              <a:rPr sz="1750" spc="-5" dirty="0">
                <a:latin typeface="Calibri" panose="020F0502020204030204"/>
                <a:cs typeface="Calibri" panose="020F0502020204030204"/>
              </a:rPr>
              <a:t>mentioned</a:t>
            </a:r>
            <a:r>
              <a:rPr sz="1750" spc="85" dirty="0">
                <a:latin typeface="Calibri" panose="020F0502020204030204"/>
                <a:cs typeface="Calibri" panose="020F0502020204030204"/>
              </a:rPr>
              <a:t> </a:t>
            </a:r>
            <a:r>
              <a:rPr sz="1750" spc="-5" dirty="0">
                <a:latin typeface="Calibri" panose="020F0502020204030204"/>
                <a:cs typeface="Calibri" panose="020F0502020204030204"/>
              </a:rPr>
              <a:t>earlier,</a:t>
            </a:r>
            <a:r>
              <a:rPr sz="1750" spc="90" dirty="0">
                <a:latin typeface="Calibri" panose="020F0502020204030204"/>
                <a:cs typeface="Calibri" panose="020F0502020204030204"/>
              </a:rPr>
              <a:t> </a:t>
            </a:r>
            <a:r>
              <a:rPr sz="1750" spc="-5" dirty="0">
                <a:latin typeface="Calibri" panose="020F0502020204030204"/>
                <a:cs typeface="Calibri" panose="020F0502020204030204"/>
              </a:rPr>
              <a:t>this</a:t>
            </a:r>
            <a:r>
              <a:rPr sz="1750" spc="90"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90" dirty="0">
                <a:latin typeface="Calibri" panose="020F0502020204030204"/>
                <a:cs typeface="Calibri" panose="020F0502020204030204"/>
              </a:rPr>
              <a:t> </a:t>
            </a:r>
            <a:r>
              <a:rPr sz="1750" spc="-5" dirty="0">
                <a:latin typeface="Calibri" panose="020F0502020204030204"/>
                <a:cs typeface="Calibri" panose="020F0502020204030204"/>
              </a:rPr>
              <a:t>takes</a:t>
            </a:r>
            <a:r>
              <a:rPr sz="1750" spc="85" dirty="0">
                <a:latin typeface="Calibri" panose="020F0502020204030204"/>
                <a:cs typeface="Calibri" panose="020F0502020204030204"/>
              </a:rPr>
              <a:t> </a:t>
            </a:r>
            <a:r>
              <a:rPr sz="1750" dirty="0">
                <a:latin typeface="Calibri" panose="020F0502020204030204"/>
                <a:cs typeface="Calibri" panose="020F0502020204030204"/>
              </a:rPr>
              <a:t>another</a:t>
            </a:r>
            <a:r>
              <a:rPr sz="1750" spc="90"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90" dirty="0">
                <a:latin typeface="Calibri" panose="020F0502020204030204"/>
                <a:cs typeface="Calibri" panose="020F0502020204030204"/>
              </a:rPr>
              <a:t> </a:t>
            </a:r>
            <a:r>
              <a:rPr sz="1750" dirty="0">
                <a:latin typeface="Calibri" panose="020F0502020204030204"/>
                <a:cs typeface="Calibri" panose="020F0502020204030204"/>
              </a:rPr>
              <a:t>as</a:t>
            </a:r>
            <a:r>
              <a:rPr sz="1750" spc="90" dirty="0">
                <a:latin typeface="Calibri" panose="020F0502020204030204"/>
                <a:cs typeface="Calibri" panose="020F0502020204030204"/>
              </a:rPr>
              <a:t> </a:t>
            </a:r>
            <a:r>
              <a:rPr sz="1750" dirty="0">
                <a:latin typeface="Calibri" panose="020F0502020204030204"/>
                <a:cs typeface="Calibri" panose="020F0502020204030204"/>
              </a:rPr>
              <a:t>a</a:t>
            </a:r>
            <a:r>
              <a:rPr sz="1750" spc="85" dirty="0">
                <a:latin typeface="Calibri" panose="020F0502020204030204"/>
                <a:cs typeface="Calibri" panose="020F0502020204030204"/>
              </a:rPr>
              <a:t> </a:t>
            </a:r>
            <a:r>
              <a:rPr sz="1750" spc="-5" dirty="0">
                <a:latin typeface="Calibri" panose="020F0502020204030204"/>
                <a:cs typeface="Calibri" panose="020F0502020204030204"/>
              </a:rPr>
              <a:t>parameter</a:t>
            </a:r>
            <a:r>
              <a:rPr sz="1750" spc="90" dirty="0">
                <a:latin typeface="Calibri" panose="020F0502020204030204"/>
                <a:cs typeface="Calibri" panose="020F0502020204030204"/>
              </a:rPr>
              <a:t> </a:t>
            </a:r>
            <a:r>
              <a:rPr sz="1750" dirty="0">
                <a:latin typeface="Calibri" panose="020F0502020204030204"/>
                <a:cs typeface="Calibri" panose="020F0502020204030204"/>
              </a:rPr>
              <a:t>along</a:t>
            </a:r>
            <a:r>
              <a:rPr sz="1750" spc="90" dirty="0">
                <a:latin typeface="Calibri" panose="020F0502020204030204"/>
                <a:cs typeface="Calibri" panose="020F0502020204030204"/>
              </a:rPr>
              <a:t> </a:t>
            </a:r>
            <a:r>
              <a:rPr sz="1750" spc="-5" dirty="0">
                <a:latin typeface="Calibri" panose="020F0502020204030204"/>
                <a:cs typeface="Calibri" panose="020F0502020204030204"/>
              </a:rPr>
              <a:t>with</a:t>
            </a:r>
            <a:r>
              <a:rPr sz="1750" spc="90" dirty="0">
                <a:latin typeface="Calibri" panose="020F0502020204030204"/>
                <a:cs typeface="Calibri" panose="020F0502020204030204"/>
              </a:rPr>
              <a:t> </a:t>
            </a:r>
            <a:r>
              <a:rPr sz="1750" dirty="0">
                <a:latin typeface="Calibri" panose="020F0502020204030204"/>
                <a:cs typeface="Calibri" panose="020F0502020204030204"/>
              </a:rPr>
              <a:t>a </a:t>
            </a:r>
            <a:r>
              <a:rPr sz="1750" spc="-380" dirty="0">
                <a:latin typeface="Calibri" panose="020F0502020204030204"/>
                <a:cs typeface="Calibri" panose="020F0502020204030204"/>
              </a:rPr>
              <a:t> </a:t>
            </a:r>
            <a:r>
              <a:rPr sz="1750" spc="-5" dirty="0">
                <a:latin typeface="Calibri" panose="020F0502020204030204"/>
                <a:cs typeface="Calibri" panose="020F0502020204030204"/>
              </a:rPr>
              <a:t>sequence</a:t>
            </a:r>
            <a:r>
              <a:rPr sz="1750" spc="-10" dirty="0">
                <a:latin typeface="Calibri" panose="020F0502020204030204"/>
                <a:cs typeface="Calibri" panose="020F0502020204030204"/>
              </a:rPr>
              <a:t> </a:t>
            </a:r>
            <a:r>
              <a:rPr sz="1750" spc="-5" dirty="0">
                <a:latin typeface="Calibri" panose="020F0502020204030204"/>
                <a:cs typeface="Calibri" panose="020F0502020204030204"/>
              </a:rPr>
              <a:t>of iterables </a:t>
            </a:r>
            <a:r>
              <a:rPr sz="1750" dirty="0">
                <a:latin typeface="Calibri" panose="020F0502020204030204"/>
                <a:cs typeface="Calibri" panose="020F0502020204030204"/>
              </a:rPr>
              <a:t>and</a:t>
            </a:r>
            <a:r>
              <a:rPr sz="1750" spc="-5" dirty="0">
                <a:latin typeface="Calibri" panose="020F0502020204030204"/>
                <a:cs typeface="Calibri" panose="020F0502020204030204"/>
              </a:rPr>
              <a:t> returns </a:t>
            </a:r>
            <a:r>
              <a:rPr sz="1750" dirty="0">
                <a:latin typeface="Calibri" panose="020F0502020204030204"/>
                <a:cs typeface="Calibri" panose="020F0502020204030204"/>
              </a:rPr>
              <a:t>an</a:t>
            </a:r>
            <a:r>
              <a:rPr sz="1750" spc="-5" dirty="0">
                <a:latin typeface="Calibri" panose="020F0502020204030204"/>
                <a:cs typeface="Calibri" panose="020F0502020204030204"/>
              </a:rPr>
              <a:t> output</a:t>
            </a:r>
            <a:r>
              <a:rPr sz="1750" spc="-10" dirty="0">
                <a:latin typeface="Calibri" panose="020F0502020204030204"/>
                <a:cs typeface="Calibri" panose="020F0502020204030204"/>
              </a:rPr>
              <a:t> </a:t>
            </a:r>
            <a:r>
              <a:rPr sz="1750" dirty="0">
                <a:latin typeface="Calibri" panose="020F0502020204030204"/>
                <a:cs typeface="Calibri" panose="020F0502020204030204"/>
              </a:rPr>
              <a:t>after</a:t>
            </a:r>
            <a:r>
              <a:rPr sz="1750" spc="-5" dirty="0">
                <a:latin typeface="Calibri" panose="020F0502020204030204"/>
                <a:cs typeface="Calibri" panose="020F0502020204030204"/>
              </a:rPr>
              <a:t> </a:t>
            </a:r>
            <a:r>
              <a:rPr sz="1750" dirty="0">
                <a:latin typeface="Calibri" panose="020F0502020204030204"/>
                <a:cs typeface="Calibri" panose="020F0502020204030204"/>
              </a:rPr>
              <a:t>applying</a:t>
            </a:r>
            <a:r>
              <a:rPr sz="1750" spc="-5" dirty="0">
                <a:latin typeface="Calibri" panose="020F0502020204030204"/>
                <a:cs typeface="Calibri" panose="020F0502020204030204"/>
              </a:rPr>
              <a:t> the function to each iterable</a:t>
            </a:r>
            <a:r>
              <a:rPr sz="1750" spc="-10" dirty="0">
                <a:latin typeface="Calibri" panose="020F0502020204030204"/>
                <a:cs typeface="Calibri" panose="020F0502020204030204"/>
              </a:rPr>
              <a:t> </a:t>
            </a:r>
            <a:r>
              <a:rPr sz="1750" spc="-5" dirty="0">
                <a:latin typeface="Calibri" panose="020F0502020204030204"/>
                <a:cs typeface="Calibri" panose="020F0502020204030204"/>
              </a:rPr>
              <a:t>present in the sequence.</a:t>
            </a:r>
            <a:endParaRPr sz="1750">
              <a:latin typeface="Calibri" panose="020F0502020204030204"/>
              <a:cs typeface="Calibri" panose="020F0502020204030204"/>
            </a:endParaRPr>
          </a:p>
          <a:p>
            <a:pPr>
              <a:lnSpc>
                <a:spcPct val="100000"/>
              </a:lnSpc>
            </a:pPr>
            <a:endParaRPr sz="1700">
              <a:latin typeface="Calibri" panose="020F0502020204030204"/>
              <a:cs typeface="Calibri" panose="020F0502020204030204"/>
            </a:endParaRPr>
          </a:p>
          <a:p>
            <a:pPr>
              <a:lnSpc>
                <a:spcPct val="100000"/>
              </a:lnSpc>
              <a:spcBef>
                <a:spcPts val="45"/>
              </a:spcBef>
            </a:pPr>
            <a:endParaRPr sz="1700">
              <a:latin typeface="Calibri" panose="020F0502020204030204"/>
              <a:cs typeface="Calibri" panose="020F0502020204030204"/>
            </a:endParaRPr>
          </a:p>
          <a:p>
            <a:pPr marL="12700">
              <a:lnSpc>
                <a:spcPct val="100000"/>
              </a:lnSpc>
              <a:spcBef>
                <a:spcPts val="5"/>
              </a:spcBef>
            </a:pPr>
            <a:r>
              <a:rPr sz="1750" b="1" spc="-5" dirty="0">
                <a:latin typeface="Calibri" panose="020F0502020204030204"/>
                <a:cs typeface="Calibri" panose="020F0502020204030204"/>
              </a:rPr>
              <a:t>Syntax:</a:t>
            </a:r>
            <a:endParaRPr sz="1750">
              <a:latin typeface="Calibri" panose="020F0502020204030204"/>
              <a:cs typeface="Calibri" panose="020F0502020204030204"/>
            </a:endParaRPr>
          </a:p>
          <a:p>
            <a:pPr marL="469900">
              <a:lnSpc>
                <a:spcPct val="100000"/>
              </a:lnSpc>
              <a:spcBef>
                <a:spcPts val="1050"/>
              </a:spcBef>
            </a:pPr>
            <a:r>
              <a:rPr sz="1750" b="1" spc="-5" dirty="0">
                <a:latin typeface="Calibri" panose="020F0502020204030204"/>
                <a:cs typeface="Calibri" panose="020F0502020204030204"/>
              </a:rPr>
              <a:t>map(function,</a:t>
            </a:r>
            <a:r>
              <a:rPr sz="1750" b="1" spc="-45" dirty="0">
                <a:latin typeface="Calibri" panose="020F0502020204030204"/>
                <a:cs typeface="Calibri" panose="020F0502020204030204"/>
              </a:rPr>
              <a:t> </a:t>
            </a:r>
            <a:r>
              <a:rPr sz="1750" b="1" spc="-5" dirty="0">
                <a:latin typeface="Calibri" panose="020F0502020204030204"/>
                <a:cs typeface="Calibri" panose="020F0502020204030204"/>
              </a:rPr>
              <a:t>iterables)</a:t>
            </a:r>
            <a:endParaRPr sz="1750">
              <a:latin typeface="Calibri" panose="020F0502020204030204"/>
              <a:cs typeface="Calibri" panose="020F0502020204030204"/>
            </a:endParaRPr>
          </a:p>
        </p:txBody>
      </p:sp>
      <p:sp>
        <p:nvSpPr>
          <p:cNvPr id="8" name="object 8"/>
          <p:cNvSpPr txBox="1"/>
          <p:nvPr/>
        </p:nvSpPr>
        <p:spPr>
          <a:xfrm>
            <a:off x="40718" y="2957786"/>
            <a:ext cx="4011929" cy="1625600"/>
          </a:xfrm>
          <a:prstGeom prst="rect">
            <a:avLst/>
          </a:prstGeom>
        </p:spPr>
        <p:txBody>
          <a:bodyPr vert="horz" wrap="square" lIns="0" tIns="146050" rIns="0" bIns="0" rtlCol="0">
            <a:spAutoFit/>
          </a:bodyPr>
          <a:lstStyle/>
          <a:p>
            <a:pPr marL="12700">
              <a:lnSpc>
                <a:spcPct val="100000"/>
              </a:lnSpc>
              <a:spcBef>
                <a:spcPts val="1150"/>
              </a:spcBef>
            </a:pPr>
            <a:r>
              <a:rPr sz="1750" b="1" spc="-5" dirty="0">
                <a:latin typeface="Calibri" panose="020F0502020204030204"/>
                <a:cs typeface="Calibri" panose="020F0502020204030204"/>
              </a:rPr>
              <a:t>Example</a:t>
            </a:r>
            <a:r>
              <a:rPr sz="1750" b="1" spc="-35" dirty="0">
                <a:latin typeface="Calibri" panose="020F0502020204030204"/>
                <a:cs typeface="Calibri" panose="020F0502020204030204"/>
              </a:rPr>
              <a:t> </a:t>
            </a:r>
            <a:r>
              <a:rPr sz="1750" b="1" spc="-5" dirty="0">
                <a:latin typeface="Calibri" panose="020F0502020204030204"/>
                <a:cs typeface="Calibri" panose="020F0502020204030204"/>
              </a:rPr>
              <a:t>without</a:t>
            </a:r>
            <a:r>
              <a:rPr sz="1750" b="1" spc="-30" dirty="0">
                <a:latin typeface="Calibri" panose="020F0502020204030204"/>
                <a:cs typeface="Calibri" panose="020F0502020204030204"/>
              </a:rPr>
              <a:t> </a:t>
            </a:r>
            <a:r>
              <a:rPr sz="1750" b="1" dirty="0">
                <a:latin typeface="Calibri" panose="020F0502020204030204"/>
                <a:cs typeface="Calibri" panose="020F0502020204030204"/>
              </a:rPr>
              <a:t>Map</a:t>
            </a:r>
            <a:endParaRPr sz="1750">
              <a:latin typeface="Calibri" panose="020F0502020204030204"/>
              <a:cs typeface="Calibri" panose="020F0502020204030204"/>
            </a:endParaRPr>
          </a:p>
          <a:p>
            <a:pPr marL="12700" marR="5080">
              <a:lnSpc>
                <a:spcPct val="150000"/>
              </a:lnSpc>
            </a:pPr>
            <a:r>
              <a:rPr sz="1750" spc="-5" dirty="0">
                <a:latin typeface="Calibri" panose="020F0502020204030204"/>
                <a:cs typeface="Calibri" panose="020F0502020204030204"/>
              </a:rPr>
              <a:t>my_pets </a:t>
            </a:r>
            <a:r>
              <a:rPr sz="1750" dirty="0">
                <a:latin typeface="Calibri" panose="020F0502020204030204"/>
                <a:cs typeface="Calibri" panose="020F0502020204030204"/>
              </a:rPr>
              <a:t>= </a:t>
            </a:r>
            <a:r>
              <a:rPr sz="1750" spc="-5" dirty="0">
                <a:latin typeface="Calibri" panose="020F0502020204030204"/>
                <a:cs typeface="Calibri" panose="020F0502020204030204"/>
              </a:rPr>
              <a:t>['alfred', 'tabitha', 'william', 'arla'] </a:t>
            </a:r>
            <a:r>
              <a:rPr sz="1750" spc="-385" dirty="0">
                <a:latin typeface="Calibri" panose="020F0502020204030204"/>
                <a:cs typeface="Calibri" panose="020F0502020204030204"/>
              </a:rPr>
              <a:t> </a:t>
            </a:r>
            <a:r>
              <a:rPr sz="1750" spc="-5" dirty="0">
                <a:latin typeface="Calibri" panose="020F0502020204030204"/>
                <a:cs typeface="Calibri" panose="020F0502020204030204"/>
              </a:rPr>
              <a:t>uppered_pets</a:t>
            </a:r>
            <a:r>
              <a:rPr sz="1750" spc="-10" dirty="0">
                <a:latin typeface="Calibri" panose="020F0502020204030204"/>
                <a:cs typeface="Calibri" panose="020F0502020204030204"/>
              </a:rPr>
              <a:t> </a:t>
            </a:r>
            <a:r>
              <a:rPr sz="1750" dirty="0">
                <a:latin typeface="Calibri" panose="020F0502020204030204"/>
                <a:cs typeface="Calibri" panose="020F0502020204030204"/>
              </a:rPr>
              <a:t>=</a:t>
            </a:r>
            <a:r>
              <a:rPr sz="1750" spc="-5" dirty="0">
                <a:latin typeface="Calibri" panose="020F0502020204030204"/>
                <a:cs typeface="Calibri" panose="020F0502020204030204"/>
              </a:rPr>
              <a:t> []</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for</a:t>
            </a:r>
            <a:r>
              <a:rPr sz="1750" spc="-25" dirty="0">
                <a:latin typeface="Calibri" panose="020F0502020204030204"/>
                <a:cs typeface="Calibri" panose="020F0502020204030204"/>
              </a:rPr>
              <a:t> </a:t>
            </a:r>
            <a:r>
              <a:rPr sz="1750" spc="-5" dirty="0">
                <a:latin typeface="Calibri" panose="020F0502020204030204"/>
                <a:cs typeface="Calibri" panose="020F0502020204030204"/>
              </a:rPr>
              <a:t>pet</a:t>
            </a:r>
            <a:r>
              <a:rPr sz="1750" spc="-25" dirty="0">
                <a:latin typeface="Calibri" panose="020F0502020204030204"/>
                <a:cs typeface="Calibri" panose="020F0502020204030204"/>
              </a:rPr>
              <a:t> </a:t>
            </a:r>
            <a:r>
              <a:rPr sz="1750" spc="-5" dirty="0">
                <a:latin typeface="Calibri" panose="020F0502020204030204"/>
                <a:cs typeface="Calibri" panose="020F0502020204030204"/>
              </a:rPr>
              <a:t>in</a:t>
            </a:r>
            <a:r>
              <a:rPr sz="1750" spc="-25" dirty="0">
                <a:latin typeface="Calibri" panose="020F0502020204030204"/>
                <a:cs typeface="Calibri" panose="020F0502020204030204"/>
              </a:rPr>
              <a:t> </a:t>
            </a:r>
            <a:r>
              <a:rPr sz="1750" spc="-5" dirty="0">
                <a:latin typeface="Calibri" panose="020F0502020204030204"/>
                <a:cs typeface="Calibri" panose="020F0502020204030204"/>
              </a:rPr>
              <a:t>my_pets:</a:t>
            </a:r>
            <a:endParaRPr sz="1750">
              <a:latin typeface="Calibri" panose="020F0502020204030204"/>
              <a:cs typeface="Calibri" panose="020F0502020204030204"/>
            </a:endParaRPr>
          </a:p>
        </p:txBody>
      </p:sp>
      <p:sp>
        <p:nvSpPr>
          <p:cNvPr id="9" name="object 9"/>
          <p:cNvSpPr txBox="1"/>
          <p:nvPr/>
        </p:nvSpPr>
        <p:spPr>
          <a:xfrm>
            <a:off x="497918" y="4557987"/>
            <a:ext cx="2576195" cy="825500"/>
          </a:xfrm>
          <a:prstGeom prst="rect">
            <a:avLst/>
          </a:prstGeom>
        </p:spPr>
        <p:txBody>
          <a:bodyPr vert="horz" wrap="square" lIns="0" tIns="12700" rIns="0" bIns="0" rtlCol="0">
            <a:spAutoFit/>
          </a:bodyPr>
          <a:lstStyle/>
          <a:p>
            <a:pPr marL="12700" marR="5080">
              <a:lnSpc>
                <a:spcPct val="150000"/>
              </a:lnSpc>
              <a:spcBef>
                <a:spcPts val="100"/>
              </a:spcBef>
            </a:pPr>
            <a:r>
              <a:rPr sz="1750" spc="-5" dirty="0">
                <a:latin typeface="Calibri" panose="020F0502020204030204"/>
                <a:cs typeface="Calibri" panose="020F0502020204030204"/>
              </a:rPr>
              <a:t>pet_=pet.upper() </a:t>
            </a:r>
            <a:r>
              <a:rPr sz="1750" dirty="0">
                <a:latin typeface="Calibri" panose="020F0502020204030204"/>
                <a:cs typeface="Calibri" panose="020F0502020204030204"/>
              </a:rPr>
              <a:t> </a:t>
            </a:r>
            <a:r>
              <a:rPr sz="1750" spc="-5" dirty="0">
                <a:latin typeface="Calibri" panose="020F0502020204030204"/>
                <a:cs typeface="Calibri" panose="020F0502020204030204"/>
              </a:rPr>
              <a:t>uppered_pets.append(pet_)</a:t>
            </a:r>
            <a:endParaRPr sz="1750">
              <a:latin typeface="Calibri" panose="020F0502020204030204"/>
              <a:cs typeface="Calibri" panose="020F0502020204030204"/>
            </a:endParaRPr>
          </a:p>
        </p:txBody>
      </p:sp>
      <p:sp>
        <p:nvSpPr>
          <p:cNvPr id="10" name="object 10"/>
          <p:cNvSpPr txBox="1"/>
          <p:nvPr/>
        </p:nvSpPr>
        <p:spPr>
          <a:xfrm>
            <a:off x="40718" y="5491436"/>
            <a:ext cx="1860550" cy="292100"/>
          </a:xfrm>
          <a:prstGeom prst="rect">
            <a:avLst/>
          </a:prstGeom>
        </p:spPr>
        <p:txBody>
          <a:bodyPr vert="horz" wrap="square" lIns="0" tIns="12700" rIns="0" bIns="0" rtlCol="0">
            <a:spAutoFit/>
          </a:bodyPr>
          <a:lstStyle/>
          <a:p>
            <a:pPr marL="12700">
              <a:lnSpc>
                <a:spcPct val="100000"/>
              </a:lnSpc>
              <a:spcBef>
                <a:spcPts val="100"/>
              </a:spcBef>
            </a:pPr>
            <a:r>
              <a:rPr sz="1750" spc="-5" dirty="0">
                <a:latin typeface="Calibri" panose="020F0502020204030204"/>
                <a:cs typeface="Calibri" panose="020F0502020204030204"/>
              </a:rPr>
              <a:t>print(uppered_pets)</a:t>
            </a:r>
            <a:endParaRPr sz="1750">
              <a:latin typeface="Calibri" panose="020F0502020204030204"/>
              <a:cs typeface="Calibri" panose="020F0502020204030204"/>
            </a:endParaRPr>
          </a:p>
        </p:txBody>
      </p:sp>
      <p:sp>
        <p:nvSpPr>
          <p:cNvPr id="11" name="object 11"/>
          <p:cNvSpPr txBox="1"/>
          <p:nvPr/>
        </p:nvSpPr>
        <p:spPr>
          <a:xfrm>
            <a:off x="5258546" y="2957786"/>
            <a:ext cx="6574155" cy="2825750"/>
          </a:xfrm>
          <a:prstGeom prst="rect">
            <a:avLst/>
          </a:prstGeom>
        </p:spPr>
        <p:txBody>
          <a:bodyPr vert="horz" wrap="square" lIns="0" tIns="146050" rIns="0" bIns="0" rtlCol="0">
            <a:spAutoFit/>
          </a:bodyPr>
          <a:lstStyle/>
          <a:p>
            <a:pPr marL="12700">
              <a:lnSpc>
                <a:spcPct val="100000"/>
              </a:lnSpc>
              <a:spcBef>
                <a:spcPts val="1150"/>
              </a:spcBef>
            </a:pPr>
            <a:r>
              <a:rPr sz="1750" b="1" spc="-5" dirty="0">
                <a:latin typeface="Calibri" panose="020F0502020204030204"/>
                <a:cs typeface="Calibri" panose="020F0502020204030204"/>
              </a:rPr>
              <a:t>Example</a:t>
            </a:r>
            <a:r>
              <a:rPr sz="1750" b="1" spc="-35" dirty="0">
                <a:latin typeface="Calibri" panose="020F0502020204030204"/>
                <a:cs typeface="Calibri" panose="020F0502020204030204"/>
              </a:rPr>
              <a:t> </a:t>
            </a:r>
            <a:r>
              <a:rPr sz="1750" b="1" spc="-5" dirty="0">
                <a:latin typeface="Calibri" panose="020F0502020204030204"/>
                <a:cs typeface="Calibri" panose="020F0502020204030204"/>
              </a:rPr>
              <a:t>with</a:t>
            </a:r>
            <a:r>
              <a:rPr sz="1750" b="1" spc="-30" dirty="0">
                <a:latin typeface="Calibri" panose="020F0502020204030204"/>
                <a:cs typeface="Calibri" panose="020F0502020204030204"/>
              </a:rPr>
              <a:t> </a:t>
            </a:r>
            <a:r>
              <a:rPr sz="1750" b="1" dirty="0">
                <a:latin typeface="Calibri" panose="020F0502020204030204"/>
                <a:cs typeface="Calibri" panose="020F0502020204030204"/>
              </a:rPr>
              <a:t>Map</a:t>
            </a:r>
            <a:endParaRPr sz="1750">
              <a:latin typeface="Calibri" panose="020F0502020204030204"/>
              <a:cs typeface="Calibri" panose="020F0502020204030204"/>
            </a:endParaRPr>
          </a:p>
          <a:p>
            <a:pPr marL="12700" marR="699770">
              <a:lnSpc>
                <a:spcPct val="150000"/>
              </a:lnSpc>
            </a:pPr>
            <a:r>
              <a:rPr sz="1750" spc="-5" dirty="0">
                <a:latin typeface="Calibri" panose="020F0502020204030204"/>
                <a:cs typeface="Calibri" panose="020F0502020204030204"/>
              </a:rPr>
              <a:t>my_pets </a:t>
            </a:r>
            <a:r>
              <a:rPr sz="1750" dirty="0">
                <a:latin typeface="Calibri" panose="020F0502020204030204"/>
                <a:cs typeface="Calibri" panose="020F0502020204030204"/>
              </a:rPr>
              <a:t>= </a:t>
            </a:r>
            <a:r>
              <a:rPr sz="1750" spc="-5" dirty="0">
                <a:latin typeface="Calibri" panose="020F0502020204030204"/>
                <a:cs typeface="Calibri" panose="020F0502020204030204"/>
              </a:rPr>
              <a:t>['alfred', 'tabitha', 'william', 'arla'] </a:t>
            </a:r>
            <a:r>
              <a:rPr sz="1750" dirty="0">
                <a:latin typeface="Calibri" panose="020F0502020204030204"/>
                <a:cs typeface="Calibri" panose="020F0502020204030204"/>
              </a:rPr>
              <a:t> </a:t>
            </a:r>
            <a:r>
              <a:rPr sz="1750" spc="-5" dirty="0">
                <a:latin typeface="Calibri" panose="020F0502020204030204"/>
                <a:cs typeface="Calibri" panose="020F0502020204030204"/>
              </a:rPr>
              <a:t>uppered_pets=list(map(str.upper,my_pets))</a:t>
            </a:r>
            <a:r>
              <a:rPr sz="1750" spc="-65" dirty="0">
                <a:latin typeface="Calibri" panose="020F0502020204030204"/>
                <a:cs typeface="Calibri" panose="020F0502020204030204"/>
              </a:rPr>
              <a:t> </a:t>
            </a:r>
            <a:r>
              <a:rPr sz="1750" spc="-5" dirty="0">
                <a:latin typeface="Calibri" panose="020F0502020204030204"/>
                <a:cs typeface="Calibri" panose="020F0502020204030204"/>
              </a:rPr>
              <a:t>print(uppered_pets)</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//map</a:t>
            </a:r>
            <a:r>
              <a:rPr sz="1750" spc="-20" dirty="0">
                <a:latin typeface="Calibri" panose="020F0502020204030204"/>
                <a:cs typeface="Calibri" panose="020F0502020204030204"/>
              </a:rPr>
              <a:t> </a:t>
            </a:r>
            <a:r>
              <a:rPr sz="1750" spc="-5" dirty="0">
                <a:latin typeface="Calibri" panose="020F0502020204030204"/>
                <a:cs typeface="Calibri" panose="020F0502020204030204"/>
              </a:rPr>
              <a:t>with</a:t>
            </a:r>
            <a:r>
              <a:rPr sz="1750" spc="-15" dirty="0">
                <a:latin typeface="Calibri" panose="020F0502020204030204"/>
                <a:cs typeface="Calibri" panose="020F0502020204030204"/>
              </a:rPr>
              <a:t> </a:t>
            </a:r>
            <a:r>
              <a:rPr sz="1750" spc="-5" dirty="0">
                <a:latin typeface="Calibri" panose="020F0502020204030204"/>
                <a:cs typeface="Calibri" panose="020F0502020204030204"/>
              </a:rPr>
              <a:t>multiple</a:t>
            </a:r>
            <a:r>
              <a:rPr sz="1750" spc="-20" dirty="0">
                <a:latin typeface="Calibri" panose="020F0502020204030204"/>
                <a:cs typeface="Calibri" panose="020F0502020204030204"/>
              </a:rPr>
              <a:t> </a:t>
            </a:r>
            <a:r>
              <a:rPr sz="1750" spc="-5" dirty="0">
                <a:latin typeface="Calibri" panose="020F0502020204030204"/>
                <a:cs typeface="Calibri" panose="020F0502020204030204"/>
              </a:rPr>
              <a:t>list</a:t>
            </a:r>
            <a:r>
              <a:rPr sz="1750" spc="-15" dirty="0">
                <a:latin typeface="Calibri" panose="020F0502020204030204"/>
                <a:cs typeface="Calibri" panose="020F0502020204030204"/>
              </a:rPr>
              <a:t> </a:t>
            </a:r>
            <a:r>
              <a:rPr sz="1750" dirty="0">
                <a:latin typeface="Calibri" panose="020F0502020204030204"/>
                <a:cs typeface="Calibri" panose="020F0502020204030204"/>
              </a:rPr>
              <a:t>as</a:t>
            </a:r>
            <a:r>
              <a:rPr sz="1750" spc="-20" dirty="0">
                <a:latin typeface="Calibri" panose="020F0502020204030204"/>
                <a:cs typeface="Calibri" panose="020F0502020204030204"/>
              </a:rPr>
              <a:t> </a:t>
            </a:r>
            <a:r>
              <a:rPr sz="1750" spc="-5" dirty="0">
                <a:latin typeface="Calibri" panose="020F0502020204030204"/>
                <a:cs typeface="Calibri" panose="020F0502020204030204"/>
              </a:rPr>
              <a:t>input</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circle_areas</a:t>
            </a:r>
            <a:r>
              <a:rPr sz="1750" spc="-15" dirty="0">
                <a:latin typeface="Calibri" panose="020F0502020204030204"/>
                <a:cs typeface="Calibri" panose="020F0502020204030204"/>
              </a:rPr>
              <a:t> </a:t>
            </a:r>
            <a:r>
              <a:rPr sz="1750" dirty="0">
                <a:latin typeface="Calibri" panose="020F0502020204030204"/>
                <a:cs typeface="Calibri" panose="020F0502020204030204"/>
              </a:rPr>
              <a:t>=</a:t>
            </a:r>
            <a:r>
              <a:rPr sz="1750" spc="-15" dirty="0">
                <a:latin typeface="Calibri" panose="020F0502020204030204"/>
                <a:cs typeface="Calibri" panose="020F0502020204030204"/>
              </a:rPr>
              <a:t> </a:t>
            </a:r>
            <a:r>
              <a:rPr sz="1750" spc="-5" dirty="0">
                <a:latin typeface="Calibri" panose="020F0502020204030204"/>
                <a:cs typeface="Calibri" panose="020F0502020204030204"/>
              </a:rPr>
              <a:t>[3.56773,</a:t>
            </a:r>
            <a:r>
              <a:rPr sz="1750" spc="-15" dirty="0">
                <a:latin typeface="Calibri" panose="020F0502020204030204"/>
                <a:cs typeface="Calibri" panose="020F0502020204030204"/>
              </a:rPr>
              <a:t> </a:t>
            </a:r>
            <a:r>
              <a:rPr sz="1750" spc="-5" dirty="0">
                <a:latin typeface="Calibri" panose="020F0502020204030204"/>
                <a:cs typeface="Calibri" panose="020F0502020204030204"/>
              </a:rPr>
              <a:t>5.57668,</a:t>
            </a:r>
            <a:r>
              <a:rPr sz="1750" spc="-15" dirty="0">
                <a:latin typeface="Calibri" panose="020F0502020204030204"/>
                <a:cs typeface="Calibri" panose="020F0502020204030204"/>
              </a:rPr>
              <a:t> </a:t>
            </a:r>
            <a:r>
              <a:rPr sz="1750" spc="-5" dirty="0">
                <a:latin typeface="Calibri" panose="020F0502020204030204"/>
                <a:cs typeface="Calibri" panose="020F0502020204030204"/>
              </a:rPr>
              <a:t>4.00914,</a:t>
            </a:r>
            <a:r>
              <a:rPr sz="1750" spc="-15" dirty="0">
                <a:latin typeface="Calibri" panose="020F0502020204030204"/>
                <a:cs typeface="Calibri" panose="020F0502020204030204"/>
              </a:rPr>
              <a:t> </a:t>
            </a:r>
            <a:r>
              <a:rPr sz="1750" spc="-5" dirty="0">
                <a:latin typeface="Calibri" panose="020F0502020204030204"/>
                <a:cs typeface="Calibri" panose="020F0502020204030204"/>
              </a:rPr>
              <a:t>56.24241,</a:t>
            </a:r>
            <a:r>
              <a:rPr sz="1750" spc="-10" dirty="0">
                <a:latin typeface="Calibri" panose="020F0502020204030204"/>
                <a:cs typeface="Calibri" panose="020F0502020204030204"/>
              </a:rPr>
              <a:t> </a:t>
            </a:r>
            <a:r>
              <a:rPr sz="1750" spc="-5" dirty="0">
                <a:latin typeface="Calibri" panose="020F0502020204030204"/>
                <a:cs typeface="Calibri" panose="020F0502020204030204"/>
              </a:rPr>
              <a:t>9.01344,</a:t>
            </a:r>
            <a:r>
              <a:rPr sz="1750" spc="-15" dirty="0">
                <a:latin typeface="Calibri" panose="020F0502020204030204"/>
                <a:cs typeface="Calibri" panose="020F0502020204030204"/>
              </a:rPr>
              <a:t> </a:t>
            </a:r>
            <a:r>
              <a:rPr sz="1750" spc="-5" dirty="0">
                <a:latin typeface="Calibri" panose="020F0502020204030204"/>
                <a:cs typeface="Calibri" panose="020F0502020204030204"/>
              </a:rPr>
              <a:t>32.00013]</a:t>
            </a:r>
            <a:endParaRPr sz="1750">
              <a:latin typeface="Calibri" panose="020F0502020204030204"/>
              <a:cs typeface="Calibri" panose="020F0502020204030204"/>
            </a:endParaRPr>
          </a:p>
          <a:p>
            <a:pPr marL="12700" marR="2138680">
              <a:lnSpc>
                <a:spcPct val="150000"/>
              </a:lnSpc>
            </a:pPr>
            <a:r>
              <a:rPr sz="1750" spc="-5" dirty="0">
                <a:latin typeface="Calibri" panose="020F0502020204030204"/>
                <a:cs typeface="Calibri" panose="020F0502020204030204"/>
              </a:rPr>
              <a:t>result </a:t>
            </a:r>
            <a:r>
              <a:rPr sz="1750" dirty="0">
                <a:latin typeface="Calibri" panose="020F0502020204030204"/>
                <a:cs typeface="Calibri" panose="020F0502020204030204"/>
              </a:rPr>
              <a:t>= </a:t>
            </a:r>
            <a:r>
              <a:rPr sz="1750" spc="-5" dirty="0">
                <a:latin typeface="Calibri" panose="020F0502020204030204"/>
                <a:cs typeface="Calibri" panose="020F0502020204030204"/>
              </a:rPr>
              <a:t>list(map(round, circle_areas, range(1,7))) </a:t>
            </a:r>
            <a:r>
              <a:rPr sz="1750" spc="-385" dirty="0">
                <a:latin typeface="Calibri" panose="020F0502020204030204"/>
                <a:cs typeface="Calibri" panose="020F0502020204030204"/>
              </a:rPr>
              <a:t> </a:t>
            </a:r>
            <a:r>
              <a:rPr sz="1750" spc="-5" dirty="0">
                <a:latin typeface="Calibri" panose="020F0502020204030204"/>
                <a:cs typeface="Calibri" panose="020F0502020204030204"/>
              </a:rPr>
              <a:t>print(result)</a:t>
            </a:r>
            <a:endParaRPr sz="1750">
              <a:latin typeface="Calibri" panose="020F0502020204030204"/>
              <a:cs typeface="Calibri" panose="020F0502020204030204"/>
            </a:endParaRPr>
          </a:p>
        </p:txBody>
      </p:sp>
      <p:sp>
        <p:nvSpPr>
          <p:cNvPr id="12" name="Slide Number Placeholder 11"/>
          <p:cNvSpPr>
            <a:spLocks noGrp="1"/>
          </p:cNvSpPr>
          <p:nvPr>
            <p:ph type="sldNum" sz="quarter" idx="7"/>
          </p:nvPr>
        </p:nvSpPr>
        <p:spPr/>
        <p:txBody>
          <a:bodyPr/>
          <a:lstStyle/>
          <a:p>
            <a:fld id="{B6F15528-21DE-4FAA-801E-634DDDAF4B2B}" type="slidenum">
              <a:rPr/>
              <a:t>27</a:t>
            </a:fld>
            <a:endParaRPr/>
          </a:p>
        </p:txBody>
      </p:sp>
      <p:sp>
        <p:nvSpPr>
          <p:cNvPr id="13" name="Footer Placeholder 12"/>
          <p:cNvSpPr>
            <a:spLocks noGrp="1"/>
          </p:cNvSpPr>
          <p:nvPr>
            <p:ph type="ftr" sz="quarter" idx="5"/>
          </p:nvPr>
        </p:nvSpPr>
        <p:spPr/>
        <p:txBody>
          <a:bodyPr/>
          <a:lstStyle/>
          <a:p>
            <a:r>
              <a:t>UNIT IV : Pythonic Programming Paradigm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19698"/>
            <a:ext cx="1996439"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filter()</a:t>
            </a:r>
            <a:r>
              <a:rPr spc="-8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Function</a:t>
            </a: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6"/>
            <a:ext cx="12105640" cy="5979795"/>
          </a:xfrm>
          <a:custGeom>
            <a:avLst/>
            <a:gdLst/>
            <a:ahLst/>
            <a:cxnLst/>
            <a:rect l="l" t="t" r="r" b="b"/>
            <a:pathLst>
              <a:path w="12105640" h="5979795">
                <a:moveTo>
                  <a:pt x="0" y="0"/>
                </a:moveTo>
                <a:lnTo>
                  <a:pt x="12105503" y="0"/>
                </a:lnTo>
                <a:lnTo>
                  <a:pt x="12105503" y="5979174"/>
                </a:lnTo>
                <a:lnTo>
                  <a:pt x="0" y="5979174"/>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94136" y="460061"/>
            <a:ext cx="12002135" cy="6026150"/>
          </a:xfrm>
          <a:prstGeom prst="rect">
            <a:avLst/>
          </a:prstGeom>
        </p:spPr>
        <p:txBody>
          <a:bodyPr vert="horz" wrap="square" lIns="0" tIns="146050" rIns="0" bIns="0" rtlCol="0">
            <a:spAutoFit/>
          </a:bodyPr>
          <a:lstStyle/>
          <a:p>
            <a:pPr marL="298450" indent="-252730">
              <a:lnSpc>
                <a:spcPct val="100000"/>
              </a:lnSpc>
              <a:spcBef>
                <a:spcPts val="1150"/>
              </a:spcBef>
              <a:buFont typeface="Arial MT"/>
              <a:buChar char="•"/>
              <a:tabLst>
                <a:tab pos="297815" algn="l"/>
                <a:tab pos="298450" algn="l"/>
              </a:tabLst>
            </a:pPr>
            <a:r>
              <a:rPr sz="1750" spc="-5" dirty="0">
                <a:latin typeface="Calibri" panose="020F0502020204030204"/>
                <a:cs typeface="Calibri" panose="020F0502020204030204"/>
              </a:rPr>
              <a:t>filter</a:t>
            </a:r>
            <a:r>
              <a:rPr sz="1750" spc="-10" dirty="0">
                <a:latin typeface="Calibri" panose="020F0502020204030204"/>
                <a:cs typeface="Calibri" panose="020F0502020204030204"/>
              </a:rPr>
              <a:t> </a:t>
            </a:r>
            <a:r>
              <a:rPr sz="1750" spc="-5" dirty="0">
                <a:latin typeface="Calibri" panose="020F0502020204030204"/>
                <a:cs typeface="Calibri" panose="020F0502020204030204"/>
              </a:rPr>
              <a:t>extracts</a:t>
            </a:r>
            <a:r>
              <a:rPr sz="1750" spc="-10" dirty="0">
                <a:latin typeface="Calibri" panose="020F0502020204030204"/>
                <a:cs typeface="Calibri" panose="020F0502020204030204"/>
              </a:rPr>
              <a:t> </a:t>
            </a:r>
            <a:r>
              <a:rPr sz="1750" spc="-5" dirty="0">
                <a:latin typeface="Calibri" panose="020F0502020204030204"/>
                <a:cs typeface="Calibri" panose="020F0502020204030204"/>
              </a:rPr>
              <a:t>each element</a:t>
            </a:r>
            <a:r>
              <a:rPr sz="1750" spc="-10" dirty="0">
                <a:latin typeface="Calibri" panose="020F0502020204030204"/>
                <a:cs typeface="Calibri" panose="020F0502020204030204"/>
              </a:rPr>
              <a:t> </a:t>
            </a:r>
            <a:r>
              <a:rPr sz="1750" spc="-5" dirty="0">
                <a:latin typeface="Calibri" panose="020F0502020204030204"/>
                <a:cs typeface="Calibri" panose="020F0502020204030204"/>
              </a:rPr>
              <a:t>in the</a:t>
            </a:r>
            <a:r>
              <a:rPr sz="1750" spc="-10" dirty="0">
                <a:latin typeface="Calibri" panose="020F0502020204030204"/>
                <a:cs typeface="Calibri" panose="020F0502020204030204"/>
              </a:rPr>
              <a:t> </a:t>
            </a:r>
            <a:r>
              <a:rPr sz="1750" spc="-5" dirty="0">
                <a:latin typeface="Calibri" panose="020F0502020204030204"/>
                <a:cs typeface="Calibri" panose="020F0502020204030204"/>
              </a:rPr>
              <a:t>sequence</a:t>
            </a:r>
            <a:r>
              <a:rPr sz="1750" spc="-10" dirty="0">
                <a:latin typeface="Calibri" panose="020F0502020204030204"/>
                <a:cs typeface="Calibri" panose="020F0502020204030204"/>
              </a:rPr>
              <a:t> </a:t>
            </a:r>
            <a:r>
              <a:rPr sz="1750" spc="-5" dirty="0">
                <a:latin typeface="Calibri" panose="020F0502020204030204"/>
                <a:cs typeface="Calibri" panose="020F0502020204030204"/>
              </a:rPr>
              <a:t>for which</a:t>
            </a:r>
            <a:r>
              <a:rPr sz="1750" spc="-10" dirty="0">
                <a:latin typeface="Calibri" panose="020F0502020204030204"/>
                <a:cs typeface="Calibri" panose="020F0502020204030204"/>
              </a:rPr>
              <a:t> </a:t>
            </a:r>
            <a:r>
              <a:rPr sz="1750" spc="-5" dirty="0">
                <a:latin typeface="Calibri" panose="020F0502020204030204"/>
                <a:cs typeface="Calibri" panose="020F0502020204030204"/>
              </a:rPr>
              <a:t>the function</a:t>
            </a:r>
            <a:r>
              <a:rPr sz="1750" spc="-10" dirty="0">
                <a:latin typeface="Calibri" panose="020F0502020204030204"/>
                <a:cs typeface="Calibri" panose="020F0502020204030204"/>
              </a:rPr>
              <a:t> </a:t>
            </a:r>
            <a:r>
              <a:rPr sz="1750" spc="-5" dirty="0">
                <a:latin typeface="Calibri" panose="020F0502020204030204"/>
                <a:cs typeface="Calibri" panose="020F0502020204030204"/>
              </a:rPr>
              <a:t>returns</a:t>
            </a:r>
            <a:r>
              <a:rPr sz="1750" spc="-10" dirty="0">
                <a:latin typeface="Calibri" panose="020F0502020204030204"/>
                <a:cs typeface="Calibri" panose="020F0502020204030204"/>
              </a:rPr>
              <a:t> </a:t>
            </a:r>
            <a:r>
              <a:rPr sz="1750" spc="-5" dirty="0">
                <a:latin typeface="Calibri" panose="020F0502020204030204"/>
                <a:cs typeface="Calibri" panose="020F0502020204030204"/>
              </a:rPr>
              <a:t>True.</a:t>
            </a:r>
            <a:endParaRPr sz="1750">
              <a:latin typeface="Calibri" panose="020F0502020204030204"/>
              <a:cs typeface="Calibri" panose="020F0502020204030204"/>
            </a:endParaRPr>
          </a:p>
          <a:p>
            <a:pPr marL="298450" marR="5080" indent="-252730">
              <a:lnSpc>
                <a:spcPct val="150000"/>
              </a:lnSpc>
              <a:buFont typeface="Arial MT"/>
              <a:buChar char="•"/>
              <a:tabLst>
                <a:tab pos="297815" algn="l"/>
                <a:tab pos="298450" algn="l"/>
              </a:tabLst>
            </a:pPr>
            <a:r>
              <a:rPr sz="1750" spc="-5" dirty="0">
                <a:latin typeface="Calibri" panose="020F0502020204030204"/>
                <a:cs typeface="Calibri" panose="020F0502020204030204"/>
              </a:rPr>
              <a:t>filter(),</a:t>
            </a:r>
            <a:r>
              <a:rPr sz="1750" spc="185" dirty="0">
                <a:latin typeface="Calibri" panose="020F0502020204030204"/>
                <a:cs typeface="Calibri" panose="020F0502020204030204"/>
              </a:rPr>
              <a:t> </a:t>
            </a:r>
            <a:r>
              <a:rPr sz="1750" spc="-5" dirty="0">
                <a:latin typeface="Calibri" panose="020F0502020204030204"/>
                <a:cs typeface="Calibri" panose="020F0502020204030204"/>
              </a:rPr>
              <a:t>first</a:t>
            </a:r>
            <a:r>
              <a:rPr sz="1750" spc="190" dirty="0">
                <a:latin typeface="Calibri" panose="020F0502020204030204"/>
                <a:cs typeface="Calibri" panose="020F0502020204030204"/>
              </a:rPr>
              <a:t> </a:t>
            </a:r>
            <a:r>
              <a:rPr sz="1750" spc="-5" dirty="0">
                <a:latin typeface="Calibri" panose="020F0502020204030204"/>
                <a:cs typeface="Calibri" panose="020F0502020204030204"/>
              </a:rPr>
              <a:t>of</a:t>
            </a:r>
            <a:r>
              <a:rPr sz="1750" spc="190" dirty="0">
                <a:latin typeface="Calibri" panose="020F0502020204030204"/>
                <a:cs typeface="Calibri" panose="020F0502020204030204"/>
              </a:rPr>
              <a:t> </a:t>
            </a:r>
            <a:r>
              <a:rPr sz="1750" dirty="0">
                <a:latin typeface="Calibri" panose="020F0502020204030204"/>
                <a:cs typeface="Calibri" panose="020F0502020204030204"/>
              </a:rPr>
              <a:t>all,</a:t>
            </a:r>
            <a:r>
              <a:rPr sz="1750" spc="190" dirty="0">
                <a:latin typeface="Calibri" panose="020F0502020204030204"/>
                <a:cs typeface="Calibri" panose="020F0502020204030204"/>
              </a:rPr>
              <a:t> </a:t>
            </a:r>
            <a:r>
              <a:rPr sz="1750" spc="-5" dirty="0">
                <a:latin typeface="Calibri" panose="020F0502020204030204"/>
                <a:cs typeface="Calibri" panose="020F0502020204030204"/>
              </a:rPr>
              <a:t>requires</a:t>
            </a:r>
            <a:r>
              <a:rPr sz="1750" spc="190" dirty="0">
                <a:latin typeface="Calibri" panose="020F0502020204030204"/>
                <a:cs typeface="Calibri" panose="020F0502020204030204"/>
              </a:rPr>
              <a:t> </a:t>
            </a:r>
            <a:r>
              <a:rPr sz="1750" spc="-5" dirty="0">
                <a:latin typeface="Calibri" panose="020F0502020204030204"/>
                <a:cs typeface="Calibri" panose="020F0502020204030204"/>
              </a:rPr>
              <a:t>the</a:t>
            </a:r>
            <a:r>
              <a:rPr sz="1750" spc="190"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190" dirty="0">
                <a:latin typeface="Calibri" panose="020F0502020204030204"/>
                <a:cs typeface="Calibri" panose="020F0502020204030204"/>
              </a:rPr>
              <a:t> </a:t>
            </a:r>
            <a:r>
              <a:rPr sz="1750" spc="-5" dirty="0">
                <a:latin typeface="Calibri" panose="020F0502020204030204"/>
                <a:cs typeface="Calibri" panose="020F0502020204030204"/>
              </a:rPr>
              <a:t>to</a:t>
            </a:r>
            <a:r>
              <a:rPr sz="1750" spc="190" dirty="0">
                <a:latin typeface="Calibri" panose="020F0502020204030204"/>
                <a:cs typeface="Calibri" panose="020F0502020204030204"/>
              </a:rPr>
              <a:t> </a:t>
            </a:r>
            <a:r>
              <a:rPr sz="1750" spc="-5" dirty="0">
                <a:latin typeface="Calibri" panose="020F0502020204030204"/>
                <a:cs typeface="Calibri" panose="020F0502020204030204"/>
              </a:rPr>
              <a:t>return</a:t>
            </a:r>
            <a:r>
              <a:rPr sz="1750" spc="190" dirty="0">
                <a:latin typeface="Calibri" panose="020F0502020204030204"/>
                <a:cs typeface="Calibri" panose="020F0502020204030204"/>
              </a:rPr>
              <a:t> </a:t>
            </a:r>
            <a:r>
              <a:rPr sz="1750" spc="-5" dirty="0">
                <a:latin typeface="Calibri" panose="020F0502020204030204"/>
                <a:cs typeface="Calibri" panose="020F0502020204030204"/>
              </a:rPr>
              <a:t>boolean</a:t>
            </a:r>
            <a:r>
              <a:rPr sz="1750" spc="190" dirty="0">
                <a:latin typeface="Calibri" panose="020F0502020204030204"/>
                <a:cs typeface="Calibri" panose="020F0502020204030204"/>
              </a:rPr>
              <a:t> </a:t>
            </a:r>
            <a:r>
              <a:rPr sz="1750" spc="-5" dirty="0">
                <a:latin typeface="Calibri" panose="020F0502020204030204"/>
                <a:cs typeface="Calibri" panose="020F0502020204030204"/>
              </a:rPr>
              <a:t>values</a:t>
            </a:r>
            <a:r>
              <a:rPr sz="1750" spc="190" dirty="0">
                <a:latin typeface="Calibri" panose="020F0502020204030204"/>
                <a:cs typeface="Calibri" panose="020F0502020204030204"/>
              </a:rPr>
              <a:t> </a:t>
            </a:r>
            <a:r>
              <a:rPr sz="1750" spc="-5" dirty="0">
                <a:latin typeface="Calibri" panose="020F0502020204030204"/>
                <a:cs typeface="Calibri" panose="020F0502020204030204"/>
              </a:rPr>
              <a:t>(true</a:t>
            </a:r>
            <a:r>
              <a:rPr sz="1750" spc="190" dirty="0">
                <a:latin typeface="Calibri" panose="020F0502020204030204"/>
                <a:cs typeface="Calibri" panose="020F0502020204030204"/>
              </a:rPr>
              <a:t> </a:t>
            </a:r>
            <a:r>
              <a:rPr sz="1750" spc="-5" dirty="0">
                <a:latin typeface="Calibri" panose="020F0502020204030204"/>
                <a:cs typeface="Calibri" panose="020F0502020204030204"/>
              </a:rPr>
              <a:t>or</a:t>
            </a:r>
            <a:r>
              <a:rPr sz="1750" spc="190" dirty="0">
                <a:latin typeface="Calibri" panose="020F0502020204030204"/>
                <a:cs typeface="Calibri" panose="020F0502020204030204"/>
              </a:rPr>
              <a:t> </a:t>
            </a:r>
            <a:r>
              <a:rPr sz="1750" spc="-5" dirty="0">
                <a:latin typeface="Calibri" panose="020F0502020204030204"/>
                <a:cs typeface="Calibri" panose="020F0502020204030204"/>
              </a:rPr>
              <a:t>false)</a:t>
            </a:r>
            <a:r>
              <a:rPr sz="1750" spc="190" dirty="0">
                <a:latin typeface="Calibri" panose="020F0502020204030204"/>
                <a:cs typeface="Calibri" panose="020F0502020204030204"/>
              </a:rPr>
              <a:t> </a:t>
            </a:r>
            <a:r>
              <a:rPr sz="1750" dirty="0">
                <a:latin typeface="Calibri" panose="020F0502020204030204"/>
                <a:cs typeface="Calibri" panose="020F0502020204030204"/>
              </a:rPr>
              <a:t>and</a:t>
            </a:r>
            <a:r>
              <a:rPr sz="1750" spc="190" dirty="0">
                <a:latin typeface="Calibri" panose="020F0502020204030204"/>
                <a:cs typeface="Calibri" panose="020F0502020204030204"/>
              </a:rPr>
              <a:t> </a:t>
            </a:r>
            <a:r>
              <a:rPr sz="1750" spc="-5" dirty="0">
                <a:latin typeface="Calibri" panose="020F0502020204030204"/>
                <a:cs typeface="Calibri" panose="020F0502020204030204"/>
              </a:rPr>
              <a:t>then</a:t>
            </a:r>
            <a:r>
              <a:rPr sz="1750" spc="190" dirty="0">
                <a:latin typeface="Calibri" panose="020F0502020204030204"/>
                <a:cs typeface="Calibri" panose="020F0502020204030204"/>
              </a:rPr>
              <a:t> </a:t>
            </a:r>
            <a:r>
              <a:rPr sz="1750" spc="-5" dirty="0">
                <a:latin typeface="Calibri" panose="020F0502020204030204"/>
                <a:cs typeface="Calibri" panose="020F0502020204030204"/>
              </a:rPr>
              <a:t>passes</a:t>
            </a:r>
            <a:r>
              <a:rPr sz="1750" spc="190" dirty="0">
                <a:latin typeface="Calibri" panose="020F0502020204030204"/>
                <a:cs typeface="Calibri" panose="020F0502020204030204"/>
              </a:rPr>
              <a:t> </a:t>
            </a:r>
            <a:r>
              <a:rPr sz="1750" spc="-5" dirty="0">
                <a:latin typeface="Calibri" panose="020F0502020204030204"/>
                <a:cs typeface="Calibri" panose="020F0502020204030204"/>
              </a:rPr>
              <a:t>each</a:t>
            </a:r>
            <a:r>
              <a:rPr sz="1750" spc="190" dirty="0">
                <a:latin typeface="Calibri" panose="020F0502020204030204"/>
                <a:cs typeface="Calibri" panose="020F0502020204030204"/>
              </a:rPr>
              <a:t> </a:t>
            </a:r>
            <a:r>
              <a:rPr sz="1750" spc="-5" dirty="0">
                <a:latin typeface="Calibri" panose="020F0502020204030204"/>
                <a:cs typeface="Calibri" panose="020F0502020204030204"/>
              </a:rPr>
              <a:t>element</a:t>
            </a:r>
            <a:r>
              <a:rPr sz="1750" spc="190" dirty="0">
                <a:latin typeface="Calibri" panose="020F0502020204030204"/>
                <a:cs typeface="Calibri" panose="020F0502020204030204"/>
              </a:rPr>
              <a:t> </a:t>
            </a:r>
            <a:r>
              <a:rPr sz="1750" spc="-5" dirty="0">
                <a:latin typeface="Calibri" panose="020F0502020204030204"/>
                <a:cs typeface="Calibri" panose="020F0502020204030204"/>
              </a:rPr>
              <a:t>in</a:t>
            </a:r>
            <a:r>
              <a:rPr sz="1750" spc="190" dirty="0">
                <a:latin typeface="Calibri" panose="020F0502020204030204"/>
                <a:cs typeface="Calibri" panose="020F0502020204030204"/>
              </a:rPr>
              <a:t> </a:t>
            </a:r>
            <a:r>
              <a:rPr sz="1750" spc="-5" dirty="0">
                <a:latin typeface="Calibri" panose="020F0502020204030204"/>
                <a:cs typeface="Calibri" panose="020F0502020204030204"/>
              </a:rPr>
              <a:t>the</a:t>
            </a:r>
            <a:r>
              <a:rPr sz="1750" spc="190" dirty="0">
                <a:latin typeface="Calibri" panose="020F0502020204030204"/>
                <a:cs typeface="Calibri" panose="020F0502020204030204"/>
              </a:rPr>
              <a:t> </a:t>
            </a:r>
            <a:r>
              <a:rPr sz="1750" spc="-5" dirty="0">
                <a:latin typeface="Calibri" panose="020F0502020204030204"/>
                <a:cs typeface="Calibri" panose="020F0502020204030204"/>
              </a:rPr>
              <a:t>iterable </a:t>
            </a:r>
            <a:r>
              <a:rPr sz="1750" spc="-385" dirty="0">
                <a:latin typeface="Calibri" panose="020F0502020204030204"/>
                <a:cs typeface="Calibri" panose="020F0502020204030204"/>
              </a:rPr>
              <a:t> </a:t>
            </a:r>
            <a:r>
              <a:rPr sz="1750" spc="-5" dirty="0">
                <a:latin typeface="Calibri" panose="020F0502020204030204"/>
                <a:cs typeface="Calibri" panose="020F0502020204030204"/>
              </a:rPr>
              <a:t>through</a:t>
            </a:r>
            <a:r>
              <a:rPr sz="1750" spc="-10" dirty="0">
                <a:latin typeface="Calibri" panose="020F0502020204030204"/>
                <a:cs typeface="Calibri" panose="020F0502020204030204"/>
              </a:rPr>
              <a:t> </a:t>
            </a:r>
            <a:r>
              <a:rPr sz="1750" spc="-5" dirty="0">
                <a:latin typeface="Calibri" panose="020F0502020204030204"/>
                <a:cs typeface="Calibri" panose="020F0502020204030204"/>
              </a:rPr>
              <a:t>the function, "filtering" </a:t>
            </a:r>
            <a:r>
              <a:rPr sz="1750" dirty="0">
                <a:latin typeface="Calibri" panose="020F0502020204030204"/>
                <a:cs typeface="Calibri" panose="020F0502020204030204"/>
              </a:rPr>
              <a:t>away</a:t>
            </a:r>
            <a:r>
              <a:rPr sz="1750" spc="-5" dirty="0">
                <a:latin typeface="Calibri" panose="020F0502020204030204"/>
                <a:cs typeface="Calibri" panose="020F0502020204030204"/>
              </a:rPr>
              <a:t> those that </a:t>
            </a:r>
            <a:r>
              <a:rPr sz="1750" dirty="0">
                <a:latin typeface="Calibri" panose="020F0502020204030204"/>
                <a:cs typeface="Calibri" panose="020F0502020204030204"/>
              </a:rPr>
              <a:t>are</a:t>
            </a:r>
            <a:r>
              <a:rPr sz="1750" spc="-5" dirty="0">
                <a:latin typeface="Calibri" panose="020F0502020204030204"/>
                <a:cs typeface="Calibri" panose="020F0502020204030204"/>
              </a:rPr>
              <a:t> false</a:t>
            </a:r>
            <a:endParaRPr sz="1750">
              <a:latin typeface="Calibri" panose="020F0502020204030204"/>
              <a:cs typeface="Calibri" panose="020F0502020204030204"/>
            </a:endParaRPr>
          </a:p>
          <a:p>
            <a:pPr marL="12700">
              <a:lnSpc>
                <a:spcPct val="100000"/>
              </a:lnSpc>
              <a:spcBef>
                <a:spcPts val="1050"/>
              </a:spcBef>
            </a:pPr>
            <a:r>
              <a:rPr sz="1750" b="1" spc="-5" dirty="0">
                <a:latin typeface="Calibri" panose="020F0502020204030204"/>
                <a:cs typeface="Calibri" panose="020F0502020204030204"/>
              </a:rPr>
              <a:t>Syntax:</a:t>
            </a:r>
            <a:endParaRPr sz="1750">
              <a:latin typeface="Calibri" panose="020F0502020204030204"/>
              <a:cs typeface="Calibri" panose="020F0502020204030204"/>
            </a:endParaRPr>
          </a:p>
          <a:p>
            <a:pPr marL="469900">
              <a:lnSpc>
                <a:spcPct val="100000"/>
              </a:lnSpc>
              <a:spcBef>
                <a:spcPts val="1050"/>
              </a:spcBef>
            </a:pPr>
            <a:r>
              <a:rPr sz="1750" spc="-5" dirty="0">
                <a:latin typeface="Calibri" panose="020F0502020204030204"/>
                <a:cs typeface="Calibri" panose="020F0502020204030204"/>
              </a:rPr>
              <a:t>filter(func,</a:t>
            </a:r>
            <a:r>
              <a:rPr sz="1750" spc="-45" dirty="0">
                <a:latin typeface="Calibri" panose="020F0502020204030204"/>
                <a:cs typeface="Calibri" panose="020F0502020204030204"/>
              </a:rPr>
              <a:t> </a:t>
            </a:r>
            <a:r>
              <a:rPr sz="1750" spc="-5" dirty="0">
                <a:latin typeface="Calibri" panose="020F0502020204030204"/>
                <a:cs typeface="Calibri" panose="020F0502020204030204"/>
              </a:rPr>
              <a:t>iterable)</a:t>
            </a:r>
            <a:endParaRPr sz="1750">
              <a:latin typeface="Calibri" panose="020F0502020204030204"/>
              <a:cs typeface="Calibri" panose="020F0502020204030204"/>
            </a:endParaRPr>
          </a:p>
          <a:p>
            <a:pPr marL="12700">
              <a:lnSpc>
                <a:spcPct val="100000"/>
              </a:lnSpc>
              <a:spcBef>
                <a:spcPts val="1050"/>
              </a:spcBef>
            </a:pPr>
            <a:r>
              <a:rPr sz="1750" b="1" spc="-5" dirty="0">
                <a:latin typeface="Calibri" panose="020F0502020204030204"/>
                <a:cs typeface="Calibri" panose="020F0502020204030204"/>
              </a:rPr>
              <a:t>The</a:t>
            </a:r>
            <a:r>
              <a:rPr sz="1750" b="1" spc="-15" dirty="0">
                <a:latin typeface="Calibri" panose="020F0502020204030204"/>
                <a:cs typeface="Calibri" panose="020F0502020204030204"/>
              </a:rPr>
              <a:t> </a:t>
            </a:r>
            <a:r>
              <a:rPr sz="1750" b="1" spc="-5" dirty="0">
                <a:latin typeface="Calibri" panose="020F0502020204030204"/>
                <a:cs typeface="Calibri" panose="020F0502020204030204"/>
              </a:rPr>
              <a:t>following</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points</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are</a:t>
            </a:r>
            <a:r>
              <a:rPr sz="1750" b="1" spc="-15" dirty="0">
                <a:latin typeface="Calibri" panose="020F0502020204030204"/>
                <a:cs typeface="Calibri" panose="020F0502020204030204"/>
              </a:rPr>
              <a:t> </a:t>
            </a:r>
            <a:r>
              <a:rPr sz="1750" b="1" spc="-5" dirty="0">
                <a:latin typeface="Calibri" panose="020F0502020204030204"/>
                <a:cs typeface="Calibri" panose="020F0502020204030204"/>
              </a:rPr>
              <a:t>to</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be</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noted</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regarding</a:t>
            </a:r>
            <a:r>
              <a:rPr sz="1750" b="1" spc="-15" dirty="0">
                <a:latin typeface="Calibri" panose="020F0502020204030204"/>
                <a:cs typeface="Calibri" panose="020F0502020204030204"/>
              </a:rPr>
              <a:t> </a:t>
            </a:r>
            <a:r>
              <a:rPr sz="1750" b="1" spc="-5" dirty="0">
                <a:latin typeface="Calibri" panose="020F0502020204030204"/>
                <a:cs typeface="Calibri" panose="020F0502020204030204"/>
              </a:rPr>
              <a:t>filter():</a:t>
            </a:r>
            <a:endParaRPr sz="1750">
              <a:latin typeface="Calibri" panose="020F0502020204030204"/>
              <a:cs typeface="Calibri" panose="020F0502020204030204"/>
            </a:endParaRPr>
          </a:p>
          <a:p>
            <a:pPr marL="298450" indent="-252730">
              <a:lnSpc>
                <a:spcPct val="100000"/>
              </a:lnSpc>
              <a:spcBef>
                <a:spcPts val="1050"/>
              </a:spcBef>
              <a:buFont typeface="Arial MT"/>
              <a:buChar char="•"/>
              <a:tabLst>
                <a:tab pos="297815" algn="l"/>
                <a:tab pos="298450" algn="l"/>
              </a:tabLst>
            </a:pPr>
            <a:r>
              <a:rPr sz="1750" spc="-5" dirty="0">
                <a:latin typeface="Calibri" panose="020F0502020204030204"/>
                <a:cs typeface="Calibri" panose="020F0502020204030204"/>
              </a:rPr>
              <a:t>Unlike</a:t>
            </a:r>
            <a:r>
              <a:rPr sz="1750" spc="-15" dirty="0">
                <a:latin typeface="Calibri" panose="020F0502020204030204"/>
                <a:cs typeface="Calibri" panose="020F0502020204030204"/>
              </a:rPr>
              <a:t> </a:t>
            </a:r>
            <a:r>
              <a:rPr sz="1750" spc="-5" dirty="0">
                <a:latin typeface="Calibri" panose="020F0502020204030204"/>
                <a:cs typeface="Calibri" panose="020F0502020204030204"/>
              </a:rPr>
              <a:t>map(),</a:t>
            </a:r>
            <a:r>
              <a:rPr sz="1750" spc="-15" dirty="0">
                <a:latin typeface="Calibri" panose="020F0502020204030204"/>
                <a:cs typeface="Calibri" panose="020F0502020204030204"/>
              </a:rPr>
              <a:t> </a:t>
            </a:r>
            <a:r>
              <a:rPr sz="1750" spc="-5" dirty="0">
                <a:latin typeface="Calibri" panose="020F0502020204030204"/>
                <a:cs typeface="Calibri" panose="020F0502020204030204"/>
              </a:rPr>
              <a:t>only</a:t>
            </a:r>
            <a:r>
              <a:rPr sz="1750" spc="-15" dirty="0">
                <a:latin typeface="Calibri" panose="020F0502020204030204"/>
                <a:cs typeface="Calibri" panose="020F0502020204030204"/>
              </a:rPr>
              <a:t> </a:t>
            </a:r>
            <a:r>
              <a:rPr sz="1750" spc="-5" dirty="0">
                <a:latin typeface="Calibri" panose="020F0502020204030204"/>
                <a:cs typeface="Calibri" panose="020F0502020204030204"/>
              </a:rPr>
              <a:t>one</a:t>
            </a:r>
            <a:r>
              <a:rPr sz="1750" spc="-15" dirty="0">
                <a:latin typeface="Calibri" panose="020F0502020204030204"/>
                <a:cs typeface="Calibri" panose="020F0502020204030204"/>
              </a:rPr>
              <a:t> </a:t>
            </a:r>
            <a:r>
              <a:rPr sz="1750" spc="-5" dirty="0">
                <a:latin typeface="Calibri" panose="020F0502020204030204"/>
                <a:cs typeface="Calibri" panose="020F0502020204030204"/>
              </a:rPr>
              <a:t>iterable</a:t>
            </a:r>
            <a:r>
              <a:rPr sz="1750" spc="-15" dirty="0">
                <a:latin typeface="Calibri" panose="020F0502020204030204"/>
                <a:cs typeface="Calibri" panose="020F0502020204030204"/>
              </a:rPr>
              <a:t> </a:t>
            </a:r>
            <a:r>
              <a:rPr sz="1750" spc="-5" dirty="0">
                <a:latin typeface="Calibri" panose="020F0502020204030204"/>
                <a:cs typeface="Calibri" panose="020F0502020204030204"/>
              </a:rPr>
              <a:t>is</a:t>
            </a:r>
            <a:r>
              <a:rPr sz="1750" spc="-15" dirty="0">
                <a:latin typeface="Calibri" panose="020F0502020204030204"/>
                <a:cs typeface="Calibri" panose="020F0502020204030204"/>
              </a:rPr>
              <a:t> </a:t>
            </a:r>
            <a:r>
              <a:rPr sz="1750" spc="-5" dirty="0">
                <a:latin typeface="Calibri" panose="020F0502020204030204"/>
                <a:cs typeface="Calibri" panose="020F0502020204030204"/>
              </a:rPr>
              <a:t>required.</a:t>
            </a:r>
            <a:endParaRPr sz="1750">
              <a:latin typeface="Calibri" panose="020F0502020204030204"/>
              <a:cs typeface="Calibri" panose="020F0502020204030204"/>
            </a:endParaRPr>
          </a:p>
          <a:p>
            <a:pPr marL="298450" marR="5080" indent="-252730">
              <a:lnSpc>
                <a:spcPct val="150000"/>
              </a:lnSpc>
              <a:buFont typeface="Arial MT"/>
              <a:buChar char="•"/>
              <a:tabLst>
                <a:tab pos="297815" algn="l"/>
                <a:tab pos="298450" algn="l"/>
              </a:tabLst>
            </a:pPr>
            <a:r>
              <a:rPr sz="1750" spc="-5" dirty="0">
                <a:latin typeface="Calibri" panose="020F0502020204030204"/>
                <a:cs typeface="Calibri" panose="020F0502020204030204"/>
              </a:rPr>
              <a:t>The</a:t>
            </a:r>
            <a:r>
              <a:rPr sz="1750" spc="95" dirty="0">
                <a:latin typeface="Calibri" panose="020F0502020204030204"/>
                <a:cs typeface="Calibri" panose="020F0502020204030204"/>
              </a:rPr>
              <a:t> </a:t>
            </a:r>
            <a:r>
              <a:rPr sz="1750" spc="-5" dirty="0">
                <a:latin typeface="Calibri" panose="020F0502020204030204"/>
                <a:cs typeface="Calibri" panose="020F0502020204030204"/>
              </a:rPr>
              <a:t>func</a:t>
            </a:r>
            <a:r>
              <a:rPr sz="1750" spc="95" dirty="0">
                <a:latin typeface="Calibri" panose="020F0502020204030204"/>
                <a:cs typeface="Calibri" panose="020F0502020204030204"/>
              </a:rPr>
              <a:t> </a:t>
            </a:r>
            <a:r>
              <a:rPr sz="1750" dirty="0">
                <a:latin typeface="Calibri" panose="020F0502020204030204"/>
                <a:cs typeface="Calibri" panose="020F0502020204030204"/>
              </a:rPr>
              <a:t>argument</a:t>
            </a:r>
            <a:r>
              <a:rPr sz="1750" spc="95" dirty="0">
                <a:latin typeface="Calibri" panose="020F0502020204030204"/>
                <a:cs typeface="Calibri" panose="020F0502020204030204"/>
              </a:rPr>
              <a:t> </a:t>
            </a:r>
            <a:r>
              <a:rPr sz="1750" spc="-5" dirty="0">
                <a:latin typeface="Calibri" panose="020F0502020204030204"/>
                <a:cs typeface="Calibri" panose="020F0502020204030204"/>
              </a:rPr>
              <a:t>is</a:t>
            </a:r>
            <a:r>
              <a:rPr sz="1750" spc="95" dirty="0">
                <a:latin typeface="Calibri" panose="020F0502020204030204"/>
                <a:cs typeface="Calibri" panose="020F0502020204030204"/>
              </a:rPr>
              <a:t> </a:t>
            </a:r>
            <a:r>
              <a:rPr sz="1750" spc="-5" dirty="0">
                <a:latin typeface="Calibri" panose="020F0502020204030204"/>
                <a:cs typeface="Calibri" panose="020F0502020204030204"/>
              </a:rPr>
              <a:t>required</a:t>
            </a:r>
            <a:r>
              <a:rPr sz="1750" spc="95" dirty="0">
                <a:latin typeface="Calibri" panose="020F0502020204030204"/>
                <a:cs typeface="Calibri" panose="020F0502020204030204"/>
              </a:rPr>
              <a:t> </a:t>
            </a:r>
            <a:r>
              <a:rPr sz="1750" spc="-5" dirty="0">
                <a:latin typeface="Calibri" panose="020F0502020204030204"/>
                <a:cs typeface="Calibri" panose="020F0502020204030204"/>
              </a:rPr>
              <a:t>to</a:t>
            </a:r>
            <a:r>
              <a:rPr sz="1750" spc="95" dirty="0">
                <a:latin typeface="Calibri" panose="020F0502020204030204"/>
                <a:cs typeface="Calibri" panose="020F0502020204030204"/>
              </a:rPr>
              <a:t> </a:t>
            </a:r>
            <a:r>
              <a:rPr sz="1750" spc="-5" dirty="0">
                <a:latin typeface="Calibri" panose="020F0502020204030204"/>
                <a:cs typeface="Calibri" panose="020F0502020204030204"/>
              </a:rPr>
              <a:t>return</a:t>
            </a:r>
            <a:r>
              <a:rPr sz="1750" spc="95" dirty="0">
                <a:latin typeface="Calibri" panose="020F0502020204030204"/>
                <a:cs typeface="Calibri" panose="020F0502020204030204"/>
              </a:rPr>
              <a:t> </a:t>
            </a:r>
            <a:r>
              <a:rPr sz="1750" dirty="0">
                <a:latin typeface="Calibri" panose="020F0502020204030204"/>
                <a:cs typeface="Calibri" panose="020F0502020204030204"/>
              </a:rPr>
              <a:t>a</a:t>
            </a:r>
            <a:r>
              <a:rPr sz="1750" spc="95" dirty="0">
                <a:latin typeface="Calibri" panose="020F0502020204030204"/>
                <a:cs typeface="Calibri" panose="020F0502020204030204"/>
              </a:rPr>
              <a:t> </a:t>
            </a:r>
            <a:r>
              <a:rPr sz="1750" spc="-5" dirty="0">
                <a:latin typeface="Calibri" panose="020F0502020204030204"/>
                <a:cs typeface="Calibri" panose="020F0502020204030204"/>
              </a:rPr>
              <a:t>boolean</a:t>
            </a:r>
            <a:r>
              <a:rPr sz="1750" spc="95" dirty="0">
                <a:latin typeface="Calibri" panose="020F0502020204030204"/>
                <a:cs typeface="Calibri" panose="020F0502020204030204"/>
              </a:rPr>
              <a:t> </a:t>
            </a:r>
            <a:r>
              <a:rPr sz="1750" spc="-5" dirty="0">
                <a:latin typeface="Calibri" panose="020F0502020204030204"/>
                <a:cs typeface="Calibri" panose="020F0502020204030204"/>
              </a:rPr>
              <a:t>type.</a:t>
            </a:r>
            <a:r>
              <a:rPr sz="1750" spc="95" dirty="0">
                <a:latin typeface="Calibri" panose="020F0502020204030204"/>
                <a:cs typeface="Calibri" panose="020F0502020204030204"/>
              </a:rPr>
              <a:t> </a:t>
            </a:r>
            <a:r>
              <a:rPr sz="1750" spc="-5" dirty="0">
                <a:latin typeface="Calibri" panose="020F0502020204030204"/>
                <a:cs typeface="Calibri" panose="020F0502020204030204"/>
              </a:rPr>
              <a:t>If</a:t>
            </a:r>
            <a:r>
              <a:rPr sz="1750" spc="95" dirty="0">
                <a:latin typeface="Calibri" panose="020F0502020204030204"/>
                <a:cs typeface="Calibri" panose="020F0502020204030204"/>
              </a:rPr>
              <a:t> </a:t>
            </a:r>
            <a:r>
              <a:rPr sz="1750" spc="-5" dirty="0">
                <a:latin typeface="Calibri" panose="020F0502020204030204"/>
                <a:cs typeface="Calibri" panose="020F0502020204030204"/>
              </a:rPr>
              <a:t>it</a:t>
            </a:r>
            <a:r>
              <a:rPr sz="1750" spc="95" dirty="0">
                <a:latin typeface="Calibri" panose="020F0502020204030204"/>
                <a:cs typeface="Calibri" panose="020F0502020204030204"/>
              </a:rPr>
              <a:t> </a:t>
            </a:r>
            <a:r>
              <a:rPr sz="1750" spc="-5" dirty="0">
                <a:latin typeface="Calibri" panose="020F0502020204030204"/>
                <a:cs typeface="Calibri" panose="020F0502020204030204"/>
              </a:rPr>
              <a:t>doesn't,</a:t>
            </a:r>
            <a:r>
              <a:rPr sz="1750" spc="95" dirty="0">
                <a:latin typeface="Calibri" panose="020F0502020204030204"/>
                <a:cs typeface="Calibri" panose="020F0502020204030204"/>
              </a:rPr>
              <a:t> </a:t>
            </a:r>
            <a:r>
              <a:rPr sz="1750" spc="-5" dirty="0">
                <a:latin typeface="Calibri" panose="020F0502020204030204"/>
                <a:cs typeface="Calibri" panose="020F0502020204030204"/>
              </a:rPr>
              <a:t>filter</a:t>
            </a:r>
            <a:r>
              <a:rPr sz="1750" spc="95" dirty="0">
                <a:latin typeface="Calibri" panose="020F0502020204030204"/>
                <a:cs typeface="Calibri" panose="020F0502020204030204"/>
              </a:rPr>
              <a:t> </a:t>
            </a:r>
            <a:r>
              <a:rPr sz="1750" spc="-5" dirty="0">
                <a:latin typeface="Calibri" panose="020F0502020204030204"/>
                <a:cs typeface="Calibri" panose="020F0502020204030204"/>
              </a:rPr>
              <a:t>simply</a:t>
            </a:r>
            <a:r>
              <a:rPr sz="1750" spc="95" dirty="0">
                <a:latin typeface="Calibri" panose="020F0502020204030204"/>
                <a:cs typeface="Calibri" panose="020F0502020204030204"/>
              </a:rPr>
              <a:t> </a:t>
            </a:r>
            <a:r>
              <a:rPr sz="1750" spc="-5" dirty="0">
                <a:latin typeface="Calibri" panose="020F0502020204030204"/>
                <a:cs typeface="Calibri" panose="020F0502020204030204"/>
              </a:rPr>
              <a:t>returns</a:t>
            </a:r>
            <a:r>
              <a:rPr sz="1750" spc="95" dirty="0">
                <a:latin typeface="Calibri" panose="020F0502020204030204"/>
                <a:cs typeface="Calibri" panose="020F0502020204030204"/>
              </a:rPr>
              <a:t> </a:t>
            </a:r>
            <a:r>
              <a:rPr sz="1750" spc="-5" dirty="0">
                <a:latin typeface="Calibri" panose="020F0502020204030204"/>
                <a:cs typeface="Calibri" panose="020F0502020204030204"/>
              </a:rPr>
              <a:t>the</a:t>
            </a:r>
            <a:r>
              <a:rPr sz="1750" spc="95" dirty="0">
                <a:latin typeface="Calibri" panose="020F0502020204030204"/>
                <a:cs typeface="Calibri" panose="020F0502020204030204"/>
              </a:rPr>
              <a:t> </a:t>
            </a:r>
            <a:r>
              <a:rPr sz="1750" spc="-5" dirty="0">
                <a:latin typeface="Calibri" panose="020F0502020204030204"/>
                <a:cs typeface="Calibri" panose="020F0502020204030204"/>
              </a:rPr>
              <a:t>iterable</a:t>
            </a:r>
            <a:r>
              <a:rPr sz="1750" spc="95" dirty="0">
                <a:latin typeface="Calibri" panose="020F0502020204030204"/>
                <a:cs typeface="Calibri" panose="020F0502020204030204"/>
              </a:rPr>
              <a:t> </a:t>
            </a:r>
            <a:r>
              <a:rPr sz="1750" spc="-5" dirty="0">
                <a:latin typeface="Calibri" panose="020F0502020204030204"/>
                <a:cs typeface="Calibri" panose="020F0502020204030204"/>
              </a:rPr>
              <a:t>passed</a:t>
            </a:r>
            <a:r>
              <a:rPr sz="1750" spc="95" dirty="0">
                <a:latin typeface="Calibri" panose="020F0502020204030204"/>
                <a:cs typeface="Calibri" panose="020F0502020204030204"/>
              </a:rPr>
              <a:t> </a:t>
            </a:r>
            <a:r>
              <a:rPr sz="1750" spc="-5" dirty="0">
                <a:latin typeface="Calibri" panose="020F0502020204030204"/>
                <a:cs typeface="Calibri" panose="020F0502020204030204"/>
              </a:rPr>
              <a:t>to</a:t>
            </a:r>
            <a:r>
              <a:rPr sz="1750" spc="95" dirty="0">
                <a:latin typeface="Calibri" panose="020F0502020204030204"/>
                <a:cs typeface="Calibri" panose="020F0502020204030204"/>
              </a:rPr>
              <a:t> </a:t>
            </a:r>
            <a:r>
              <a:rPr sz="1750" spc="-5" dirty="0">
                <a:latin typeface="Calibri" panose="020F0502020204030204"/>
                <a:cs typeface="Calibri" panose="020F0502020204030204"/>
              </a:rPr>
              <a:t>it.</a:t>
            </a:r>
            <a:r>
              <a:rPr sz="1750" spc="95" dirty="0">
                <a:latin typeface="Calibri" panose="020F0502020204030204"/>
                <a:cs typeface="Calibri" panose="020F0502020204030204"/>
              </a:rPr>
              <a:t> </a:t>
            </a:r>
            <a:r>
              <a:rPr sz="1750" spc="-5" dirty="0">
                <a:latin typeface="Calibri" panose="020F0502020204030204"/>
                <a:cs typeface="Calibri" panose="020F0502020204030204"/>
              </a:rPr>
              <a:t>Also,</a:t>
            </a:r>
            <a:r>
              <a:rPr sz="1750" spc="95" dirty="0">
                <a:latin typeface="Calibri" panose="020F0502020204030204"/>
                <a:cs typeface="Calibri" panose="020F0502020204030204"/>
              </a:rPr>
              <a:t> </a:t>
            </a:r>
            <a:r>
              <a:rPr sz="1750" dirty="0">
                <a:latin typeface="Calibri" panose="020F0502020204030204"/>
                <a:cs typeface="Calibri" panose="020F0502020204030204"/>
              </a:rPr>
              <a:t>as</a:t>
            </a:r>
            <a:r>
              <a:rPr sz="1750" spc="95" dirty="0">
                <a:latin typeface="Calibri" panose="020F0502020204030204"/>
                <a:cs typeface="Calibri" panose="020F0502020204030204"/>
              </a:rPr>
              <a:t> </a:t>
            </a:r>
            <a:r>
              <a:rPr sz="1750" spc="-5" dirty="0">
                <a:latin typeface="Calibri" panose="020F0502020204030204"/>
                <a:cs typeface="Calibri" panose="020F0502020204030204"/>
              </a:rPr>
              <a:t>only </a:t>
            </a:r>
            <a:r>
              <a:rPr sz="1750" spc="-385" dirty="0">
                <a:latin typeface="Calibri" panose="020F0502020204030204"/>
                <a:cs typeface="Calibri" panose="020F0502020204030204"/>
              </a:rPr>
              <a:t> </a:t>
            </a:r>
            <a:r>
              <a:rPr sz="1750" spc="-5" dirty="0">
                <a:latin typeface="Calibri" panose="020F0502020204030204"/>
                <a:cs typeface="Calibri" panose="020F0502020204030204"/>
              </a:rPr>
              <a:t>one</a:t>
            </a:r>
            <a:r>
              <a:rPr sz="1750" spc="-10" dirty="0">
                <a:latin typeface="Calibri" panose="020F0502020204030204"/>
                <a:cs typeface="Calibri" panose="020F0502020204030204"/>
              </a:rPr>
              <a:t> </a:t>
            </a:r>
            <a:r>
              <a:rPr sz="1750" spc="-5" dirty="0">
                <a:latin typeface="Calibri" panose="020F0502020204030204"/>
                <a:cs typeface="Calibri" panose="020F0502020204030204"/>
              </a:rPr>
              <a:t>iterable is required, it's implicit that func must only take one </a:t>
            </a:r>
            <a:r>
              <a:rPr sz="1750" dirty="0">
                <a:latin typeface="Calibri" panose="020F0502020204030204"/>
                <a:cs typeface="Calibri" panose="020F0502020204030204"/>
              </a:rPr>
              <a:t>argument.</a:t>
            </a:r>
            <a:endParaRPr sz="1750">
              <a:latin typeface="Calibri" panose="020F0502020204030204"/>
              <a:cs typeface="Calibri" panose="020F0502020204030204"/>
            </a:endParaRPr>
          </a:p>
          <a:p>
            <a:pPr marL="298450" marR="10160" indent="-252730">
              <a:lnSpc>
                <a:spcPct val="150000"/>
              </a:lnSpc>
              <a:buFont typeface="Arial MT"/>
              <a:buChar char="•"/>
              <a:tabLst>
                <a:tab pos="297815" algn="l"/>
                <a:tab pos="298450" algn="l"/>
              </a:tabLst>
            </a:pPr>
            <a:r>
              <a:rPr sz="1750" spc="-5" dirty="0">
                <a:latin typeface="Calibri" panose="020F0502020204030204"/>
                <a:cs typeface="Calibri" panose="020F0502020204030204"/>
              </a:rPr>
              <a:t>filter</a:t>
            </a:r>
            <a:r>
              <a:rPr sz="1750" spc="65" dirty="0">
                <a:latin typeface="Calibri" panose="020F0502020204030204"/>
                <a:cs typeface="Calibri" panose="020F0502020204030204"/>
              </a:rPr>
              <a:t> </a:t>
            </a:r>
            <a:r>
              <a:rPr sz="1750" spc="-5" dirty="0">
                <a:latin typeface="Calibri" panose="020F0502020204030204"/>
                <a:cs typeface="Calibri" panose="020F0502020204030204"/>
              </a:rPr>
              <a:t>passes</a:t>
            </a:r>
            <a:r>
              <a:rPr sz="1750" spc="65" dirty="0">
                <a:latin typeface="Calibri" panose="020F0502020204030204"/>
                <a:cs typeface="Calibri" panose="020F0502020204030204"/>
              </a:rPr>
              <a:t> </a:t>
            </a:r>
            <a:r>
              <a:rPr sz="1750" spc="-5" dirty="0">
                <a:latin typeface="Calibri" panose="020F0502020204030204"/>
                <a:cs typeface="Calibri" panose="020F0502020204030204"/>
              </a:rPr>
              <a:t>each</a:t>
            </a:r>
            <a:r>
              <a:rPr sz="1750" spc="65" dirty="0">
                <a:latin typeface="Calibri" panose="020F0502020204030204"/>
                <a:cs typeface="Calibri" panose="020F0502020204030204"/>
              </a:rPr>
              <a:t> </a:t>
            </a:r>
            <a:r>
              <a:rPr sz="1750" spc="-5" dirty="0">
                <a:latin typeface="Calibri" panose="020F0502020204030204"/>
                <a:cs typeface="Calibri" panose="020F0502020204030204"/>
              </a:rPr>
              <a:t>element</a:t>
            </a:r>
            <a:r>
              <a:rPr sz="1750" spc="65" dirty="0">
                <a:latin typeface="Calibri" panose="020F0502020204030204"/>
                <a:cs typeface="Calibri" panose="020F0502020204030204"/>
              </a:rPr>
              <a:t> </a:t>
            </a:r>
            <a:r>
              <a:rPr sz="1750" spc="-5" dirty="0">
                <a:latin typeface="Calibri" panose="020F0502020204030204"/>
                <a:cs typeface="Calibri" panose="020F0502020204030204"/>
              </a:rPr>
              <a:t>in</a:t>
            </a:r>
            <a:r>
              <a:rPr sz="1750" spc="65" dirty="0">
                <a:latin typeface="Calibri" panose="020F0502020204030204"/>
                <a:cs typeface="Calibri" panose="020F0502020204030204"/>
              </a:rPr>
              <a:t> </a:t>
            </a:r>
            <a:r>
              <a:rPr sz="1750" spc="-5" dirty="0">
                <a:latin typeface="Calibri" panose="020F0502020204030204"/>
                <a:cs typeface="Calibri" panose="020F0502020204030204"/>
              </a:rPr>
              <a:t>the</a:t>
            </a:r>
            <a:r>
              <a:rPr sz="1750" spc="65" dirty="0">
                <a:latin typeface="Calibri" panose="020F0502020204030204"/>
                <a:cs typeface="Calibri" panose="020F0502020204030204"/>
              </a:rPr>
              <a:t> </a:t>
            </a:r>
            <a:r>
              <a:rPr sz="1750" spc="-5" dirty="0">
                <a:latin typeface="Calibri" panose="020F0502020204030204"/>
                <a:cs typeface="Calibri" panose="020F0502020204030204"/>
              </a:rPr>
              <a:t>iterable</a:t>
            </a:r>
            <a:r>
              <a:rPr sz="1750" spc="65" dirty="0">
                <a:latin typeface="Calibri" panose="020F0502020204030204"/>
                <a:cs typeface="Calibri" panose="020F0502020204030204"/>
              </a:rPr>
              <a:t> </a:t>
            </a:r>
            <a:r>
              <a:rPr sz="1750" spc="-5" dirty="0">
                <a:latin typeface="Calibri" panose="020F0502020204030204"/>
                <a:cs typeface="Calibri" panose="020F0502020204030204"/>
              </a:rPr>
              <a:t>through</a:t>
            </a:r>
            <a:r>
              <a:rPr sz="1750" spc="65" dirty="0">
                <a:latin typeface="Calibri" panose="020F0502020204030204"/>
                <a:cs typeface="Calibri" panose="020F0502020204030204"/>
              </a:rPr>
              <a:t> </a:t>
            </a:r>
            <a:r>
              <a:rPr sz="1750" spc="-5" dirty="0">
                <a:latin typeface="Calibri" panose="020F0502020204030204"/>
                <a:cs typeface="Calibri" panose="020F0502020204030204"/>
              </a:rPr>
              <a:t>func</a:t>
            </a:r>
            <a:r>
              <a:rPr sz="1750" spc="65" dirty="0">
                <a:latin typeface="Calibri" panose="020F0502020204030204"/>
                <a:cs typeface="Calibri" panose="020F0502020204030204"/>
              </a:rPr>
              <a:t> </a:t>
            </a:r>
            <a:r>
              <a:rPr sz="1750" dirty="0">
                <a:latin typeface="Calibri" panose="020F0502020204030204"/>
                <a:cs typeface="Calibri" panose="020F0502020204030204"/>
              </a:rPr>
              <a:t>and</a:t>
            </a:r>
            <a:r>
              <a:rPr sz="1750" spc="65" dirty="0">
                <a:latin typeface="Calibri" panose="020F0502020204030204"/>
                <a:cs typeface="Calibri" panose="020F0502020204030204"/>
              </a:rPr>
              <a:t> </a:t>
            </a:r>
            <a:r>
              <a:rPr sz="1750" spc="-5" dirty="0">
                <a:latin typeface="Calibri" panose="020F0502020204030204"/>
                <a:cs typeface="Calibri" panose="020F0502020204030204"/>
              </a:rPr>
              <a:t>returns</a:t>
            </a:r>
            <a:r>
              <a:rPr sz="1750" spc="65" dirty="0">
                <a:latin typeface="Calibri" panose="020F0502020204030204"/>
                <a:cs typeface="Calibri" panose="020F0502020204030204"/>
              </a:rPr>
              <a:t> </a:t>
            </a:r>
            <a:r>
              <a:rPr sz="1750" spc="-5" dirty="0">
                <a:latin typeface="Calibri" panose="020F0502020204030204"/>
                <a:cs typeface="Calibri" panose="020F0502020204030204"/>
              </a:rPr>
              <a:t>only</a:t>
            </a:r>
            <a:r>
              <a:rPr sz="1750" spc="65" dirty="0">
                <a:latin typeface="Calibri" panose="020F0502020204030204"/>
                <a:cs typeface="Calibri" panose="020F0502020204030204"/>
              </a:rPr>
              <a:t> </a:t>
            </a:r>
            <a:r>
              <a:rPr sz="1750" spc="-5" dirty="0">
                <a:latin typeface="Calibri" panose="020F0502020204030204"/>
                <a:cs typeface="Calibri" panose="020F0502020204030204"/>
              </a:rPr>
              <a:t>the</a:t>
            </a:r>
            <a:r>
              <a:rPr sz="1750" spc="65" dirty="0">
                <a:latin typeface="Calibri" panose="020F0502020204030204"/>
                <a:cs typeface="Calibri" panose="020F0502020204030204"/>
              </a:rPr>
              <a:t> </a:t>
            </a:r>
            <a:r>
              <a:rPr sz="1750" spc="-5" dirty="0">
                <a:latin typeface="Calibri" panose="020F0502020204030204"/>
                <a:cs typeface="Calibri" panose="020F0502020204030204"/>
              </a:rPr>
              <a:t>ones</a:t>
            </a:r>
            <a:r>
              <a:rPr sz="1750" spc="65" dirty="0">
                <a:latin typeface="Calibri" panose="020F0502020204030204"/>
                <a:cs typeface="Calibri" panose="020F0502020204030204"/>
              </a:rPr>
              <a:t> </a:t>
            </a:r>
            <a:r>
              <a:rPr sz="1750" spc="-5" dirty="0">
                <a:latin typeface="Calibri" panose="020F0502020204030204"/>
                <a:cs typeface="Calibri" panose="020F0502020204030204"/>
              </a:rPr>
              <a:t>that</a:t>
            </a:r>
            <a:r>
              <a:rPr sz="1750" spc="65" dirty="0">
                <a:latin typeface="Calibri" panose="020F0502020204030204"/>
                <a:cs typeface="Calibri" panose="020F0502020204030204"/>
              </a:rPr>
              <a:t> </a:t>
            </a:r>
            <a:r>
              <a:rPr sz="1750" spc="-5" dirty="0">
                <a:latin typeface="Calibri" panose="020F0502020204030204"/>
                <a:cs typeface="Calibri" panose="020F0502020204030204"/>
              </a:rPr>
              <a:t>evaluate</a:t>
            </a:r>
            <a:r>
              <a:rPr sz="1750" spc="65" dirty="0">
                <a:latin typeface="Calibri" panose="020F0502020204030204"/>
                <a:cs typeface="Calibri" panose="020F0502020204030204"/>
              </a:rPr>
              <a:t> </a:t>
            </a:r>
            <a:r>
              <a:rPr sz="1750" spc="-5" dirty="0">
                <a:latin typeface="Calibri" panose="020F0502020204030204"/>
                <a:cs typeface="Calibri" panose="020F0502020204030204"/>
              </a:rPr>
              <a:t>to</a:t>
            </a:r>
            <a:r>
              <a:rPr sz="1750" spc="65" dirty="0">
                <a:latin typeface="Calibri" panose="020F0502020204030204"/>
                <a:cs typeface="Calibri" panose="020F0502020204030204"/>
              </a:rPr>
              <a:t> </a:t>
            </a:r>
            <a:r>
              <a:rPr sz="1750" spc="-5" dirty="0">
                <a:latin typeface="Calibri" panose="020F0502020204030204"/>
                <a:cs typeface="Calibri" panose="020F0502020204030204"/>
              </a:rPr>
              <a:t>true.</a:t>
            </a:r>
            <a:r>
              <a:rPr sz="1750" spc="65" dirty="0">
                <a:latin typeface="Calibri" panose="020F0502020204030204"/>
                <a:cs typeface="Calibri" panose="020F0502020204030204"/>
              </a:rPr>
              <a:t> </a:t>
            </a:r>
            <a:r>
              <a:rPr sz="1750" dirty="0">
                <a:latin typeface="Calibri" panose="020F0502020204030204"/>
                <a:cs typeface="Calibri" panose="020F0502020204030204"/>
              </a:rPr>
              <a:t>I</a:t>
            </a:r>
            <a:r>
              <a:rPr sz="1750" spc="65" dirty="0">
                <a:latin typeface="Calibri" panose="020F0502020204030204"/>
                <a:cs typeface="Calibri" panose="020F0502020204030204"/>
              </a:rPr>
              <a:t> </a:t>
            </a:r>
            <a:r>
              <a:rPr sz="1750" spc="-5" dirty="0">
                <a:latin typeface="Calibri" panose="020F0502020204030204"/>
                <a:cs typeface="Calibri" panose="020F0502020204030204"/>
              </a:rPr>
              <a:t>mean,</a:t>
            </a:r>
            <a:r>
              <a:rPr sz="1750" spc="65" dirty="0">
                <a:latin typeface="Calibri" panose="020F0502020204030204"/>
                <a:cs typeface="Calibri" panose="020F0502020204030204"/>
              </a:rPr>
              <a:t> </a:t>
            </a:r>
            <a:r>
              <a:rPr sz="1750" spc="-5" dirty="0">
                <a:latin typeface="Calibri" panose="020F0502020204030204"/>
                <a:cs typeface="Calibri" panose="020F0502020204030204"/>
              </a:rPr>
              <a:t>it's</a:t>
            </a:r>
            <a:r>
              <a:rPr sz="1750" spc="65" dirty="0">
                <a:latin typeface="Calibri" panose="020F0502020204030204"/>
                <a:cs typeface="Calibri" panose="020F0502020204030204"/>
              </a:rPr>
              <a:t> </a:t>
            </a:r>
            <a:r>
              <a:rPr sz="1750" spc="-5" dirty="0">
                <a:latin typeface="Calibri" panose="020F0502020204030204"/>
                <a:cs typeface="Calibri" panose="020F0502020204030204"/>
              </a:rPr>
              <a:t>right</a:t>
            </a:r>
            <a:r>
              <a:rPr sz="1750" spc="65" dirty="0">
                <a:latin typeface="Calibri" panose="020F0502020204030204"/>
                <a:cs typeface="Calibri" panose="020F0502020204030204"/>
              </a:rPr>
              <a:t> </a:t>
            </a:r>
            <a:r>
              <a:rPr sz="1750" spc="-5" dirty="0">
                <a:latin typeface="Calibri" panose="020F0502020204030204"/>
                <a:cs typeface="Calibri" panose="020F0502020204030204"/>
              </a:rPr>
              <a:t>there</a:t>
            </a:r>
            <a:r>
              <a:rPr sz="1750" spc="65" dirty="0">
                <a:latin typeface="Calibri" panose="020F0502020204030204"/>
                <a:cs typeface="Calibri" panose="020F0502020204030204"/>
              </a:rPr>
              <a:t> </a:t>
            </a:r>
            <a:r>
              <a:rPr sz="1750" spc="-5" dirty="0">
                <a:latin typeface="Calibri" panose="020F0502020204030204"/>
                <a:cs typeface="Calibri" panose="020F0502020204030204"/>
              </a:rPr>
              <a:t>in </a:t>
            </a:r>
            <a:r>
              <a:rPr sz="1750" spc="-380" dirty="0">
                <a:latin typeface="Calibri" panose="020F0502020204030204"/>
                <a:cs typeface="Calibri" panose="020F0502020204030204"/>
              </a:rPr>
              <a:t> </a:t>
            </a:r>
            <a:r>
              <a:rPr sz="1750" spc="-5" dirty="0">
                <a:latin typeface="Calibri" panose="020F0502020204030204"/>
                <a:cs typeface="Calibri" panose="020F0502020204030204"/>
              </a:rPr>
              <a:t>the</a:t>
            </a:r>
            <a:r>
              <a:rPr sz="1750" spc="-10" dirty="0">
                <a:latin typeface="Calibri" panose="020F0502020204030204"/>
                <a:cs typeface="Calibri" panose="020F0502020204030204"/>
              </a:rPr>
              <a:t> </a:t>
            </a:r>
            <a:r>
              <a:rPr sz="1750" spc="-5" dirty="0">
                <a:latin typeface="Calibri" panose="020F0502020204030204"/>
                <a:cs typeface="Calibri" panose="020F0502020204030204"/>
              </a:rPr>
              <a:t>name -- </a:t>
            </a:r>
            <a:r>
              <a:rPr sz="1750" dirty="0">
                <a:latin typeface="Calibri" panose="020F0502020204030204"/>
                <a:cs typeface="Calibri" panose="020F0502020204030204"/>
              </a:rPr>
              <a:t>a</a:t>
            </a:r>
            <a:r>
              <a:rPr sz="1750" spc="-5" dirty="0">
                <a:latin typeface="Calibri" panose="020F0502020204030204"/>
                <a:cs typeface="Calibri" panose="020F0502020204030204"/>
              </a:rPr>
              <a:t> "filter".</a:t>
            </a:r>
            <a:endParaRPr sz="1750">
              <a:latin typeface="Calibri" panose="020F0502020204030204"/>
              <a:cs typeface="Calibri" panose="020F0502020204030204"/>
            </a:endParaRPr>
          </a:p>
          <a:p>
            <a:pPr marL="12700">
              <a:lnSpc>
                <a:spcPct val="100000"/>
              </a:lnSpc>
              <a:spcBef>
                <a:spcPts val="1050"/>
              </a:spcBef>
            </a:pPr>
            <a:r>
              <a:rPr sz="1750" b="1" spc="-5" dirty="0">
                <a:latin typeface="Calibri" panose="020F0502020204030204"/>
                <a:cs typeface="Calibri" panose="020F0502020204030204"/>
              </a:rPr>
              <a:t>Example:</a:t>
            </a:r>
            <a:endParaRPr sz="1750">
              <a:latin typeface="Calibri" panose="020F0502020204030204"/>
              <a:cs typeface="Calibri" panose="020F0502020204030204"/>
            </a:endParaRPr>
          </a:p>
          <a:p>
            <a:pPr marL="12700" marR="9254490">
              <a:lnSpc>
                <a:spcPct val="150000"/>
              </a:lnSpc>
            </a:pPr>
            <a:r>
              <a:rPr sz="1750" spc="-5" dirty="0">
                <a:latin typeface="Calibri" panose="020F0502020204030204"/>
                <a:cs typeface="Calibri" panose="020F0502020204030204"/>
              </a:rPr>
              <a:t>def</a:t>
            </a:r>
            <a:r>
              <a:rPr sz="1750" spc="-20" dirty="0">
                <a:latin typeface="Calibri" panose="020F0502020204030204"/>
                <a:cs typeface="Calibri" panose="020F0502020204030204"/>
              </a:rPr>
              <a:t> </a:t>
            </a:r>
            <a:r>
              <a:rPr sz="1750" spc="-5" dirty="0">
                <a:latin typeface="Calibri" panose="020F0502020204030204"/>
                <a:cs typeface="Calibri" panose="020F0502020204030204"/>
              </a:rPr>
              <a:t>isOdd(x):</a:t>
            </a:r>
            <a:r>
              <a:rPr sz="1750" spc="-15" dirty="0">
                <a:latin typeface="Calibri" panose="020F0502020204030204"/>
                <a:cs typeface="Calibri" panose="020F0502020204030204"/>
              </a:rPr>
              <a:t> </a:t>
            </a:r>
            <a:r>
              <a:rPr sz="1750" spc="-5" dirty="0">
                <a:latin typeface="Calibri" panose="020F0502020204030204"/>
                <a:cs typeface="Calibri" panose="020F0502020204030204"/>
              </a:rPr>
              <a:t>return</a:t>
            </a:r>
            <a:r>
              <a:rPr sz="1750" spc="-15" dirty="0">
                <a:latin typeface="Calibri" panose="020F0502020204030204"/>
                <a:cs typeface="Calibri" panose="020F0502020204030204"/>
              </a:rPr>
              <a:t> </a:t>
            </a:r>
            <a:r>
              <a:rPr sz="1750" dirty="0">
                <a:latin typeface="Calibri" panose="020F0502020204030204"/>
                <a:cs typeface="Calibri" panose="020F0502020204030204"/>
              </a:rPr>
              <a:t>x</a:t>
            </a:r>
            <a:r>
              <a:rPr sz="1750" spc="-15" dirty="0">
                <a:latin typeface="Calibri" panose="020F0502020204030204"/>
                <a:cs typeface="Calibri" panose="020F0502020204030204"/>
              </a:rPr>
              <a:t> </a:t>
            </a:r>
            <a:r>
              <a:rPr sz="1750" dirty="0">
                <a:latin typeface="Calibri" panose="020F0502020204030204"/>
                <a:cs typeface="Calibri" panose="020F0502020204030204"/>
              </a:rPr>
              <a:t>%</a:t>
            </a:r>
            <a:r>
              <a:rPr sz="1750" spc="-20" dirty="0">
                <a:latin typeface="Calibri" panose="020F0502020204030204"/>
                <a:cs typeface="Calibri" panose="020F0502020204030204"/>
              </a:rPr>
              <a:t> </a:t>
            </a:r>
            <a:r>
              <a:rPr sz="1750" dirty="0">
                <a:latin typeface="Calibri" panose="020F0502020204030204"/>
                <a:cs typeface="Calibri" panose="020F0502020204030204"/>
              </a:rPr>
              <a:t>2</a:t>
            </a:r>
            <a:r>
              <a:rPr sz="1750" spc="-15" dirty="0">
                <a:latin typeface="Calibri" panose="020F0502020204030204"/>
                <a:cs typeface="Calibri" panose="020F0502020204030204"/>
              </a:rPr>
              <a:t> </a:t>
            </a:r>
            <a:r>
              <a:rPr sz="1750" spc="-5" dirty="0">
                <a:latin typeface="Calibri" panose="020F0502020204030204"/>
                <a:cs typeface="Calibri" panose="020F0502020204030204"/>
              </a:rPr>
              <a:t>==</a:t>
            </a:r>
            <a:r>
              <a:rPr sz="1750" spc="-15" dirty="0">
                <a:latin typeface="Calibri" panose="020F0502020204030204"/>
                <a:cs typeface="Calibri" panose="020F0502020204030204"/>
              </a:rPr>
              <a:t> </a:t>
            </a:r>
            <a:r>
              <a:rPr sz="1750" dirty="0">
                <a:latin typeface="Calibri" panose="020F0502020204030204"/>
                <a:cs typeface="Calibri" panose="020F0502020204030204"/>
              </a:rPr>
              <a:t>1 </a:t>
            </a:r>
            <a:r>
              <a:rPr sz="1750" spc="-380" dirty="0">
                <a:latin typeface="Calibri" panose="020F0502020204030204"/>
                <a:cs typeface="Calibri" panose="020F0502020204030204"/>
              </a:rPr>
              <a:t> </a:t>
            </a:r>
            <a:r>
              <a:rPr sz="1750" spc="-5" dirty="0">
                <a:latin typeface="Calibri" panose="020F0502020204030204"/>
                <a:cs typeface="Calibri" panose="020F0502020204030204"/>
              </a:rPr>
              <a:t>filter(isOdd,</a:t>
            </a:r>
            <a:r>
              <a:rPr sz="1750" spc="-10" dirty="0">
                <a:latin typeface="Calibri" panose="020F0502020204030204"/>
                <a:cs typeface="Calibri" panose="020F0502020204030204"/>
              </a:rPr>
              <a:t> </a:t>
            </a:r>
            <a:r>
              <a:rPr sz="1750" spc="-5" dirty="0">
                <a:latin typeface="Calibri" panose="020F0502020204030204"/>
                <a:cs typeface="Calibri" panose="020F0502020204030204"/>
              </a:rPr>
              <a:t>[1,</a:t>
            </a:r>
            <a:r>
              <a:rPr sz="1750" spc="-10" dirty="0">
                <a:latin typeface="Calibri" panose="020F0502020204030204"/>
                <a:cs typeface="Calibri" panose="020F0502020204030204"/>
              </a:rPr>
              <a:t> </a:t>
            </a:r>
            <a:r>
              <a:rPr sz="1750" spc="-5" dirty="0">
                <a:latin typeface="Calibri" panose="020F0502020204030204"/>
                <a:cs typeface="Calibri" panose="020F0502020204030204"/>
              </a:rPr>
              <a:t>2,</a:t>
            </a:r>
            <a:r>
              <a:rPr sz="1750" spc="-10" dirty="0">
                <a:latin typeface="Calibri" panose="020F0502020204030204"/>
                <a:cs typeface="Calibri" panose="020F0502020204030204"/>
              </a:rPr>
              <a:t> </a:t>
            </a:r>
            <a:r>
              <a:rPr sz="1750" spc="-5" dirty="0">
                <a:latin typeface="Calibri" panose="020F0502020204030204"/>
                <a:cs typeface="Calibri" panose="020F0502020204030204"/>
              </a:rPr>
              <a:t>3,</a:t>
            </a:r>
            <a:r>
              <a:rPr sz="1750" spc="-10" dirty="0">
                <a:latin typeface="Calibri" panose="020F0502020204030204"/>
                <a:cs typeface="Calibri" panose="020F0502020204030204"/>
              </a:rPr>
              <a:t> </a:t>
            </a:r>
            <a:r>
              <a:rPr sz="1750" spc="-5" dirty="0">
                <a:latin typeface="Calibri" panose="020F0502020204030204"/>
                <a:cs typeface="Calibri" panose="020F0502020204030204"/>
              </a:rPr>
              <a:t>4])</a:t>
            </a:r>
            <a:endParaRPr sz="1750">
              <a:latin typeface="Calibri" panose="020F0502020204030204"/>
              <a:cs typeface="Calibri" panose="020F0502020204030204"/>
            </a:endParaRPr>
          </a:p>
          <a:p>
            <a:pPr marL="12700">
              <a:lnSpc>
                <a:spcPct val="100000"/>
              </a:lnSpc>
              <a:spcBef>
                <a:spcPts val="1050"/>
              </a:spcBef>
            </a:pPr>
            <a:r>
              <a:rPr sz="1750" dirty="0">
                <a:latin typeface="Calibri" panose="020F0502020204030204"/>
                <a:cs typeface="Calibri" panose="020F0502020204030204"/>
              </a:rPr>
              <a:t>#</a:t>
            </a:r>
            <a:r>
              <a:rPr sz="1750" spc="-20" dirty="0">
                <a:latin typeface="Calibri" panose="020F0502020204030204"/>
                <a:cs typeface="Calibri" panose="020F0502020204030204"/>
              </a:rPr>
              <a:t> </a:t>
            </a:r>
            <a:r>
              <a:rPr sz="1750" spc="-5" dirty="0">
                <a:latin typeface="Calibri" panose="020F0502020204030204"/>
                <a:cs typeface="Calibri" panose="020F0502020204030204"/>
              </a:rPr>
              <a:t>output</a:t>
            </a:r>
            <a:r>
              <a:rPr sz="1750" spc="-20" dirty="0">
                <a:latin typeface="Calibri" panose="020F0502020204030204"/>
                <a:cs typeface="Calibri" panose="020F0502020204030204"/>
              </a:rPr>
              <a:t> </a:t>
            </a:r>
            <a:r>
              <a:rPr sz="1750" spc="-5" dirty="0">
                <a:latin typeface="Calibri" panose="020F0502020204030204"/>
                <a:cs typeface="Calibri" panose="020F0502020204030204"/>
              </a:rPr>
              <a:t>---&gt;</a:t>
            </a:r>
            <a:r>
              <a:rPr sz="1750" spc="365" dirty="0">
                <a:latin typeface="Calibri" panose="020F0502020204030204"/>
                <a:cs typeface="Calibri" panose="020F0502020204030204"/>
              </a:rPr>
              <a:t> </a:t>
            </a:r>
            <a:r>
              <a:rPr sz="1750" spc="-5" dirty="0">
                <a:latin typeface="Calibri" panose="020F0502020204030204"/>
                <a:cs typeface="Calibri" panose="020F0502020204030204"/>
              </a:rPr>
              <a:t>[1,</a:t>
            </a:r>
            <a:r>
              <a:rPr sz="1750" spc="-15" dirty="0">
                <a:latin typeface="Calibri" panose="020F0502020204030204"/>
                <a:cs typeface="Calibri" panose="020F0502020204030204"/>
              </a:rPr>
              <a:t> </a:t>
            </a:r>
            <a:r>
              <a:rPr sz="1750" spc="-5" dirty="0">
                <a:latin typeface="Calibri" panose="020F0502020204030204"/>
                <a:cs typeface="Calibri" panose="020F0502020204030204"/>
              </a:rPr>
              <a:t>3]</a:t>
            </a:r>
            <a:endParaRPr sz="1750">
              <a:latin typeface="Calibri" panose="020F0502020204030204"/>
              <a:cs typeface="Calibri" panose="020F0502020204030204"/>
            </a:endParaRPr>
          </a:p>
        </p:txBody>
      </p:sp>
      <p:sp>
        <p:nvSpPr>
          <p:cNvPr id="7" name="Slide Number Placeholder 6"/>
          <p:cNvSpPr>
            <a:spLocks noGrp="1"/>
          </p:cNvSpPr>
          <p:nvPr>
            <p:ph type="sldNum" sz="quarter" idx="7"/>
          </p:nvPr>
        </p:nvSpPr>
        <p:spPr/>
        <p:txBody>
          <a:bodyPr/>
          <a:lstStyle/>
          <a:p>
            <a:fld id="{B6F15528-21DE-4FAA-801E-634DDDAF4B2B}" type="slidenum">
              <a:rPr/>
              <a:t>28</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19698"/>
            <a:ext cx="1996439"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filter()</a:t>
            </a:r>
            <a:r>
              <a:rPr spc="-8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Function</a:t>
            </a: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3"/>
            <a:ext cx="12105640" cy="5979795"/>
          </a:xfrm>
          <a:custGeom>
            <a:avLst/>
            <a:gdLst/>
            <a:ahLst/>
            <a:cxnLst/>
            <a:rect l="l" t="t" r="r" b="b"/>
            <a:pathLst>
              <a:path w="12105640" h="5979795">
                <a:moveTo>
                  <a:pt x="0" y="0"/>
                </a:moveTo>
                <a:lnTo>
                  <a:pt x="12105503" y="0"/>
                </a:lnTo>
                <a:lnTo>
                  <a:pt x="12105503" y="5979174"/>
                </a:lnTo>
                <a:lnTo>
                  <a:pt x="0" y="5979174"/>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94136" y="460059"/>
            <a:ext cx="4139565" cy="2825750"/>
          </a:xfrm>
          <a:prstGeom prst="rect">
            <a:avLst/>
          </a:prstGeom>
        </p:spPr>
        <p:txBody>
          <a:bodyPr vert="horz" wrap="square" lIns="0" tIns="146050" rIns="0" bIns="0" rtlCol="0">
            <a:spAutoFit/>
          </a:bodyPr>
          <a:lstStyle/>
          <a:p>
            <a:pPr marL="12700">
              <a:lnSpc>
                <a:spcPct val="100000"/>
              </a:lnSpc>
              <a:spcBef>
                <a:spcPts val="1150"/>
              </a:spcBef>
            </a:pPr>
            <a:r>
              <a:rPr sz="1750" spc="-5" dirty="0">
                <a:latin typeface="Calibri" panose="020F0502020204030204"/>
                <a:cs typeface="Calibri" panose="020F0502020204030204"/>
              </a:rPr>
              <a:t>Example:</a:t>
            </a:r>
            <a:endParaRPr sz="1750">
              <a:latin typeface="Calibri" panose="020F0502020204030204"/>
              <a:cs typeface="Calibri" panose="020F0502020204030204"/>
            </a:endParaRPr>
          </a:p>
          <a:p>
            <a:pPr marL="12700">
              <a:lnSpc>
                <a:spcPct val="100000"/>
              </a:lnSpc>
              <a:spcBef>
                <a:spcPts val="1050"/>
              </a:spcBef>
            </a:pPr>
            <a:r>
              <a:rPr sz="1750" dirty="0">
                <a:latin typeface="Calibri" panose="020F0502020204030204"/>
                <a:cs typeface="Calibri" panose="020F0502020204030204"/>
              </a:rPr>
              <a:t>#</a:t>
            </a:r>
            <a:r>
              <a:rPr sz="1750" spc="-35" dirty="0">
                <a:latin typeface="Calibri" panose="020F0502020204030204"/>
                <a:cs typeface="Calibri" panose="020F0502020204030204"/>
              </a:rPr>
              <a:t> </a:t>
            </a:r>
            <a:r>
              <a:rPr sz="1750" spc="-5" dirty="0">
                <a:latin typeface="Calibri" panose="020F0502020204030204"/>
                <a:cs typeface="Calibri" panose="020F0502020204030204"/>
              </a:rPr>
              <a:t>Python</a:t>
            </a:r>
            <a:r>
              <a:rPr sz="1750" spc="-30" dirty="0">
                <a:latin typeface="Calibri" panose="020F0502020204030204"/>
                <a:cs typeface="Calibri" panose="020F0502020204030204"/>
              </a:rPr>
              <a:t> </a:t>
            </a:r>
            <a:r>
              <a:rPr sz="1750" dirty="0">
                <a:latin typeface="Calibri" panose="020F0502020204030204"/>
                <a:cs typeface="Calibri" panose="020F0502020204030204"/>
              </a:rPr>
              <a:t>3</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scores</a:t>
            </a:r>
            <a:r>
              <a:rPr sz="1750" spc="-10" dirty="0">
                <a:latin typeface="Calibri" panose="020F0502020204030204"/>
                <a:cs typeface="Calibri" panose="020F0502020204030204"/>
              </a:rPr>
              <a:t> </a:t>
            </a:r>
            <a:r>
              <a:rPr sz="1750" dirty="0">
                <a:latin typeface="Calibri" panose="020F0502020204030204"/>
                <a:cs typeface="Calibri" panose="020F0502020204030204"/>
              </a:rPr>
              <a:t>=</a:t>
            </a:r>
            <a:r>
              <a:rPr sz="1750" spc="-10" dirty="0">
                <a:latin typeface="Calibri" panose="020F0502020204030204"/>
                <a:cs typeface="Calibri" panose="020F0502020204030204"/>
              </a:rPr>
              <a:t> </a:t>
            </a:r>
            <a:r>
              <a:rPr sz="1750" spc="-5" dirty="0">
                <a:latin typeface="Calibri" panose="020F0502020204030204"/>
                <a:cs typeface="Calibri" panose="020F0502020204030204"/>
              </a:rPr>
              <a:t>[66,</a:t>
            </a:r>
            <a:r>
              <a:rPr sz="1750" spc="-10" dirty="0">
                <a:latin typeface="Calibri" panose="020F0502020204030204"/>
                <a:cs typeface="Calibri" panose="020F0502020204030204"/>
              </a:rPr>
              <a:t> </a:t>
            </a:r>
            <a:r>
              <a:rPr sz="1750" spc="-5" dirty="0">
                <a:latin typeface="Calibri" panose="020F0502020204030204"/>
                <a:cs typeface="Calibri" panose="020F0502020204030204"/>
              </a:rPr>
              <a:t>90,</a:t>
            </a:r>
            <a:r>
              <a:rPr sz="1750" spc="-10" dirty="0">
                <a:latin typeface="Calibri" panose="020F0502020204030204"/>
                <a:cs typeface="Calibri" panose="020F0502020204030204"/>
              </a:rPr>
              <a:t> </a:t>
            </a:r>
            <a:r>
              <a:rPr sz="1750" spc="-5" dirty="0">
                <a:latin typeface="Calibri" panose="020F0502020204030204"/>
                <a:cs typeface="Calibri" panose="020F0502020204030204"/>
              </a:rPr>
              <a:t>68,</a:t>
            </a:r>
            <a:r>
              <a:rPr sz="1750" spc="-10" dirty="0">
                <a:latin typeface="Calibri" panose="020F0502020204030204"/>
                <a:cs typeface="Calibri" panose="020F0502020204030204"/>
              </a:rPr>
              <a:t> </a:t>
            </a:r>
            <a:r>
              <a:rPr sz="1750" spc="-5" dirty="0">
                <a:latin typeface="Calibri" panose="020F0502020204030204"/>
                <a:cs typeface="Calibri" panose="020F0502020204030204"/>
              </a:rPr>
              <a:t>59,</a:t>
            </a:r>
            <a:r>
              <a:rPr sz="1750" spc="-10" dirty="0">
                <a:latin typeface="Calibri" panose="020F0502020204030204"/>
                <a:cs typeface="Calibri" panose="020F0502020204030204"/>
              </a:rPr>
              <a:t> </a:t>
            </a:r>
            <a:r>
              <a:rPr sz="1750" spc="-5" dirty="0">
                <a:latin typeface="Calibri" panose="020F0502020204030204"/>
                <a:cs typeface="Calibri" panose="020F0502020204030204"/>
              </a:rPr>
              <a:t>76,</a:t>
            </a:r>
            <a:r>
              <a:rPr sz="1750" spc="-10" dirty="0">
                <a:latin typeface="Calibri" panose="020F0502020204030204"/>
                <a:cs typeface="Calibri" panose="020F0502020204030204"/>
              </a:rPr>
              <a:t> </a:t>
            </a:r>
            <a:r>
              <a:rPr sz="1750" spc="-5" dirty="0">
                <a:latin typeface="Calibri" panose="020F0502020204030204"/>
                <a:cs typeface="Calibri" panose="020F0502020204030204"/>
              </a:rPr>
              <a:t>60, 88,</a:t>
            </a:r>
            <a:r>
              <a:rPr sz="1750" spc="-10" dirty="0">
                <a:latin typeface="Calibri" panose="020F0502020204030204"/>
                <a:cs typeface="Calibri" panose="020F0502020204030204"/>
              </a:rPr>
              <a:t> </a:t>
            </a:r>
            <a:r>
              <a:rPr sz="1750" spc="-5" dirty="0">
                <a:latin typeface="Calibri" panose="020F0502020204030204"/>
                <a:cs typeface="Calibri" panose="020F0502020204030204"/>
              </a:rPr>
              <a:t>74,</a:t>
            </a:r>
            <a:r>
              <a:rPr sz="1750" spc="-10" dirty="0">
                <a:latin typeface="Calibri" panose="020F0502020204030204"/>
                <a:cs typeface="Calibri" panose="020F0502020204030204"/>
              </a:rPr>
              <a:t> </a:t>
            </a:r>
            <a:r>
              <a:rPr sz="1750" spc="-5" dirty="0">
                <a:latin typeface="Calibri" panose="020F0502020204030204"/>
                <a:cs typeface="Calibri" panose="020F0502020204030204"/>
              </a:rPr>
              <a:t>81,</a:t>
            </a:r>
            <a:r>
              <a:rPr sz="1750" spc="-10" dirty="0">
                <a:latin typeface="Calibri" panose="020F0502020204030204"/>
                <a:cs typeface="Calibri" panose="020F0502020204030204"/>
              </a:rPr>
              <a:t> </a:t>
            </a:r>
            <a:r>
              <a:rPr sz="1750" spc="-5" dirty="0">
                <a:latin typeface="Calibri" panose="020F0502020204030204"/>
                <a:cs typeface="Calibri" panose="020F0502020204030204"/>
              </a:rPr>
              <a:t>65]</a:t>
            </a:r>
            <a:endParaRPr sz="1750">
              <a:latin typeface="Calibri" panose="020F0502020204030204"/>
              <a:cs typeface="Calibri" panose="020F0502020204030204"/>
            </a:endParaRPr>
          </a:p>
          <a:p>
            <a:pPr marL="213360" marR="1910715" indent="-201295">
              <a:lnSpc>
                <a:spcPct val="150000"/>
              </a:lnSpc>
            </a:pPr>
            <a:r>
              <a:rPr sz="1750" spc="-5" dirty="0">
                <a:latin typeface="Calibri" panose="020F0502020204030204"/>
                <a:cs typeface="Calibri" panose="020F0502020204030204"/>
              </a:rPr>
              <a:t>def is_A_student(score): </a:t>
            </a:r>
            <a:r>
              <a:rPr sz="1750" spc="-385" dirty="0">
                <a:latin typeface="Calibri" panose="020F0502020204030204"/>
                <a:cs typeface="Calibri" panose="020F0502020204030204"/>
              </a:rPr>
              <a:t> </a:t>
            </a:r>
            <a:r>
              <a:rPr sz="1750" spc="-5" dirty="0">
                <a:latin typeface="Calibri" panose="020F0502020204030204"/>
                <a:cs typeface="Calibri" panose="020F0502020204030204"/>
              </a:rPr>
              <a:t>return</a:t>
            </a:r>
            <a:r>
              <a:rPr sz="1750" spc="-15" dirty="0">
                <a:latin typeface="Calibri" panose="020F0502020204030204"/>
                <a:cs typeface="Calibri" panose="020F0502020204030204"/>
              </a:rPr>
              <a:t> </a:t>
            </a:r>
            <a:r>
              <a:rPr sz="1750" spc="-5" dirty="0">
                <a:latin typeface="Calibri" panose="020F0502020204030204"/>
                <a:cs typeface="Calibri" panose="020F0502020204030204"/>
              </a:rPr>
              <a:t>score</a:t>
            </a:r>
            <a:r>
              <a:rPr sz="1750" spc="-10" dirty="0">
                <a:latin typeface="Calibri" panose="020F0502020204030204"/>
                <a:cs typeface="Calibri" panose="020F0502020204030204"/>
              </a:rPr>
              <a:t> </a:t>
            </a:r>
            <a:r>
              <a:rPr sz="1750" dirty="0">
                <a:latin typeface="Calibri" panose="020F0502020204030204"/>
                <a:cs typeface="Calibri" panose="020F0502020204030204"/>
              </a:rPr>
              <a:t>&gt;</a:t>
            </a:r>
            <a:r>
              <a:rPr sz="1750" spc="-15" dirty="0">
                <a:latin typeface="Calibri" panose="020F0502020204030204"/>
                <a:cs typeface="Calibri" panose="020F0502020204030204"/>
              </a:rPr>
              <a:t> </a:t>
            </a:r>
            <a:r>
              <a:rPr sz="1750" spc="-5" dirty="0">
                <a:latin typeface="Calibri" panose="020F0502020204030204"/>
                <a:cs typeface="Calibri" panose="020F0502020204030204"/>
              </a:rPr>
              <a:t>75</a:t>
            </a:r>
            <a:endParaRPr sz="1750">
              <a:latin typeface="Calibri" panose="020F0502020204030204"/>
              <a:cs typeface="Calibri" panose="020F0502020204030204"/>
            </a:endParaRPr>
          </a:p>
          <a:p>
            <a:pPr marL="12700" marR="343535">
              <a:lnSpc>
                <a:spcPct val="150000"/>
              </a:lnSpc>
            </a:pPr>
            <a:r>
              <a:rPr sz="1750" spc="-5" dirty="0">
                <a:latin typeface="Calibri" panose="020F0502020204030204"/>
                <a:cs typeface="Calibri" panose="020F0502020204030204"/>
              </a:rPr>
              <a:t>over_75 </a:t>
            </a:r>
            <a:r>
              <a:rPr sz="1750" dirty="0">
                <a:latin typeface="Calibri" panose="020F0502020204030204"/>
                <a:cs typeface="Calibri" panose="020F0502020204030204"/>
              </a:rPr>
              <a:t>= </a:t>
            </a:r>
            <a:r>
              <a:rPr sz="1750" spc="-5" dirty="0">
                <a:latin typeface="Calibri" panose="020F0502020204030204"/>
                <a:cs typeface="Calibri" panose="020F0502020204030204"/>
              </a:rPr>
              <a:t>list(filter(is_A_student, scores)) </a:t>
            </a:r>
            <a:r>
              <a:rPr sz="1750" spc="-385" dirty="0">
                <a:latin typeface="Calibri" panose="020F0502020204030204"/>
                <a:cs typeface="Calibri" panose="020F0502020204030204"/>
              </a:rPr>
              <a:t> </a:t>
            </a:r>
            <a:r>
              <a:rPr sz="1750" spc="-5" dirty="0">
                <a:latin typeface="Calibri" panose="020F0502020204030204"/>
                <a:cs typeface="Calibri" panose="020F0502020204030204"/>
              </a:rPr>
              <a:t>print(over_75)</a:t>
            </a:r>
            <a:endParaRPr sz="1750">
              <a:latin typeface="Calibri" panose="020F0502020204030204"/>
              <a:cs typeface="Calibri" panose="020F0502020204030204"/>
            </a:endParaRPr>
          </a:p>
        </p:txBody>
      </p:sp>
      <p:grpSp>
        <p:nvGrpSpPr>
          <p:cNvPr id="7" name="object 7"/>
          <p:cNvGrpSpPr/>
          <p:nvPr/>
        </p:nvGrpSpPr>
        <p:grpSpPr>
          <a:xfrm>
            <a:off x="106836" y="615000"/>
            <a:ext cx="11793855" cy="5860415"/>
            <a:chOff x="106836" y="615000"/>
            <a:chExt cx="11793855" cy="5860415"/>
          </a:xfrm>
        </p:grpSpPr>
        <p:pic>
          <p:nvPicPr>
            <p:cNvPr id="8" name="object 8"/>
            <p:cNvPicPr/>
            <p:nvPr/>
          </p:nvPicPr>
          <p:blipFill>
            <a:blip r:embed="rId3" cstate="print"/>
            <a:stretch>
              <a:fillRect/>
            </a:stretch>
          </p:blipFill>
          <p:spPr>
            <a:xfrm>
              <a:off x="6263248" y="615000"/>
              <a:ext cx="5637400" cy="2044635"/>
            </a:xfrm>
            <a:prstGeom prst="rect">
              <a:avLst/>
            </a:prstGeom>
          </p:spPr>
        </p:pic>
        <p:pic>
          <p:nvPicPr>
            <p:cNvPr id="9" name="object 9"/>
            <p:cNvPicPr/>
            <p:nvPr/>
          </p:nvPicPr>
          <p:blipFill>
            <a:blip r:embed="rId4" cstate="print"/>
            <a:stretch>
              <a:fillRect/>
            </a:stretch>
          </p:blipFill>
          <p:spPr>
            <a:xfrm>
              <a:off x="106836" y="3442695"/>
              <a:ext cx="3806257" cy="3002117"/>
            </a:xfrm>
            <a:prstGeom prst="rect">
              <a:avLst/>
            </a:prstGeom>
          </p:spPr>
        </p:pic>
        <p:pic>
          <p:nvPicPr>
            <p:cNvPr id="10" name="object 10"/>
            <p:cNvPicPr/>
            <p:nvPr/>
          </p:nvPicPr>
          <p:blipFill>
            <a:blip r:embed="rId5" cstate="print"/>
            <a:stretch>
              <a:fillRect/>
            </a:stretch>
          </p:blipFill>
          <p:spPr>
            <a:xfrm>
              <a:off x="6096000" y="2907968"/>
              <a:ext cx="4571552" cy="3567443"/>
            </a:xfrm>
            <a:prstGeom prst="rect">
              <a:avLst/>
            </a:prstGeom>
          </p:spPr>
        </p:pic>
      </p:grpSp>
      <p:sp>
        <p:nvSpPr>
          <p:cNvPr id="11" name="Slide Number Placeholder 10"/>
          <p:cNvSpPr>
            <a:spLocks noGrp="1"/>
          </p:cNvSpPr>
          <p:nvPr>
            <p:ph type="sldNum" sz="quarter" idx="7"/>
          </p:nvPr>
        </p:nvSpPr>
        <p:spPr/>
        <p:txBody>
          <a:bodyPr/>
          <a:lstStyle/>
          <a:p>
            <a:fld id="{B6F15528-21DE-4FAA-801E-634DDDAF4B2B}" type="slidenum">
              <a:rPr/>
              <a:t>29</a:t>
            </a:fld>
            <a:endParaRPr/>
          </a:p>
        </p:txBody>
      </p:sp>
      <p:sp>
        <p:nvSpPr>
          <p:cNvPr id="12" name="Footer Placeholder 11"/>
          <p:cNvSpPr>
            <a:spLocks noGrp="1"/>
          </p:cNvSpPr>
          <p:nvPr>
            <p:ph type="ftr" sz="quarter" idx="5"/>
          </p:nvPr>
        </p:nvSpPr>
        <p:spPr/>
        <p:txBody>
          <a:bodyPr/>
          <a:lstStyle/>
          <a:p>
            <a:r>
              <a:t>UNIT IV : Pythonic Programming Paradigm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19698"/>
            <a:ext cx="2252345"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reduce()</a:t>
            </a:r>
            <a:r>
              <a:rPr spc="-8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Function</a:t>
            </a: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6"/>
            <a:ext cx="12105640" cy="5979795"/>
          </a:xfrm>
          <a:custGeom>
            <a:avLst/>
            <a:gdLst/>
            <a:ahLst/>
            <a:cxnLst/>
            <a:rect l="l" t="t" r="r" b="b"/>
            <a:pathLst>
              <a:path w="12105640" h="5979795">
                <a:moveTo>
                  <a:pt x="0" y="0"/>
                </a:moveTo>
                <a:lnTo>
                  <a:pt x="12105503" y="0"/>
                </a:lnTo>
                <a:lnTo>
                  <a:pt x="12105503" y="5979175"/>
                </a:lnTo>
                <a:lnTo>
                  <a:pt x="0" y="5979175"/>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127469" y="460063"/>
            <a:ext cx="11969750" cy="2425700"/>
          </a:xfrm>
          <a:prstGeom prst="rect">
            <a:avLst/>
          </a:prstGeom>
        </p:spPr>
        <p:txBody>
          <a:bodyPr vert="horz" wrap="square" lIns="0" tIns="12700" rIns="0" bIns="0" rtlCol="0">
            <a:spAutoFit/>
          </a:bodyPr>
          <a:lstStyle/>
          <a:p>
            <a:pPr marL="264795" marR="7620" indent="-252730">
              <a:lnSpc>
                <a:spcPct val="150000"/>
              </a:lnSpc>
              <a:spcBef>
                <a:spcPts val="100"/>
              </a:spcBef>
              <a:buFont typeface="Arial MT"/>
              <a:buChar char="•"/>
              <a:tabLst>
                <a:tab pos="264795" algn="l"/>
                <a:tab pos="265430" algn="l"/>
              </a:tabLst>
            </a:pPr>
            <a:r>
              <a:rPr sz="1750" spc="-5" dirty="0">
                <a:latin typeface="Calibri" panose="020F0502020204030204"/>
                <a:cs typeface="Calibri" panose="020F0502020204030204"/>
              </a:rPr>
              <a:t>reduce,</a:t>
            </a:r>
            <a:r>
              <a:rPr sz="1750" spc="60" dirty="0">
                <a:latin typeface="Calibri" panose="020F0502020204030204"/>
                <a:cs typeface="Calibri" panose="020F0502020204030204"/>
              </a:rPr>
              <a:t> </a:t>
            </a:r>
            <a:r>
              <a:rPr sz="1750" spc="-5" dirty="0">
                <a:latin typeface="Calibri" panose="020F0502020204030204"/>
                <a:cs typeface="Calibri" panose="020F0502020204030204"/>
              </a:rPr>
              <a:t>combines</a:t>
            </a:r>
            <a:r>
              <a:rPr sz="1750" spc="65" dirty="0">
                <a:latin typeface="Calibri" panose="020F0502020204030204"/>
                <a:cs typeface="Calibri" panose="020F0502020204030204"/>
              </a:rPr>
              <a:t> </a:t>
            </a:r>
            <a:r>
              <a:rPr sz="1750" spc="-5" dirty="0">
                <a:latin typeface="Calibri" panose="020F0502020204030204"/>
                <a:cs typeface="Calibri" panose="020F0502020204030204"/>
              </a:rPr>
              <a:t>the</a:t>
            </a:r>
            <a:r>
              <a:rPr sz="1750" spc="65" dirty="0">
                <a:latin typeface="Calibri" panose="020F0502020204030204"/>
                <a:cs typeface="Calibri" panose="020F0502020204030204"/>
              </a:rPr>
              <a:t> </a:t>
            </a:r>
            <a:r>
              <a:rPr sz="1750" spc="-5" dirty="0">
                <a:latin typeface="Calibri" panose="020F0502020204030204"/>
                <a:cs typeface="Calibri" panose="020F0502020204030204"/>
              </a:rPr>
              <a:t>elements</a:t>
            </a:r>
            <a:r>
              <a:rPr sz="1750" spc="65" dirty="0">
                <a:latin typeface="Calibri" panose="020F0502020204030204"/>
                <a:cs typeface="Calibri" panose="020F0502020204030204"/>
              </a:rPr>
              <a:t> </a:t>
            </a:r>
            <a:r>
              <a:rPr sz="1750" spc="-5" dirty="0">
                <a:latin typeface="Calibri" panose="020F0502020204030204"/>
                <a:cs typeface="Calibri" panose="020F0502020204030204"/>
              </a:rPr>
              <a:t>of</a:t>
            </a:r>
            <a:r>
              <a:rPr sz="1750" spc="70" dirty="0">
                <a:latin typeface="Calibri" panose="020F0502020204030204"/>
                <a:cs typeface="Calibri" panose="020F0502020204030204"/>
              </a:rPr>
              <a:t> </a:t>
            </a:r>
            <a:r>
              <a:rPr sz="1750" spc="-5" dirty="0">
                <a:latin typeface="Calibri" panose="020F0502020204030204"/>
                <a:cs typeface="Calibri" panose="020F0502020204030204"/>
              </a:rPr>
              <a:t>the</a:t>
            </a:r>
            <a:r>
              <a:rPr sz="1750" spc="65" dirty="0">
                <a:latin typeface="Calibri" panose="020F0502020204030204"/>
                <a:cs typeface="Calibri" panose="020F0502020204030204"/>
              </a:rPr>
              <a:t> </a:t>
            </a:r>
            <a:r>
              <a:rPr sz="1750" spc="-5" dirty="0">
                <a:latin typeface="Calibri" panose="020F0502020204030204"/>
                <a:cs typeface="Calibri" panose="020F0502020204030204"/>
              </a:rPr>
              <a:t>sequence</a:t>
            </a:r>
            <a:r>
              <a:rPr sz="1750" spc="70" dirty="0">
                <a:latin typeface="Calibri" panose="020F0502020204030204"/>
                <a:cs typeface="Calibri" panose="020F0502020204030204"/>
              </a:rPr>
              <a:t> </a:t>
            </a:r>
            <a:r>
              <a:rPr sz="1750" spc="-5" dirty="0">
                <a:latin typeface="Calibri" panose="020F0502020204030204"/>
                <a:cs typeface="Calibri" panose="020F0502020204030204"/>
              </a:rPr>
              <a:t>together,</a:t>
            </a:r>
            <a:r>
              <a:rPr sz="1750" spc="65" dirty="0">
                <a:latin typeface="Calibri" panose="020F0502020204030204"/>
                <a:cs typeface="Calibri" panose="020F0502020204030204"/>
              </a:rPr>
              <a:t> </a:t>
            </a:r>
            <a:r>
              <a:rPr sz="1750" spc="-5" dirty="0">
                <a:latin typeface="Calibri" panose="020F0502020204030204"/>
                <a:cs typeface="Calibri" panose="020F0502020204030204"/>
              </a:rPr>
              <a:t>using</a:t>
            </a:r>
            <a:r>
              <a:rPr sz="1750" spc="70" dirty="0">
                <a:latin typeface="Calibri" panose="020F0502020204030204"/>
                <a:cs typeface="Calibri" panose="020F0502020204030204"/>
              </a:rPr>
              <a:t> </a:t>
            </a:r>
            <a:r>
              <a:rPr sz="1750" dirty="0">
                <a:latin typeface="Calibri" panose="020F0502020204030204"/>
                <a:cs typeface="Calibri" panose="020F0502020204030204"/>
              </a:rPr>
              <a:t>a</a:t>
            </a:r>
            <a:r>
              <a:rPr sz="1750" spc="70" dirty="0">
                <a:latin typeface="Calibri" panose="020F0502020204030204"/>
                <a:cs typeface="Calibri" panose="020F0502020204030204"/>
              </a:rPr>
              <a:t> </a:t>
            </a:r>
            <a:r>
              <a:rPr sz="1750" spc="-5" dirty="0">
                <a:latin typeface="Calibri" panose="020F0502020204030204"/>
                <a:cs typeface="Calibri" panose="020F0502020204030204"/>
              </a:rPr>
              <a:t>binary</a:t>
            </a:r>
            <a:r>
              <a:rPr sz="1750" spc="65"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70" dirty="0">
                <a:latin typeface="Calibri" panose="020F0502020204030204"/>
                <a:cs typeface="Calibri" panose="020F0502020204030204"/>
              </a:rPr>
              <a:t> </a:t>
            </a:r>
            <a:r>
              <a:rPr sz="1750" spc="-5" dirty="0">
                <a:latin typeface="Calibri" panose="020F0502020204030204"/>
                <a:cs typeface="Calibri" panose="020F0502020204030204"/>
              </a:rPr>
              <a:t>In</a:t>
            </a:r>
            <a:r>
              <a:rPr sz="1750" spc="65" dirty="0">
                <a:latin typeface="Calibri" panose="020F0502020204030204"/>
                <a:cs typeface="Calibri" panose="020F0502020204030204"/>
              </a:rPr>
              <a:t> </a:t>
            </a:r>
            <a:r>
              <a:rPr sz="1750" dirty="0">
                <a:latin typeface="Calibri" panose="020F0502020204030204"/>
                <a:cs typeface="Calibri" panose="020F0502020204030204"/>
              </a:rPr>
              <a:t>addition</a:t>
            </a:r>
            <a:r>
              <a:rPr sz="1750" spc="70" dirty="0">
                <a:latin typeface="Calibri" panose="020F0502020204030204"/>
                <a:cs typeface="Calibri" panose="020F0502020204030204"/>
              </a:rPr>
              <a:t> </a:t>
            </a:r>
            <a:r>
              <a:rPr sz="1750" spc="-5" dirty="0">
                <a:latin typeface="Calibri" panose="020F0502020204030204"/>
                <a:cs typeface="Calibri" panose="020F0502020204030204"/>
              </a:rPr>
              <a:t>to</a:t>
            </a:r>
            <a:r>
              <a:rPr sz="1750" spc="65" dirty="0">
                <a:latin typeface="Calibri" panose="020F0502020204030204"/>
                <a:cs typeface="Calibri" panose="020F0502020204030204"/>
              </a:rPr>
              <a:t> </a:t>
            </a:r>
            <a:r>
              <a:rPr sz="1750" spc="-5" dirty="0">
                <a:latin typeface="Calibri" panose="020F0502020204030204"/>
                <a:cs typeface="Calibri" panose="020F0502020204030204"/>
              </a:rPr>
              <a:t>the</a:t>
            </a:r>
            <a:r>
              <a:rPr sz="1750" spc="65"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70" dirty="0">
                <a:latin typeface="Calibri" panose="020F0502020204030204"/>
                <a:cs typeface="Calibri" panose="020F0502020204030204"/>
              </a:rPr>
              <a:t> </a:t>
            </a:r>
            <a:r>
              <a:rPr sz="1750" dirty="0">
                <a:latin typeface="Calibri" panose="020F0502020204030204"/>
                <a:cs typeface="Calibri" panose="020F0502020204030204"/>
              </a:rPr>
              <a:t>and</a:t>
            </a:r>
            <a:r>
              <a:rPr sz="1750" spc="70" dirty="0">
                <a:latin typeface="Calibri" panose="020F0502020204030204"/>
                <a:cs typeface="Calibri" panose="020F0502020204030204"/>
              </a:rPr>
              <a:t> </a:t>
            </a:r>
            <a:r>
              <a:rPr sz="1750" spc="-5" dirty="0">
                <a:latin typeface="Calibri" panose="020F0502020204030204"/>
                <a:cs typeface="Calibri" panose="020F0502020204030204"/>
              </a:rPr>
              <a:t>the</a:t>
            </a:r>
            <a:r>
              <a:rPr sz="1750" spc="65" dirty="0">
                <a:latin typeface="Calibri" panose="020F0502020204030204"/>
                <a:cs typeface="Calibri" panose="020F0502020204030204"/>
              </a:rPr>
              <a:t> </a:t>
            </a:r>
            <a:r>
              <a:rPr sz="1750" spc="-5" dirty="0">
                <a:latin typeface="Calibri" panose="020F0502020204030204"/>
                <a:cs typeface="Calibri" panose="020F0502020204030204"/>
              </a:rPr>
              <a:t>list,</a:t>
            </a:r>
            <a:r>
              <a:rPr sz="1750" spc="65" dirty="0">
                <a:latin typeface="Calibri" panose="020F0502020204030204"/>
                <a:cs typeface="Calibri" panose="020F0502020204030204"/>
              </a:rPr>
              <a:t> </a:t>
            </a:r>
            <a:r>
              <a:rPr sz="1750" spc="-5" dirty="0">
                <a:latin typeface="Calibri" panose="020F0502020204030204"/>
                <a:cs typeface="Calibri" panose="020F0502020204030204"/>
              </a:rPr>
              <a:t>it</a:t>
            </a:r>
            <a:r>
              <a:rPr sz="1750" spc="65" dirty="0">
                <a:latin typeface="Calibri" panose="020F0502020204030204"/>
                <a:cs typeface="Calibri" panose="020F0502020204030204"/>
              </a:rPr>
              <a:t> </a:t>
            </a:r>
            <a:r>
              <a:rPr sz="1750" dirty="0">
                <a:latin typeface="Calibri" panose="020F0502020204030204"/>
                <a:cs typeface="Calibri" panose="020F0502020204030204"/>
              </a:rPr>
              <a:t>also </a:t>
            </a:r>
            <a:r>
              <a:rPr sz="1750" spc="-385" dirty="0">
                <a:latin typeface="Calibri" panose="020F0502020204030204"/>
                <a:cs typeface="Calibri" panose="020F0502020204030204"/>
              </a:rPr>
              <a:t> </a:t>
            </a:r>
            <a:r>
              <a:rPr sz="1750" spc="-5" dirty="0">
                <a:latin typeface="Calibri" panose="020F0502020204030204"/>
                <a:cs typeface="Calibri" panose="020F0502020204030204"/>
              </a:rPr>
              <a:t>takes</a:t>
            </a:r>
            <a:r>
              <a:rPr sz="1750" spc="-10" dirty="0">
                <a:latin typeface="Calibri" panose="020F0502020204030204"/>
                <a:cs typeface="Calibri" panose="020F0502020204030204"/>
              </a:rPr>
              <a:t> </a:t>
            </a:r>
            <a:r>
              <a:rPr sz="1750" dirty="0">
                <a:latin typeface="Calibri" panose="020F0502020204030204"/>
                <a:cs typeface="Calibri" panose="020F0502020204030204"/>
              </a:rPr>
              <a:t>an</a:t>
            </a:r>
            <a:r>
              <a:rPr sz="1750" spc="-5" dirty="0">
                <a:latin typeface="Calibri" panose="020F0502020204030204"/>
                <a:cs typeface="Calibri" panose="020F0502020204030204"/>
              </a:rPr>
              <a:t> initial value that initializes the reduction, </a:t>
            </a:r>
            <a:r>
              <a:rPr sz="1750" dirty="0">
                <a:latin typeface="Calibri" panose="020F0502020204030204"/>
                <a:cs typeface="Calibri" panose="020F0502020204030204"/>
              </a:rPr>
              <a:t>and</a:t>
            </a:r>
            <a:r>
              <a:rPr sz="1750" spc="-5" dirty="0">
                <a:latin typeface="Calibri" panose="020F0502020204030204"/>
                <a:cs typeface="Calibri" panose="020F0502020204030204"/>
              </a:rPr>
              <a:t> that ends up being the return value if the list is empty.</a:t>
            </a:r>
            <a:endParaRPr sz="1750">
              <a:latin typeface="Calibri" panose="020F0502020204030204"/>
              <a:cs typeface="Calibri" panose="020F0502020204030204"/>
            </a:endParaRPr>
          </a:p>
          <a:p>
            <a:pPr marL="264795" marR="6985" indent="-252730">
              <a:lnSpc>
                <a:spcPct val="150000"/>
              </a:lnSpc>
              <a:buFont typeface="Arial MT"/>
              <a:buChar char="•"/>
              <a:tabLst>
                <a:tab pos="264795" algn="l"/>
                <a:tab pos="265430" algn="l"/>
              </a:tabLst>
            </a:pPr>
            <a:r>
              <a:rPr sz="1750" spc="-5" dirty="0">
                <a:latin typeface="Calibri" panose="020F0502020204030204"/>
                <a:cs typeface="Calibri" panose="020F0502020204030204"/>
              </a:rPr>
              <a:t>The</a:t>
            </a:r>
            <a:r>
              <a:rPr sz="1750" spc="40" dirty="0">
                <a:latin typeface="Calibri" panose="020F0502020204030204"/>
                <a:cs typeface="Calibri" panose="020F0502020204030204"/>
              </a:rPr>
              <a:t> </a:t>
            </a:r>
            <a:r>
              <a:rPr sz="1750" spc="-5" dirty="0">
                <a:latin typeface="Calibri" panose="020F0502020204030204"/>
                <a:cs typeface="Calibri" panose="020F0502020204030204"/>
              </a:rPr>
              <a:t>“reduce”</a:t>
            </a:r>
            <a:r>
              <a:rPr sz="1750" spc="45"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50" dirty="0">
                <a:latin typeface="Calibri" panose="020F0502020204030204"/>
                <a:cs typeface="Calibri" panose="020F0502020204030204"/>
              </a:rPr>
              <a:t> </a:t>
            </a:r>
            <a:r>
              <a:rPr sz="1750" spc="-5" dirty="0">
                <a:latin typeface="Calibri" panose="020F0502020204030204"/>
                <a:cs typeface="Calibri" panose="020F0502020204030204"/>
              </a:rPr>
              <a:t>will</a:t>
            </a:r>
            <a:r>
              <a:rPr sz="1750" spc="45" dirty="0">
                <a:latin typeface="Calibri" panose="020F0502020204030204"/>
                <a:cs typeface="Calibri" panose="020F0502020204030204"/>
              </a:rPr>
              <a:t> </a:t>
            </a:r>
            <a:r>
              <a:rPr sz="1750" spc="-5" dirty="0">
                <a:latin typeface="Calibri" panose="020F0502020204030204"/>
                <a:cs typeface="Calibri" panose="020F0502020204030204"/>
              </a:rPr>
              <a:t>transform</a:t>
            </a:r>
            <a:r>
              <a:rPr sz="1750" spc="45" dirty="0">
                <a:latin typeface="Calibri" panose="020F0502020204030204"/>
                <a:cs typeface="Calibri" panose="020F0502020204030204"/>
              </a:rPr>
              <a:t> </a:t>
            </a:r>
            <a:r>
              <a:rPr sz="1750" dirty="0">
                <a:latin typeface="Calibri" panose="020F0502020204030204"/>
                <a:cs typeface="Calibri" panose="020F0502020204030204"/>
              </a:rPr>
              <a:t>a</a:t>
            </a:r>
            <a:r>
              <a:rPr sz="1750" spc="45" dirty="0">
                <a:latin typeface="Calibri" panose="020F0502020204030204"/>
                <a:cs typeface="Calibri" panose="020F0502020204030204"/>
              </a:rPr>
              <a:t> </a:t>
            </a:r>
            <a:r>
              <a:rPr sz="1750" spc="-5" dirty="0">
                <a:latin typeface="Calibri" panose="020F0502020204030204"/>
                <a:cs typeface="Calibri" panose="020F0502020204030204"/>
              </a:rPr>
              <a:t>given</a:t>
            </a:r>
            <a:r>
              <a:rPr sz="1750" spc="45" dirty="0">
                <a:latin typeface="Calibri" panose="020F0502020204030204"/>
                <a:cs typeface="Calibri" panose="020F0502020204030204"/>
              </a:rPr>
              <a:t> </a:t>
            </a:r>
            <a:r>
              <a:rPr sz="1750" spc="-5" dirty="0">
                <a:latin typeface="Calibri" panose="020F0502020204030204"/>
                <a:cs typeface="Calibri" panose="020F0502020204030204"/>
              </a:rPr>
              <a:t>list</a:t>
            </a:r>
            <a:r>
              <a:rPr sz="1750" spc="45" dirty="0">
                <a:latin typeface="Calibri" panose="020F0502020204030204"/>
                <a:cs typeface="Calibri" panose="020F0502020204030204"/>
              </a:rPr>
              <a:t> </a:t>
            </a:r>
            <a:r>
              <a:rPr sz="1750" spc="-5" dirty="0">
                <a:latin typeface="Calibri" panose="020F0502020204030204"/>
                <a:cs typeface="Calibri" panose="020F0502020204030204"/>
              </a:rPr>
              <a:t>into</a:t>
            </a:r>
            <a:r>
              <a:rPr sz="1750" spc="45" dirty="0">
                <a:latin typeface="Calibri" panose="020F0502020204030204"/>
                <a:cs typeface="Calibri" panose="020F0502020204030204"/>
              </a:rPr>
              <a:t> </a:t>
            </a:r>
            <a:r>
              <a:rPr sz="1750" dirty="0">
                <a:latin typeface="Calibri" panose="020F0502020204030204"/>
                <a:cs typeface="Calibri" panose="020F0502020204030204"/>
              </a:rPr>
              <a:t>a</a:t>
            </a:r>
            <a:r>
              <a:rPr sz="1750" spc="50" dirty="0">
                <a:latin typeface="Calibri" panose="020F0502020204030204"/>
                <a:cs typeface="Calibri" panose="020F0502020204030204"/>
              </a:rPr>
              <a:t> </a:t>
            </a:r>
            <a:r>
              <a:rPr sz="1750" spc="-5" dirty="0">
                <a:latin typeface="Calibri" panose="020F0502020204030204"/>
                <a:cs typeface="Calibri" panose="020F0502020204030204"/>
              </a:rPr>
              <a:t>single</a:t>
            </a:r>
            <a:r>
              <a:rPr sz="1750" spc="45" dirty="0">
                <a:latin typeface="Calibri" panose="020F0502020204030204"/>
                <a:cs typeface="Calibri" panose="020F0502020204030204"/>
              </a:rPr>
              <a:t> </a:t>
            </a:r>
            <a:r>
              <a:rPr sz="1750" spc="-5" dirty="0">
                <a:latin typeface="Calibri" panose="020F0502020204030204"/>
                <a:cs typeface="Calibri" panose="020F0502020204030204"/>
              </a:rPr>
              <a:t>value</a:t>
            </a:r>
            <a:r>
              <a:rPr sz="1750" spc="45" dirty="0">
                <a:latin typeface="Calibri" panose="020F0502020204030204"/>
                <a:cs typeface="Calibri" panose="020F0502020204030204"/>
              </a:rPr>
              <a:t> </a:t>
            </a:r>
            <a:r>
              <a:rPr sz="1750" spc="-5" dirty="0">
                <a:latin typeface="Calibri" panose="020F0502020204030204"/>
                <a:cs typeface="Calibri" panose="020F0502020204030204"/>
              </a:rPr>
              <a:t>by</a:t>
            </a:r>
            <a:r>
              <a:rPr sz="1750" spc="45" dirty="0">
                <a:latin typeface="Calibri" panose="020F0502020204030204"/>
                <a:cs typeface="Calibri" panose="020F0502020204030204"/>
              </a:rPr>
              <a:t> </a:t>
            </a:r>
            <a:r>
              <a:rPr sz="1750" dirty="0">
                <a:latin typeface="Calibri" panose="020F0502020204030204"/>
                <a:cs typeface="Calibri" panose="020F0502020204030204"/>
              </a:rPr>
              <a:t>applying</a:t>
            </a:r>
            <a:r>
              <a:rPr sz="1750" spc="50" dirty="0">
                <a:latin typeface="Calibri" panose="020F0502020204030204"/>
                <a:cs typeface="Calibri" panose="020F0502020204030204"/>
              </a:rPr>
              <a:t> </a:t>
            </a:r>
            <a:r>
              <a:rPr sz="1750" dirty="0">
                <a:latin typeface="Calibri" panose="020F0502020204030204"/>
                <a:cs typeface="Calibri" panose="020F0502020204030204"/>
              </a:rPr>
              <a:t>a</a:t>
            </a:r>
            <a:r>
              <a:rPr sz="1750" spc="50" dirty="0">
                <a:latin typeface="Calibri" panose="020F0502020204030204"/>
                <a:cs typeface="Calibri" panose="020F0502020204030204"/>
              </a:rPr>
              <a:t> </a:t>
            </a:r>
            <a:r>
              <a:rPr sz="1750" spc="-5" dirty="0">
                <a:latin typeface="Calibri" panose="020F0502020204030204"/>
                <a:cs typeface="Calibri" panose="020F0502020204030204"/>
              </a:rPr>
              <a:t>given</a:t>
            </a:r>
            <a:r>
              <a:rPr sz="1750" spc="45"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45" dirty="0">
                <a:latin typeface="Calibri" panose="020F0502020204030204"/>
                <a:cs typeface="Calibri" panose="020F0502020204030204"/>
              </a:rPr>
              <a:t> </a:t>
            </a:r>
            <a:r>
              <a:rPr sz="1750" spc="-5" dirty="0">
                <a:latin typeface="Calibri" panose="020F0502020204030204"/>
                <a:cs typeface="Calibri" panose="020F0502020204030204"/>
              </a:rPr>
              <a:t>continuously</a:t>
            </a:r>
            <a:r>
              <a:rPr sz="1750" spc="45" dirty="0">
                <a:latin typeface="Calibri" panose="020F0502020204030204"/>
                <a:cs typeface="Calibri" panose="020F0502020204030204"/>
              </a:rPr>
              <a:t> </a:t>
            </a:r>
            <a:r>
              <a:rPr sz="1750" spc="-5" dirty="0">
                <a:latin typeface="Calibri" panose="020F0502020204030204"/>
                <a:cs typeface="Calibri" panose="020F0502020204030204"/>
              </a:rPr>
              <a:t>to</a:t>
            </a:r>
            <a:r>
              <a:rPr sz="1750" spc="45" dirty="0">
                <a:latin typeface="Calibri" panose="020F0502020204030204"/>
                <a:cs typeface="Calibri" panose="020F0502020204030204"/>
              </a:rPr>
              <a:t> </a:t>
            </a:r>
            <a:r>
              <a:rPr sz="1750" dirty="0">
                <a:latin typeface="Calibri" panose="020F0502020204030204"/>
                <a:cs typeface="Calibri" panose="020F0502020204030204"/>
              </a:rPr>
              <a:t>all</a:t>
            </a:r>
            <a:r>
              <a:rPr sz="1750" spc="50" dirty="0">
                <a:latin typeface="Calibri" panose="020F0502020204030204"/>
                <a:cs typeface="Calibri" panose="020F0502020204030204"/>
              </a:rPr>
              <a:t> </a:t>
            </a:r>
            <a:r>
              <a:rPr sz="1750" spc="-5" dirty="0">
                <a:latin typeface="Calibri" panose="020F0502020204030204"/>
                <a:cs typeface="Calibri" panose="020F0502020204030204"/>
              </a:rPr>
              <a:t>the</a:t>
            </a:r>
            <a:r>
              <a:rPr sz="1750" spc="45" dirty="0">
                <a:latin typeface="Calibri" panose="020F0502020204030204"/>
                <a:cs typeface="Calibri" panose="020F0502020204030204"/>
              </a:rPr>
              <a:t> </a:t>
            </a:r>
            <a:r>
              <a:rPr sz="1750" spc="-5" dirty="0">
                <a:latin typeface="Calibri" panose="020F0502020204030204"/>
                <a:cs typeface="Calibri" panose="020F0502020204030204"/>
              </a:rPr>
              <a:t>elements. </a:t>
            </a:r>
            <a:r>
              <a:rPr sz="1750" spc="-380" dirty="0">
                <a:latin typeface="Calibri" panose="020F0502020204030204"/>
                <a:cs typeface="Calibri" panose="020F0502020204030204"/>
              </a:rPr>
              <a:t> </a:t>
            </a:r>
            <a:r>
              <a:rPr sz="1750" spc="-5" dirty="0">
                <a:latin typeface="Calibri" panose="020F0502020204030204"/>
                <a:cs typeface="Calibri" panose="020F0502020204030204"/>
              </a:rPr>
              <a:t>It</a:t>
            </a:r>
            <a:r>
              <a:rPr sz="1750" spc="-10" dirty="0">
                <a:latin typeface="Calibri" panose="020F0502020204030204"/>
                <a:cs typeface="Calibri" panose="020F0502020204030204"/>
              </a:rPr>
              <a:t> </a:t>
            </a:r>
            <a:r>
              <a:rPr sz="1750" spc="-5" dirty="0">
                <a:latin typeface="Calibri" panose="020F0502020204030204"/>
                <a:cs typeface="Calibri" panose="020F0502020204030204"/>
              </a:rPr>
              <a:t>basically keeps operating on pairs of elements until there </a:t>
            </a:r>
            <a:r>
              <a:rPr sz="1750" dirty="0">
                <a:latin typeface="Calibri" panose="020F0502020204030204"/>
                <a:cs typeface="Calibri" panose="020F0502020204030204"/>
              </a:rPr>
              <a:t>are</a:t>
            </a:r>
            <a:r>
              <a:rPr sz="1750" spc="-5" dirty="0">
                <a:latin typeface="Calibri" panose="020F0502020204030204"/>
                <a:cs typeface="Calibri" panose="020F0502020204030204"/>
              </a:rPr>
              <a:t> no more elements</a:t>
            </a:r>
            <a:r>
              <a:rPr sz="1750" spc="-10" dirty="0">
                <a:latin typeface="Calibri" panose="020F0502020204030204"/>
                <a:cs typeface="Calibri" panose="020F0502020204030204"/>
              </a:rPr>
              <a:t> </a:t>
            </a:r>
            <a:r>
              <a:rPr sz="1750" spc="-5" dirty="0">
                <a:latin typeface="Calibri" panose="020F0502020204030204"/>
                <a:cs typeface="Calibri" panose="020F0502020204030204"/>
              </a:rPr>
              <a:t>left.</a:t>
            </a:r>
            <a:endParaRPr sz="1750">
              <a:latin typeface="Calibri" panose="020F0502020204030204"/>
              <a:cs typeface="Calibri" panose="020F0502020204030204"/>
            </a:endParaRPr>
          </a:p>
          <a:p>
            <a:pPr marL="264795" marR="5080" indent="-252730">
              <a:lnSpc>
                <a:spcPct val="150000"/>
              </a:lnSpc>
              <a:buFont typeface="Arial MT"/>
              <a:buChar char="•"/>
              <a:tabLst>
                <a:tab pos="264795" algn="l"/>
                <a:tab pos="265430" algn="l"/>
              </a:tabLst>
            </a:pPr>
            <a:r>
              <a:rPr sz="1750" spc="-5" dirty="0">
                <a:latin typeface="Calibri" panose="020F0502020204030204"/>
                <a:cs typeface="Calibri" panose="020F0502020204030204"/>
              </a:rPr>
              <a:t>reduce</a:t>
            </a:r>
            <a:r>
              <a:rPr sz="1750" spc="345" dirty="0">
                <a:latin typeface="Calibri" panose="020F0502020204030204"/>
                <a:cs typeface="Calibri" panose="020F0502020204030204"/>
              </a:rPr>
              <a:t> </a:t>
            </a:r>
            <a:r>
              <a:rPr sz="1750" dirty="0">
                <a:latin typeface="Calibri" panose="020F0502020204030204"/>
                <a:cs typeface="Calibri" panose="020F0502020204030204"/>
              </a:rPr>
              <a:t>applies</a:t>
            </a:r>
            <a:r>
              <a:rPr sz="1750" spc="350" dirty="0">
                <a:latin typeface="Calibri" panose="020F0502020204030204"/>
                <a:cs typeface="Calibri" panose="020F0502020204030204"/>
              </a:rPr>
              <a:t> </a:t>
            </a:r>
            <a:r>
              <a:rPr sz="1750" dirty="0">
                <a:latin typeface="Calibri" panose="020F0502020204030204"/>
                <a:cs typeface="Calibri" panose="020F0502020204030204"/>
              </a:rPr>
              <a:t>a</a:t>
            </a:r>
            <a:r>
              <a:rPr sz="1750" spc="350" dirty="0">
                <a:latin typeface="Calibri" panose="020F0502020204030204"/>
                <a:cs typeface="Calibri" panose="020F0502020204030204"/>
              </a:rPr>
              <a:t> </a:t>
            </a:r>
            <a:r>
              <a:rPr sz="1750" spc="-5" dirty="0">
                <a:latin typeface="Calibri" panose="020F0502020204030204"/>
                <a:cs typeface="Calibri" panose="020F0502020204030204"/>
              </a:rPr>
              <a:t>function</a:t>
            </a:r>
            <a:r>
              <a:rPr sz="1750" spc="345" dirty="0">
                <a:latin typeface="Calibri" panose="020F0502020204030204"/>
                <a:cs typeface="Calibri" panose="020F0502020204030204"/>
              </a:rPr>
              <a:t> </a:t>
            </a:r>
            <a:r>
              <a:rPr sz="1750" spc="-5" dirty="0">
                <a:latin typeface="Calibri" panose="020F0502020204030204"/>
                <a:cs typeface="Calibri" panose="020F0502020204030204"/>
              </a:rPr>
              <a:t>of</a:t>
            </a:r>
            <a:r>
              <a:rPr sz="1750" spc="350" dirty="0">
                <a:latin typeface="Calibri" panose="020F0502020204030204"/>
                <a:cs typeface="Calibri" panose="020F0502020204030204"/>
              </a:rPr>
              <a:t> </a:t>
            </a:r>
            <a:r>
              <a:rPr sz="1750" spc="-5" dirty="0">
                <a:latin typeface="Calibri" panose="020F0502020204030204"/>
                <a:cs typeface="Calibri" panose="020F0502020204030204"/>
              </a:rPr>
              <a:t>two</a:t>
            </a:r>
            <a:r>
              <a:rPr sz="1750" spc="345" dirty="0">
                <a:latin typeface="Calibri" panose="020F0502020204030204"/>
                <a:cs typeface="Calibri" panose="020F0502020204030204"/>
              </a:rPr>
              <a:t> </a:t>
            </a:r>
            <a:r>
              <a:rPr sz="1750" dirty="0">
                <a:latin typeface="Calibri" panose="020F0502020204030204"/>
                <a:cs typeface="Calibri" panose="020F0502020204030204"/>
              </a:rPr>
              <a:t>arguments</a:t>
            </a:r>
            <a:r>
              <a:rPr sz="1750" spc="350" dirty="0">
                <a:latin typeface="Calibri" panose="020F0502020204030204"/>
                <a:cs typeface="Calibri" panose="020F0502020204030204"/>
              </a:rPr>
              <a:t> </a:t>
            </a:r>
            <a:r>
              <a:rPr sz="1750" spc="-5" dirty="0">
                <a:latin typeface="Calibri" panose="020F0502020204030204"/>
                <a:cs typeface="Calibri" panose="020F0502020204030204"/>
              </a:rPr>
              <a:t>cumulatively</a:t>
            </a:r>
            <a:r>
              <a:rPr sz="1750" spc="340" dirty="0">
                <a:latin typeface="Calibri" panose="020F0502020204030204"/>
                <a:cs typeface="Calibri" panose="020F0502020204030204"/>
              </a:rPr>
              <a:t> </a:t>
            </a:r>
            <a:r>
              <a:rPr sz="1750" spc="-5" dirty="0">
                <a:latin typeface="Calibri" panose="020F0502020204030204"/>
                <a:cs typeface="Calibri" panose="020F0502020204030204"/>
              </a:rPr>
              <a:t>to</a:t>
            </a:r>
            <a:r>
              <a:rPr sz="1750" spc="345" dirty="0">
                <a:latin typeface="Calibri" panose="020F0502020204030204"/>
                <a:cs typeface="Calibri" panose="020F0502020204030204"/>
              </a:rPr>
              <a:t> </a:t>
            </a:r>
            <a:r>
              <a:rPr sz="1750" spc="-5" dirty="0">
                <a:latin typeface="Calibri" panose="020F0502020204030204"/>
                <a:cs typeface="Calibri" panose="020F0502020204030204"/>
              </a:rPr>
              <a:t>the</a:t>
            </a:r>
            <a:r>
              <a:rPr sz="1750" spc="345" dirty="0">
                <a:latin typeface="Calibri" panose="020F0502020204030204"/>
                <a:cs typeface="Calibri" panose="020F0502020204030204"/>
              </a:rPr>
              <a:t> </a:t>
            </a:r>
            <a:r>
              <a:rPr sz="1750" spc="-5" dirty="0">
                <a:latin typeface="Calibri" panose="020F0502020204030204"/>
                <a:cs typeface="Calibri" panose="020F0502020204030204"/>
              </a:rPr>
              <a:t>elements</a:t>
            </a:r>
            <a:r>
              <a:rPr sz="1750" spc="350" dirty="0">
                <a:latin typeface="Calibri" panose="020F0502020204030204"/>
                <a:cs typeface="Calibri" panose="020F0502020204030204"/>
              </a:rPr>
              <a:t> </a:t>
            </a:r>
            <a:r>
              <a:rPr sz="1750" spc="-5" dirty="0">
                <a:latin typeface="Calibri" panose="020F0502020204030204"/>
                <a:cs typeface="Calibri" panose="020F0502020204030204"/>
              </a:rPr>
              <a:t>of</a:t>
            </a:r>
            <a:r>
              <a:rPr sz="1750" spc="345" dirty="0">
                <a:latin typeface="Calibri" panose="020F0502020204030204"/>
                <a:cs typeface="Calibri" panose="020F0502020204030204"/>
              </a:rPr>
              <a:t> </a:t>
            </a:r>
            <a:r>
              <a:rPr sz="1750" dirty="0">
                <a:latin typeface="Calibri" panose="020F0502020204030204"/>
                <a:cs typeface="Calibri" panose="020F0502020204030204"/>
              </a:rPr>
              <a:t>an</a:t>
            </a:r>
            <a:r>
              <a:rPr sz="1750" spc="350" dirty="0">
                <a:latin typeface="Calibri" panose="020F0502020204030204"/>
                <a:cs typeface="Calibri" panose="020F0502020204030204"/>
              </a:rPr>
              <a:t> </a:t>
            </a:r>
            <a:r>
              <a:rPr sz="1750" spc="-5" dirty="0">
                <a:latin typeface="Calibri" panose="020F0502020204030204"/>
                <a:cs typeface="Calibri" panose="020F0502020204030204"/>
              </a:rPr>
              <a:t>iterable,</a:t>
            </a:r>
            <a:r>
              <a:rPr sz="1750" spc="350" dirty="0">
                <a:latin typeface="Calibri" panose="020F0502020204030204"/>
                <a:cs typeface="Calibri" panose="020F0502020204030204"/>
              </a:rPr>
              <a:t> </a:t>
            </a:r>
            <a:r>
              <a:rPr sz="1750" spc="-5" dirty="0">
                <a:latin typeface="Calibri" panose="020F0502020204030204"/>
                <a:cs typeface="Calibri" panose="020F0502020204030204"/>
              </a:rPr>
              <a:t>optionally</a:t>
            </a:r>
            <a:r>
              <a:rPr sz="1750" spc="350" dirty="0">
                <a:latin typeface="Calibri" panose="020F0502020204030204"/>
                <a:cs typeface="Calibri" panose="020F0502020204030204"/>
              </a:rPr>
              <a:t> </a:t>
            </a:r>
            <a:r>
              <a:rPr sz="1750" spc="-5" dirty="0">
                <a:latin typeface="Calibri" panose="020F0502020204030204"/>
                <a:cs typeface="Calibri" panose="020F0502020204030204"/>
              </a:rPr>
              <a:t>starting</a:t>
            </a:r>
            <a:r>
              <a:rPr sz="1750" spc="345" dirty="0">
                <a:latin typeface="Calibri" panose="020F0502020204030204"/>
                <a:cs typeface="Calibri" panose="020F0502020204030204"/>
              </a:rPr>
              <a:t> </a:t>
            </a:r>
            <a:r>
              <a:rPr sz="1750" spc="-5" dirty="0">
                <a:latin typeface="Calibri" panose="020F0502020204030204"/>
                <a:cs typeface="Calibri" panose="020F0502020204030204"/>
              </a:rPr>
              <a:t>with</a:t>
            </a:r>
            <a:r>
              <a:rPr sz="1750" spc="345" dirty="0">
                <a:latin typeface="Calibri" panose="020F0502020204030204"/>
                <a:cs typeface="Calibri" panose="020F0502020204030204"/>
              </a:rPr>
              <a:t> </a:t>
            </a:r>
            <a:r>
              <a:rPr sz="1750" dirty="0">
                <a:latin typeface="Calibri" panose="020F0502020204030204"/>
                <a:cs typeface="Calibri" panose="020F0502020204030204"/>
              </a:rPr>
              <a:t>an</a:t>
            </a:r>
            <a:r>
              <a:rPr sz="1750" spc="350" dirty="0">
                <a:latin typeface="Calibri" panose="020F0502020204030204"/>
                <a:cs typeface="Calibri" panose="020F0502020204030204"/>
              </a:rPr>
              <a:t> </a:t>
            </a:r>
            <a:r>
              <a:rPr sz="1750" spc="-5" dirty="0">
                <a:latin typeface="Calibri" panose="020F0502020204030204"/>
                <a:cs typeface="Calibri" panose="020F0502020204030204"/>
              </a:rPr>
              <a:t>initial </a:t>
            </a:r>
            <a:r>
              <a:rPr sz="1750" spc="-380" dirty="0">
                <a:latin typeface="Calibri" panose="020F0502020204030204"/>
                <a:cs typeface="Calibri" panose="020F0502020204030204"/>
              </a:rPr>
              <a:t> </a:t>
            </a:r>
            <a:r>
              <a:rPr sz="1750" dirty="0">
                <a:latin typeface="Calibri" panose="020F0502020204030204"/>
                <a:cs typeface="Calibri" panose="020F0502020204030204"/>
              </a:rPr>
              <a:t>argument</a:t>
            </a:r>
            <a:endParaRPr sz="1750">
              <a:latin typeface="Calibri" panose="020F0502020204030204"/>
              <a:cs typeface="Calibri" panose="020F0502020204030204"/>
            </a:endParaRPr>
          </a:p>
        </p:txBody>
      </p:sp>
      <p:sp>
        <p:nvSpPr>
          <p:cNvPr id="7" name="object 7"/>
          <p:cNvSpPr txBox="1"/>
          <p:nvPr/>
        </p:nvSpPr>
        <p:spPr>
          <a:xfrm>
            <a:off x="94136" y="2860363"/>
            <a:ext cx="3732529" cy="3225800"/>
          </a:xfrm>
          <a:prstGeom prst="rect">
            <a:avLst/>
          </a:prstGeom>
        </p:spPr>
        <p:txBody>
          <a:bodyPr vert="horz" wrap="square" lIns="0" tIns="146050" rIns="0" bIns="0" rtlCol="0">
            <a:spAutoFit/>
          </a:bodyPr>
          <a:lstStyle/>
          <a:p>
            <a:pPr marL="12700">
              <a:lnSpc>
                <a:spcPct val="100000"/>
              </a:lnSpc>
              <a:spcBef>
                <a:spcPts val="1150"/>
              </a:spcBef>
            </a:pPr>
            <a:r>
              <a:rPr sz="1750" b="1" spc="-5" dirty="0">
                <a:latin typeface="Calibri" panose="020F0502020204030204"/>
                <a:cs typeface="Calibri" panose="020F0502020204030204"/>
              </a:rPr>
              <a:t>Syntax:</a:t>
            </a:r>
            <a:endParaRPr sz="1750">
              <a:latin typeface="Calibri" panose="020F0502020204030204"/>
              <a:cs typeface="Calibri" panose="020F0502020204030204"/>
            </a:endParaRPr>
          </a:p>
          <a:p>
            <a:pPr marR="86995" algn="ctr">
              <a:lnSpc>
                <a:spcPct val="100000"/>
              </a:lnSpc>
              <a:spcBef>
                <a:spcPts val="1050"/>
              </a:spcBef>
            </a:pPr>
            <a:r>
              <a:rPr sz="1750" spc="-5" dirty="0">
                <a:latin typeface="Calibri" panose="020F0502020204030204"/>
                <a:cs typeface="Calibri" panose="020F0502020204030204"/>
              </a:rPr>
              <a:t>reduce(func,</a:t>
            </a:r>
            <a:r>
              <a:rPr sz="1750" spc="-35" dirty="0">
                <a:latin typeface="Calibri" panose="020F0502020204030204"/>
                <a:cs typeface="Calibri" panose="020F0502020204030204"/>
              </a:rPr>
              <a:t> </a:t>
            </a:r>
            <a:r>
              <a:rPr sz="1750" spc="-5" dirty="0">
                <a:latin typeface="Calibri" panose="020F0502020204030204"/>
                <a:cs typeface="Calibri" panose="020F0502020204030204"/>
              </a:rPr>
              <a:t>iterable[,</a:t>
            </a:r>
            <a:r>
              <a:rPr sz="1750" spc="-30" dirty="0">
                <a:latin typeface="Calibri" panose="020F0502020204030204"/>
                <a:cs typeface="Calibri" panose="020F0502020204030204"/>
              </a:rPr>
              <a:t> </a:t>
            </a:r>
            <a:r>
              <a:rPr sz="1750" spc="-5" dirty="0">
                <a:latin typeface="Calibri" panose="020F0502020204030204"/>
                <a:cs typeface="Calibri" panose="020F0502020204030204"/>
              </a:rPr>
              <a:t>initial])</a:t>
            </a:r>
            <a:endParaRPr sz="1750">
              <a:latin typeface="Calibri" panose="020F0502020204030204"/>
              <a:cs typeface="Calibri" panose="020F0502020204030204"/>
            </a:endParaRPr>
          </a:p>
          <a:p>
            <a:pPr marL="12700">
              <a:lnSpc>
                <a:spcPct val="100000"/>
              </a:lnSpc>
              <a:spcBef>
                <a:spcPts val="1050"/>
              </a:spcBef>
            </a:pPr>
            <a:r>
              <a:rPr sz="1750" b="1" spc="-5" dirty="0">
                <a:latin typeface="Calibri" panose="020F0502020204030204"/>
                <a:cs typeface="Calibri" panose="020F0502020204030204"/>
              </a:rPr>
              <a:t>Example:</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reduce(lambda</a:t>
            </a:r>
            <a:r>
              <a:rPr sz="1750" spc="-15" dirty="0">
                <a:latin typeface="Calibri" panose="020F0502020204030204"/>
                <a:cs typeface="Calibri" panose="020F0502020204030204"/>
              </a:rPr>
              <a:t> </a:t>
            </a:r>
            <a:r>
              <a:rPr sz="1750" spc="-5" dirty="0">
                <a:latin typeface="Calibri" panose="020F0502020204030204"/>
                <a:cs typeface="Calibri" panose="020F0502020204030204"/>
              </a:rPr>
              <a:t>s,x:</a:t>
            </a:r>
            <a:r>
              <a:rPr sz="1750" spc="-15" dirty="0">
                <a:latin typeface="Calibri" panose="020F0502020204030204"/>
                <a:cs typeface="Calibri" panose="020F0502020204030204"/>
              </a:rPr>
              <a:t> </a:t>
            </a:r>
            <a:r>
              <a:rPr sz="1750" spc="-5" dirty="0">
                <a:latin typeface="Calibri" panose="020F0502020204030204"/>
                <a:cs typeface="Calibri" panose="020F0502020204030204"/>
              </a:rPr>
              <a:t>s+str(x),</a:t>
            </a:r>
            <a:r>
              <a:rPr sz="1750" spc="-15" dirty="0">
                <a:latin typeface="Calibri" panose="020F0502020204030204"/>
                <a:cs typeface="Calibri" panose="020F0502020204030204"/>
              </a:rPr>
              <a:t> </a:t>
            </a:r>
            <a:r>
              <a:rPr sz="1750" spc="-5" dirty="0">
                <a:latin typeface="Calibri" panose="020F0502020204030204"/>
                <a:cs typeface="Calibri" panose="020F0502020204030204"/>
              </a:rPr>
              <a:t>[1,</a:t>
            </a:r>
            <a:r>
              <a:rPr sz="1750" spc="-10" dirty="0">
                <a:latin typeface="Calibri" panose="020F0502020204030204"/>
                <a:cs typeface="Calibri" panose="020F0502020204030204"/>
              </a:rPr>
              <a:t> </a:t>
            </a:r>
            <a:r>
              <a:rPr sz="1750" spc="-5" dirty="0">
                <a:latin typeface="Calibri" panose="020F0502020204030204"/>
                <a:cs typeface="Calibri" panose="020F0502020204030204"/>
              </a:rPr>
              <a:t>2,</a:t>
            </a:r>
            <a:r>
              <a:rPr sz="1750" spc="-15" dirty="0">
                <a:latin typeface="Calibri" panose="020F0502020204030204"/>
                <a:cs typeface="Calibri" panose="020F0502020204030204"/>
              </a:rPr>
              <a:t> </a:t>
            </a:r>
            <a:r>
              <a:rPr sz="1750" spc="-5" dirty="0">
                <a:latin typeface="Calibri" panose="020F0502020204030204"/>
                <a:cs typeface="Calibri" panose="020F0502020204030204"/>
              </a:rPr>
              <a:t>3,</a:t>
            </a:r>
            <a:r>
              <a:rPr sz="1750" spc="-15" dirty="0">
                <a:latin typeface="Calibri" panose="020F0502020204030204"/>
                <a:cs typeface="Calibri" panose="020F0502020204030204"/>
              </a:rPr>
              <a:t> </a:t>
            </a:r>
            <a:r>
              <a:rPr sz="1750" spc="-5" dirty="0">
                <a:latin typeface="Calibri" panose="020F0502020204030204"/>
                <a:cs typeface="Calibri" panose="020F0502020204030204"/>
              </a:rPr>
              <a:t>4],</a:t>
            </a:r>
            <a:r>
              <a:rPr sz="1750" spc="-10" dirty="0">
                <a:latin typeface="Calibri" panose="020F0502020204030204"/>
                <a:cs typeface="Calibri" panose="020F0502020204030204"/>
              </a:rPr>
              <a:t> </a:t>
            </a:r>
            <a:r>
              <a:rPr sz="1750" spc="-5" dirty="0">
                <a:latin typeface="Calibri" panose="020F0502020204030204"/>
                <a:cs typeface="Calibri" panose="020F0502020204030204"/>
              </a:rPr>
              <a:t>'')</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#output</a:t>
            </a:r>
            <a:r>
              <a:rPr sz="1750" spc="-45" dirty="0">
                <a:latin typeface="Calibri" panose="020F0502020204030204"/>
                <a:cs typeface="Calibri" panose="020F0502020204030204"/>
              </a:rPr>
              <a:t> </a:t>
            </a:r>
            <a:r>
              <a:rPr sz="1750" spc="-5" dirty="0">
                <a:latin typeface="Calibri" panose="020F0502020204030204"/>
                <a:cs typeface="Calibri" panose="020F0502020204030204"/>
              </a:rPr>
              <a:t>'1234‘</a:t>
            </a:r>
            <a:endParaRPr sz="1750">
              <a:latin typeface="Calibri" panose="020F0502020204030204"/>
              <a:cs typeface="Calibri" panose="020F0502020204030204"/>
            </a:endParaRPr>
          </a:p>
          <a:p>
            <a:pPr marL="12700" marR="600075">
              <a:lnSpc>
                <a:spcPct val="150000"/>
              </a:lnSpc>
            </a:pPr>
            <a:r>
              <a:rPr sz="1750" spc="-5" dirty="0">
                <a:latin typeface="Calibri" panose="020F0502020204030204"/>
                <a:cs typeface="Calibri" panose="020F0502020204030204"/>
              </a:rPr>
              <a:t>my_list </a:t>
            </a:r>
            <a:r>
              <a:rPr sz="1750" dirty="0">
                <a:latin typeface="Calibri" panose="020F0502020204030204"/>
                <a:cs typeface="Calibri" panose="020F0502020204030204"/>
              </a:rPr>
              <a:t>= </a:t>
            </a:r>
            <a:r>
              <a:rPr sz="1750" spc="-5" dirty="0">
                <a:latin typeface="Calibri" panose="020F0502020204030204"/>
                <a:cs typeface="Calibri" panose="020F0502020204030204"/>
              </a:rPr>
              <a:t>[3,8,4,9,5] </a:t>
            </a:r>
            <a:r>
              <a:rPr sz="1750" dirty="0">
                <a:latin typeface="Calibri" panose="020F0502020204030204"/>
                <a:cs typeface="Calibri" panose="020F0502020204030204"/>
              </a:rPr>
              <a:t> </a:t>
            </a:r>
            <a:r>
              <a:rPr sz="1750" spc="-5" dirty="0">
                <a:latin typeface="Calibri" panose="020F0502020204030204"/>
                <a:cs typeface="Calibri" panose="020F0502020204030204"/>
              </a:rPr>
              <a:t>reduce(lambda </a:t>
            </a:r>
            <a:r>
              <a:rPr sz="1750" dirty="0">
                <a:latin typeface="Calibri" panose="020F0502020204030204"/>
                <a:cs typeface="Calibri" panose="020F0502020204030204"/>
              </a:rPr>
              <a:t>a, </a:t>
            </a:r>
            <a:r>
              <a:rPr sz="1750" spc="-5" dirty="0">
                <a:latin typeface="Calibri" panose="020F0502020204030204"/>
                <a:cs typeface="Calibri" panose="020F0502020204030204"/>
              </a:rPr>
              <a:t>b: </a:t>
            </a:r>
            <a:r>
              <a:rPr sz="1750" dirty="0">
                <a:latin typeface="Calibri" panose="020F0502020204030204"/>
                <a:cs typeface="Calibri" panose="020F0502020204030204"/>
              </a:rPr>
              <a:t>a * </a:t>
            </a:r>
            <a:r>
              <a:rPr sz="1750" spc="-5" dirty="0">
                <a:latin typeface="Calibri" panose="020F0502020204030204"/>
                <a:cs typeface="Calibri" panose="020F0502020204030204"/>
              </a:rPr>
              <a:t>b, my_list) </a:t>
            </a:r>
            <a:r>
              <a:rPr sz="1750" spc="-390" dirty="0">
                <a:latin typeface="Calibri" panose="020F0502020204030204"/>
                <a:cs typeface="Calibri" panose="020F0502020204030204"/>
              </a:rPr>
              <a:t> </a:t>
            </a:r>
            <a:r>
              <a:rPr sz="1750" spc="-5" dirty="0">
                <a:latin typeface="Calibri" panose="020F0502020204030204"/>
                <a:cs typeface="Calibri" panose="020F0502020204030204"/>
              </a:rPr>
              <a:t>#output</a:t>
            </a:r>
            <a:r>
              <a:rPr sz="1750" spc="-15" dirty="0">
                <a:latin typeface="Calibri" panose="020F0502020204030204"/>
                <a:cs typeface="Calibri" panose="020F0502020204030204"/>
              </a:rPr>
              <a:t> </a:t>
            </a:r>
            <a:r>
              <a:rPr sz="1750" spc="-5" dirty="0">
                <a:latin typeface="Calibri" panose="020F0502020204030204"/>
                <a:cs typeface="Calibri" panose="020F0502020204030204"/>
              </a:rPr>
              <a:t>4320</a:t>
            </a:r>
            <a:r>
              <a:rPr sz="1750" spc="-10" dirty="0">
                <a:latin typeface="Calibri" panose="020F0502020204030204"/>
                <a:cs typeface="Calibri" panose="020F0502020204030204"/>
              </a:rPr>
              <a:t> </a:t>
            </a:r>
            <a:r>
              <a:rPr sz="1750" dirty="0">
                <a:latin typeface="Calibri" panose="020F0502020204030204"/>
                <a:cs typeface="Calibri" panose="020F0502020204030204"/>
              </a:rPr>
              <a:t>(</a:t>
            </a:r>
            <a:r>
              <a:rPr sz="1750" spc="-10" dirty="0">
                <a:latin typeface="Calibri" panose="020F0502020204030204"/>
                <a:cs typeface="Calibri" panose="020F0502020204030204"/>
              </a:rPr>
              <a:t> </a:t>
            </a:r>
            <a:r>
              <a:rPr sz="1750" spc="-5" dirty="0">
                <a:latin typeface="Calibri" panose="020F0502020204030204"/>
                <a:cs typeface="Calibri" panose="020F0502020204030204"/>
              </a:rPr>
              <a:t>3*8*4*9*5)</a:t>
            </a:r>
            <a:endParaRPr sz="1750">
              <a:latin typeface="Calibri" panose="020F0502020204030204"/>
              <a:cs typeface="Calibri" panose="020F0502020204030204"/>
            </a:endParaRPr>
          </a:p>
        </p:txBody>
      </p:sp>
      <p:sp>
        <p:nvSpPr>
          <p:cNvPr id="8" name="object 8"/>
          <p:cNvSpPr txBox="1"/>
          <p:nvPr/>
        </p:nvSpPr>
        <p:spPr>
          <a:xfrm>
            <a:off x="4960541" y="2729186"/>
            <a:ext cx="3255645" cy="1225550"/>
          </a:xfrm>
          <a:prstGeom prst="rect">
            <a:avLst/>
          </a:prstGeom>
        </p:spPr>
        <p:txBody>
          <a:bodyPr vert="horz" wrap="square" lIns="0" tIns="146050" rIns="0" bIns="0" rtlCol="0">
            <a:spAutoFit/>
          </a:bodyPr>
          <a:lstStyle/>
          <a:p>
            <a:pPr marL="12700">
              <a:lnSpc>
                <a:spcPct val="100000"/>
              </a:lnSpc>
              <a:spcBef>
                <a:spcPts val="1150"/>
              </a:spcBef>
            </a:pPr>
            <a:r>
              <a:rPr sz="1750" spc="-5" dirty="0">
                <a:latin typeface="Calibri" panose="020F0502020204030204"/>
                <a:cs typeface="Calibri" panose="020F0502020204030204"/>
              </a:rPr>
              <a:t>from</a:t>
            </a:r>
            <a:r>
              <a:rPr sz="1750" spc="-25" dirty="0">
                <a:latin typeface="Calibri" panose="020F0502020204030204"/>
                <a:cs typeface="Calibri" panose="020F0502020204030204"/>
              </a:rPr>
              <a:t> </a:t>
            </a:r>
            <a:r>
              <a:rPr sz="1750" spc="-5" dirty="0">
                <a:latin typeface="Calibri" panose="020F0502020204030204"/>
                <a:cs typeface="Calibri" panose="020F0502020204030204"/>
              </a:rPr>
              <a:t>functools</a:t>
            </a:r>
            <a:r>
              <a:rPr sz="1750" spc="-25" dirty="0">
                <a:latin typeface="Calibri" panose="020F0502020204030204"/>
                <a:cs typeface="Calibri" panose="020F0502020204030204"/>
              </a:rPr>
              <a:t> </a:t>
            </a:r>
            <a:r>
              <a:rPr sz="1750" spc="-5" dirty="0">
                <a:latin typeface="Calibri" panose="020F0502020204030204"/>
                <a:cs typeface="Calibri" panose="020F0502020204030204"/>
              </a:rPr>
              <a:t>import</a:t>
            </a:r>
            <a:r>
              <a:rPr sz="1750" spc="-25" dirty="0">
                <a:latin typeface="Calibri" panose="020F0502020204030204"/>
                <a:cs typeface="Calibri" panose="020F0502020204030204"/>
              </a:rPr>
              <a:t> </a:t>
            </a:r>
            <a:r>
              <a:rPr sz="1750" spc="-5" dirty="0">
                <a:latin typeface="Calibri" panose="020F0502020204030204"/>
                <a:cs typeface="Calibri" panose="020F0502020204030204"/>
              </a:rPr>
              <a:t>reduce</a:t>
            </a:r>
            <a:endParaRPr sz="1750">
              <a:latin typeface="Calibri" panose="020F0502020204030204"/>
              <a:cs typeface="Calibri" panose="020F0502020204030204"/>
            </a:endParaRPr>
          </a:p>
          <a:p>
            <a:pPr marL="12700" marR="5080">
              <a:lnSpc>
                <a:spcPct val="150000"/>
              </a:lnSpc>
            </a:pPr>
            <a:r>
              <a:rPr sz="1750" dirty="0">
                <a:latin typeface="Calibri" panose="020F0502020204030204"/>
                <a:cs typeface="Calibri" panose="020F0502020204030204"/>
              </a:rPr>
              <a:t>y = </a:t>
            </a:r>
            <a:r>
              <a:rPr sz="1750" spc="-5" dirty="0">
                <a:latin typeface="Calibri" panose="020F0502020204030204"/>
                <a:cs typeface="Calibri" panose="020F0502020204030204"/>
              </a:rPr>
              <a:t>filter(lambda x: (x&gt;=3), (1,2,3,4)) </a:t>
            </a:r>
            <a:r>
              <a:rPr sz="1750" spc="-385" dirty="0">
                <a:latin typeface="Calibri" panose="020F0502020204030204"/>
                <a:cs typeface="Calibri" panose="020F0502020204030204"/>
              </a:rPr>
              <a:t> </a:t>
            </a:r>
            <a:r>
              <a:rPr sz="1750" spc="-5" dirty="0">
                <a:latin typeface="Calibri" panose="020F0502020204030204"/>
                <a:cs typeface="Calibri" panose="020F0502020204030204"/>
              </a:rPr>
              <a:t>print(list(y))</a:t>
            </a:r>
            <a:endParaRPr sz="1750">
              <a:latin typeface="Calibri" panose="020F0502020204030204"/>
              <a:cs typeface="Calibri" panose="020F0502020204030204"/>
            </a:endParaRPr>
          </a:p>
        </p:txBody>
      </p:sp>
      <p:sp>
        <p:nvSpPr>
          <p:cNvPr id="9" name="object 9"/>
          <p:cNvSpPr txBox="1"/>
          <p:nvPr/>
        </p:nvSpPr>
        <p:spPr>
          <a:xfrm>
            <a:off x="4960541" y="4462736"/>
            <a:ext cx="3489960" cy="292100"/>
          </a:xfrm>
          <a:prstGeom prst="rect">
            <a:avLst/>
          </a:prstGeom>
        </p:spPr>
        <p:txBody>
          <a:bodyPr vert="horz" wrap="square" lIns="0" tIns="12700" rIns="0" bIns="0" rtlCol="0">
            <a:spAutoFit/>
          </a:bodyPr>
          <a:lstStyle/>
          <a:p>
            <a:pPr marL="12700">
              <a:lnSpc>
                <a:spcPct val="100000"/>
              </a:lnSpc>
              <a:spcBef>
                <a:spcPts val="100"/>
              </a:spcBef>
            </a:pPr>
            <a:r>
              <a:rPr sz="1750" spc="-5" dirty="0">
                <a:latin typeface="Calibri" panose="020F0502020204030204"/>
                <a:cs typeface="Calibri" panose="020F0502020204030204"/>
              </a:rPr>
              <a:t>reduce(lambda</a:t>
            </a:r>
            <a:r>
              <a:rPr sz="1750" spc="-50" dirty="0">
                <a:latin typeface="Calibri" panose="020F0502020204030204"/>
                <a:cs typeface="Calibri" panose="020F0502020204030204"/>
              </a:rPr>
              <a:t> </a:t>
            </a:r>
            <a:r>
              <a:rPr sz="1750" dirty="0">
                <a:latin typeface="Calibri" panose="020F0502020204030204"/>
                <a:cs typeface="Calibri" panose="020F0502020204030204"/>
              </a:rPr>
              <a:t>a,b:</a:t>
            </a:r>
            <a:r>
              <a:rPr sz="1750" spc="-45" dirty="0">
                <a:latin typeface="Calibri" panose="020F0502020204030204"/>
                <a:cs typeface="Calibri" panose="020F0502020204030204"/>
              </a:rPr>
              <a:t> </a:t>
            </a:r>
            <a:r>
              <a:rPr sz="1750" dirty="0">
                <a:latin typeface="Calibri" panose="020F0502020204030204"/>
                <a:cs typeface="Calibri" panose="020F0502020204030204"/>
              </a:rPr>
              <a:t>a+b,[23,21,45,98])</a:t>
            </a:r>
            <a:endParaRPr sz="1750">
              <a:latin typeface="Calibri" panose="020F0502020204030204"/>
              <a:cs typeface="Calibri" panose="020F0502020204030204"/>
            </a:endParaRPr>
          </a:p>
        </p:txBody>
      </p:sp>
      <p:sp>
        <p:nvSpPr>
          <p:cNvPr id="10" name="object 10"/>
          <p:cNvSpPr txBox="1"/>
          <p:nvPr/>
        </p:nvSpPr>
        <p:spPr>
          <a:xfrm>
            <a:off x="4960541" y="5129486"/>
            <a:ext cx="4668520" cy="1225550"/>
          </a:xfrm>
          <a:prstGeom prst="rect">
            <a:avLst/>
          </a:prstGeom>
        </p:spPr>
        <p:txBody>
          <a:bodyPr vert="horz" wrap="square" lIns="0" tIns="146050" rIns="0" bIns="0" rtlCol="0">
            <a:spAutoFit/>
          </a:bodyPr>
          <a:lstStyle/>
          <a:p>
            <a:pPr marL="12700">
              <a:lnSpc>
                <a:spcPct val="100000"/>
              </a:lnSpc>
              <a:spcBef>
                <a:spcPts val="1150"/>
              </a:spcBef>
            </a:pPr>
            <a:r>
              <a:rPr sz="1750" spc="-5" dirty="0">
                <a:latin typeface="Calibri" panose="020F0502020204030204"/>
                <a:cs typeface="Calibri" panose="020F0502020204030204"/>
              </a:rPr>
              <a:t>nums</a:t>
            </a:r>
            <a:r>
              <a:rPr sz="1750" spc="-10" dirty="0">
                <a:latin typeface="Calibri" panose="020F0502020204030204"/>
                <a:cs typeface="Calibri" panose="020F0502020204030204"/>
              </a:rPr>
              <a:t> </a:t>
            </a:r>
            <a:r>
              <a:rPr sz="1750" dirty="0">
                <a:latin typeface="Calibri" panose="020F0502020204030204"/>
                <a:cs typeface="Calibri" panose="020F0502020204030204"/>
              </a:rPr>
              <a:t>=</a:t>
            </a:r>
            <a:r>
              <a:rPr sz="1750" spc="-10" dirty="0">
                <a:latin typeface="Calibri" panose="020F0502020204030204"/>
                <a:cs typeface="Calibri" panose="020F0502020204030204"/>
              </a:rPr>
              <a:t> </a:t>
            </a:r>
            <a:r>
              <a:rPr sz="1750" spc="-5" dirty="0">
                <a:latin typeface="Calibri" panose="020F0502020204030204"/>
                <a:cs typeface="Calibri" panose="020F0502020204030204"/>
              </a:rPr>
              <a:t>[92, 27,</a:t>
            </a:r>
            <a:r>
              <a:rPr sz="1750" spc="-10" dirty="0">
                <a:latin typeface="Calibri" panose="020F0502020204030204"/>
                <a:cs typeface="Calibri" panose="020F0502020204030204"/>
              </a:rPr>
              <a:t> </a:t>
            </a:r>
            <a:r>
              <a:rPr sz="1750" spc="-5" dirty="0">
                <a:latin typeface="Calibri" panose="020F0502020204030204"/>
                <a:cs typeface="Calibri" panose="020F0502020204030204"/>
              </a:rPr>
              <a:t>63, 43,</a:t>
            </a:r>
            <a:r>
              <a:rPr sz="1750" spc="-10" dirty="0">
                <a:latin typeface="Calibri" panose="020F0502020204030204"/>
                <a:cs typeface="Calibri" panose="020F0502020204030204"/>
              </a:rPr>
              <a:t> </a:t>
            </a:r>
            <a:r>
              <a:rPr sz="1750" spc="-5" dirty="0">
                <a:latin typeface="Calibri" panose="020F0502020204030204"/>
                <a:cs typeface="Calibri" panose="020F0502020204030204"/>
              </a:rPr>
              <a:t>88, 8,</a:t>
            </a:r>
            <a:r>
              <a:rPr sz="1750" spc="-10" dirty="0">
                <a:latin typeface="Calibri" panose="020F0502020204030204"/>
                <a:cs typeface="Calibri" panose="020F0502020204030204"/>
              </a:rPr>
              <a:t> </a:t>
            </a:r>
            <a:r>
              <a:rPr sz="1750" spc="-5" dirty="0">
                <a:latin typeface="Calibri" panose="020F0502020204030204"/>
                <a:cs typeface="Calibri" panose="020F0502020204030204"/>
              </a:rPr>
              <a:t>38, 91,</a:t>
            </a:r>
            <a:r>
              <a:rPr sz="1750" spc="-10" dirty="0">
                <a:latin typeface="Calibri" panose="020F0502020204030204"/>
                <a:cs typeface="Calibri" panose="020F0502020204030204"/>
              </a:rPr>
              <a:t> </a:t>
            </a:r>
            <a:r>
              <a:rPr sz="1750" spc="-5" dirty="0">
                <a:latin typeface="Calibri" panose="020F0502020204030204"/>
                <a:cs typeface="Calibri" panose="020F0502020204030204"/>
              </a:rPr>
              <a:t>47,</a:t>
            </a:r>
            <a:r>
              <a:rPr sz="1750" spc="-10" dirty="0">
                <a:latin typeface="Calibri" panose="020F0502020204030204"/>
                <a:cs typeface="Calibri" panose="020F0502020204030204"/>
              </a:rPr>
              <a:t> </a:t>
            </a:r>
            <a:r>
              <a:rPr sz="1750" spc="-5" dirty="0">
                <a:latin typeface="Calibri" panose="020F0502020204030204"/>
                <a:cs typeface="Calibri" panose="020F0502020204030204"/>
              </a:rPr>
              <a:t>74, 18,</a:t>
            </a:r>
            <a:r>
              <a:rPr sz="1750" spc="-10" dirty="0">
                <a:latin typeface="Calibri" panose="020F0502020204030204"/>
                <a:cs typeface="Calibri" panose="020F0502020204030204"/>
              </a:rPr>
              <a:t> </a:t>
            </a:r>
            <a:r>
              <a:rPr sz="1750" spc="-5" dirty="0">
                <a:latin typeface="Calibri" panose="020F0502020204030204"/>
                <a:cs typeface="Calibri" panose="020F0502020204030204"/>
              </a:rPr>
              <a:t>16,</a:t>
            </a:r>
            <a:endParaRPr sz="1750">
              <a:latin typeface="Calibri" panose="020F0502020204030204"/>
              <a:cs typeface="Calibri" panose="020F0502020204030204"/>
            </a:endParaRPr>
          </a:p>
          <a:p>
            <a:pPr marL="414020">
              <a:lnSpc>
                <a:spcPct val="100000"/>
              </a:lnSpc>
              <a:spcBef>
                <a:spcPts val="1050"/>
              </a:spcBef>
            </a:pPr>
            <a:r>
              <a:rPr sz="1750" spc="-5" dirty="0">
                <a:latin typeface="Calibri" panose="020F0502020204030204"/>
                <a:cs typeface="Calibri" panose="020F0502020204030204"/>
              </a:rPr>
              <a:t>29,</a:t>
            </a:r>
            <a:r>
              <a:rPr sz="1750" spc="-15" dirty="0">
                <a:latin typeface="Calibri" panose="020F0502020204030204"/>
                <a:cs typeface="Calibri" panose="020F0502020204030204"/>
              </a:rPr>
              <a:t> </a:t>
            </a:r>
            <a:r>
              <a:rPr sz="1750" spc="-5" dirty="0">
                <a:latin typeface="Calibri" panose="020F0502020204030204"/>
                <a:cs typeface="Calibri" panose="020F0502020204030204"/>
              </a:rPr>
              <a:t>21,</a:t>
            </a:r>
            <a:r>
              <a:rPr sz="1750" spc="-15" dirty="0">
                <a:latin typeface="Calibri" panose="020F0502020204030204"/>
                <a:cs typeface="Calibri" panose="020F0502020204030204"/>
              </a:rPr>
              <a:t> </a:t>
            </a:r>
            <a:r>
              <a:rPr sz="1750" spc="-5" dirty="0">
                <a:latin typeface="Calibri" panose="020F0502020204030204"/>
                <a:cs typeface="Calibri" panose="020F0502020204030204"/>
              </a:rPr>
              <a:t>60,</a:t>
            </a:r>
            <a:r>
              <a:rPr sz="1750" spc="-10" dirty="0">
                <a:latin typeface="Calibri" panose="020F0502020204030204"/>
                <a:cs typeface="Calibri" panose="020F0502020204030204"/>
              </a:rPr>
              <a:t> </a:t>
            </a:r>
            <a:r>
              <a:rPr sz="1750" spc="-5" dirty="0">
                <a:latin typeface="Calibri" panose="020F0502020204030204"/>
                <a:cs typeface="Calibri" panose="020F0502020204030204"/>
              </a:rPr>
              <a:t>27,</a:t>
            </a:r>
            <a:r>
              <a:rPr sz="1750" spc="-15" dirty="0">
                <a:latin typeface="Calibri" panose="020F0502020204030204"/>
                <a:cs typeface="Calibri" panose="020F0502020204030204"/>
              </a:rPr>
              <a:t> </a:t>
            </a:r>
            <a:r>
              <a:rPr sz="1750" spc="-5" dirty="0">
                <a:latin typeface="Calibri" panose="020F0502020204030204"/>
                <a:cs typeface="Calibri" panose="020F0502020204030204"/>
              </a:rPr>
              <a:t>62,</a:t>
            </a:r>
            <a:r>
              <a:rPr sz="1750" spc="-10" dirty="0">
                <a:latin typeface="Calibri" panose="020F0502020204030204"/>
                <a:cs typeface="Calibri" panose="020F0502020204030204"/>
              </a:rPr>
              <a:t> </a:t>
            </a:r>
            <a:r>
              <a:rPr sz="1750" spc="-5" dirty="0">
                <a:latin typeface="Calibri" panose="020F0502020204030204"/>
                <a:cs typeface="Calibri" panose="020F0502020204030204"/>
              </a:rPr>
              <a:t>59,</a:t>
            </a:r>
            <a:r>
              <a:rPr sz="1750" spc="-15" dirty="0">
                <a:latin typeface="Calibri" panose="020F0502020204030204"/>
                <a:cs typeface="Calibri" panose="020F0502020204030204"/>
              </a:rPr>
              <a:t> </a:t>
            </a:r>
            <a:r>
              <a:rPr sz="1750" spc="-5" dirty="0">
                <a:latin typeface="Calibri" panose="020F0502020204030204"/>
                <a:cs typeface="Calibri" panose="020F0502020204030204"/>
              </a:rPr>
              <a:t>86,</a:t>
            </a:r>
            <a:r>
              <a:rPr sz="1750" spc="-10" dirty="0">
                <a:latin typeface="Calibri" panose="020F0502020204030204"/>
                <a:cs typeface="Calibri" panose="020F0502020204030204"/>
              </a:rPr>
              <a:t> </a:t>
            </a:r>
            <a:r>
              <a:rPr sz="1750" spc="-5" dirty="0">
                <a:latin typeface="Calibri" panose="020F0502020204030204"/>
                <a:cs typeface="Calibri" panose="020F0502020204030204"/>
              </a:rPr>
              <a:t>56]</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sum</a:t>
            </a:r>
            <a:r>
              <a:rPr sz="1750" spc="-15" dirty="0">
                <a:latin typeface="Calibri" panose="020F0502020204030204"/>
                <a:cs typeface="Calibri" panose="020F0502020204030204"/>
              </a:rPr>
              <a:t> </a:t>
            </a:r>
            <a:r>
              <a:rPr sz="1750" dirty="0">
                <a:latin typeface="Calibri" panose="020F0502020204030204"/>
                <a:cs typeface="Calibri" panose="020F0502020204030204"/>
              </a:rPr>
              <a:t>=</a:t>
            </a:r>
            <a:r>
              <a:rPr sz="1750" spc="-10" dirty="0">
                <a:latin typeface="Calibri" panose="020F0502020204030204"/>
                <a:cs typeface="Calibri" panose="020F0502020204030204"/>
              </a:rPr>
              <a:t> </a:t>
            </a:r>
            <a:r>
              <a:rPr sz="1750" spc="-5" dirty="0">
                <a:latin typeface="Calibri" panose="020F0502020204030204"/>
                <a:cs typeface="Calibri" panose="020F0502020204030204"/>
              </a:rPr>
              <a:t>reduce(lambda</a:t>
            </a:r>
            <a:r>
              <a:rPr sz="1750" spc="-10" dirty="0">
                <a:latin typeface="Calibri" panose="020F0502020204030204"/>
                <a:cs typeface="Calibri" panose="020F0502020204030204"/>
              </a:rPr>
              <a:t> </a:t>
            </a:r>
            <a:r>
              <a:rPr sz="1750" spc="-5" dirty="0">
                <a:latin typeface="Calibri" panose="020F0502020204030204"/>
                <a:cs typeface="Calibri" panose="020F0502020204030204"/>
              </a:rPr>
              <a:t>x,</a:t>
            </a:r>
            <a:r>
              <a:rPr sz="1750" spc="-15" dirty="0">
                <a:latin typeface="Calibri" panose="020F0502020204030204"/>
                <a:cs typeface="Calibri" panose="020F0502020204030204"/>
              </a:rPr>
              <a:t> </a:t>
            </a:r>
            <a:r>
              <a:rPr sz="1750" dirty="0">
                <a:latin typeface="Calibri" panose="020F0502020204030204"/>
                <a:cs typeface="Calibri" panose="020F0502020204030204"/>
              </a:rPr>
              <a:t>y</a:t>
            </a:r>
            <a:r>
              <a:rPr sz="1750" spc="-10" dirty="0">
                <a:latin typeface="Calibri" panose="020F0502020204030204"/>
                <a:cs typeface="Calibri" panose="020F0502020204030204"/>
              </a:rPr>
              <a:t> </a:t>
            </a:r>
            <a:r>
              <a:rPr sz="1750" dirty="0">
                <a:latin typeface="Calibri" panose="020F0502020204030204"/>
                <a:cs typeface="Calibri" panose="020F0502020204030204"/>
              </a:rPr>
              <a:t>:</a:t>
            </a:r>
            <a:r>
              <a:rPr sz="1750" spc="-10" dirty="0">
                <a:latin typeface="Calibri" panose="020F0502020204030204"/>
                <a:cs typeface="Calibri" panose="020F0502020204030204"/>
              </a:rPr>
              <a:t> </a:t>
            </a:r>
            <a:r>
              <a:rPr sz="1750" dirty="0">
                <a:latin typeface="Calibri" panose="020F0502020204030204"/>
                <a:cs typeface="Calibri" panose="020F0502020204030204"/>
              </a:rPr>
              <a:t>x</a:t>
            </a:r>
            <a:r>
              <a:rPr sz="1750" spc="-15" dirty="0">
                <a:latin typeface="Calibri" panose="020F0502020204030204"/>
                <a:cs typeface="Calibri" panose="020F0502020204030204"/>
              </a:rPr>
              <a:t> </a:t>
            </a:r>
            <a:r>
              <a:rPr sz="1750" dirty="0">
                <a:latin typeface="Calibri" panose="020F0502020204030204"/>
                <a:cs typeface="Calibri" panose="020F0502020204030204"/>
              </a:rPr>
              <a:t>+</a:t>
            </a:r>
            <a:r>
              <a:rPr sz="1750" spc="-10" dirty="0">
                <a:latin typeface="Calibri" panose="020F0502020204030204"/>
                <a:cs typeface="Calibri" panose="020F0502020204030204"/>
              </a:rPr>
              <a:t> </a:t>
            </a:r>
            <a:r>
              <a:rPr sz="1750" spc="-5" dirty="0">
                <a:latin typeface="Calibri" panose="020F0502020204030204"/>
                <a:cs typeface="Calibri" panose="020F0502020204030204"/>
              </a:rPr>
              <a:t>y,</a:t>
            </a:r>
            <a:r>
              <a:rPr sz="1750" spc="-10" dirty="0">
                <a:latin typeface="Calibri" panose="020F0502020204030204"/>
                <a:cs typeface="Calibri" panose="020F0502020204030204"/>
              </a:rPr>
              <a:t> </a:t>
            </a:r>
            <a:r>
              <a:rPr sz="1750" spc="-5" dirty="0">
                <a:latin typeface="Calibri" panose="020F0502020204030204"/>
                <a:cs typeface="Calibri" panose="020F0502020204030204"/>
              </a:rPr>
              <a:t>nums)</a:t>
            </a:r>
            <a:r>
              <a:rPr sz="1750" spc="-10" dirty="0">
                <a:latin typeface="Calibri" panose="020F0502020204030204"/>
                <a:cs typeface="Calibri" panose="020F0502020204030204"/>
              </a:rPr>
              <a:t> </a:t>
            </a:r>
            <a:r>
              <a:rPr sz="1750" dirty="0">
                <a:latin typeface="Calibri" panose="020F0502020204030204"/>
                <a:cs typeface="Calibri" panose="020F0502020204030204"/>
              </a:rPr>
              <a:t>/</a:t>
            </a:r>
            <a:r>
              <a:rPr sz="1750" spc="-15" dirty="0">
                <a:latin typeface="Calibri" panose="020F0502020204030204"/>
                <a:cs typeface="Calibri" panose="020F0502020204030204"/>
              </a:rPr>
              <a:t> </a:t>
            </a:r>
            <a:r>
              <a:rPr sz="1750" spc="-5" dirty="0">
                <a:latin typeface="Calibri" panose="020F0502020204030204"/>
                <a:cs typeface="Calibri" panose="020F0502020204030204"/>
              </a:rPr>
              <a:t>len(nums)</a:t>
            </a:r>
            <a:endParaRPr sz="1750">
              <a:latin typeface="Calibri" panose="020F0502020204030204"/>
              <a:cs typeface="Calibri" panose="020F0502020204030204"/>
            </a:endParaRPr>
          </a:p>
        </p:txBody>
      </p:sp>
      <p:sp>
        <p:nvSpPr>
          <p:cNvPr id="11" name="Slide Number Placeholder 10"/>
          <p:cNvSpPr>
            <a:spLocks noGrp="1"/>
          </p:cNvSpPr>
          <p:nvPr>
            <p:ph type="sldNum" sz="quarter" idx="7"/>
          </p:nvPr>
        </p:nvSpPr>
        <p:spPr/>
        <p:txBody>
          <a:bodyPr/>
          <a:lstStyle/>
          <a:p>
            <a:fld id="{B6F15528-21DE-4FAA-801E-634DDDAF4B2B}" type="slidenum">
              <a:rPr/>
              <a:t>30</a:t>
            </a:fld>
            <a:endParaRPr/>
          </a:p>
        </p:txBody>
      </p:sp>
      <p:sp>
        <p:nvSpPr>
          <p:cNvPr id="12" name="Footer Placeholder 11"/>
          <p:cNvSpPr>
            <a:spLocks noGrp="1"/>
          </p:cNvSpPr>
          <p:nvPr>
            <p:ph type="ftr" sz="quarter" idx="5"/>
          </p:nvPr>
        </p:nvSpPr>
        <p:spPr/>
        <p:txBody>
          <a:bodyPr/>
          <a:lstStyle/>
          <a:p>
            <a:r>
              <a:t>UNIT IV : Pythonic Programming Paradigm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19698"/>
            <a:ext cx="4565650"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map(),</a:t>
            </a:r>
            <a:r>
              <a:rPr spc="-2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filter()</a:t>
            </a:r>
            <a:r>
              <a:rPr spc="-2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and</a:t>
            </a:r>
            <a:r>
              <a:rPr spc="-2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reduce()</a:t>
            </a:r>
            <a:r>
              <a:rPr spc="-2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Function</a:t>
            </a: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6"/>
            <a:ext cx="12105640" cy="5979795"/>
          </a:xfrm>
          <a:custGeom>
            <a:avLst/>
            <a:gdLst/>
            <a:ahLst/>
            <a:cxnLst/>
            <a:rect l="l" t="t" r="r" b="b"/>
            <a:pathLst>
              <a:path w="12105640" h="5979795">
                <a:moveTo>
                  <a:pt x="0" y="0"/>
                </a:moveTo>
                <a:lnTo>
                  <a:pt x="12105503" y="0"/>
                </a:lnTo>
                <a:lnTo>
                  <a:pt x="12105503" y="5979175"/>
                </a:lnTo>
                <a:lnTo>
                  <a:pt x="0" y="5979175"/>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94136" y="460063"/>
            <a:ext cx="7252970" cy="3625850"/>
          </a:xfrm>
          <a:prstGeom prst="rect">
            <a:avLst/>
          </a:prstGeom>
        </p:spPr>
        <p:txBody>
          <a:bodyPr vert="horz" wrap="square" lIns="0" tIns="146050" rIns="0" bIns="0" rtlCol="0">
            <a:spAutoFit/>
          </a:bodyPr>
          <a:lstStyle/>
          <a:p>
            <a:pPr marL="12700">
              <a:lnSpc>
                <a:spcPct val="100000"/>
              </a:lnSpc>
              <a:spcBef>
                <a:spcPts val="1150"/>
              </a:spcBef>
            </a:pPr>
            <a:r>
              <a:rPr sz="1750" spc="-5" dirty="0">
                <a:latin typeface="Calibri" panose="020F0502020204030204"/>
                <a:cs typeface="Calibri" panose="020F0502020204030204"/>
              </a:rPr>
              <a:t>Using</a:t>
            </a:r>
            <a:r>
              <a:rPr sz="1750" spc="-25" dirty="0">
                <a:latin typeface="Calibri" panose="020F0502020204030204"/>
                <a:cs typeface="Calibri" panose="020F0502020204030204"/>
              </a:rPr>
              <a:t> </a:t>
            </a:r>
            <a:r>
              <a:rPr sz="1750" spc="-5" dirty="0">
                <a:latin typeface="Calibri" panose="020F0502020204030204"/>
                <a:cs typeface="Calibri" panose="020F0502020204030204"/>
              </a:rPr>
              <a:t>filter()</a:t>
            </a:r>
            <a:r>
              <a:rPr sz="1750" spc="-25" dirty="0">
                <a:latin typeface="Calibri" panose="020F0502020204030204"/>
                <a:cs typeface="Calibri" panose="020F0502020204030204"/>
              </a:rPr>
              <a:t> </a:t>
            </a:r>
            <a:r>
              <a:rPr sz="1750" spc="-5" dirty="0">
                <a:latin typeface="Calibri" panose="020F0502020204030204"/>
                <a:cs typeface="Calibri" panose="020F0502020204030204"/>
              </a:rPr>
              <a:t>within</a:t>
            </a:r>
            <a:r>
              <a:rPr sz="1750" spc="-25" dirty="0">
                <a:latin typeface="Calibri" panose="020F0502020204030204"/>
                <a:cs typeface="Calibri" panose="020F0502020204030204"/>
              </a:rPr>
              <a:t> </a:t>
            </a:r>
            <a:r>
              <a:rPr sz="1750" spc="-5" dirty="0">
                <a:latin typeface="Calibri" panose="020F0502020204030204"/>
                <a:cs typeface="Calibri" panose="020F0502020204030204"/>
              </a:rPr>
              <a:t>map():</a:t>
            </a:r>
            <a:endParaRPr sz="1750">
              <a:latin typeface="Calibri" panose="020F0502020204030204"/>
              <a:cs typeface="Calibri" panose="020F0502020204030204"/>
            </a:endParaRPr>
          </a:p>
          <a:p>
            <a:pPr marL="12700" marR="2237740">
              <a:lnSpc>
                <a:spcPct val="150000"/>
              </a:lnSpc>
            </a:pPr>
            <a:r>
              <a:rPr sz="1750" dirty="0">
                <a:latin typeface="Calibri" panose="020F0502020204030204"/>
                <a:cs typeface="Calibri" panose="020F0502020204030204"/>
              </a:rPr>
              <a:t>c = </a:t>
            </a:r>
            <a:r>
              <a:rPr sz="1750" spc="-5" dirty="0">
                <a:latin typeface="Calibri" panose="020F0502020204030204"/>
                <a:cs typeface="Calibri" panose="020F0502020204030204"/>
              </a:rPr>
              <a:t>map(lambda x:x+x,filter(lambda x: (x&gt;=3), (1,2,3,4))) </a:t>
            </a:r>
            <a:r>
              <a:rPr sz="1750" spc="-385" dirty="0">
                <a:latin typeface="Calibri" panose="020F0502020204030204"/>
                <a:cs typeface="Calibri" panose="020F0502020204030204"/>
              </a:rPr>
              <a:t> </a:t>
            </a:r>
            <a:r>
              <a:rPr sz="1750" spc="-5" dirty="0">
                <a:latin typeface="Calibri" panose="020F0502020204030204"/>
                <a:cs typeface="Calibri" panose="020F0502020204030204"/>
              </a:rPr>
              <a:t>print(list(c))</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Using</a:t>
            </a:r>
            <a:r>
              <a:rPr sz="1750" spc="-25" dirty="0">
                <a:latin typeface="Calibri" panose="020F0502020204030204"/>
                <a:cs typeface="Calibri" panose="020F0502020204030204"/>
              </a:rPr>
              <a:t> </a:t>
            </a:r>
            <a:r>
              <a:rPr sz="1750" spc="-5" dirty="0">
                <a:latin typeface="Calibri" panose="020F0502020204030204"/>
                <a:cs typeface="Calibri" panose="020F0502020204030204"/>
              </a:rPr>
              <a:t>map()</a:t>
            </a:r>
            <a:r>
              <a:rPr sz="1750" spc="-25" dirty="0">
                <a:latin typeface="Calibri" panose="020F0502020204030204"/>
                <a:cs typeface="Calibri" panose="020F0502020204030204"/>
              </a:rPr>
              <a:t> </a:t>
            </a:r>
            <a:r>
              <a:rPr sz="1750" spc="-5" dirty="0">
                <a:latin typeface="Calibri" panose="020F0502020204030204"/>
                <a:cs typeface="Calibri" panose="020F0502020204030204"/>
              </a:rPr>
              <a:t>within</a:t>
            </a:r>
            <a:r>
              <a:rPr sz="1750" spc="-25" dirty="0">
                <a:latin typeface="Calibri" panose="020F0502020204030204"/>
                <a:cs typeface="Calibri" panose="020F0502020204030204"/>
              </a:rPr>
              <a:t> </a:t>
            </a:r>
            <a:r>
              <a:rPr sz="1750" spc="-5" dirty="0">
                <a:latin typeface="Calibri" panose="020F0502020204030204"/>
                <a:cs typeface="Calibri" panose="020F0502020204030204"/>
              </a:rPr>
              <a:t>filter():</a:t>
            </a:r>
            <a:endParaRPr sz="1750">
              <a:latin typeface="Calibri" panose="020F0502020204030204"/>
              <a:cs typeface="Calibri" panose="020F0502020204030204"/>
            </a:endParaRPr>
          </a:p>
          <a:p>
            <a:pPr marL="12700" marR="579120">
              <a:lnSpc>
                <a:spcPct val="150000"/>
              </a:lnSpc>
            </a:pPr>
            <a:r>
              <a:rPr sz="1750" dirty="0">
                <a:latin typeface="Calibri" panose="020F0502020204030204"/>
                <a:cs typeface="Calibri" panose="020F0502020204030204"/>
              </a:rPr>
              <a:t>c = </a:t>
            </a:r>
            <a:r>
              <a:rPr sz="1750" spc="-5" dirty="0">
                <a:latin typeface="Calibri" panose="020F0502020204030204"/>
                <a:cs typeface="Calibri" panose="020F0502020204030204"/>
              </a:rPr>
              <a:t>filter(lambda x: (x&gt;=3),map(lambda x:x+x, (1,2,3,4))) #lambda x: (x&gt;=3) </a:t>
            </a:r>
            <a:r>
              <a:rPr sz="1750" spc="-385" dirty="0">
                <a:latin typeface="Calibri" panose="020F0502020204030204"/>
                <a:cs typeface="Calibri" panose="020F0502020204030204"/>
              </a:rPr>
              <a:t> </a:t>
            </a:r>
            <a:r>
              <a:rPr sz="1750" spc="-5" dirty="0">
                <a:latin typeface="Calibri" panose="020F0502020204030204"/>
                <a:cs typeface="Calibri" panose="020F0502020204030204"/>
              </a:rPr>
              <a:t>print(list(c))</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Using</a:t>
            </a:r>
            <a:r>
              <a:rPr sz="1750" spc="-20" dirty="0">
                <a:latin typeface="Calibri" panose="020F0502020204030204"/>
                <a:cs typeface="Calibri" panose="020F0502020204030204"/>
              </a:rPr>
              <a:t> </a:t>
            </a:r>
            <a:r>
              <a:rPr sz="1750" spc="-5" dirty="0">
                <a:latin typeface="Calibri" panose="020F0502020204030204"/>
                <a:cs typeface="Calibri" panose="020F0502020204030204"/>
              </a:rPr>
              <a:t>map()</a:t>
            </a:r>
            <a:r>
              <a:rPr sz="1750" spc="-15" dirty="0">
                <a:latin typeface="Calibri" panose="020F0502020204030204"/>
                <a:cs typeface="Calibri" panose="020F0502020204030204"/>
              </a:rPr>
              <a:t> </a:t>
            </a:r>
            <a:r>
              <a:rPr sz="1750" dirty="0">
                <a:latin typeface="Calibri" panose="020F0502020204030204"/>
                <a:cs typeface="Calibri" panose="020F0502020204030204"/>
              </a:rPr>
              <a:t>and</a:t>
            </a:r>
            <a:r>
              <a:rPr sz="1750" spc="-20" dirty="0">
                <a:latin typeface="Calibri" panose="020F0502020204030204"/>
                <a:cs typeface="Calibri" panose="020F0502020204030204"/>
              </a:rPr>
              <a:t> </a:t>
            </a:r>
            <a:r>
              <a:rPr sz="1750" spc="-5" dirty="0">
                <a:latin typeface="Calibri" panose="020F0502020204030204"/>
                <a:cs typeface="Calibri" panose="020F0502020204030204"/>
              </a:rPr>
              <a:t>filter()</a:t>
            </a:r>
            <a:r>
              <a:rPr sz="1750" spc="-15" dirty="0">
                <a:latin typeface="Calibri" panose="020F0502020204030204"/>
                <a:cs typeface="Calibri" panose="020F0502020204030204"/>
              </a:rPr>
              <a:t> </a:t>
            </a:r>
            <a:r>
              <a:rPr sz="1750" spc="-5" dirty="0">
                <a:latin typeface="Calibri" panose="020F0502020204030204"/>
                <a:cs typeface="Calibri" panose="020F0502020204030204"/>
              </a:rPr>
              <a:t>within</a:t>
            </a:r>
            <a:r>
              <a:rPr sz="1750" spc="-20" dirty="0">
                <a:latin typeface="Calibri" panose="020F0502020204030204"/>
                <a:cs typeface="Calibri" panose="020F0502020204030204"/>
              </a:rPr>
              <a:t> </a:t>
            </a:r>
            <a:r>
              <a:rPr sz="1750" spc="-5" dirty="0">
                <a:latin typeface="Calibri" panose="020F0502020204030204"/>
                <a:cs typeface="Calibri" panose="020F0502020204030204"/>
              </a:rPr>
              <a:t>reduce():</a:t>
            </a:r>
            <a:endParaRPr sz="1750">
              <a:latin typeface="Calibri" panose="020F0502020204030204"/>
              <a:cs typeface="Calibri" panose="020F0502020204030204"/>
            </a:endParaRPr>
          </a:p>
          <a:p>
            <a:pPr marL="12700" marR="5080">
              <a:lnSpc>
                <a:spcPct val="150000"/>
              </a:lnSpc>
            </a:pPr>
            <a:r>
              <a:rPr sz="1750" dirty="0">
                <a:latin typeface="Calibri" panose="020F0502020204030204"/>
                <a:cs typeface="Calibri" panose="020F0502020204030204"/>
              </a:rPr>
              <a:t>d = </a:t>
            </a:r>
            <a:r>
              <a:rPr sz="1750" spc="-5" dirty="0">
                <a:latin typeface="Calibri" panose="020F0502020204030204"/>
                <a:cs typeface="Calibri" panose="020F0502020204030204"/>
              </a:rPr>
              <a:t>reduce(lambda x,y: x+y,map(lambda x:x+x,filter(lambda x: (x&gt;=3), (1,2,3,4)))) </a:t>
            </a:r>
            <a:r>
              <a:rPr sz="1750" spc="-385" dirty="0">
                <a:latin typeface="Calibri" panose="020F0502020204030204"/>
                <a:cs typeface="Calibri" panose="020F0502020204030204"/>
              </a:rPr>
              <a:t> </a:t>
            </a:r>
            <a:r>
              <a:rPr sz="1750" spc="-5" dirty="0">
                <a:latin typeface="Calibri" panose="020F0502020204030204"/>
                <a:cs typeface="Calibri" panose="020F0502020204030204"/>
              </a:rPr>
              <a:t>print(d)</a:t>
            </a:r>
            <a:endParaRPr sz="1750">
              <a:latin typeface="Calibri" panose="020F0502020204030204"/>
              <a:cs typeface="Calibri" panose="020F0502020204030204"/>
            </a:endParaRPr>
          </a:p>
        </p:txBody>
      </p:sp>
      <p:sp>
        <p:nvSpPr>
          <p:cNvPr id="7" name="Slide Number Placeholder 6"/>
          <p:cNvSpPr>
            <a:spLocks noGrp="1"/>
          </p:cNvSpPr>
          <p:nvPr>
            <p:ph type="sldNum" sz="quarter" idx="7"/>
          </p:nvPr>
        </p:nvSpPr>
        <p:spPr/>
        <p:txBody>
          <a:bodyPr/>
          <a:lstStyle/>
          <a:p>
            <a:fld id="{B6F15528-21DE-4FAA-801E-634DDDAF4B2B}" type="slidenum">
              <a:rPr/>
              <a:t>31</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19698"/>
            <a:ext cx="4565650"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map(),</a:t>
            </a:r>
            <a:r>
              <a:rPr spc="-2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filter()</a:t>
            </a:r>
            <a:r>
              <a:rPr spc="-2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and</a:t>
            </a:r>
            <a:r>
              <a:rPr spc="-2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reduce()</a:t>
            </a:r>
            <a:r>
              <a:rPr spc="-2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Function</a:t>
            </a: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6"/>
            <a:ext cx="12105640" cy="5979795"/>
          </a:xfrm>
          <a:custGeom>
            <a:avLst/>
            <a:gdLst/>
            <a:ahLst/>
            <a:cxnLst/>
            <a:rect l="l" t="t" r="r" b="b"/>
            <a:pathLst>
              <a:path w="12105640" h="5979795">
                <a:moveTo>
                  <a:pt x="0" y="0"/>
                </a:moveTo>
                <a:lnTo>
                  <a:pt x="12105503" y="0"/>
                </a:lnTo>
                <a:lnTo>
                  <a:pt x="12105503" y="5979175"/>
                </a:lnTo>
                <a:lnTo>
                  <a:pt x="0" y="5979175"/>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94136" y="460063"/>
            <a:ext cx="7359015" cy="5226050"/>
          </a:xfrm>
          <a:prstGeom prst="rect">
            <a:avLst/>
          </a:prstGeom>
        </p:spPr>
        <p:txBody>
          <a:bodyPr vert="horz" wrap="square" lIns="0" tIns="146050" rIns="0" bIns="0" rtlCol="0">
            <a:spAutoFit/>
          </a:bodyPr>
          <a:lstStyle/>
          <a:p>
            <a:pPr marL="12700">
              <a:lnSpc>
                <a:spcPct val="100000"/>
              </a:lnSpc>
              <a:spcBef>
                <a:spcPts val="1150"/>
              </a:spcBef>
            </a:pPr>
            <a:r>
              <a:rPr sz="1750" spc="-5" dirty="0">
                <a:latin typeface="Calibri" panose="020F0502020204030204"/>
                <a:cs typeface="Calibri" panose="020F0502020204030204"/>
              </a:rPr>
              <a:t>from</a:t>
            </a:r>
            <a:r>
              <a:rPr sz="1750" spc="-25" dirty="0">
                <a:latin typeface="Calibri" panose="020F0502020204030204"/>
                <a:cs typeface="Calibri" panose="020F0502020204030204"/>
              </a:rPr>
              <a:t> </a:t>
            </a:r>
            <a:r>
              <a:rPr sz="1750" spc="-5" dirty="0">
                <a:latin typeface="Calibri" panose="020F0502020204030204"/>
                <a:cs typeface="Calibri" panose="020F0502020204030204"/>
              </a:rPr>
              <a:t>functools</a:t>
            </a:r>
            <a:r>
              <a:rPr sz="1750" spc="-25" dirty="0">
                <a:latin typeface="Calibri" panose="020F0502020204030204"/>
                <a:cs typeface="Calibri" panose="020F0502020204030204"/>
              </a:rPr>
              <a:t> </a:t>
            </a:r>
            <a:r>
              <a:rPr sz="1750" spc="-5" dirty="0">
                <a:latin typeface="Calibri" panose="020F0502020204030204"/>
                <a:cs typeface="Calibri" panose="020F0502020204030204"/>
              </a:rPr>
              <a:t>import</a:t>
            </a:r>
            <a:r>
              <a:rPr sz="1750" spc="-25" dirty="0">
                <a:latin typeface="Calibri" panose="020F0502020204030204"/>
                <a:cs typeface="Calibri" panose="020F0502020204030204"/>
              </a:rPr>
              <a:t> </a:t>
            </a:r>
            <a:r>
              <a:rPr sz="1750" spc="-5" dirty="0">
                <a:latin typeface="Calibri" panose="020F0502020204030204"/>
                <a:cs typeface="Calibri" panose="020F0502020204030204"/>
              </a:rPr>
              <a:t>reduce</a:t>
            </a:r>
            <a:endParaRPr sz="1750">
              <a:latin typeface="Calibri" panose="020F0502020204030204"/>
              <a:cs typeface="Calibri" panose="020F0502020204030204"/>
            </a:endParaRPr>
          </a:p>
          <a:p>
            <a:pPr marL="12700">
              <a:lnSpc>
                <a:spcPct val="100000"/>
              </a:lnSpc>
              <a:spcBef>
                <a:spcPts val="1050"/>
              </a:spcBef>
            </a:pPr>
            <a:r>
              <a:rPr sz="1750" b="1" dirty="0">
                <a:latin typeface="Calibri" panose="020F0502020204030204"/>
                <a:cs typeface="Calibri" panose="020F0502020204030204"/>
              </a:rPr>
              <a:t>#</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Use map</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to print</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the square</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of each</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numbers rounded#</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to two</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decimal places</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my_floats</a:t>
            </a:r>
            <a:r>
              <a:rPr sz="1750" spc="-15" dirty="0">
                <a:latin typeface="Calibri" panose="020F0502020204030204"/>
                <a:cs typeface="Calibri" panose="020F0502020204030204"/>
              </a:rPr>
              <a:t> </a:t>
            </a:r>
            <a:r>
              <a:rPr sz="1750" dirty="0">
                <a:latin typeface="Calibri" panose="020F0502020204030204"/>
                <a:cs typeface="Calibri" panose="020F0502020204030204"/>
              </a:rPr>
              <a:t>=</a:t>
            </a:r>
            <a:r>
              <a:rPr sz="1750" spc="-10" dirty="0">
                <a:latin typeface="Calibri" panose="020F0502020204030204"/>
                <a:cs typeface="Calibri" panose="020F0502020204030204"/>
              </a:rPr>
              <a:t> </a:t>
            </a:r>
            <a:r>
              <a:rPr sz="1750" spc="-5" dirty="0">
                <a:latin typeface="Calibri" panose="020F0502020204030204"/>
                <a:cs typeface="Calibri" panose="020F0502020204030204"/>
              </a:rPr>
              <a:t>[4.35,</a:t>
            </a:r>
            <a:r>
              <a:rPr sz="1750" spc="-15" dirty="0">
                <a:latin typeface="Calibri" panose="020F0502020204030204"/>
                <a:cs typeface="Calibri" panose="020F0502020204030204"/>
              </a:rPr>
              <a:t> </a:t>
            </a:r>
            <a:r>
              <a:rPr sz="1750" spc="-5" dirty="0">
                <a:latin typeface="Calibri" panose="020F0502020204030204"/>
                <a:cs typeface="Calibri" panose="020F0502020204030204"/>
              </a:rPr>
              <a:t>6.09,</a:t>
            </a:r>
            <a:r>
              <a:rPr sz="1750" spc="-10" dirty="0">
                <a:latin typeface="Calibri" panose="020F0502020204030204"/>
                <a:cs typeface="Calibri" panose="020F0502020204030204"/>
              </a:rPr>
              <a:t> </a:t>
            </a:r>
            <a:r>
              <a:rPr sz="1750" spc="-5" dirty="0">
                <a:latin typeface="Calibri" panose="020F0502020204030204"/>
                <a:cs typeface="Calibri" panose="020F0502020204030204"/>
              </a:rPr>
              <a:t>3.25,</a:t>
            </a:r>
            <a:r>
              <a:rPr sz="1750" spc="-10" dirty="0">
                <a:latin typeface="Calibri" panose="020F0502020204030204"/>
                <a:cs typeface="Calibri" panose="020F0502020204030204"/>
              </a:rPr>
              <a:t> </a:t>
            </a:r>
            <a:r>
              <a:rPr sz="1750" spc="-5" dirty="0">
                <a:latin typeface="Calibri" panose="020F0502020204030204"/>
                <a:cs typeface="Calibri" panose="020F0502020204030204"/>
              </a:rPr>
              <a:t>9.77,</a:t>
            </a:r>
            <a:r>
              <a:rPr sz="1750" spc="-15" dirty="0">
                <a:latin typeface="Calibri" panose="020F0502020204030204"/>
                <a:cs typeface="Calibri" panose="020F0502020204030204"/>
              </a:rPr>
              <a:t> </a:t>
            </a:r>
            <a:r>
              <a:rPr sz="1750" spc="-5" dirty="0">
                <a:latin typeface="Calibri" panose="020F0502020204030204"/>
                <a:cs typeface="Calibri" panose="020F0502020204030204"/>
              </a:rPr>
              <a:t>2.16,</a:t>
            </a:r>
            <a:r>
              <a:rPr sz="1750" spc="-10" dirty="0">
                <a:latin typeface="Calibri" panose="020F0502020204030204"/>
                <a:cs typeface="Calibri" panose="020F0502020204030204"/>
              </a:rPr>
              <a:t> </a:t>
            </a:r>
            <a:r>
              <a:rPr sz="1750" spc="-5" dirty="0">
                <a:latin typeface="Calibri" panose="020F0502020204030204"/>
                <a:cs typeface="Calibri" panose="020F0502020204030204"/>
              </a:rPr>
              <a:t>8.88,</a:t>
            </a:r>
            <a:r>
              <a:rPr sz="1750" spc="-10" dirty="0">
                <a:latin typeface="Calibri" panose="020F0502020204030204"/>
                <a:cs typeface="Calibri" panose="020F0502020204030204"/>
              </a:rPr>
              <a:t> </a:t>
            </a:r>
            <a:r>
              <a:rPr sz="1750" spc="-5" dirty="0">
                <a:latin typeface="Calibri" panose="020F0502020204030204"/>
                <a:cs typeface="Calibri" panose="020F0502020204030204"/>
              </a:rPr>
              <a:t>4.59]</a:t>
            </a:r>
            <a:endParaRPr sz="1750">
              <a:latin typeface="Calibri" panose="020F0502020204030204"/>
              <a:cs typeface="Calibri" panose="020F0502020204030204"/>
            </a:endParaRPr>
          </a:p>
          <a:p>
            <a:pPr marL="12700">
              <a:lnSpc>
                <a:spcPct val="100000"/>
              </a:lnSpc>
              <a:spcBef>
                <a:spcPts val="1050"/>
              </a:spcBef>
            </a:pPr>
            <a:r>
              <a:rPr sz="1750" b="1" dirty="0">
                <a:latin typeface="Calibri" panose="020F0502020204030204"/>
                <a:cs typeface="Calibri" panose="020F0502020204030204"/>
              </a:rPr>
              <a:t>#</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Use filter to</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print only the names</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that are less</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than or equal to</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seven letters</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my_names</a:t>
            </a:r>
            <a:r>
              <a:rPr sz="1750" spc="-15" dirty="0">
                <a:latin typeface="Calibri" panose="020F0502020204030204"/>
                <a:cs typeface="Calibri" panose="020F0502020204030204"/>
              </a:rPr>
              <a:t> </a:t>
            </a:r>
            <a:r>
              <a:rPr sz="1750" dirty="0">
                <a:latin typeface="Calibri" panose="020F0502020204030204"/>
                <a:cs typeface="Calibri" panose="020F0502020204030204"/>
              </a:rPr>
              <a:t>=</a:t>
            </a:r>
            <a:r>
              <a:rPr sz="1750" spc="-15" dirty="0">
                <a:latin typeface="Calibri" panose="020F0502020204030204"/>
                <a:cs typeface="Calibri" panose="020F0502020204030204"/>
              </a:rPr>
              <a:t> </a:t>
            </a:r>
            <a:r>
              <a:rPr sz="1750" spc="-5" dirty="0">
                <a:latin typeface="Calibri" panose="020F0502020204030204"/>
                <a:cs typeface="Calibri" panose="020F0502020204030204"/>
              </a:rPr>
              <a:t>["olumide",</a:t>
            </a:r>
            <a:r>
              <a:rPr sz="1750" spc="-15" dirty="0">
                <a:latin typeface="Calibri" panose="020F0502020204030204"/>
                <a:cs typeface="Calibri" panose="020F0502020204030204"/>
              </a:rPr>
              <a:t> </a:t>
            </a:r>
            <a:r>
              <a:rPr sz="1750" spc="-5" dirty="0">
                <a:latin typeface="Calibri" panose="020F0502020204030204"/>
                <a:cs typeface="Calibri" panose="020F0502020204030204"/>
              </a:rPr>
              <a:t>"akinremi",</a:t>
            </a:r>
            <a:r>
              <a:rPr sz="1750" spc="-15" dirty="0">
                <a:latin typeface="Calibri" panose="020F0502020204030204"/>
                <a:cs typeface="Calibri" panose="020F0502020204030204"/>
              </a:rPr>
              <a:t> </a:t>
            </a:r>
            <a:r>
              <a:rPr sz="1750" spc="-5" dirty="0">
                <a:latin typeface="Calibri" panose="020F0502020204030204"/>
                <a:cs typeface="Calibri" panose="020F0502020204030204"/>
              </a:rPr>
              <a:t>"josiah",</a:t>
            </a:r>
            <a:r>
              <a:rPr sz="1750" spc="-15" dirty="0">
                <a:latin typeface="Calibri" panose="020F0502020204030204"/>
                <a:cs typeface="Calibri" panose="020F0502020204030204"/>
              </a:rPr>
              <a:t> </a:t>
            </a:r>
            <a:r>
              <a:rPr sz="1750" spc="-5" dirty="0">
                <a:latin typeface="Calibri" panose="020F0502020204030204"/>
                <a:cs typeface="Calibri" panose="020F0502020204030204"/>
              </a:rPr>
              <a:t>"temidayo",</a:t>
            </a:r>
            <a:r>
              <a:rPr sz="1750" spc="-20" dirty="0">
                <a:latin typeface="Calibri" panose="020F0502020204030204"/>
                <a:cs typeface="Calibri" panose="020F0502020204030204"/>
              </a:rPr>
              <a:t> </a:t>
            </a:r>
            <a:r>
              <a:rPr sz="1750" spc="-5" dirty="0">
                <a:latin typeface="Calibri" panose="020F0502020204030204"/>
                <a:cs typeface="Calibri" panose="020F0502020204030204"/>
              </a:rPr>
              <a:t>"omoseun"]</a:t>
            </a:r>
            <a:endParaRPr sz="1750">
              <a:latin typeface="Calibri" panose="020F0502020204030204"/>
              <a:cs typeface="Calibri" panose="020F0502020204030204"/>
            </a:endParaRPr>
          </a:p>
          <a:p>
            <a:pPr marL="12700">
              <a:lnSpc>
                <a:spcPct val="100000"/>
              </a:lnSpc>
              <a:spcBef>
                <a:spcPts val="1050"/>
              </a:spcBef>
            </a:pPr>
            <a:r>
              <a:rPr sz="1750" b="1" dirty="0">
                <a:latin typeface="Calibri" panose="020F0502020204030204"/>
                <a:cs typeface="Calibri" panose="020F0502020204030204"/>
              </a:rPr>
              <a:t>#</a:t>
            </a:r>
            <a:r>
              <a:rPr sz="1750" b="1" spc="-15" dirty="0">
                <a:latin typeface="Calibri" panose="020F0502020204030204"/>
                <a:cs typeface="Calibri" panose="020F0502020204030204"/>
              </a:rPr>
              <a:t> </a:t>
            </a:r>
            <a:r>
              <a:rPr sz="1750" b="1" spc="-5" dirty="0">
                <a:latin typeface="Calibri" panose="020F0502020204030204"/>
                <a:cs typeface="Calibri" panose="020F0502020204030204"/>
              </a:rPr>
              <a:t>Use</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reduce</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to</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print</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the</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product</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of</a:t>
            </a:r>
            <a:r>
              <a:rPr sz="1750" b="1" spc="-15" dirty="0">
                <a:latin typeface="Calibri" panose="020F0502020204030204"/>
                <a:cs typeface="Calibri" panose="020F0502020204030204"/>
              </a:rPr>
              <a:t> </a:t>
            </a:r>
            <a:r>
              <a:rPr sz="1750" b="1" spc="-5" dirty="0">
                <a:latin typeface="Calibri" panose="020F0502020204030204"/>
                <a:cs typeface="Calibri" panose="020F0502020204030204"/>
              </a:rPr>
              <a:t>these</a:t>
            </a:r>
            <a:r>
              <a:rPr sz="1750" b="1" spc="-10" dirty="0">
                <a:latin typeface="Calibri" panose="020F0502020204030204"/>
                <a:cs typeface="Calibri" panose="020F0502020204030204"/>
              </a:rPr>
              <a:t> </a:t>
            </a:r>
            <a:r>
              <a:rPr sz="1750" b="1" spc="-5" dirty="0">
                <a:latin typeface="Calibri" panose="020F0502020204030204"/>
                <a:cs typeface="Calibri" panose="020F0502020204030204"/>
              </a:rPr>
              <a:t>numbers</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my_numbers</a:t>
            </a:r>
            <a:r>
              <a:rPr sz="1750" spc="-15" dirty="0">
                <a:latin typeface="Calibri" panose="020F0502020204030204"/>
                <a:cs typeface="Calibri" panose="020F0502020204030204"/>
              </a:rPr>
              <a:t> </a:t>
            </a:r>
            <a:r>
              <a:rPr sz="1750" dirty="0">
                <a:latin typeface="Calibri" panose="020F0502020204030204"/>
                <a:cs typeface="Calibri" panose="020F0502020204030204"/>
              </a:rPr>
              <a:t>=</a:t>
            </a:r>
            <a:r>
              <a:rPr sz="1750" spc="-15" dirty="0">
                <a:latin typeface="Calibri" panose="020F0502020204030204"/>
                <a:cs typeface="Calibri" panose="020F0502020204030204"/>
              </a:rPr>
              <a:t> </a:t>
            </a:r>
            <a:r>
              <a:rPr sz="1750" spc="-5" dirty="0">
                <a:latin typeface="Calibri" panose="020F0502020204030204"/>
                <a:cs typeface="Calibri" panose="020F0502020204030204"/>
              </a:rPr>
              <a:t>[4,</a:t>
            </a:r>
            <a:r>
              <a:rPr sz="1750" spc="-15" dirty="0">
                <a:latin typeface="Calibri" panose="020F0502020204030204"/>
                <a:cs typeface="Calibri" panose="020F0502020204030204"/>
              </a:rPr>
              <a:t> </a:t>
            </a:r>
            <a:r>
              <a:rPr sz="1750" spc="-5" dirty="0">
                <a:latin typeface="Calibri" panose="020F0502020204030204"/>
                <a:cs typeface="Calibri" panose="020F0502020204030204"/>
              </a:rPr>
              <a:t>6,</a:t>
            </a:r>
            <a:r>
              <a:rPr sz="1750" spc="-15" dirty="0">
                <a:latin typeface="Calibri" panose="020F0502020204030204"/>
                <a:cs typeface="Calibri" panose="020F0502020204030204"/>
              </a:rPr>
              <a:t> </a:t>
            </a:r>
            <a:r>
              <a:rPr sz="1750" spc="-5" dirty="0">
                <a:latin typeface="Calibri" panose="020F0502020204030204"/>
                <a:cs typeface="Calibri" panose="020F0502020204030204"/>
              </a:rPr>
              <a:t>9,</a:t>
            </a:r>
            <a:r>
              <a:rPr sz="1750" spc="-15" dirty="0">
                <a:latin typeface="Calibri" panose="020F0502020204030204"/>
                <a:cs typeface="Calibri" panose="020F0502020204030204"/>
              </a:rPr>
              <a:t> </a:t>
            </a:r>
            <a:r>
              <a:rPr sz="1750" spc="-5" dirty="0">
                <a:latin typeface="Calibri" panose="020F0502020204030204"/>
                <a:cs typeface="Calibri" panose="020F0502020204030204"/>
              </a:rPr>
              <a:t>23,</a:t>
            </a:r>
            <a:r>
              <a:rPr sz="1750" spc="-20" dirty="0">
                <a:latin typeface="Calibri" panose="020F0502020204030204"/>
                <a:cs typeface="Calibri" panose="020F0502020204030204"/>
              </a:rPr>
              <a:t> </a:t>
            </a:r>
            <a:r>
              <a:rPr sz="1750" spc="-5" dirty="0">
                <a:latin typeface="Calibri" panose="020F0502020204030204"/>
                <a:cs typeface="Calibri" panose="020F0502020204030204"/>
              </a:rPr>
              <a:t>5]</a:t>
            </a:r>
            <a:endParaRPr sz="1750">
              <a:latin typeface="Calibri" panose="020F0502020204030204"/>
              <a:cs typeface="Calibri" panose="020F0502020204030204"/>
            </a:endParaRPr>
          </a:p>
          <a:p>
            <a:pPr marL="12700" marR="1313815">
              <a:lnSpc>
                <a:spcPct val="150000"/>
              </a:lnSpc>
            </a:pPr>
            <a:r>
              <a:rPr sz="1750" spc="-5" dirty="0">
                <a:latin typeface="Calibri" panose="020F0502020204030204"/>
                <a:cs typeface="Calibri" panose="020F0502020204030204"/>
              </a:rPr>
              <a:t>map_result </a:t>
            </a:r>
            <a:r>
              <a:rPr sz="1750" dirty="0">
                <a:latin typeface="Calibri" panose="020F0502020204030204"/>
                <a:cs typeface="Calibri" panose="020F0502020204030204"/>
              </a:rPr>
              <a:t>= </a:t>
            </a:r>
            <a:r>
              <a:rPr sz="1750" spc="-5" dirty="0">
                <a:latin typeface="Calibri" panose="020F0502020204030204"/>
                <a:cs typeface="Calibri" panose="020F0502020204030204"/>
              </a:rPr>
              <a:t>list(map(lambda x: round(x ** 2, 3), my_floats)) </a:t>
            </a:r>
            <a:r>
              <a:rPr sz="1750" dirty="0">
                <a:latin typeface="Calibri" panose="020F0502020204030204"/>
                <a:cs typeface="Calibri" panose="020F0502020204030204"/>
              </a:rPr>
              <a:t> </a:t>
            </a:r>
            <a:r>
              <a:rPr sz="1750" spc="-5" dirty="0">
                <a:latin typeface="Calibri" panose="020F0502020204030204"/>
                <a:cs typeface="Calibri" panose="020F0502020204030204"/>
              </a:rPr>
              <a:t>filter_result</a:t>
            </a:r>
            <a:r>
              <a:rPr sz="1750" spc="-15" dirty="0">
                <a:latin typeface="Calibri" panose="020F0502020204030204"/>
                <a:cs typeface="Calibri" panose="020F0502020204030204"/>
              </a:rPr>
              <a:t> </a:t>
            </a:r>
            <a:r>
              <a:rPr sz="1750" dirty="0">
                <a:latin typeface="Calibri" panose="020F0502020204030204"/>
                <a:cs typeface="Calibri" panose="020F0502020204030204"/>
              </a:rPr>
              <a:t>=</a:t>
            </a:r>
            <a:r>
              <a:rPr sz="1750" spc="-15" dirty="0">
                <a:latin typeface="Calibri" panose="020F0502020204030204"/>
                <a:cs typeface="Calibri" panose="020F0502020204030204"/>
              </a:rPr>
              <a:t> </a:t>
            </a:r>
            <a:r>
              <a:rPr sz="1750" spc="-5" dirty="0">
                <a:latin typeface="Calibri" panose="020F0502020204030204"/>
                <a:cs typeface="Calibri" panose="020F0502020204030204"/>
              </a:rPr>
              <a:t>list(filter(lambda</a:t>
            </a:r>
            <a:r>
              <a:rPr sz="1750" spc="-15" dirty="0">
                <a:latin typeface="Calibri" panose="020F0502020204030204"/>
                <a:cs typeface="Calibri" panose="020F0502020204030204"/>
              </a:rPr>
              <a:t> </a:t>
            </a:r>
            <a:r>
              <a:rPr sz="1750" spc="-5" dirty="0">
                <a:latin typeface="Calibri" panose="020F0502020204030204"/>
                <a:cs typeface="Calibri" panose="020F0502020204030204"/>
              </a:rPr>
              <a:t>name:</a:t>
            </a:r>
            <a:r>
              <a:rPr sz="1750" spc="-15" dirty="0">
                <a:latin typeface="Calibri" panose="020F0502020204030204"/>
                <a:cs typeface="Calibri" panose="020F0502020204030204"/>
              </a:rPr>
              <a:t> </a:t>
            </a:r>
            <a:r>
              <a:rPr sz="1750" spc="-5" dirty="0">
                <a:latin typeface="Calibri" panose="020F0502020204030204"/>
                <a:cs typeface="Calibri" panose="020F0502020204030204"/>
              </a:rPr>
              <a:t>len(name)</a:t>
            </a:r>
            <a:r>
              <a:rPr sz="1750" spc="-15" dirty="0">
                <a:latin typeface="Calibri" panose="020F0502020204030204"/>
                <a:cs typeface="Calibri" panose="020F0502020204030204"/>
              </a:rPr>
              <a:t> </a:t>
            </a:r>
            <a:r>
              <a:rPr sz="1750" spc="-5" dirty="0">
                <a:latin typeface="Calibri" panose="020F0502020204030204"/>
                <a:cs typeface="Calibri" panose="020F0502020204030204"/>
              </a:rPr>
              <a:t>&lt;=</a:t>
            </a:r>
            <a:r>
              <a:rPr sz="1750" spc="-15" dirty="0">
                <a:latin typeface="Calibri" panose="020F0502020204030204"/>
                <a:cs typeface="Calibri" panose="020F0502020204030204"/>
              </a:rPr>
              <a:t> </a:t>
            </a:r>
            <a:r>
              <a:rPr sz="1750" spc="-5" dirty="0">
                <a:latin typeface="Calibri" panose="020F0502020204030204"/>
                <a:cs typeface="Calibri" panose="020F0502020204030204"/>
              </a:rPr>
              <a:t>7,</a:t>
            </a:r>
            <a:r>
              <a:rPr sz="1750" spc="-10" dirty="0">
                <a:latin typeface="Calibri" panose="020F0502020204030204"/>
                <a:cs typeface="Calibri" panose="020F0502020204030204"/>
              </a:rPr>
              <a:t> </a:t>
            </a:r>
            <a:r>
              <a:rPr sz="1750" spc="-5" dirty="0">
                <a:latin typeface="Calibri" panose="020F0502020204030204"/>
                <a:cs typeface="Calibri" panose="020F0502020204030204"/>
              </a:rPr>
              <a:t>my_names))</a:t>
            </a:r>
            <a:endParaRPr sz="1750">
              <a:latin typeface="Calibri" panose="020F0502020204030204"/>
              <a:cs typeface="Calibri" panose="020F0502020204030204"/>
            </a:endParaRPr>
          </a:p>
          <a:p>
            <a:pPr marL="12700" marR="581025">
              <a:lnSpc>
                <a:spcPct val="150000"/>
              </a:lnSpc>
            </a:pPr>
            <a:r>
              <a:rPr sz="1750" spc="-5" dirty="0">
                <a:latin typeface="Calibri" panose="020F0502020204030204"/>
                <a:cs typeface="Calibri" panose="020F0502020204030204"/>
              </a:rPr>
              <a:t>reduce_result </a:t>
            </a:r>
            <a:r>
              <a:rPr sz="1750" dirty="0">
                <a:latin typeface="Calibri" panose="020F0502020204030204"/>
                <a:cs typeface="Calibri" panose="020F0502020204030204"/>
              </a:rPr>
              <a:t>= </a:t>
            </a:r>
            <a:r>
              <a:rPr sz="1750" spc="-5" dirty="0">
                <a:latin typeface="Calibri" panose="020F0502020204030204"/>
                <a:cs typeface="Calibri" panose="020F0502020204030204"/>
              </a:rPr>
              <a:t>reduce(lambda num1, num2: num1 </a:t>
            </a:r>
            <a:r>
              <a:rPr sz="1750" dirty="0">
                <a:latin typeface="Calibri" panose="020F0502020204030204"/>
                <a:cs typeface="Calibri" panose="020F0502020204030204"/>
              </a:rPr>
              <a:t>* </a:t>
            </a:r>
            <a:r>
              <a:rPr sz="1750" spc="-5" dirty="0">
                <a:latin typeface="Calibri" panose="020F0502020204030204"/>
                <a:cs typeface="Calibri" panose="020F0502020204030204"/>
              </a:rPr>
              <a:t>num2, my_numbers) </a:t>
            </a:r>
            <a:r>
              <a:rPr sz="1750" spc="-385" dirty="0">
                <a:latin typeface="Calibri" panose="020F0502020204030204"/>
                <a:cs typeface="Calibri" panose="020F0502020204030204"/>
              </a:rPr>
              <a:t> </a:t>
            </a:r>
            <a:r>
              <a:rPr sz="1750" spc="-5" dirty="0">
                <a:latin typeface="Calibri" panose="020F0502020204030204"/>
                <a:cs typeface="Calibri" panose="020F0502020204030204"/>
              </a:rPr>
              <a:t>print(map_result)</a:t>
            </a:r>
            <a:endParaRPr sz="1750">
              <a:latin typeface="Calibri" panose="020F0502020204030204"/>
              <a:cs typeface="Calibri" panose="020F0502020204030204"/>
            </a:endParaRPr>
          </a:p>
          <a:p>
            <a:pPr marL="12700" marR="5514340">
              <a:lnSpc>
                <a:spcPct val="150000"/>
              </a:lnSpc>
            </a:pPr>
            <a:r>
              <a:rPr sz="1750" spc="-5" dirty="0">
                <a:latin typeface="Calibri" panose="020F0502020204030204"/>
                <a:cs typeface="Calibri" panose="020F0502020204030204"/>
              </a:rPr>
              <a:t>print(filter_result) </a:t>
            </a:r>
            <a:r>
              <a:rPr sz="1750" dirty="0">
                <a:latin typeface="Calibri" panose="020F0502020204030204"/>
                <a:cs typeface="Calibri" panose="020F0502020204030204"/>
              </a:rPr>
              <a:t> </a:t>
            </a:r>
            <a:r>
              <a:rPr sz="1750" spc="-5" dirty="0">
                <a:latin typeface="Calibri" panose="020F0502020204030204"/>
                <a:cs typeface="Calibri" panose="020F0502020204030204"/>
              </a:rPr>
              <a:t>print(reduce_result)</a:t>
            </a:r>
            <a:endParaRPr sz="1750">
              <a:latin typeface="Calibri" panose="020F0502020204030204"/>
              <a:cs typeface="Calibri" panose="020F0502020204030204"/>
            </a:endParaRPr>
          </a:p>
        </p:txBody>
      </p:sp>
      <p:sp>
        <p:nvSpPr>
          <p:cNvPr id="7" name="Slide Number Placeholder 6"/>
          <p:cNvSpPr>
            <a:spLocks noGrp="1"/>
          </p:cNvSpPr>
          <p:nvPr>
            <p:ph type="sldNum" sz="quarter" idx="7"/>
          </p:nvPr>
        </p:nvSpPr>
        <p:spPr/>
        <p:txBody>
          <a:bodyPr/>
          <a:lstStyle/>
          <a:p>
            <a:fld id="{B6F15528-21DE-4FAA-801E-634DDDAF4B2B}" type="slidenum">
              <a:rPr/>
              <a:t>32</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19698"/>
            <a:ext cx="1224280"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Examples</a:t>
            </a: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6"/>
            <a:ext cx="12105640" cy="5979795"/>
          </a:xfrm>
          <a:custGeom>
            <a:avLst/>
            <a:gdLst/>
            <a:ahLst/>
            <a:cxnLst/>
            <a:rect l="l" t="t" r="r" b="b"/>
            <a:pathLst>
              <a:path w="12105640" h="5979795">
                <a:moveTo>
                  <a:pt x="0" y="0"/>
                </a:moveTo>
                <a:lnTo>
                  <a:pt x="12105503" y="0"/>
                </a:lnTo>
                <a:lnTo>
                  <a:pt x="12105503" y="5979175"/>
                </a:lnTo>
                <a:lnTo>
                  <a:pt x="0" y="5979175"/>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94136" y="460063"/>
            <a:ext cx="5898515" cy="5226050"/>
          </a:xfrm>
          <a:prstGeom prst="rect">
            <a:avLst/>
          </a:prstGeom>
        </p:spPr>
        <p:txBody>
          <a:bodyPr vert="horz" wrap="square" lIns="0" tIns="12700" rIns="0" bIns="0" rtlCol="0">
            <a:spAutoFit/>
          </a:bodyPr>
          <a:lstStyle/>
          <a:p>
            <a:pPr marL="12700" marR="1166495">
              <a:lnSpc>
                <a:spcPct val="150000"/>
              </a:lnSpc>
              <a:spcBef>
                <a:spcPts val="100"/>
              </a:spcBef>
            </a:pPr>
            <a:r>
              <a:rPr sz="1750" spc="-5" dirty="0">
                <a:latin typeface="Calibri" panose="020F0502020204030204"/>
                <a:cs typeface="Calibri" panose="020F0502020204030204"/>
              </a:rPr>
              <a:t>#print the sum of even numbers from the user input </a:t>
            </a:r>
            <a:r>
              <a:rPr sz="1750" spc="-385" dirty="0">
                <a:latin typeface="Calibri" panose="020F0502020204030204"/>
                <a:cs typeface="Calibri" panose="020F0502020204030204"/>
              </a:rPr>
              <a:t> </a:t>
            </a:r>
            <a:r>
              <a:rPr sz="1750" spc="-5" dirty="0">
                <a:latin typeface="Calibri" panose="020F0502020204030204"/>
                <a:cs typeface="Calibri" panose="020F0502020204030204"/>
              </a:rPr>
              <a:t>import</a:t>
            </a:r>
            <a:r>
              <a:rPr sz="1750" spc="-10" dirty="0">
                <a:latin typeface="Calibri" panose="020F0502020204030204"/>
                <a:cs typeface="Calibri" panose="020F0502020204030204"/>
              </a:rPr>
              <a:t> </a:t>
            </a:r>
            <a:r>
              <a:rPr sz="1750" spc="-5" dirty="0">
                <a:latin typeface="Calibri" panose="020F0502020204030204"/>
                <a:cs typeface="Calibri" panose="020F0502020204030204"/>
              </a:rPr>
              <a:t>functools</a:t>
            </a:r>
            <a:endParaRPr sz="1750">
              <a:latin typeface="Calibri" panose="020F0502020204030204"/>
              <a:cs typeface="Calibri" panose="020F0502020204030204"/>
            </a:endParaRPr>
          </a:p>
          <a:p>
            <a:pPr marL="12700" marR="5080">
              <a:lnSpc>
                <a:spcPct val="150000"/>
              </a:lnSpc>
            </a:pPr>
            <a:r>
              <a:rPr sz="1750" dirty="0">
                <a:latin typeface="Calibri" panose="020F0502020204030204"/>
                <a:cs typeface="Calibri" panose="020F0502020204030204"/>
              </a:rPr>
              <a:t>l = </a:t>
            </a:r>
            <a:r>
              <a:rPr sz="1750" spc="-5" dirty="0">
                <a:latin typeface="Calibri" panose="020F0502020204030204"/>
                <a:cs typeface="Calibri" panose="020F0502020204030204"/>
              </a:rPr>
              <a:t>input("Enter the list of numbers separated by space").split(" ") </a:t>
            </a:r>
            <a:r>
              <a:rPr sz="1750" spc="-385" dirty="0">
                <a:latin typeface="Calibri" panose="020F0502020204030204"/>
                <a:cs typeface="Calibri" panose="020F0502020204030204"/>
              </a:rPr>
              <a:t> </a:t>
            </a:r>
            <a:r>
              <a:rPr sz="1750" dirty="0">
                <a:latin typeface="Calibri" panose="020F0502020204030204"/>
                <a:cs typeface="Calibri" panose="020F0502020204030204"/>
              </a:rPr>
              <a:t>l</a:t>
            </a:r>
            <a:r>
              <a:rPr sz="1750" spc="-10" dirty="0">
                <a:latin typeface="Calibri" panose="020F0502020204030204"/>
                <a:cs typeface="Calibri" panose="020F0502020204030204"/>
              </a:rPr>
              <a:t> </a:t>
            </a:r>
            <a:r>
              <a:rPr sz="1750" dirty="0">
                <a:latin typeface="Calibri" panose="020F0502020204030204"/>
                <a:cs typeface="Calibri" panose="020F0502020204030204"/>
              </a:rPr>
              <a:t>=</a:t>
            </a:r>
            <a:r>
              <a:rPr sz="1750" spc="-5" dirty="0">
                <a:latin typeface="Calibri" panose="020F0502020204030204"/>
                <a:cs typeface="Calibri" panose="020F0502020204030204"/>
              </a:rPr>
              <a:t> map(int,l)</a:t>
            </a:r>
            <a:endParaRPr sz="1750">
              <a:latin typeface="Calibri" panose="020F0502020204030204"/>
              <a:cs typeface="Calibri" panose="020F0502020204030204"/>
            </a:endParaRPr>
          </a:p>
          <a:p>
            <a:pPr marL="213360" marR="4525010" indent="-201295">
              <a:lnSpc>
                <a:spcPct val="150000"/>
              </a:lnSpc>
            </a:pPr>
            <a:r>
              <a:rPr sz="1750" spc="-5" dirty="0">
                <a:latin typeface="Calibri" panose="020F0502020204030204"/>
                <a:cs typeface="Calibri" panose="020F0502020204030204"/>
              </a:rPr>
              <a:t>def</a:t>
            </a:r>
            <a:r>
              <a:rPr sz="1750" spc="-85" dirty="0">
                <a:latin typeface="Calibri" panose="020F0502020204030204"/>
                <a:cs typeface="Calibri" panose="020F0502020204030204"/>
              </a:rPr>
              <a:t> </a:t>
            </a:r>
            <a:r>
              <a:rPr sz="1750" spc="-5" dirty="0">
                <a:latin typeface="Calibri" panose="020F0502020204030204"/>
                <a:cs typeface="Calibri" panose="020F0502020204030204"/>
              </a:rPr>
              <a:t>even_fil(x): </a:t>
            </a:r>
            <a:r>
              <a:rPr sz="1750" spc="-380" dirty="0">
                <a:latin typeface="Calibri" panose="020F0502020204030204"/>
                <a:cs typeface="Calibri" panose="020F0502020204030204"/>
              </a:rPr>
              <a:t> </a:t>
            </a:r>
            <a:r>
              <a:rPr sz="1750" spc="-5" dirty="0">
                <a:latin typeface="Calibri" panose="020F0502020204030204"/>
                <a:cs typeface="Calibri" panose="020F0502020204030204"/>
              </a:rPr>
              <a:t>flag</a:t>
            </a:r>
            <a:r>
              <a:rPr sz="1750" spc="385" dirty="0">
                <a:latin typeface="Calibri" panose="020F0502020204030204"/>
                <a:cs typeface="Calibri" panose="020F0502020204030204"/>
              </a:rPr>
              <a:t> </a:t>
            </a:r>
            <a:r>
              <a:rPr sz="1750" dirty="0">
                <a:latin typeface="Calibri" panose="020F0502020204030204"/>
                <a:cs typeface="Calibri" panose="020F0502020204030204"/>
              </a:rPr>
              <a:t>= </a:t>
            </a:r>
            <a:r>
              <a:rPr sz="1750" spc="-5" dirty="0">
                <a:latin typeface="Calibri" panose="020F0502020204030204"/>
                <a:cs typeface="Calibri" panose="020F0502020204030204"/>
              </a:rPr>
              <a:t>False </a:t>
            </a:r>
            <a:r>
              <a:rPr sz="1750" dirty="0">
                <a:latin typeface="Calibri" panose="020F0502020204030204"/>
                <a:cs typeface="Calibri" panose="020F0502020204030204"/>
              </a:rPr>
              <a:t> </a:t>
            </a:r>
            <a:r>
              <a:rPr sz="1750" spc="-5" dirty="0">
                <a:latin typeface="Calibri" panose="020F0502020204030204"/>
                <a:cs typeface="Calibri" panose="020F0502020204030204"/>
              </a:rPr>
              <a:t>if</a:t>
            </a:r>
            <a:r>
              <a:rPr sz="1750" spc="-25" dirty="0">
                <a:latin typeface="Calibri" panose="020F0502020204030204"/>
                <a:cs typeface="Calibri" panose="020F0502020204030204"/>
              </a:rPr>
              <a:t> </a:t>
            </a:r>
            <a:r>
              <a:rPr sz="1750" spc="-5" dirty="0">
                <a:latin typeface="Calibri" panose="020F0502020204030204"/>
                <a:cs typeface="Calibri" panose="020F0502020204030204"/>
              </a:rPr>
              <a:t>x%2==0:</a:t>
            </a:r>
            <a:endParaRPr sz="1750">
              <a:latin typeface="Calibri" panose="020F0502020204030204"/>
              <a:cs typeface="Calibri" panose="020F0502020204030204"/>
            </a:endParaRPr>
          </a:p>
          <a:p>
            <a:pPr marL="213360" marR="4622165" indent="200660">
              <a:lnSpc>
                <a:spcPct val="150000"/>
              </a:lnSpc>
            </a:pPr>
            <a:r>
              <a:rPr sz="1750" spc="-5" dirty="0">
                <a:latin typeface="Calibri" panose="020F0502020204030204"/>
                <a:cs typeface="Calibri" panose="020F0502020204030204"/>
              </a:rPr>
              <a:t>flag=True  return</a:t>
            </a:r>
            <a:r>
              <a:rPr sz="1750" spc="-35" dirty="0">
                <a:latin typeface="Calibri" panose="020F0502020204030204"/>
                <a:cs typeface="Calibri" panose="020F0502020204030204"/>
              </a:rPr>
              <a:t> </a:t>
            </a:r>
            <a:r>
              <a:rPr sz="1750" spc="-5" dirty="0">
                <a:latin typeface="Calibri" panose="020F0502020204030204"/>
                <a:cs typeface="Calibri" panose="020F0502020204030204"/>
              </a:rPr>
              <a:t>flag</a:t>
            </a:r>
            <a:endParaRPr sz="1750">
              <a:latin typeface="Calibri" panose="020F0502020204030204"/>
              <a:cs typeface="Calibri" panose="020F0502020204030204"/>
            </a:endParaRPr>
          </a:p>
          <a:p>
            <a:pPr marL="12700" marR="3441065">
              <a:lnSpc>
                <a:spcPct val="150000"/>
              </a:lnSpc>
            </a:pPr>
            <a:r>
              <a:rPr sz="1750" spc="-5" dirty="0">
                <a:latin typeface="Calibri" panose="020F0502020204030204"/>
                <a:cs typeface="Calibri" panose="020F0502020204030204"/>
              </a:rPr>
              <a:t>even </a:t>
            </a:r>
            <a:r>
              <a:rPr sz="1750" dirty="0">
                <a:latin typeface="Calibri" panose="020F0502020204030204"/>
                <a:cs typeface="Calibri" panose="020F0502020204030204"/>
              </a:rPr>
              <a:t>= </a:t>
            </a:r>
            <a:r>
              <a:rPr sz="1750" spc="-5" dirty="0">
                <a:latin typeface="Calibri" panose="020F0502020204030204"/>
                <a:cs typeface="Calibri" panose="020F0502020204030204"/>
              </a:rPr>
              <a:t>list(filter(even_fil,l)) </a:t>
            </a:r>
            <a:r>
              <a:rPr sz="1750" spc="-385" dirty="0">
                <a:latin typeface="Calibri" panose="020F0502020204030204"/>
                <a:cs typeface="Calibri" panose="020F0502020204030204"/>
              </a:rPr>
              <a:t> </a:t>
            </a:r>
            <a:r>
              <a:rPr sz="1750" spc="-5" dirty="0">
                <a:latin typeface="Calibri" panose="020F0502020204030204"/>
                <a:cs typeface="Calibri" panose="020F0502020204030204"/>
              </a:rPr>
              <a:t>print(even)</a:t>
            </a:r>
            <a:endParaRPr sz="1750">
              <a:latin typeface="Calibri" panose="020F0502020204030204"/>
              <a:cs typeface="Calibri" panose="020F0502020204030204"/>
            </a:endParaRPr>
          </a:p>
          <a:p>
            <a:pPr>
              <a:lnSpc>
                <a:spcPct val="100000"/>
              </a:lnSpc>
            </a:pPr>
            <a:endParaRPr sz="1700">
              <a:latin typeface="Calibri" panose="020F0502020204030204"/>
              <a:cs typeface="Calibri" panose="020F0502020204030204"/>
            </a:endParaRPr>
          </a:p>
          <a:p>
            <a:pPr>
              <a:lnSpc>
                <a:spcPct val="100000"/>
              </a:lnSpc>
              <a:spcBef>
                <a:spcPts val="45"/>
              </a:spcBef>
            </a:pPr>
            <a:endParaRPr sz="1700">
              <a:latin typeface="Calibri" panose="020F0502020204030204"/>
              <a:cs typeface="Calibri" panose="020F0502020204030204"/>
            </a:endParaRPr>
          </a:p>
          <a:p>
            <a:pPr marL="12700">
              <a:lnSpc>
                <a:spcPct val="100000"/>
              </a:lnSpc>
              <a:spcBef>
                <a:spcPts val="5"/>
              </a:spcBef>
            </a:pPr>
            <a:r>
              <a:rPr sz="1750" dirty="0">
                <a:latin typeface="Calibri" panose="020F0502020204030204"/>
                <a:cs typeface="Calibri" panose="020F0502020204030204"/>
              </a:rPr>
              <a:t>s</a:t>
            </a:r>
            <a:r>
              <a:rPr sz="1750" spc="-30" dirty="0">
                <a:latin typeface="Calibri" panose="020F0502020204030204"/>
                <a:cs typeface="Calibri" panose="020F0502020204030204"/>
              </a:rPr>
              <a:t> </a:t>
            </a:r>
            <a:r>
              <a:rPr sz="1750" dirty="0">
                <a:latin typeface="Calibri" panose="020F0502020204030204"/>
                <a:cs typeface="Calibri" panose="020F0502020204030204"/>
              </a:rPr>
              <a:t>=</a:t>
            </a:r>
            <a:r>
              <a:rPr sz="1750" spc="-25" dirty="0">
                <a:latin typeface="Calibri" panose="020F0502020204030204"/>
                <a:cs typeface="Calibri" panose="020F0502020204030204"/>
              </a:rPr>
              <a:t> </a:t>
            </a:r>
            <a:r>
              <a:rPr sz="1750" spc="-5" dirty="0">
                <a:latin typeface="Calibri" panose="020F0502020204030204"/>
                <a:cs typeface="Calibri" panose="020F0502020204030204"/>
              </a:rPr>
              <a:t>functools.reduce(lambda</a:t>
            </a:r>
            <a:r>
              <a:rPr sz="1750" spc="-25" dirty="0">
                <a:latin typeface="Calibri" panose="020F0502020204030204"/>
                <a:cs typeface="Calibri" panose="020F0502020204030204"/>
              </a:rPr>
              <a:t> </a:t>
            </a:r>
            <a:r>
              <a:rPr sz="1750" spc="-5" dirty="0">
                <a:latin typeface="Calibri" panose="020F0502020204030204"/>
                <a:cs typeface="Calibri" panose="020F0502020204030204"/>
              </a:rPr>
              <a:t>x,y:x+y,even)</a:t>
            </a:r>
            <a:endParaRPr sz="1750">
              <a:latin typeface="Calibri" panose="020F0502020204030204"/>
              <a:cs typeface="Calibri" panose="020F0502020204030204"/>
            </a:endParaRPr>
          </a:p>
        </p:txBody>
      </p:sp>
      <p:sp>
        <p:nvSpPr>
          <p:cNvPr id="7" name="Slide Number Placeholder 6"/>
          <p:cNvSpPr>
            <a:spLocks noGrp="1"/>
          </p:cNvSpPr>
          <p:nvPr>
            <p:ph type="sldNum" sz="quarter" idx="7"/>
          </p:nvPr>
        </p:nvSpPr>
        <p:spPr/>
        <p:txBody>
          <a:bodyPr/>
          <a:lstStyle/>
          <a:p>
            <a:fld id="{B6F15528-21DE-4FAA-801E-634DDDAF4B2B}" type="slidenum">
              <a:rPr/>
              <a:t>33</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19698"/>
            <a:ext cx="1224280"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Examples</a:t>
            </a: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6"/>
            <a:ext cx="12105640" cy="5979795"/>
          </a:xfrm>
          <a:custGeom>
            <a:avLst/>
            <a:gdLst/>
            <a:ahLst/>
            <a:cxnLst/>
            <a:rect l="l" t="t" r="r" b="b"/>
            <a:pathLst>
              <a:path w="12105640" h="5979795">
                <a:moveTo>
                  <a:pt x="0" y="0"/>
                </a:moveTo>
                <a:lnTo>
                  <a:pt x="12105503" y="0"/>
                </a:lnTo>
                <a:lnTo>
                  <a:pt x="12105503" y="5979175"/>
                </a:lnTo>
                <a:lnTo>
                  <a:pt x="0" y="5979175"/>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94136" y="460063"/>
            <a:ext cx="2458720" cy="3225800"/>
          </a:xfrm>
          <a:prstGeom prst="rect">
            <a:avLst/>
          </a:prstGeom>
        </p:spPr>
        <p:txBody>
          <a:bodyPr vert="horz" wrap="square" lIns="0" tIns="12700" rIns="0" bIns="0" rtlCol="0">
            <a:spAutoFit/>
          </a:bodyPr>
          <a:lstStyle/>
          <a:p>
            <a:pPr marL="12700" marR="1315085">
              <a:lnSpc>
                <a:spcPct val="150000"/>
              </a:lnSpc>
              <a:spcBef>
                <a:spcPts val="100"/>
              </a:spcBef>
            </a:pPr>
            <a:r>
              <a:rPr sz="1750" spc="-5" dirty="0">
                <a:latin typeface="Calibri" panose="020F0502020204030204"/>
                <a:cs typeface="Calibri" panose="020F0502020204030204"/>
              </a:rPr>
              <a:t>//Closure </a:t>
            </a:r>
            <a:r>
              <a:rPr sz="1750" dirty="0">
                <a:latin typeface="Calibri" panose="020F0502020204030204"/>
                <a:cs typeface="Calibri" panose="020F0502020204030204"/>
              </a:rPr>
              <a:t> </a:t>
            </a:r>
            <a:r>
              <a:rPr sz="1750" spc="-5" dirty="0">
                <a:latin typeface="Calibri" panose="020F0502020204030204"/>
                <a:cs typeface="Calibri" panose="020F0502020204030204"/>
              </a:rPr>
              <a:t>def</a:t>
            </a:r>
            <a:r>
              <a:rPr sz="1750" spc="-90" dirty="0">
                <a:latin typeface="Calibri" panose="020F0502020204030204"/>
                <a:cs typeface="Calibri" panose="020F0502020204030204"/>
              </a:rPr>
              <a:t> </a:t>
            </a:r>
            <a:r>
              <a:rPr sz="1750" spc="-5" dirty="0">
                <a:latin typeface="Calibri" panose="020F0502020204030204"/>
                <a:cs typeface="Calibri" panose="020F0502020204030204"/>
              </a:rPr>
              <a:t>twice(x):</a:t>
            </a:r>
            <a:endParaRPr sz="1750">
              <a:latin typeface="Calibri" panose="020F0502020204030204"/>
              <a:cs typeface="Calibri" panose="020F0502020204030204"/>
            </a:endParaRPr>
          </a:p>
          <a:p>
            <a:pPr marL="414020" marR="1082675" indent="-201295">
              <a:lnSpc>
                <a:spcPct val="150000"/>
              </a:lnSpc>
            </a:pPr>
            <a:r>
              <a:rPr sz="1750" spc="-5" dirty="0">
                <a:latin typeface="Calibri" panose="020F0502020204030204"/>
                <a:cs typeface="Calibri" panose="020F0502020204030204"/>
              </a:rPr>
              <a:t>def</a:t>
            </a:r>
            <a:r>
              <a:rPr sz="1750" spc="-85" dirty="0">
                <a:latin typeface="Calibri" panose="020F0502020204030204"/>
                <a:cs typeface="Calibri" panose="020F0502020204030204"/>
              </a:rPr>
              <a:t> </a:t>
            </a:r>
            <a:r>
              <a:rPr sz="1750" spc="-5" dirty="0">
                <a:latin typeface="Calibri" panose="020F0502020204030204"/>
                <a:cs typeface="Calibri" panose="020F0502020204030204"/>
              </a:rPr>
              <a:t>square(): </a:t>
            </a:r>
            <a:r>
              <a:rPr sz="1750" spc="-380" dirty="0">
                <a:latin typeface="Calibri" panose="020F0502020204030204"/>
                <a:cs typeface="Calibri" panose="020F0502020204030204"/>
              </a:rPr>
              <a:t> </a:t>
            </a:r>
            <a:r>
              <a:rPr sz="1750" spc="-5" dirty="0">
                <a:latin typeface="Calibri" panose="020F0502020204030204"/>
                <a:cs typeface="Calibri" panose="020F0502020204030204"/>
              </a:rPr>
              <a:t>return</a:t>
            </a:r>
            <a:r>
              <a:rPr sz="1750" spc="-65" dirty="0">
                <a:latin typeface="Calibri" panose="020F0502020204030204"/>
                <a:cs typeface="Calibri" panose="020F0502020204030204"/>
              </a:rPr>
              <a:t> </a:t>
            </a:r>
            <a:r>
              <a:rPr sz="1750" spc="-5" dirty="0">
                <a:latin typeface="Calibri" panose="020F0502020204030204"/>
                <a:cs typeface="Calibri" panose="020F0502020204030204"/>
              </a:rPr>
              <a:t>x*x</a:t>
            </a:r>
            <a:endParaRPr sz="1750">
              <a:latin typeface="Calibri" panose="020F0502020204030204"/>
              <a:cs typeface="Calibri" panose="020F0502020204030204"/>
            </a:endParaRPr>
          </a:p>
          <a:p>
            <a:pPr marL="12700" marR="5080" indent="200660">
              <a:lnSpc>
                <a:spcPct val="150000"/>
              </a:lnSpc>
            </a:pPr>
            <a:r>
              <a:rPr sz="1750" spc="-5" dirty="0">
                <a:latin typeface="Calibri" panose="020F0502020204030204"/>
                <a:cs typeface="Calibri" panose="020F0502020204030204"/>
              </a:rPr>
              <a:t>return square()*square() </a:t>
            </a:r>
            <a:r>
              <a:rPr sz="1750" spc="-385" dirty="0">
                <a:latin typeface="Calibri" panose="020F0502020204030204"/>
                <a:cs typeface="Calibri" panose="020F0502020204030204"/>
              </a:rPr>
              <a:t> </a:t>
            </a:r>
            <a:r>
              <a:rPr sz="1750" spc="-5" dirty="0">
                <a:latin typeface="Calibri" panose="020F0502020204030204"/>
                <a:cs typeface="Calibri" panose="020F0502020204030204"/>
              </a:rPr>
              <a:t>def</a:t>
            </a:r>
            <a:r>
              <a:rPr sz="1750" spc="-10" dirty="0">
                <a:latin typeface="Calibri" panose="020F0502020204030204"/>
                <a:cs typeface="Calibri" panose="020F0502020204030204"/>
              </a:rPr>
              <a:t> </a:t>
            </a:r>
            <a:r>
              <a:rPr sz="1750" spc="-5" dirty="0">
                <a:latin typeface="Calibri" panose="020F0502020204030204"/>
                <a:cs typeface="Calibri" panose="020F0502020204030204"/>
              </a:rPr>
              <a:t>quad(x):</a:t>
            </a:r>
            <a:endParaRPr sz="1750">
              <a:latin typeface="Calibri" panose="020F0502020204030204"/>
              <a:cs typeface="Calibri" panose="020F0502020204030204"/>
            </a:endParaRPr>
          </a:p>
          <a:p>
            <a:pPr marL="12700" marR="896620" indent="200660">
              <a:lnSpc>
                <a:spcPct val="150000"/>
              </a:lnSpc>
            </a:pPr>
            <a:r>
              <a:rPr sz="1750" spc="-5" dirty="0">
                <a:latin typeface="Calibri" panose="020F0502020204030204"/>
                <a:cs typeface="Calibri" panose="020F0502020204030204"/>
              </a:rPr>
              <a:t>return</a:t>
            </a:r>
            <a:r>
              <a:rPr sz="1750" spc="-90" dirty="0">
                <a:latin typeface="Calibri" panose="020F0502020204030204"/>
                <a:cs typeface="Calibri" panose="020F0502020204030204"/>
              </a:rPr>
              <a:t> </a:t>
            </a:r>
            <a:r>
              <a:rPr sz="1750" spc="-5" dirty="0">
                <a:latin typeface="Calibri" panose="020F0502020204030204"/>
                <a:cs typeface="Calibri" panose="020F0502020204030204"/>
              </a:rPr>
              <a:t>twice(x) </a:t>
            </a:r>
            <a:r>
              <a:rPr sz="1750" spc="-380" dirty="0">
                <a:latin typeface="Calibri" panose="020F0502020204030204"/>
                <a:cs typeface="Calibri" panose="020F0502020204030204"/>
              </a:rPr>
              <a:t> </a:t>
            </a:r>
            <a:r>
              <a:rPr sz="1750" spc="-5" dirty="0">
                <a:latin typeface="Calibri" panose="020F0502020204030204"/>
                <a:cs typeface="Calibri" panose="020F0502020204030204"/>
              </a:rPr>
              <a:t>print(quad(3))</a:t>
            </a:r>
            <a:endParaRPr sz="1750">
              <a:latin typeface="Calibri" panose="020F0502020204030204"/>
              <a:cs typeface="Calibri" panose="020F0502020204030204"/>
            </a:endParaRPr>
          </a:p>
        </p:txBody>
      </p:sp>
      <p:sp>
        <p:nvSpPr>
          <p:cNvPr id="7" name="Slide Number Placeholder 6"/>
          <p:cNvSpPr>
            <a:spLocks noGrp="1"/>
          </p:cNvSpPr>
          <p:nvPr>
            <p:ph type="sldNum" sz="quarter" idx="7"/>
          </p:nvPr>
        </p:nvSpPr>
        <p:spPr/>
        <p:txBody>
          <a:bodyPr/>
          <a:lstStyle/>
          <a:p>
            <a:fld id="{B6F15528-21DE-4FAA-801E-634DDDAF4B2B}" type="slidenum">
              <a:rPr/>
              <a:t>34</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512977"/>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xfrm>
            <a:off x="76970" y="19698"/>
            <a:ext cx="1224280"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Examples</a:t>
            </a:r>
          </a:p>
        </p:txBody>
      </p:sp>
      <p:sp>
        <p:nvSpPr>
          <p:cNvPr id="4" name="object 4"/>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0" y="586966"/>
            <a:ext cx="12105640" cy="5979795"/>
          </a:xfrm>
          <a:custGeom>
            <a:avLst/>
            <a:gdLst/>
            <a:ahLst/>
            <a:cxnLst/>
            <a:rect l="l" t="t" r="r" b="b"/>
            <a:pathLst>
              <a:path w="12105640" h="5979795">
                <a:moveTo>
                  <a:pt x="0" y="0"/>
                </a:moveTo>
                <a:lnTo>
                  <a:pt x="12105503" y="0"/>
                </a:lnTo>
                <a:lnTo>
                  <a:pt x="12105503" y="5979175"/>
                </a:lnTo>
                <a:lnTo>
                  <a:pt x="0" y="5979175"/>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94136" y="460063"/>
            <a:ext cx="4522470" cy="3225800"/>
          </a:xfrm>
          <a:prstGeom prst="rect">
            <a:avLst/>
          </a:prstGeom>
        </p:spPr>
        <p:txBody>
          <a:bodyPr vert="horz" wrap="square" lIns="0" tIns="12700" rIns="0" bIns="0" rtlCol="0">
            <a:spAutoFit/>
          </a:bodyPr>
          <a:lstStyle/>
          <a:p>
            <a:pPr marL="12700" marR="5080">
              <a:lnSpc>
                <a:spcPct val="150000"/>
              </a:lnSpc>
              <a:spcBef>
                <a:spcPts val="100"/>
              </a:spcBef>
            </a:pPr>
            <a:r>
              <a:rPr sz="1750" spc="-5" dirty="0">
                <a:latin typeface="Calibri" panose="020F0502020204030204"/>
                <a:cs typeface="Calibri" panose="020F0502020204030204"/>
              </a:rPr>
              <a:t>//partial to make some of the parameters </a:t>
            </a:r>
            <a:r>
              <a:rPr sz="1750" dirty="0">
                <a:latin typeface="Calibri" panose="020F0502020204030204"/>
                <a:cs typeface="Calibri" panose="020F0502020204030204"/>
              </a:rPr>
              <a:t>as </a:t>
            </a:r>
            <a:r>
              <a:rPr sz="1750" spc="-5" dirty="0">
                <a:latin typeface="Calibri" panose="020F0502020204030204"/>
                <a:cs typeface="Calibri" panose="020F0502020204030204"/>
              </a:rPr>
              <a:t>fixed </a:t>
            </a:r>
            <a:r>
              <a:rPr sz="1750" spc="-385" dirty="0">
                <a:latin typeface="Calibri" panose="020F0502020204030204"/>
                <a:cs typeface="Calibri" panose="020F0502020204030204"/>
              </a:rPr>
              <a:t> </a:t>
            </a:r>
            <a:r>
              <a:rPr sz="1750" spc="-5" dirty="0">
                <a:latin typeface="Calibri" panose="020F0502020204030204"/>
                <a:cs typeface="Calibri" panose="020F0502020204030204"/>
              </a:rPr>
              <a:t>import</a:t>
            </a:r>
            <a:r>
              <a:rPr sz="1750" spc="-10" dirty="0">
                <a:latin typeface="Calibri" panose="020F0502020204030204"/>
                <a:cs typeface="Calibri" panose="020F0502020204030204"/>
              </a:rPr>
              <a:t> </a:t>
            </a:r>
            <a:r>
              <a:rPr sz="1750" spc="-5" dirty="0">
                <a:latin typeface="Calibri" panose="020F0502020204030204"/>
                <a:cs typeface="Calibri" panose="020F0502020204030204"/>
              </a:rPr>
              <a:t>functools</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def</a:t>
            </a:r>
            <a:r>
              <a:rPr sz="1750" spc="-45" dirty="0">
                <a:latin typeface="Calibri" panose="020F0502020204030204"/>
                <a:cs typeface="Calibri" panose="020F0502020204030204"/>
              </a:rPr>
              <a:t> </a:t>
            </a:r>
            <a:r>
              <a:rPr sz="1750" spc="-5" dirty="0">
                <a:latin typeface="Calibri" panose="020F0502020204030204"/>
                <a:cs typeface="Calibri" panose="020F0502020204030204"/>
              </a:rPr>
              <a:t>s_total(a,b,c):</a:t>
            </a:r>
            <a:endParaRPr sz="1750">
              <a:latin typeface="Calibri" panose="020F0502020204030204"/>
              <a:cs typeface="Calibri" panose="020F0502020204030204"/>
            </a:endParaRPr>
          </a:p>
          <a:p>
            <a:pPr marL="12700" marR="929640" indent="200660">
              <a:lnSpc>
                <a:spcPct val="150000"/>
              </a:lnSpc>
              <a:tabLst>
                <a:tab pos="1574800" algn="l"/>
              </a:tabLst>
            </a:pPr>
            <a:r>
              <a:rPr sz="1750" spc="-5" dirty="0">
                <a:latin typeface="Calibri" panose="020F0502020204030204"/>
                <a:cs typeface="Calibri" panose="020F0502020204030204"/>
              </a:rPr>
              <a:t>return </a:t>
            </a:r>
            <a:r>
              <a:rPr sz="1750" dirty="0">
                <a:latin typeface="Calibri" panose="020F0502020204030204"/>
                <a:cs typeface="Calibri" panose="020F0502020204030204"/>
              </a:rPr>
              <a:t>a*b+c	</a:t>
            </a:r>
            <a:r>
              <a:rPr sz="1750" spc="-5" dirty="0">
                <a:latin typeface="Calibri" panose="020F0502020204030204"/>
                <a:cs typeface="Calibri" panose="020F0502020204030204"/>
              </a:rPr>
              <a:t>#a=5,b=15,</a:t>
            </a:r>
            <a:r>
              <a:rPr sz="1750" spc="-45" dirty="0">
                <a:latin typeface="Calibri" panose="020F0502020204030204"/>
                <a:cs typeface="Calibri" panose="020F0502020204030204"/>
              </a:rPr>
              <a:t> </a:t>
            </a:r>
            <a:r>
              <a:rPr sz="1750" spc="-5" dirty="0">
                <a:latin typeface="Calibri" panose="020F0502020204030204"/>
                <a:cs typeface="Calibri" panose="020F0502020204030204"/>
              </a:rPr>
              <a:t>c=from</a:t>
            </a:r>
            <a:r>
              <a:rPr sz="1750" spc="-45" dirty="0">
                <a:latin typeface="Calibri" panose="020F0502020204030204"/>
                <a:cs typeface="Calibri" panose="020F0502020204030204"/>
              </a:rPr>
              <a:t> </a:t>
            </a:r>
            <a:r>
              <a:rPr sz="1750" spc="-5" dirty="0">
                <a:latin typeface="Calibri" panose="020F0502020204030204"/>
                <a:cs typeface="Calibri" panose="020F0502020204030204"/>
              </a:rPr>
              <a:t>list </a:t>
            </a:r>
            <a:r>
              <a:rPr sz="1750" spc="-380" dirty="0">
                <a:latin typeface="Calibri" panose="020F0502020204030204"/>
                <a:cs typeface="Calibri" panose="020F0502020204030204"/>
              </a:rPr>
              <a:t> </a:t>
            </a:r>
            <a:r>
              <a:rPr sz="1750" dirty="0">
                <a:latin typeface="Calibri" panose="020F0502020204030204"/>
                <a:cs typeface="Calibri" panose="020F0502020204030204"/>
              </a:rPr>
              <a:t>s</a:t>
            </a:r>
            <a:r>
              <a:rPr sz="1750" spc="-15" dirty="0">
                <a:latin typeface="Calibri" panose="020F0502020204030204"/>
                <a:cs typeface="Calibri" panose="020F0502020204030204"/>
              </a:rPr>
              <a:t> </a:t>
            </a:r>
            <a:r>
              <a:rPr sz="1750" dirty="0">
                <a:latin typeface="Calibri" panose="020F0502020204030204"/>
                <a:cs typeface="Calibri" panose="020F0502020204030204"/>
              </a:rPr>
              <a:t>=</a:t>
            </a:r>
            <a:r>
              <a:rPr sz="1750" spc="-10" dirty="0">
                <a:latin typeface="Calibri" panose="020F0502020204030204"/>
                <a:cs typeface="Calibri" panose="020F0502020204030204"/>
              </a:rPr>
              <a:t> </a:t>
            </a:r>
            <a:r>
              <a:rPr sz="1750" spc="-5" dirty="0">
                <a:latin typeface="Calibri" panose="020F0502020204030204"/>
                <a:cs typeface="Calibri" panose="020F0502020204030204"/>
              </a:rPr>
              <a:t>functools.partial(s_total,5,15)</a:t>
            </a:r>
            <a:endParaRPr sz="1750">
              <a:latin typeface="Calibri" panose="020F0502020204030204"/>
              <a:cs typeface="Calibri" panose="020F0502020204030204"/>
            </a:endParaRPr>
          </a:p>
          <a:p>
            <a:pPr marL="12700">
              <a:lnSpc>
                <a:spcPct val="100000"/>
              </a:lnSpc>
              <a:spcBef>
                <a:spcPts val="1050"/>
              </a:spcBef>
            </a:pPr>
            <a:r>
              <a:rPr sz="1750" spc="-5" dirty="0">
                <a:latin typeface="Calibri" panose="020F0502020204030204"/>
                <a:cs typeface="Calibri" panose="020F0502020204030204"/>
              </a:rPr>
              <a:t>l=</a:t>
            </a:r>
            <a:r>
              <a:rPr sz="1750" spc="-45" dirty="0">
                <a:latin typeface="Calibri" panose="020F0502020204030204"/>
                <a:cs typeface="Calibri" panose="020F0502020204030204"/>
              </a:rPr>
              <a:t> </a:t>
            </a:r>
            <a:r>
              <a:rPr sz="1750" spc="-5" dirty="0">
                <a:latin typeface="Calibri" panose="020F0502020204030204"/>
                <a:cs typeface="Calibri" panose="020F0502020204030204"/>
              </a:rPr>
              <a:t>[13,54,76,89,10]</a:t>
            </a:r>
            <a:endParaRPr sz="1750">
              <a:latin typeface="Calibri" panose="020F0502020204030204"/>
              <a:cs typeface="Calibri" panose="020F0502020204030204"/>
            </a:endParaRPr>
          </a:p>
          <a:p>
            <a:pPr marL="213360" marR="3457575" indent="-201295">
              <a:lnSpc>
                <a:spcPct val="150000"/>
              </a:lnSpc>
            </a:pPr>
            <a:r>
              <a:rPr sz="1750" spc="-5" dirty="0">
                <a:latin typeface="Calibri" panose="020F0502020204030204"/>
                <a:cs typeface="Calibri" panose="020F0502020204030204"/>
              </a:rPr>
              <a:t>for </a:t>
            </a:r>
            <a:r>
              <a:rPr sz="1750" dirty="0">
                <a:latin typeface="Calibri" panose="020F0502020204030204"/>
                <a:cs typeface="Calibri" panose="020F0502020204030204"/>
              </a:rPr>
              <a:t>i </a:t>
            </a:r>
            <a:r>
              <a:rPr sz="1750" spc="-5" dirty="0">
                <a:latin typeface="Calibri" panose="020F0502020204030204"/>
                <a:cs typeface="Calibri" panose="020F0502020204030204"/>
              </a:rPr>
              <a:t>in l: </a:t>
            </a:r>
            <a:r>
              <a:rPr sz="1750" dirty="0">
                <a:latin typeface="Calibri" panose="020F0502020204030204"/>
                <a:cs typeface="Calibri" panose="020F0502020204030204"/>
              </a:rPr>
              <a:t> </a:t>
            </a:r>
            <a:r>
              <a:rPr sz="1750" spc="-5" dirty="0">
                <a:latin typeface="Calibri" panose="020F0502020204030204"/>
                <a:cs typeface="Calibri" panose="020F0502020204030204"/>
              </a:rPr>
              <a:t>print(s(i))</a:t>
            </a:r>
            <a:endParaRPr sz="1750">
              <a:latin typeface="Calibri" panose="020F0502020204030204"/>
              <a:cs typeface="Calibri" panose="020F0502020204030204"/>
            </a:endParaRPr>
          </a:p>
        </p:txBody>
      </p:sp>
      <p:sp>
        <p:nvSpPr>
          <p:cNvPr id="7" name="Slide Number Placeholder 6"/>
          <p:cNvSpPr>
            <a:spLocks noGrp="1"/>
          </p:cNvSpPr>
          <p:nvPr>
            <p:ph type="sldNum" sz="quarter" idx="7"/>
          </p:nvPr>
        </p:nvSpPr>
        <p:spPr/>
        <p:txBody>
          <a:bodyPr/>
          <a:lstStyle/>
          <a:p>
            <a:fld id="{B6F15528-21DE-4FAA-801E-634DDDAF4B2B}" type="slidenum">
              <a:rPr/>
              <a:t>35</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970" y="19698"/>
            <a:ext cx="2830830"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Function</a:t>
            </a:r>
            <a:r>
              <a:rPr spc="-4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vs</a:t>
            </a:r>
            <a:r>
              <a:rPr spc="-4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Procedure</a:t>
            </a:r>
          </a:p>
        </p:txBody>
      </p:sp>
      <p:sp>
        <p:nvSpPr>
          <p:cNvPr id="3" name="object 3"/>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4" name="object 4"/>
          <p:cNvSpPr/>
          <p:nvPr/>
        </p:nvSpPr>
        <p:spPr>
          <a:xfrm>
            <a:off x="0" y="586966"/>
            <a:ext cx="12105640" cy="5979795"/>
          </a:xfrm>
          <a:custGeom>
            <a:avLst/>
            <a:gdLst/>
            <a:ahLst/>
            <a:cxnLst/>
            <a:rect l="l" t="t" r="r" b="b"/>
            <a:pathLst>
              <a:path w="12105640" h="5979795">
                <a:moveTo>
                  <a:pt x="0" y="0"/>
                </a:moveTo>
                <a:lnTo>
                  <a:pt x="12105503" y="0"/>
                </a:lnTo>
                <a:lnTo>
                  <a:pt x="12105503" y="5979175"/>
                </a:lnTo>
                <a:lnTo>
                  <a:pt x="0" y="5979175"/>
                </a:lnTo>
                <a:lnTo>
                  <a:pt x="0" y="0"/>
                </a:lnTo>
                <a:close/>
              </a:path>
            </a:pathLst>
          </a:custGeom>
          <a:ln w="12699">
            <a:solidFill>
              <a:srgbClr val="00B0F0"/>
            </a:solidFill>
          </a:ln>
        </p:spPr>
        <p:txBody>
          <a:bodyPr wrap="square" lIns="0" tIns="0" rIns="0" bIns="0" rtlCol="0"/>
          <a:lstStyle/>
          <a:p>
            <a:endParaRPr/>
          </a:p>
        </p:txBody>
      </p:sp>
      <p:sp>
        <p:nvSpPr>
          <p:cNvPr id="5" name="object 5"/>
          <p:cNvSpPr txBox="1"/>
          <p:nvPr/>
        </p:nvSpPr>
        <p:spPr>
          <a:xfrm>
            <a:off x="194048" y="631259"/>
            <a:ext cx="2738120" cy="299720"/>
          </a:xfrm>
          <a:prstGeom prst="rect">
            <a:avLst/>
          </a:prstGeom>
        </p:spPr>
        <p:txBody>
          <a:bodyPr vert="horz" wrap="square" lIns="0" tIns="12700" rIns="0" bIns="0" rtlCol="0">
            <a:spAutoFit/>
          </a:bodyPr>
          <a:lstStyle/>
          <a:p>
            <a:pPr marL="12700">
              <a:lnSpc>
                <a:spcPct val="100000"/>
              </a:lnSpc>
              <a:spcBef>
                <a:spcPts val="100"/>
              </a:spcBef>
              <a:tabLst>
                <a:tab pos="688975" algn="l"/>
              </a:tabLst>
            </a:pPr>
            <a:r>
              <a:rPr sz="1800" b="1" spc="-5" dirty="0">
                <a:latin typeface="Calibri" panose="020F0502020204030204"/>
                <a:cs typeface="Calibri" panose="020F0502020204030204"/>
              </a:rPr>
              <a:t>S.No	Functional</a:t>
            </a:r>
            <a:r>
              <a:rPr sz="1800" b="1" spc="-75" dirty="0">
                <a:latin typeface="Calibri" panose="020F0502020204030204"/>
                <a:cs typeface="Calibri" panose="020F0502020204030204"/>
              </a:rPr>
              <a:t> </a:t>
            </a:r>
            <a:r>
              <a:rPr sz="1800" b="1" spc="-5" dirty="0">
                <a:latin typeface="Calibri" panose="020F0502020204030204"/>
                <a:cs typeface="Calibri" panose="020F0502020204030204"/>
              </a:rPr>
              <a:t>Paradigms</a:t>
            </a:r>
            <a:endParaRPr sz="1800">
              <a:latin typeface="Calibri" panose="020F0502020204030204"/>
              <a:cs typeface="Calibri" panose="020F0502020204030204"/>
            </a:endParaRPr>
          </a:p>
        </p:txBody>
      </p:sp>
      <p:sp>
        <p:nvSpPr>
          <p:cNvPr id="6" name="object 6"/>
          <p:cNvSpPr txBox="1"/>
          <p:nvPr/>
        </p:nvSpPr>
        <p:spPr>
          <a:xfrm>
            <a:off x="194048" y="1106059"/>
            <a:ext cx="14160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1</a:t>
            </a:r>
            <a:endParaRPr sz="1800">
              <a:latin typeface="Calibri" panose="020F0502020204030204"/>
              <a:cs typeface="Calibri" panose="020F0502020204030204"/>
            </a:endParaRPr>
          </a:p>
        </p:txBody>
      </p:sp>
      <p:sp>
        <p:nvSpPr>
          <p:cNvPr id="7" name="object 7"/>
          <p:cNvSpPr txBox="1"/>
          <p:nvPr/>
        </p:nvSpPr>
        <p:spPr>
          <a:xfrm>
            <a:off x="870697" y="1106059"/>
            <a:ext cx="5069840" cy="575945"/>
          </a:xfrm>
          <a:prstGeom prst="rect">
            <a:avLst/>
          </a:prstGeom>
        </p:spPr>
        <p:txBody>
          <a:bodyPr vert="horz" wrap="square" lIns="0" tIns="10795" rIns="0" bIns="0" rtlCol="0">
            <a:spAutoFit/>
          </a:bodyPr>
          <a:lstStyle/>
          <a:p>
            <a:pPr marL="12700" marR="5080">
              <a:lnSpc>
                <a:spcPct val="101000"/>
              </a:lnSpc>
              <a:spcBef>
                <a:spcPts val="85"/>
              </a:spcBef>
            </a:pPr>
            <a:r>
              <a:rPr sz="1800" spc="-5" dirty="0">
                <a:latin typeface="Calibri" panose="020F0502020204030204"/>
                <a:cs typeface="Calibri" panose="020F0502020204030204"/>
              </a:rPr>
              <a:t>Treats </a:t>
            </a:r>
            <a:r>
              <a:rPr sz="1800" u="heavy" spc="-5" dirty="0">
                <a:solidFill>
                  <a:srgbClr val="0563C1"/>
                </a:solidFill>
                <a:uFill>
                  <a:solidFill>
                    <a:srgbClr val="0563C1"/>
                  </a:solidFill>
                </a:uFill>
                <a:latin typeface="Calibri" panose="020F0502020204030204"/>
                <a:cs typeface="Calibri" panose="020F0502020204030204"/>
                <a:hlinkClick r:id="rId3"/>
              </a:rPr>
              <a:t>computation</a:t>
            </a:r>
            <a:r>
              <a:rPr sz="1800" spc="-5" dirty="0">
                <a:solidFill>
                  <a:srgbClr val="0563C1"/>
                </a:solidFill>
                <a:latin typeface="Calibri" panose="020F0502020204030204"/>
                <a:cs typeface="Calibri" panose="020F0502020204030204"/>
                <a:hlinkClick r:id="rId3"/>
              </a:rPr>
              <a:t> </a:t>
            </a:r>
            <a:r>
              <a:rPr sz="1800" dirty="0">
                <a:latin typeface="Calibri" panose="020F0502020204030204"/>
                <a:cs typeface="Calibri" panose="020F0502020204030204"/>
              </a:rPr>
              <a:t>as </a:t>
            </a:r>
            <a:r>
              <a:rPr sz="1800" spc="-5" dirty="0">
                <a:latin typeface="Calibri" panose="020F0502020204030204"/>
                <a:cs typeface="Calibri" panose="020F0502020204030204"/>
              </a:rPr>
              <a:t>the evaluation of </a:t>
            </a:r>
            <a:r>
              <a:rPr sz="1800" u="heavy" spc="-5" dirty="0">
                <a:solidFill>
                  <a:srgbClr val="0563C1"/>
                </a:solidFill>
                <a:uFill>
                  <a:solidFill>
                    <a:srgbClr val="0563C1"/>
                  </a:solidFill>
                </a:uFill>
                <a:latin typeface="Calibri" panose="020F0502020204030204"/>
                <a:cs typeface="Calibri" panose="020F0502020204030204"/>
                <a:hlinkClick r:id="rId4"/>
              </a:rPr>
              <a:t>mathematical </a:t>
            </a:r>
            <a:r>
              <a:rPr sz="1800" spc="-395" dirty="0">
                <a:solidFill>
                  <a:srgbClr val="0563C1"/>
                </a:solidFill>
                <a:latin typeface="Calibri" panose="020F0502020204030204"/>
                <a:cs typeface="Calibri" panose="020F0502020204030204"/>
              </a:rPr>
              <a:t> </a:t>
            </a:r>
            <a:r>
              <a:rPr sz="1800" u="heavy" spc="-5" dirty="0">
                <a:solidFill>
                  <a:srgbClr val="0563C1"/>
                </a:solidFill>
                <a:uFill>
                  <a:solidFill>
                    <a:srgbClr val="0563C1"/>
                  </a:solidFill>
                </a:uFill>
                <a:latin typeface="Calibri" panose="020F0502020204030204"/>
                <a:cs typeface="Calibri" panose="020F0502020204030204"/>
                <a:hlinkClick r:id="rId4"/>
              </a:rPr>
              <a:t>functions</a:t>
            </a:r>
            <a:r>
              <a:rPr sz="1800" spc="-5" dirty="0">
                <a:solidFill>
                  <a:srgbClr val="0563C1"/>
                </a:solidFill>
                <a:latin typeface="Calibri" panose="020F0502020204030204"/>
                <a:cs typeface="Calibri" panose="020F0502020204030204"/>
                <a:hlinkClick r:id="rId4"/>
              </a:rPr>
              <a:t> </a:t>
            </a:r>
            <a:r>
              <a:rPr sz="1800" dirty="0">
                <a:latin typeface="Calibri" panose="020F0502020204030204"/>
                <a:cs typeface="Calibri" panose="020F0502020204030204"/>
              </a:rPr>
              <a:t>avoiding</a:t>
            </a:r>
            <a:r>
              <a:rPr sz="1800" spc="-5" dirty="0">
                <a:latin typeface="Calibri" panose="020F0502020204030204"/>
                <a:cs typeface="Calibri" panose="020F0502020204030204"/>
              </a:rPr>
              <a:t> </a:t>
            </a:r>
            <a:r>
              <a:rPr sz="1800" u="heavy" spc="-5" dirty="0">
                <a:solidFill>
                  <a:srgbClr val="0563C1"/>
                </a:solidFill>
                <a:uFill>
                  <a:solidFill>
                    <a:srgbClr val="0563C1"/>
                  </a:solidFill>
                </a:uFill>
                <a:latin typeface="Calibri" panose="020F0502020204030204"/>
                <a:cs typeface="Calibri" panose="020F0502020204030204"/>
                <a:hlinkClick r:id="rId5"/>
              </a:rPr>
              <a:t>state</a:t>
            </a:r>
            <a:r>
              <a:rPr sz="1800" dirty="0">
                <a:solidFill>
                  <a:srgbClr val="0563C1"/>
                </a:solidFill>
                <a:latin typeface="Calibri" panose="020F0502020204030204"/>
                <a:cs typeface="Calibri" panose="020F0502020204030204"/>
                <a:hlinkClick r:id="rId5"/>
              </a:rPr>
              <a:t> </a:t>
            </a:r>
            <a:r>
              <a:rPr sz="1800" dirty="0">
                <a:latin typeface="Calibri" panose="020F0502020204030204"/>
                <a:cs typeface="Calibri" panose="020F0502020204030204"/>
              </a:rPr>
              <a:t>and</a:t>
            </a:r>
            <a:r>
              <a:rPr sz="1800" spc="-5" dirty="0">
                <a:latin typeface="Calibri" panose="020F0502020204030204"/>
                <a:cs typeface="Calibri" panose="020F0502020204030204"/>
              </a:rPr>
              <a:t> </a:t>
            </a:r>
            <a:r>
              <a:rPr sz="1800" u="heavy" spc="-5" dirty="0">
                <a:solidFill>
                  <a:srgbClr val="0563C1"/>
                </a:solidFill>
                <a:uFill>
                  <a:solidFill>
                    <a:srgbClr val="0563C1"/>
                  </a:solidFill>
                </a:uFill>
                <a:latin typeface="Calibri" panose="020F0502020204030204"/>
                <a:cs typeface="Calibri" panose="020F0502020204030204"/>
                <a:hlinkClick r:id="rId6"/>
              </a:rPr>
              <a:t>mutable</a:t>
            </a:r>
            <a:r>
              <a:rPr sz="1800" spc="5" dirty="0">
                <a:solidFill>
                  <a:srgbClr val="0563C1"/>
                </a:solidFill>
                <a:latin typeface="Calibri" panose="020F0502020204030204"/>
                <a:cs typeface="Calibri" panose="020F0502020204030204"/>
                <a:hlinkClick r:id="rId6"/>
              </a:rPr>
              <a:t> </a:t>
            </a:r>
            <a:r>
              <a:rPr sz="1800" spc="-5" dirty="0">
                <a:latin typeface="Calibri" panose="020F0502020204030204"/>
                <a:cs typeface="Calibri" panose="020F0502020204030204"/>
              </a:rPr>
              <a:t>data</a:t>
            </a:r>
            <a:endParaRPr sz="1800">
              <a:latin typeface="Calibri" panose="020F0502020204030204"/>
              <a:cs typeface="Calibri" panose="020F0502020204030204"/>
            </a:endParaRPr>
          </a:p>
        </p:txBody>
      </p:sp>
      <p:sp>
        <p:nvSpPr>
          <p:cNvPr id="8" name="object 8"/>
          <p:cNvSpPr txBox="1"/>
          <p:nvPr/>
        </p:nvSpPr>
        <p:spPr>
          <a:xfrm>
            <a:off x="194048" y="2026184"/>
            <a:ext cx="14160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2</a:t>
            </a:r>
            <a:endParaRPr sz="1800">
              <a:latin typeface="Calibri" panose="020F0502020204030204"/>
              <a:cs typeface="Calibri" panose="020F0502020204030204"/>
            </a:endParaRPr>
          </a:p>
        </p:txBody>
      </p:sp>
      <p:sp>
        <p:nvSpPr>
          <p:cNvPr id="9" name="object 9"/>
          <p:cNvSpPr txBox="1"/>
          <p:nvPr/>
        </p:nvSpPr>
        <p:spPr>
          <a:xfrm>
            <a:off x="194048" y="2946309"/>
            <a:ext cx="14160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3</a:t>
            </a:r>
            <a:endParaRPr sz="1800">
              <a:latin typeface="Calibri" panose="020F0502020204030204"/>
              <a:cs typeface="Calibri" panose="020F0502020204030204"/>
            </a:endParaRPr>
          </a:p>
        </p:txBody>
      </p:sp>
      <p:sp>
        <p:nvSpPr>
          <p:cNvPr id="10" name="object 10"/>
          <p:cNvSpPr txBox="1"/>
          <p:nvPr/>
        </p:nvSpPr>
        <p:spPr>
          <a:xfrm>
            <a:off x="870697" y="2026184"/>
            <a:ext cx="5234940" cy="1220470"/>
          </a:xfrm>
          <a:prstGeom prst="rect">
            <a:avLst/>
          </a:prstGeom>
        </p:spPr>
        <p:txBody>
          <a:bodyPr vert="horz" wrap="square" lIns="0" tIns="12700" rIns="0" bIns="0" rtlCol="0">
            <a:spAutoFit/>
          </a:bodyPr>
          <a:lstStyle/>
          <a:p>
            <a:pPr marL="12700">
              <a:lnSpc>
                <a:spcPct val="100000"/>
              </a:lnSpc>
              <a:spcBef>
                <a:spcPts val="100"/>
              </a:spcBef>
            </a:pPr>
            <a:r>
              <a:rPr sz="1800" u="heavy" spc="-5" dirty="0">
                <a:solidFill>
                  <a:srgbClr val="0563C1"/>
                </a:solidFill>
                <a:uFill>
                  <a:solidFill>
                    <a:srgbClr val="0563C1"/>
                  </a:solidFill>
                </a:uFill>
                <a:latin typeface="Calibri" panose="020F0502020204030204"/>
                <a:cs typeface="Calibri" panose="020F0502020204030204"/>
                <a:hlinkClick r:id="rId7"/>
              </a:rPr>
              <a:t>Main</a:t>
            </a:r>
            <a:r>
              <a:rPr sz="1800" u="heavy" spc="-25" dirty="0">
                <a:solidFill>
                  <a:srgbClr val="0563C1"/>
                </a:solidFill>
                <a:uFill>
                  <a:solidFill>
                    <a:srgbClr val="0563C1"/>
                  </a:solidFill>
                </a:uFill>
                <a:latin typeface="Calibri" panose="020F0502020204030204"/>
                <a:cs typeface="Calibri" panose="020F0502020204030204"/>
                <a:hlinkClick r:id="rId7"/>
              </a:rPr>
              <a:t> </a:t>
            </a:r>
            <a:r>
              <a:rPr sz="1800" u="heavy" spc="-5" dirty="0">
                <a:solidFill>
                  <a:srgbClr val="0563C1"/>
                </a:solidFill>
                <a:uFill>
                  <a:solidFill>
                    <a:srgbClr val="0563C1"/>
                  </a:solidFill>
                </a:uFill>
                <a:latin typeface="Calibri" panose="020F0502020204030204"/>
                <a:cs typeface="Calibri" panose="020F0502020204030204"/>
                <a:hlinkClick r:id="rId7"/>
              </a:rPr>
              <a:t>traits</a:t>
            </a:r>
            <a:r>
              <a:rPr sz="1800" u="heavy" spc="-30" dirty="0">
                <a:solidFill>
                  <a:srgbClr val="0563C1"/>
                </a:solidFill>
                <a:uFill>
                  <a:solidFill>
                    <a:srgbClr val="0563C1"/>
                  </a:solidFill>
                </a:uFill>
                <a:latin typeface="Calibri" panose="020F0502020204030204"/>
                <a:cs typeface="Calibri" panose="020F0502020204030204"/>
                <a:hlinkClick r:id="rId7"/>
              </a:rPr>
              <a:t> </a:t>
            </a:r>
            <a:r>
              <a:rPr sz="1800" u="heavy" dirty="0">
                <a:solidFill>
                  <a:srgbClr val="0563C1"/>
                </a:solidFill>
                <a:uFill>
                  <a:solidFill>
                    <a:srgbClr val="0563C1"/>
                  </a:solidFill>
                </a:uFill>
                <a:latin typeface="Calibri" panose="020F0502020204030204"/>
                <a:cs typeface="Calibri" panose="020F0502020204030204"/>
                <a:hlinkClick r:id="rId7"/>
              </a:rPr>
              <a:t>are</a:t>
            </a:r>
            <a:r>
              <a:rPr sz="1800" u="heavy" spc="-25" dirty="0">
                <a:solidFill>
                  <a:srgbClr val="0563C1"/>
                </a:solidFill>
                <a:uFill>
                  <a:solidFill>
                    <a:srgbClr val="0563C1"/>
                  </a:solidFill>
                </a:uFill>
                <a:latin typeface="Calibri" panose="020F0502020204030204"/>
                <a:cs typeface="Calibri" panose="020F0502020204030204"/>
                <a:hlinkClick r:id="rId7"/>
              </a:rPr>
              <a:t> </a:t>
            </a:r>
            <a:r>
              <a:rPr sz="1800" u="heavy" spc="-5" dirty="0">
                <a:solidFill>
                  <a:srgbClr val="0563C1"/>
                </a:solidFill>
                <a:uFill>
                  <a:solidFill>
                    <a:srgbClr val="0563C1"/>
                  </a:solidFill>
                </a:uFill>
                <a:latin typeface="Calibri" panose="020F0502020204030204"/>
                <a:cs typeface="Calibri" panose="020F0502020204030204"/>
                <a:hlinkClick r:id="rId7"/>
              </a:rPr>
              <a:t>Lambda</a:t>
            </a:r>
            <a:endParaRPr sz="1800">
              <a:latin typeface="Calibri" panose="020F0502020204030204"/>
              <a:cs typeface="Calibri" panose="020F0502020204030204"/>
            </a:endParaRPr>
          </a:p>
          <a:p>
            <a:pPr marL="12700" marR="5080">
              <a:lnSpc>
                <a:spcPct val="101000"/>
              </a:lnSpc>
            </a:pPr>
            <a:r>
              <a:rPr sz="1800" u="heavy" dirty="0">
                <a:solidFill>
                  <a:srgbClr val="0563C1"/>
                </a:solidFill>
                <a:uFill>
                  <a:solidFill>
                    <a:srgbClr val="0563C1"/>
                  </a:solidFill>
                </a:uFill>
                <a:latin typeface="Calibri" panose="020F0502020204030204"/>
                <a:cs typeface="Calibri" panose="020F0502020204030204"/>
                <a:hlinkClick r:id="rId7"/>
              </a:rPr>
              <a:t>alculus</a:t>
            </a:r>
            <a:r>
              <a:rPr sz="1800" dirty="0">
                <a:latin typeface="Calibri" panose="020F0502020204030204"/>
                <a:cs typeface="Calibri" panose="020F0502020204030204"/>
              </a:rPr>
              <a:t>, </a:t>
            </a:r>
            <a:r>
              <a:rPr sz="1800" u="heavy" spc="-5" dirty="0">
                <a:solidFill>
                  <a:srgbClr val="0563C1"/>
                </a:solidFill>
                <a:uFill>
                  <a:solidFill>
                    <a:srgbClr val="0563C1"/>
                  </a:solidFill>
                </a:uFill>
                <a:latin typeface="Calibri" panose="020F0502020204030204"/>
                <a:cs typeface="Calibri" panose="020F0502020204030204"/>
                <a:hlinkClick r:id="rId8"/>
              </a:rPr>
              <a:t>compositionality</a:t>
            </a:r>
            <a:r>
              <a:rPr sz="1800" spc="-5" dirty="0">
                <a:latin typeface="Calibri" panose="020F0502020204030204"/>
                <a:cs typeface="Calibri" panose="020F0502020204030204"/>
              </a:rPr>
              <a:t>, </a:t>
            </a:r>
            <a:r>
              <a:rPr sz="1800" u="heavy" spc="-5" dirty="0">
                <a:solidFill>
                  <a:srgbClr val="0563C1"/>
                </a:solidFill>
                <a:uFill>
                  <a:solidFill>
                    <a:srgbClr val="0563C1"/>
                  </a:solidFill>
                </a:uFill>
                <a:latin typeface="Calibri" panose="020F0502020204030204"/>
                <a:cs typeface="Calibri" panose="020F0502020204030204"/>
                <a:hlinkClick r:id="rId9"/>
              </a:rPr>
              <a:t>formula</a:t>
            </a:r>
            <a:r>
              <a:rPr sz="1800" spc="-5" dirty="0">
                <a:latin typeface="Calibri" panose="020F0502020204030204"/>
                <a:cs typeface="Calibri" panose="020F0502020204030204"/>
              </a:rPr>
              <a:t>, </a:t>
            </a:r>
            <a:r>
              <a:rPr sz="1800" u="heavy" spc="-5" dirty="0">
                <a:solidFill>
                  <a:srgbClr val="0563C1"/>
                </a:solidFill>
                <a:uFill>
                  <a:solidFill>
                    <a:srgbClr val="0563C1"/>
                  </a:solidFill>
                </a:uFill>
                <a:latin typeface="Calibri" panose="020F0502020204030204"/>
                <a:cs typeface="Calibri" panose="020F0502020204030204"/>
                <a:hlinkClick r:id="rId10"/>
              </a:rPr>
              <a:t>recursion</a:t>
            </a:r>
            <a:r>
              <a:rPr sz="1800" spc="-5" dirty="0">
                <a:latin typeface="Calibri" panose="020F0502020204030204"/>
                <a:cs typeface="Calibri" panose="020F0502020204030204"/>
              </a:rPr>
              <a:t>, </a:t>
            </a:r>
            <a:r>
              <a:rPr sz="1800" u="heavy" spc="-5" dirty="0">
                <a:solidFill>
                  <a:srgbClr val="0563C1"/>
                </a:solidFill>
                <a:uFill>
                  <a:solidFill>
                    <a:srgbClr val="0563C1"/>
                  </a:solidFill>
                </a:uFill>
                <a:latin typeface="Calibri" panose="020F0502020204030204"/>
                <a:cs typeface="Calibri" panose="020F0502020204030204"/>
                <a:hlinkClick r:id="rId11"/>
              </a:rPr>
              <a:t>referential </a:t>
            </a:r>
            <a:r>
              <a:rPr sz="1800" spc="-395" dirty="0">
                <a:solidFill>
                  <a:srgbClr val="0563C1"/>
                </a:solidFill>
                <a:latin typeface="Calibri" panose="020F0502020204030204"/>
                <a:cs typeface="Calibri" panose="020F0502020204030204"/>
              </a:rPr>
              <a:t> </a:t>
            </a:r>
            <a:r>
              <a:rPr sz="1800" u="heavy" spc="-5" dirty="0">
                <a:solidFill>
                  <a:srgbClr val="0563C1"/>
                </a:solidFill>
                <a:uFill>
                  <a:solidFill>
                    <a:srgbClr val="0563C1"/>
                  </a:solidFill>
                </a:uFill>
                <a:latin typeface="Calibri" panose="020F0502020204030204"/>
                <a:cs typeface="Calibri" panose="020F0502020204030204"/>
                <a:hlinkClick r:id="rId11"/>
              </a:rPr>
              <a:t>transparency</a:t>
            </a:r>
            <a:endParaRPr sz="1800">
              <a:latin typeface="Calibri" panose="020F0502020204030204"/>
              <a:cs typeface="Calibri" panose="020F0502020204030204"/>
            </a:endParaRPr>
          </a:p>
          <a:p>
            <a:pPr marL="12700">
              <a:lnSpc>
                <a:spcPct val="100000"/>
              </a:lnSpc>
              <a:spcBef>
                <a:spcPts val="735"/>
              </a:spcBef>
            </a:pPr>
            <a:r>
              <a:rPr sz="1800" b="1" spc="-5" dirty="0">
                <a:latin typeface="Calibri" panose="020F0502020204030204"/>
                <a:cs typeface="Calibri" panose="020F0502020204030204"/>
              </a:rPr>
              <a:t>Functional</a:t>
            </a:r>
            <a:r>
              <a:rPr sz="1800" b="1" dirty="0">
                <a:latin typeface="Calibri" panose="020F0502020204030204"/>
                <a:cs typeface="Calibri" panose="020F0502020204030204"/>
              </a:rPr>
              <a:t> </a:t>
            </a:r>
            <a:r>
              <a:rPr sz="1800" spc="-5" dirty="0">
                <a:latin typeface="Calibri" panose="020F0502020204030204"/>
                <a:cs typeface="Calibri" panose="020F0502020204030204"/>
              </a:rPr>
              <a:t>programming</a:t>
            </a:r>
            <a:r>
              <a:rPr sz="1800" spc="-20" dirty="0">
                <a:latin typeface="Calibri" panose="020F0502020204030204"/>
                <a:cs typeface="Calibri" panose="020F0502020204030204"/>
              </a:rPr>
              <a:t> </a:t>
            </a:r>
            <a:r>
              <a:rPr sz="1800" spc="-5" dirty="0">
                <a:latin typeface="Calibri" panose="020F0502020204030204"/>
                <a:cs typeface="Calibri" panose="020F0502020204030204"/>
              </a:rPr>
              <a:t>focuses</a:t>
            </a:r>
            <a:r>
              <a:rPr sz="1800" spc="-20" dirty="0">
                <a:latin typeface="Calibri" panose="020F0502020204030204"/>
                <a:cs typeface="Calibri" panose="020F0502020204030204"/>
              </a:rPr>
              <a:t> </a:t>
            </a:r>
            <a:r>
              <a:rPr sz="1800" spc="-5" dirty="0">
                <a:latin typeface="Calibri" panose="020F0502020204030204"/>
                <a:cs typeface="Calibri" panose="020F0502020204030204"/>
              </a:rPr>
              <a:t>on</a:t>
            </a:r>
            <a:r>
              <a:rPr sz="1800" spc="5" dirty="0">
                <a:latin typeface="Calibri" panose="020F0502020204030204"/>
                <a:cs typeface="Calibri" panose="020F0502020204030204"/>
              </a:rPr>
              <a:t> </a:t>
            </a:r>
            <a:r>
              <a:rPr sz="1800" b="1" spc="-5" dirty="0">
                <a:latin typeface="Calibri" panose="020F0502020204030204"/>
                <a:cs typeface="Calibri" panose="020F0502020204030204"/>
              </a:rPr>
              <a:t>expressions</a:t>
            </a:r>
            <a:endParaRPr sz="1800">
              <a:latin typeface="Calibri" panose="020F0502020204030204"/>
              <a:cs typeface="Calibri" panose="020F0502020204030204"/>
            </a:endParaRPr>
          </a:p>
        </p:txBody>
      </p:sp>
      <p:sp>
        <p:nvSpPr>
          <p:cNvPr id="11" name="object 11"/>
          <p:cNvSpPr txBox="1"/>
          <p:nvPr/>
        </p:nvSpPr>
        <p:spPr>
          <a:xfrm>
            <a:off x="194048" y="3464858"/>
            <a:ext cx="14160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4</a:t>
            </a:r>
            <a:endParaRPr sz="1800">
              <a:latin typeface="Calibri" panose="020F0502020204030204"/>
              <a:cs typeface="Calibri" panose="020F0502020204030204"/>
            </a:endParaRPr>
          </a:p>
        </p:txBody>
      </p:sp>
      <p:sp>
        <p:nvSpPr>
          <p:cNvPr id="12" name="object 12"/>
          <p:cNvSpPr txBox="1"/>
          <p:nvPr/>
        </p:nvSpPr>
        <p:spPr>
          <a:xfrm>
            <a:off x="870697" y="3464858"/>
            <a:ext cx="5016500" cy="575945"/>
          </a:xfrm>
          <a:prstGeom prst="rect">
            <a:avLst/>
          </a:prstGeom>
        </p:spPr>
        <p:txBody>
          <a:bodyPr vert="horz" wrap="square" lIns="0" tIns="10795" rIns="0" bIns="0" rtlCol="0">
            <a:spAutoFit/>
          </a:bodyPr>
          <a:lstStyle/>
          <a:p>
            <a:pPr marL="12700" marR="5080">
              <a:lnSpc>
                <a:spcPct val="101000"/>
              </a:lnSpc>
              <a:spcBef>
                <a:spcPts val="85"/>
              </a:spcBef>
            </a:pPr>
            <a:r>
              <a:rPr sz="1800" spc="-5" dirty="0">
                <a:latin typeface="Calibri" panose="020F0502020204030204"/>
                <a:cs typeface="Calibri" panose="020F0502020204030204"/>
              </a:rPr>
              <a:t>Often recursive. Always returns the same output for </a:t>
            </a:r>
            <a:r>
              <a:rPr sz="1800" dirty="0">
                <a:latin typeface="Calibri" panose="020F0502020204030204"/>
                <a:cs typeface="Calibri" panose="020F0502020204030204"/>
              </a:rPr>
              <a:t>a </a:t>
            </a:r>
            <a:r>
              <a:rPr sz="1800" spc="-395" dirty="0">
                <a:latin typeface="Calibri" panose="020F0502020204030204"/>
                <a:cs typeface="Calibri" panose="020F0502020204030204"/>
              </a:rPr>
              <a:t> </a:t>
            </a:r>
            <a:r>
              <a:rPr sz="1800" spc="-5" dirty="0">
                <a:latin typeface="Calibri" panose="020F0502020204030204"/>
                <a:cs typeface="Calibri" panose="020F0502020204030204"/>
              </a:rPr>
              <a:t>given</a:t>
            </a:r>
            <a:r>
              <a:rPr sz="1800" spc="-10" dirty="0">
                <a:latin typeface="Calibri" panose="020F0502020204030204"/>
                <a:cs typeface="Calibri" panose="020F0502020204030204"/>
              </a:rPr>
              <a:t> </a:t>
            </a:r>
            <a:r>
              <a:rPr sz="1800" spc="-5" dirty="0">
                <a:latin typeface="Calibri" panose="020F0502020204030204"/>
                <a:cs typeface="Calibri" panose="020F0502020204030204"/>
              </a:rPr>
              <a:t>input.</a:t>
            </a:r>
            <a:endParaRPr sz="1800">
              <a:latin typeface="Calibri" panose="020F0502020204030204"/>
              <a:cs typeface="Calibri" panose="020F0502020204030204"/>
            </a:endParaRPr>
          </a:p>
        </p:txBody>
      </p:sp>
      <p:sp>
        <p:nvSpPr>
          <p:cNvPr id="13" name="object 13"/>
          <p:cNvSpPr txBox="1"/>
          <p:nvPr/>
        </p:nvSpPr>
        <p:spPr>
          <a:xfrm>
            <a:off x="194048" y="4377709"/>
            <a:ext cx="14160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5</a:t>
            </a:r>
            <a:endParaRPr sz="1800">
              <a:latin typeface="Calibri" panose="020F0502020204030204"/>
              <a:cs typeface="Calibri" panose="020F0502020204030204"/>
            </a:endParaRPr>
          </a:p>
        </p:txBody>
      </p:sp>
      <p:sp>
        <p:nvSpPr>
          <p:cNvPr id="14" name="object 14"/>
          <p:cNvSpPr txBox="1"/>
          <p:nvPr/>
        </p:nvSpPr>
        <p:spPr>
          <a:xfrm>
            <a:off x="870697" y="4377709"/>
            <a:ext cx="378904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panose="020F0502020204030204"/>
                <a:cs typeface="Calibri" panose="020F0502020204030204"/>
              </a:rPr>
              <a:t>Order</a:t>
            </a:r>
            <a:r>
              <a:rPr sz="1800" spc="-20" dirty="0">
                <a:latin typeface="Calibri" panose="020F0502020204030204"/>
                <a:cs typeface="Calibri" panose="020F0502020204030204"/>
              </a:rPr>
              <a:t> </a:t>
            </a:r>
            <a:r>
              <a:rPr sz="1800" spc="-5" dirty="0">
                <a:latin typeface="Calibri" panose="020F0502020204030204"/>
                <a:cs typeface="Calibri" panose="020F0502020204030204"/>
              </a:rPr>
              <a:t>of</a:t>
            </a:r>
            <a:r>
              <a:rPr sz="1800" spc="-20" dirty="0">
                <a:latin typeface="Calibri" panose="020F0502020204030204"/>
                <a:cs typeface="Calibri" panose="020F0502020204030204"/>
              </a:rPr>
              <a:t> </a:t>
            </a:r>
            <a:r>
              <a:rPr sz="1800" spc="-5" dirty="0">
                <a:latin typeface="Calibri" panose="020F0502020204030204"/>
                <a:cs typeface="Calibri" panose="020F0502020204030204"/>
              </a:rPr>
              <a:t>evaluation</a:t>
            </a:r>
            <a:r>
              <a:rPr sz="1800" spc="-20" dirty="0">
                <a:latin typeface="Calibri" panose="020F0502020204030204"/>
                <a:cs typeface="Calibri" panose="020F0502020204030204"/>
              </a:rPr>
              <a:t> </a:t>
            </a:r>
            <a:r>
              <a:rPr sz="1800" spc="-5" dirty="0">
                <a:latin typeface="Calibri" panose="020F0502020204030204"/>
                <a:cs typeface="Calibri" panose="020F0502020204030204"/>
              </a:rPr>
              <a:t>is</a:t>
            </a:r>
            <a:r>
              <a:rPr sz="1800" spc="-15" dirty="0">
                <a:latin typeface="Calibri" panose="020F0502020204030204"/>
                <a:cs typeface="Calibri" panose="020F0502020204030204"/>
              </a:rPr>
              <a:t> </a:t>
            </a:r>
            <a:r>
              <a:rPr sz="1800" spc="-5" dirty="0">
                <a:latin typeface="Calibri" panose="020F0502020204030204"/>
                <a:cs typeface="Calibri" panose="020F0502020204030204"/>
              </a:rPr>
              <a:t>usually</a:t>
            </a:r>
            <a:r>
              <a:rPr sz="1800" spc="-20" dirty="0">
                <a:latin typeface="Calibri" panose="020F0502020204030204"/>
                <a:cs typeface="Calibri" panose="020F0502020204030204"/>
              </a:rPr>
              <a:t> </a:t>
            </a:r>
            <a:r>
              <a:rPr sz="1800" spc="-5" dirty="0">
                <a:latin typeface="Calibri" panose="020F0502020204030204"/>
                <a:cs typeface="Calibri" panose="020F0502020204030204"/>
              </a:rPr>
              <a:t>undefined.</a:t>
            </a:r>
            <a:endParaRPr sz="1800">
              <a:latin typeface="Calibri" panose="020F0502020204030204"/>
              <a:cs typeface="Calibri" panose="020F0502020204030204"/>
            </a:endParaRPr>
          </a:p>
        </p:txBody>
      </p:sp>
      <p:sp>
        <p:nvSpPr>
          <p:cNvPr id="15" name="object 15"/>
          <p:cNvSpPr txBox="1"/>
          <p:nvPr/>
        </p:nvSpPr>
        <p:spPr>
          <a:xfrm>
            <a:off x="194048" y="5016684"/>
            <a:ext cx="14160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6</a:t>
            </a:r>
            <a:endParaRPr sz="1800">
              <a:latin typeface="Calibri" panose="020F0502020204030204"/>
              <a:cs typeface="Calibri" panose="020F0502020204030204"/>
            </a:endParaRPr>
          </a:p>
        </p:txBody>
      </p:sp>
      <p:sp>
        <p:nvSpPr>
          <p:cNvPr id="16" name="object 16"/>
          <p:cNvSpPr txBox="1"/>
          <p:nvPr/>
        </p:nvSpPr>
        <p:spPr>
          <a:xfrm>
            <a:off x="194048" y="5660584"/>
            <a:ext cx="14160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7</a:t>
            </a:r>
            <a:endParaRPr sz="1800">
              <a:latin typeface="Calibri" panose="020F0502020204030204"/>
              <a:cs typeface="Calibri" panose="020F0502020204030204"/>
            </a:endParaRPr>
          </a:p>
        </p:txBody>
      </p:sp>
      <p:sp>
        <p:nvSpPr>
          <p:cNvPr id="17" name="object 17"/>
          <p:cNvSpPr txBox="1"/>
          <p:nvPr/>
        </p:nvSpPr>
        <p:spPr>
          <a:xfrm>
            <a:off x="870697" y="5016684"/>
            <a:ext cx="4968240" cy="1220470"/>
          </a:xfrm>
          <a:prstGeom prst="rect">
            <a:avLst/>
          </a:prstGeom>
        </p:spPr>
        <p:txBody>
          <a:bodyPr vert="horz" wrap="square" lIns="0" tIns="10795" rIns="0" bIns="0" rtlCol="0">
            <a:spAutoFit/>
          </a:bodyPr>
          <a:lstStyle/>
          <a:p>
            <a:pPr marL="12700" marR="346075">
              <a:lnSpc>
                <a:spcPct val="101000"/>
              </a:lnSpc>
              <a:spcBef>
                <a:spcPts val="85"/>
              </a:spcBef>
            </a:pPr>
            <a:r>
              <a:rPr sz="1800" spc="-5" dirty="0">
                <a:latin typeface="Calibri" panose="020F0502020204030204"/>
                <a:cs typeface="Calibri" panose="020F0502020204030204"/>
              </a:rPr>
              <a:t>Must be stateless. i.e. No operation can have side </a:t>
            </a:r>
            <a:r>
              <a:rPr sz="1800" spc="-395" dirty="0">
                <a:latin typeface="Calibri" panose="020F0502020204030204"/>
                <a:cs typeface="Calibri" panose="020F0502020204030204"/>
              </a:rPr>
              <a:t> </a:t>
            </a:r>
            <a:r>
              <a:rPr sz="1800" spc="-5" dirty="0">
                <a:latin typeface="Calibri" panose="020F0502020204030204"/>
                <a:cs typeface="Calibri" panose="020F0502020204030204"/>
              </a:rPr>
              <a:t>effects.</a:t>
            </a:r>
            <a:endParaRPr sz="1800">
              <a:latin typeface="Calibri" panose="020F0502020204030204"/>
              <a:cs typeface="Calibri" panose="020F0502020204030204"/>
            </a:endParaRPr>
          </a:p>
          <a:p>
            <a:pPr marL="12700" marR="5080">
              <a:lnSpc>
                <a:spcPct val="101000"/>
              </a:lnSpc>
              <a:spcBef>
                <a:spcPts val="720"/>
              </a:spcBef>
            </a:pPr>
            <a:r>
              <a:rPr sz="1800" spc="-5" dirty="0">
                <a:latin typeface="Calibri" panose="020F0502020204030204"/>
                <a:cs typeface="Calibri" panose="020F0502020204030204"/>
              </a:rPr>
              <a:t>Good fit for parallel execution, Tends to</a:t>
            </a:r>
            <a:r>
              <a:rPr sz="1800" dirty="0">
                <a:latin typeface="Calibri" panose="020F0502020204030204"/>
                <a:cs typeface="Calibri" panose="020F0502020204030204"/>
              </a:rPr>
              <a:t> </a:t>
            </a:r>
            <a:r>
              <a:rPr sz="1800" spc="-5" dirty="0">
                <a:latin typeface="Calibri" panose="020F0502020204030204"/>
                <a:cs typeface="Calibri" panose="020F0502020204030204"/>
              </a:rPr>
              <a:t>emphasize </a:t>
            </a:r>
            <a:r>
              <a:rPr sz="1800" dirty="0">
                <a:latin typeface="Calibri" panose="020F0502020204030204"/>
                <a:cs typeface="Calibri" panose="020F0502020204030204"/>
              </a:rPr>
              <a:t>a </a:t>
            </a:r>
            <a:r>
              <a:rPr sz="1800" spc="-395" dirty="0">
                <a:latin typeface="Calibri" panose="020F0502020204030204"/>
                <a:cs typeface="Calibri" panose="020F0502020204030204"/>
              </a:rPr>
              <a:t> </a:t>
            </a:r>
            <a:r>
              <a:rPr sz="1800" spc="-5" dirty="0">
                <a:latin typeface="Calibri" panose="020F0502020204030204"/>
                <a:cs typeface="Calibri" panose="020F0502020204030204"/>
              </a:rPr>
              <a:t>divide</a:t>
            </a:r>
            <a:r>
              <a:rPr sz="1800" spc="-10" dirty="0">
                <a:latin typeface="Calibri" panose="020F0502020204030204"/>
                <a:cs typeface="Calibri" panose="020F0502020204030204"/>
              </a:rPr>
              <a:t> </a:t>
            </a:r>
            <a:r>
              <a:rPr sz="1800" dirty="0">
                <a:latin typeface="Calibri" panose="020F0502020204030204"/>
                <a:cs typeface="Calibri" panose="020F0502020204030204"/>
              </a:rPr>
              <a:t>and</a:t>
            </a:r>
            <a:r>
              <a:rPr sz="1800" spc="-5" dirty="0">
                <a:latin typeface="Calibri" panose="020F0502020204030204"/>
                <a:cs typeface="Calibri" panose="020F0502020204030204"/>
              </a:rPr>
              <a:t> conquer</a:t>
            </a:r>
            <a:r>
              <a:rPr sz="1800" spc="-10" dirty="0">
                <a:latin typeface="Calibri" panose="020F0502020204030204"/>
                <a:cs typeface="Calibri" panose="020F0502020204030204"/>
              </a:rPr>
              <a:t> </a:t>
            </a:r>
            <a:r>
              <a:rPr sz="1800" dirty="0">
                <a:latin typeface="Calibri" panose="020F0502020204030204"/>
                <a:cs typeface="Calibri" panose="020F0502020204030204"/>
              </a:rPr>
              <a:t>approach.</a:t>
            </a:r>
            <a:endParaRPr sz="1800">
              <a:latin typeface="Calibri" panose="020F0502020204030204"/>
              <a:cs typeface="Calibri" panose="020F0502020204030204"/>
            </a:endParaRPr>
          </a:p>
        </p:txBody>
      </p:sp>
      <p:sp>
        <p:nvSpPr>
          <p:cNvPr id="18" name="object 18"/>
          <p:cNvSpPr txBox="1"/>
          <p:nvPr/>
        </p:nvSpPr>
        <p:spPr>
          <a:xfrm>
            <a:off x="6333223" y="631259"/>
            <a:ext cx="5137150" cy="560578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panose="020F0502020204030204"/>
                <a:cs typeface="Calibri" panose="020F0502020204030204"/>
              </a:rPr>
              <a:t>Procedural</a:t>
            </a:r>
            <a:r>
              <a:rPr sz="1800" b="1" spc="-45" dirty="0">
                <a:latin typeface="Calibri" panose="020F0502020204030204"/>
                <a:cs typeface="Calibri" panose="020F0502020204030204"/>
              </a:rPr>
              <a:t> </a:t>
            </a:r>
            <a:r>
              <a:rPr sz="1800" b="1" spc="-5" dirty="0">
                <a:latin typeface="Calibri" panose="020F0502020204030204"/>
                <a:cs typeface="Calibri" panose="020F0502020204030204"/>
              </a:rPr>
              <a:t>Paradigm</a:t>
            </a:r>
            <a:endParaRPr sz="1800">
              <a:latin typeface="Calibri" panose="020F0502020204030204"/>
              <a:cs typeface="Calibri" panose="020F0502020204030204"/>
            </a:endParaRPr>
          </a:p>
          <a:p>
            <a:pPr marL="12700" marR="5080">
              <a:lnSpc>
                <a:spcPct val="101000"/>
              </a:lnSpc>
              <a:spcBef>
                <a:spcPts val="1560"/>
              </a:spcBef>
            </a:pPr>
            <a:r>
              <a:rPr sz="1800" spc="-5" dirty="0">
                <a:latin typeface="Calibri" panose="020F0502020204030204"/>
                <a:cs typeface="Calibri" panose="020F0502020204030204"/>
              </a:rPr>
              <a:t>Derived from structured programming, based on the </a:t>
            </a:r>
            <a:r>
              <a:rPr sz="1800" dirty="0">
                <a:latin typeface="Calibri" panose="020F0502020204030204"/>
                <a:cs typeface="Calibri" panose="020F0502020204030204"/>
              </a:rPr>
              <a:t> </a:t>
            </a:r>
            <a:r>
              <a:rPr sz="1800" spc="-5" dirty="0">
                <a:latin typeface="Calibri" panose="020F0502020204030204"/>
                <a:cs typeface="Calibri" panose="020F0502020204030204"/>
              </a:rPr>
              <a:t>concept</a:t>
            </a:r>
            <a:r>
              <a:rPr sz="1800" spc="-15" dirty="0">
                <a:latin typeface="Calibri" panose="020F0502020204030204"/>
                <a:cs typeface="Calibri" panose="020F0502020204030204"/>
              </a:rPr>
              <a:t> </a:t>
            </a:r>
            <a:r>
              <a:rPr sz="1800" spc="-5" dirty="0">
                <a:latin typeface="Calibri" panose="020F0502020204030204"/>
                <a:cs typeface="Calibri" panose="020F0502020204030204"/>
              </a:rPr>
              <a:t>of</a:t>
            </a:r>
            <a:r>
              <a:rPr sz="1800" spc="10" dirty="0">
                <a:latin typeface="Calibri" panose="020F0502020204030204"/>
                <a:cs typeface="Calibri" panose="020F0502020204030204"/>
              </a:rPr>
              <a:t> </a:t>
            </a:r>
            <a:r>
              <a:rPr sz="1800" u="heavy" spc="-5" dirty="0">
                <a:solidFill>
                  <a:srgbClr val="0563C1"/>
                </a:solidFill>
                <a:uFill>
                  <a:solidFill>
                    <a:srgbClr val="0563C1"/>
                  </a:solidFill>
                </a:uFill>
                <a:latin typeface="Calibri" panose="020F0502020204030204"/>
                <a:cs typeface="Calibri" panose="020F0502020204030204"/>
                <a:hlinkClick r:id="rId12"/>
              </a:rPr>
              <a:t>modular</a:t>
            </a:r>
            <a:r>
              <a:rPr sz="1800" u="heavy" spc="-15" dirty="0">
                <a:solidFill>
                  <a:srgbClr val="0563C1"/>
                </a:solidFill>
                <a:uFill>
                  <a:solidFill>
                    <a:srgbClr val="0563C1"/>
                  </a:solidFill>
                </a:uFill>
                <a:latin typeface="Calibri" panose="020F0502020204030204"/>
                <a:cs typeface="Calibri" panose="020F0502020204030204"/>
                <a:hlinkClick r:id="rId12"/>
              </a:rPr>
              <a:t> </a:t>
            </a:r>
            <a:r>
              <a:rPr sz="1800" u="heavy" spc="-5" dirty="0">
                <a:solidFill>
                  <a:srgbClr val="0563C1"/>
                </a:solidFill>
                <a:uFill>
                  <a:solidFill>
                    <a:srgbClr val="0563C1"/>
                  </a:solidFill>
                </a:uFill>
                <a:latin typeface="Calibri" panose="020F0502020204030204"/>
                <a:cs typeface="Calibri" panose="020F0502020204030204"/>
                <a:hlinkClick r:id="rId12"/>
              </a:rPr>
              <a:t>programming</a:t>
            </a:r>
            <a:r>
              <a:rPr sz="1800" spc="15" dirty="0">
                <a:solidFill>
                  <a:srgbClr val="0563C1"/>
                </a:solidFill>
                <a:latin typeface="Calibri" panose="020F0502020204030204"/>
                <a:cs typeface="Calibri" panose="020F0502020204030204"/>
                <a:hlinkClick r:id="rId12"/>
              </a:rPr>
              <a:t> </a:t>
            </a:r>
            <a:r>
              <a:rPr sz="1800" spc="-5" dirty="0">
                <a:latin typeface="Calibri" panose="020F0502020204030204"/>
                <a:cs typeface="Calibri" panose="020F0502020204030204"/>
              </a:rPr>
              <a:t>or</a:t>
            </a:r>
            <a:r>
              <a:rPr sz="1800" spc="-10" dirty="0">
                <a:latin typeface="Calibri" panose="020F0502020204030204"/>
                <a:cs typeface="Calibri" panose="020F0502020204030204"/>
              </a:rPr>
              <a:t> </a:t>
            </a:r>
            <a:r>
              <a:rPr sz="1800" spc="-5" dirty="0">
                <a:latin typeface="Calibri" panose="020F0502020204030204"/>
                <a:cs typeface="Calibri" panose="020F0502020204030204"/>
              </a:rPr>
              <a:t>the </a:t>
            </a:r>
            <a:r>
              <a:rPr sz="1800" i="1" spc="-5" dirty="0">
                <a:latin typeface="Calibri" panose="020F0502020204030204"/>
                <a:cs typeface="Calibri" panose="020F0502020204030204"/>
              </a:rPr>
              <a:t>procedure</a:t>
            </a:r>
            <a:r>
              <a:rPr sz="1800" i="1" spc="-15" dirty="0">
                <a:latin typeface="Calibri" panose="020F0502020204030204"/>
                <a:cs typeface="Calibri" panose="020F0502020204030204"/>
              </a:rPr>
              <a:t> </a:t>
            </a:r>
            <a:r>
              <a:rPr sz="1800" i="1" dirty="0">
                <a:latin typeface="Calibri" panose="020F0502020204030204"/>
                <a:cs typeface="Calibri" panose="020F0502020204030204"/>
              </a:rPr>
              <a:t>call</a:t>
            </a:r>
            <a:endParaRPr sz="1800">
              <a:latin typeface="Calibri" panose="020F0502020204030204"/>
              <a:cs typeface="Calibri" panose="020F0502020204030204"/>
            </a:endParaRPr>
          </a:p>
          <a:p>
            <a:pPr>
              <a:lnSpc>
                <a:spcPct val="100000"/>
              </a:lnSpc>
              <a:spcBef>
                <a:spcPts val="25"/>
              </a:spcBef>
            </a:pPr>
            <a:endParaRPr sz="2350">
              <a:latin typeface="Calibri" panose="020F0502020204030204"/>
              <a:cs typeface="Calibri" panose="020F0502020204030204"/>
            </a:endParaRPr>
          </a:p>
          <a:p>
            <a:pPr marL="12700" marR="1287145">
              <a:lnSpc>
                <a:spcPct val="101000"/>
              </a:lnSpc>
              <a:spcBef>
                <a:spcPts val="5"/>
              </a:spcBef>
            </a:pPr>
            <a:r>
              <a:rPr sz="1800" spc="-5" dirty="0">
                <a:latin typeface="Calibri" panose="020F0502020204030204"/>
                <a:cs typeface="Calibri" panose="020F0502020204030204"/>
              </a:rPr>
              <a:t>Main traits </a:t>
            </a:r>
            <a:r>
              <a:rPr sz="1800" dirty="0">
                <a:latin typeface="Calibri" panose="020F0502020204030204"/>
                <a:cs typeface="Calibri" panose="020F0502020204030204"/>
              </a:rPr>
              <a:t>are </a:t>
            </a:r>
            <a:r>
              <a:rPr sz="1800" u="heavy" spc="-5" dirty="0">
                <a:solidFill>
                  <a:srgbClr val="0563C1"/>
                </a:solidFill>
                <a:uFill>
                  <a:solidFill>
                    <a:srgbClr val="0563C1"/>
                  </a:solidFill>
                </a:uFill>
                <a:latin typeface="Calibri" panose="020F0502020204030204"/>
                <a:cs typeface="Calibri" panose="020F0502020204030204"/>
                <a:hlinkClick r:id="rId13"/>
              </a:rPr>
              <a:t>Local variables</a:t>
            </a:r>
            <a:r>
              <a:rPr sz="1800" spc="-5" dirty="0">
                <a:latin typeface="Calibri" panose="020F0502020204030204"/>
                <a:cs typeface="Calibri" panose="020F0502020204030204"/>
              </a:rPr>
              <a:t>, sequence, </a:t>
            </a:r>
            <a:r>
              <a:rPr sz="1800" spc="-395" dirty="0">
                <a:latin typeface="Calibri" panose="020F0502020204030204"/>
                <a:cs typeface="Calibri" panose="020F0502020204030204"/>
              </a:rPr>
              <a:t> </a:t>
            </a:r>
            <a:r>
              <a:rPr sz="1800" spc="-5" dirty="0">
                <a:latin typeface="Calibri" panose="020F0502020204030204"/>
                <a:cs typeface="Calibri" panose="020F0502020204030204"/>
              </a:rPr>
              <a:t>selection,</a:t>
            </a:r>
            <a:r>
              <a:rPr sz="1800" spc="-15" dirty="0">
                <a:latin typeface="Calibri" panose="020F0502020204030204"/>
                <a:cs typeface="Calibri" panose="020F0502020204030204"/>
              </a:rPr>
              <a:t> </a:t>
            </a:r>
            <a:r>
              <a:rPr sz="1800" u="heavy" spc="-5" dirty="0">
                <a:solidFill>
                  <a:srgbClr val="0563C1"/>
                </a:solidFill>
                <a:uFill>
                  <a:solidFill>
                    <a:srgbClr val="0563C1"/>
                  </a:solidFill>
                </a:uFill>
                <a:latin typeface="Calibri" panose="020F0502020204030204"/>
                <a:cs typeface="Calibri" panose="020F0502020204030204"/>
                <a:hlinkClick r:id="rId14"/>
              </a:rPr>
              <a:t>iteration</a:t>
            </a:r>
            <a:r>
              <a:rPr sz="1800" spc="-5" dirty="0">
                <a:latin typeface="Calibri" panose="020F0502020204030204"/>
                <a:cs typeface="Calibri" panose="020F0502020204030204"/>
              </a:rPr>
              <a:t>,</a:t>
            </a:r>
            <a:r>
              <a:rPr sz="1800" spc="-15" dirty="0">
                <a:latin typeface="Calibri" panose="020F0502020204030204"/>
                <a:cs typeface="Calibri" panose="020F0502020204030204"/>
              </a:rPr>
              <a:t> </a:t>
            </a:r>
            <a:r>
              <a:rPr sz="1800" dirty="0">
                <a:latin typeface="Calibri" panose="020F0502020204030204"/>
                <a:cs typeface="Calibri" panose="020F0502020204030204"/>
              </a:rPr>
              <a:t>and</a:t>
            </a:r>
            <a:r>
              <a:rPr sz="1800" spc="-15" dirty="0">
                <a:latin typeface="Calibri" panose="020F0502020204030204"/>
                <a:cs typeface="Calibri" panose="020F0502020204030204"/>
              </a:rPr>
              <a:t> </a:t>
            </a:r>
            <a:r>
              <a:rPr sz="1800" u="heavy" spc="-5" dirty="0">
                <a:solidFill>
                  <a:srgbClr val="0563C1"/>
                </a:solidFill>
                <a:uFill>
                  <a:solidFill>
                    <a:srgbClr val="0563C1"/>
                  </a:solidFill>
                </a:uFill>
                <a:latin typeface="Calibri" panose="020F0502020204030204"/>
                <a:cs typeface="Calibri" panose="020F0502020204030204"/>
                <a:hlinkClick r:id="rId12"/>
              </a:rPr>
              <a:t>modularization</a:t>
            </a:r>
            <a:endParaRPr sz="1800">
              <a:latin typeface="Calibri" panose="020F0502020204030204"/>
              <a:cs typeface="Calibri" panose="020F0502020204030204"/>
            </a:endParaRPr>
          </a:p>
          <a:p>
            <a:pPr>
              <a:lnSpc>
                <a:spcPct val="100000"/>
              </a:lnSpc>
              <a:spcBef>
                <a:spcPts val="40"/>
              </a:spcBef>
            </a:pPr>
            <a:endParaRPr sz="2350">
              <a:latin typeface="Calibri" panose="020F0502020204030204"/>
              <a:cs typeface="Calibri" panose="020F0502020204030204"/>
            </a:endParaRPr>
          </a:p>
          <a:p>
            <a:pPr marL="12700">
              <a:lnSpc>
                <a:spcPct val="100000"/>
              </a:lnSpc>
            </a:pPr>
            <a:r>
              <a:rPr sz="1800" b="1" spc="-5" dirty="0">
                <a:latin typeface="Calibri" panose="020F0502020204030204"/>
                <a:cs typeface="Calibri" panose="020F0502020204030204"/>
              </a:rPr>
              <a:t>Procedural</a:t>
            </a:r>
            <a:r>
              <a:rPr sz="1800" b="1" spc="-15" dirty="0">
                <a:latin typeface="Calibri" panose="020F0502020204030204"/>
                <a:cs typeface="Calibri" panose="020F0502020204030204"/>
              </a:rPr>
              <a:t> </a:t>
            </a:r>
            <a:r>
              <a:rPr sz="1800" spc="-5" dirty="0">
                <a:latin typeface="Calibri" panose="020F0502020204030204"/>
                <a:cs typeface="Calibri" panose="020F0502020204030204"/>
              </a:rPr>
              <a:t>programming</a:t>
            </a:r>
            <a:r>
              <a:rPr sz="1800" spc="-20" dirty="0">
                <a:latin typeface="Calibri" panose="020F0502020204030204"/>
                <a:cs typeface="Calibri" panose="020F0502020204030204"/>
              </a:rPr>
              <a:t> </a:t>
            </a:r>
            <a:r>
              <a:rPr sz="1800" spc="-5" dirty="0">
                <a:latin typeface="Calibri" panose="020F0502020204030204"/>
                <a:cs typeface="Calibri" panose="020F0502020204030204"/>
              </a:rPr>
              <a:t>focuses</a:t>
            </a:r>
            <a:r>
              <a:rPr sz="1800" spc="-20" dirty="0">
                <a:latin typeface="Calibri" panose="020F0502020204030204"/>
                <a:cs typeface="Calibri" panose="020F0502020204030204"/>
              </a:rPr>
              <a:t> </a:t>
            </a:r>
            <a:r>
              <a:rPr sz="1800" spc="-5" dirty="0">
                <a:latin typeface="Calibri" panose="020F0502020204030204"/>
                <a:cs typeface="Calibri" panose="020F0502020204030204"/>
              </a:rPr>
              <a:t>on</a:t>
            </a:r>
            <a:r>
              <a:rPr sz="1800" spc="5" dirty="0">
                <a:latin typeface="Calibri" panose="020F0502020204030204"/>
                <a:cs typeface="Calibri" panose="020F0502020204030204"/>
              </a:rPr>
              <a:t> </a:t>
            </a:r>
            <a:r>
              <a:rPr sz="1800" b="1" spc="-5" dirty="0">
                <a:latin typeface="Calibri" panose="020F0502020204030204"/>
                <a:cs typeface="Calibri" panose="020F0502020204030204"/>
              </a:rPr>
              <a:t>statements</a:t>
            </a:r>
            <a:endParaRPr sz="1800">
              <a:latin typeface="Calibri" panose="020F0502020204030204"/>
              <a:cs typeface="Calibri" panose="020F0502020204030204"/>
            </a:endParaRPr>
          </a:p>
          <a:p>
            <a:pPr>
              <a:lnSpc>
                <a:spcPct val="100000"/>
              </a:lnSpc>
              <a:spcBef>
                <a:spcPts val="15"/>
              </a:spcBef>
            </a:pPr>
            <a:endParaRPr sz="1550">
              <a:latin typeface="Calibri" panose="020F0502020204030204"/>
              <a:cs typeface="Calibri" panose="020F0502020204030204"/>
            </a:endParaRPr>
          </a:p>
          <a:p>
            <a:pPr marL="12700" marR="160020">
              <a:lnSpc>
                <a:spcPct val="101000"/>
              </a:lnSpc>
            </a:pPr>
            <a:r>
              <a:rPr sz="1800" spc="-5" dirty="0">
                <a:latin typeface="Calibri" panose="020F0502020204030204"/>
                <a:cs typeface="Calibri" panose="020F0502020204030204"/>
              </a:rPr>
              <a:t>The output of </a:t>
            </a:r>
            <a:r>
              <a:rPr sz="1800" dirty="0">
                <a:latin typeface="Calibri" panose="020F0502020204030204"/>
                <a:cs typeface="Calibri" panose="020F0502020204030204"/>
              </a:rPr>
              <a:t>a </a:t>
            </a:r>
            <a:r>
              <a:rPr sz="1800" spc="-5" dirty="0">
                <a:latin typeface="Calibri" panose="020F0502020204030204"/>
                <a:cs typeface="Calibri" panose="020F0502020204030204"/>
              </a:rPr>
              <a:t>routine does not </a:t>
            </a:r>
            <a:r>
              <a:rPr sz="1800" dirty="0">
                <a:latin typeface="Calibri" panose="020F0502020204030204"/>
                <a:cs typeface="Calibri" panose="020F0502020204030204"/>
              </a:rPr>
              <a:t>always </a:t>
            </a:r>
            <a:r>
              <a:rPr sz="1800" spc="-5" dirty="0">
                <a:latin typeface="Calibri" panose="020F0502020204030204"/>
                <a:cs typeface="Calibri" panose="020F0502020204030204"/>
              </a:rPr>
              <a:t>have </a:t>
            </a:r>
            <a:r>
              <a:rPr sz="1800" dirty="0">
                <a:latin typeface="Calibri" panose="020F0502020204030204"/>
                <a:cs typeface="Calibri" panose="020F0502020204030204"/>
              </a:rPr>
              <a:t>a </a:t>
            </a:r>
            <a:r>
              <a:rPr sz="1800" spc="-5" dirty="0">
                <a:latin typeface="Calibri" panose="020F0502020204030204"/>
                <a:cs typeface="Calibri" panose="020F0502020204030204"/>
              </a:rPr>
              <a:t>direct </a:t>
            </a:r>
            <a:r>
              <a:rPr sz="1800" spc="-395" dirty="0">
                <a:latin typeface="Calibri" panose="020F0502020204030204"/>
                <a:cs typeface="Calibri" panose="020F0502020204030204"/>
              </a:rPr>
              <a:t> </a:t>
            </a:r>
            <a:r>
              <a:rPr sz="1800" spc="-5" dirty="0">
                <a:latin typeface="Calibri" panose="020F0502020204030204"/>
                <a:cs typeface="Calibri" panose="020F0502020204030204"/>
              </a:rPr>
              <a:t>correlation</a:t>
            </a:r>
            <a:r>
              <a:rPr sz="1800" spc="-10" dirty="0">
                <a:latin typeface="Calibri" panose="020F0502020204030204"/>
                <a:cs typeface="Calibri" panose="020F0502020204030204"/>
              </a:rPr>
              <a:t> </a:t>
            </a:r>
            <a:r>
              <a:rPr sz="1800" spc="-5" dirty="0">
                <a:latin typeface="Calibri" panose="020F0502020204030204"/>
                <a:cs typeface="Calibri" panose="020F0502020204030204"/>
              </a:rPr>
              <a:t>with the input.</a:t>
            </a:r>
            <a:endParaRPr sz="1800">
              <a:latin typeface="Calibri" panose="020F0502020204030204"/>
              <a:cs typeface="Calibri" panose="020F0502020204030204"/>
            </a:endParaRPr>
          </a:p>
          <a:p>
            <a:pPr marL="12700" marR="962025">
              <a:lnSpc>
                <a:spcPts val="5030"/>
              </a:lnSpc>
              <a:spcBef>
                <a:spcPts val="630"/>
              </a:spcBef>
            </a:pPr>
            <a:r>
              <a:rPr sz="1800" spc="-5" dirty="0">
                <a:latin typeface="Calibri" panose="020F0502020204030204"/>
                <a:cs typeface="Calibri" panose="020F0502020204030204"/>
              </a:rPr>
              <a:t>Everything is done in </a:t>
            </a:r>
            <a:r>
              <a:rPr sz="1800" dirty="0">
                <a:latin typeface="Calibri" panose="020F0502020204030204"/>
                <a:cs typeface="Calibri" panose="020F0502020204030204"/>
              </a:rPr>
              <a:t>a </a:t>
            </a:r>
            <a:r>
              <a:rPr sz="1800" spc="-5" dirty="0">
                <a:latin typeface="Calibri" panose="020F0502020204030204"/>
                <a:cs typeface="Calibri" panose="020F0502020204030204"/>
              </a:rPr>
              <a:t>specific order. </a:t>
            </a:r>
            <a:r>
              <a:rPr sz="1800" dirty="0">
                <a:latin typeface="Calibri" panose="020F0502020204030204"/>
                <a:cs typeface="Calibri" panose="020F0502020204030204"/>
              </a:rPr>
              <a:t> </a:t>
            </a:r>
            <a:r>
              <a:rPr sz="1800" spc="-5" dirty="0">
                <a:latin typeface="Calibri" panose="020F0502020204030204"/>
                <a:cs typeface="Calibri" panose="020F0502020204030204"/>
              </a:rPr>
              <a:t>Execution</a:t>
            </a:r>
            <a:r>
              <a:rPr sz="1800" spc="-15" dirty="0">
                <a:latin typeface="Calibri" panose="020F0502020204030204"/>
                <a:cs typeface="Calibri" panose="020F0502020204030204"/>
              </a:rPr>
              <a:t> </a:t>
            </a:r>
            <a:r>
              <a:rPr sz="1800" spc="-5" dirty="0">
                <a:latin typeface="Calibri" panose="020F0502020204030204"/>
                <a:cs typeface="Calibri" panose="020F0502020204030204"/>
              </a:rPr>
              <a:t>of</a:t>
            </a:r>
            <a:r>
              <a:rPr sz="1800" spc="-15" dirty="0">
                <a:latin typeface="Calibri" panose="020F0502020204030204"/>
                <a:cs typeface="Calibri" panose="020F0502020204030204"/>
              </a:rPr>
              <a:t> </a:t>
            </a:r>
            <a:r>
              <a:rPr sz="1800" dirty="0">
                <a:latin typeface="Calibri" panose="020F0502020204030204"/>
                <a:cs typeface="Calibri" panose="020F0502020204030204"/>
              </a:rPr>
              <a:t>a</a:t>
            </a:r>
            <a:r>
              <a:rPr sz="1800" spc="-15" dirty="0">
                <a:latin typeface="Calibri" panose="020F0502020204030204"/>
                <a:cs typeface="Calibri" panose="020F0502020204030204"/>
              </a:rPr>
              <a:t> </a:t>
            </a:r>
            <a:r>
              <a:rPr sz="1800" spc="-5" dirty="0">
                <a:latin typeface="Calibri" panose="020F0502020204030204"/>
                <a:cs typeface="Calibri" panose="020F0502020204030204"/>
              </a:rPr>
              <a:t>routine</a:t>
            </a:r>
            <a:r>
              <a:rPr sz="1800" spc="-15" dirty="0">
                <a:latin typeface="Calibri" panose="020F0502020204030204"/>
                <a:cs typeface="Calibri" panose="020F0502020204030204"/>
              </a:rPr>
              <a:t> </a:t>
            </a:r>
            <a:r>
              <a:rPr sz="1800" spc="-5" dirty="0">
                <a:latin typeface="Calibri" panose="020F0502020204030204"/>
                <a:cs typeface="Calibri" panose="020F0502020204030204"/>
              </a:rPr>
              <a:t>may</a:t>
            </a:r>
            <a:r>
              <a:rPr sz="1800" spc="-15" dirty="0">
                <a:latin typeface="Calibri" panose="020F0502020204030204"/>
                <a:cs typeface="Calibri" panose="020F0502020204030204"/>
              </a:rPr>
              <a:t> </a:t>
            </a:r>
            <a:r>
              <a:rPr sz="1800" spc="-5" dirty="0">
                <a:latin typeface="Calibri" panose="020F0502020204030204"/>
                <a:cs typeface="Calibri" panose="020F0502020204030204"/>
              </a:rPr>
              <a:t>have</a:t>
            </a:r>
            <a:r>
              <a:rPr sz="1800" spc="-15" dirty="0">
                <a:latin typeface="Calibri" panose="020F0502020204030204"/>
                <a:cs typeface="Calibri" panose="020F0502020204030204"/>
              </a:rPr>
              <a:t> </a:t>
            </a:r>
            <a:r>
              <a:rPr sz="1800" spc="-5" dirty="0">
                <a:latin typeface="Calibri" panose="020F0502020204030204"/>
                <a:cs typeface="Calibri" panose="020F0502020204030204"/>
              </a:rPr>
              <a:t>side</a:t>
            </a:r>
            <a:r>
              <a:rPr sz="1800" spc="-15" dirty="0">
                <a:latin typeface="Calibri" panose="020F0502020204030204"/>
                <a:cs typeface="Calibri" panose="020F0502020204030204"/>
              </a:rPr>
              <a:t> </a:t>
            </a:r>
            <a:r>
              <a:rPr sz="1800" spc="-5" dirty="0">
                <a:latin typeface="Calibri" panose="020F0502020204030204"/>
                <a:cs typeface="Calibri" panose="020F0502020204030204"/>
              </a:rPr>
              <a:t>effects.</a:t>
            </a:r>
            <a:endParaRPr sz="1800">
              <a:latin typeface="Calibri" panose="020F0502020204030204"/>
              <a:cs typeface="Calibri" panose="020F0502020204030204"/>
            </a:endParaRPr>
          </a:p>
          <a:p>
            <a:pPr>
              <a:lnSpc>
                <a:spcPct val="100000"/>
              </a:lnSpc>
              <a:spcBef>
                <a:spcPts val="50"/>
              </a:spcBef>
            </a:pPr>
            <a:endParaRPr sz="1800">
              <a:latin typeface="Calibri" panose="020F0502020204030204"/>
              <a:cs typeface="Calibri" panose="020F0502020204030204"/>
            </a:endParaRPr>
          </a:p>
          <a:p>
            <a:pPr marL="12700" marR="73660">
              <a:lnSpc>
                <a:spcPct val="101000"/>
              </a:lnSpc>
            </a:pPr>
            <a:r>
              <a:rPr sz="1800" spc="-5" dirty="0">
                <a:latin typeface="Calibri" panose="020F0502020204030204"/>
                <a:cs typeface="Calibri" panose="020F0502020204030204"/>
              </a:rPr>
              <a:t>Tends to emphasize implementing solutions in </a:t>
            </a:r>
            <a:r>
              <a:rPr sz="1800" dirty="0">
                <a:latin typeface="Calibri" panose="020F0502020204030204"/>
                <a:cs typeface="Calibri" panose="020F0502020204030204"/>
              </a:rPr>
              <a:t>a </a:t>
            </a:r>
            <a:r>
              <a:rPr sz="1800" spc="-5" dirty="0">
                <a:latin typeface="Calibri" panose="020F0502020204030204"/>
                <a:cs typeface="Calibri" panose="020F0502020204030204"/>
              </a:rPr>
              <a:t>linear </a:t>
            </a:r>
            <a:r>
              <a:rPr sz="1800" spc="-395" dirty="0">
                <a:latin typeface="Calibri" panose="020F0502020204030204"/>
                <a:cs typeface="Calibri" panose="020F0502020204030204"/>
              </a:rPr>
              <a:t> </a:t>
            </a:r>
            <a:r>
              <a:rPr sz="1800" spc="-5" dirty="0">
                <a:latin typeface="Calibri" panose="020F0502020204030204"/>
                <a:cs typeface="Calibri" panose="020F0502020204030204"/>
              </a:rPr>
              <a:t>fashion.</a:t>
            </a:r>
            <a:endParaRPr sz="1800">
              <a:latin typeface="Calibri" panose="020F0502020204030204"/>
              <a:cs typeface="Calibri" panose="020F0502020204030204"/>
            </a:endParaRPr>
          </a:p>
        </p:txBody>
      </p:sp>
      <p:sp>
        <p:nvSpPr>
          <p:cNvPr id="19" name="Slide Number Placeholder 18"/>
          <p:cNvSpPr>
            <a:spLocks noGrp="1"/>
          </p:cNvSpPr>
          <p:nvPr>
            <p:ph type="sldNum" sz="quarter" idx="7"/>
          </p:nvPr>
        </p:nvSpPr>
        <p:spPr/>
        <p:txBody>
          <a:bodyPr/>
          <a:lstStyle/>
          <a:p>
            <a:fld id="{B6F15528-21DE-4FAA-801E-634DDDAF4B2B}" type="slidenum">
              <a:rPr/>
              <a:t>36</a:t>
            </a:fld>
            <a:endParaRPr/>
          </a:p>
        </p:txBody>
      </p:sp>
      <p:sp>
        <p:nvSpPr>
          <p:cNvPr id="20" name="Footer Placeholder 19"/>
          <p:cNvSpPr>
            <a:spLocks noGrp="1"/>
          </p:cNvSpPr>
          <p:nvPr>
            <p:ph type="ftr" sz="quarter" idx="5"/>
          </p:nvPr>
        </p:nvSpPr>
        <p:spPr/>
        <p:txBody>
          <a:bodyPr/>
          <a:lstStyle/>
          <a:p>
            <a:r>
              <a:t>UNIT IV : Pythonic Programming Paradigm</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970" y="19698"/>
            <a:ext cx="3557270" cy="39116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000000"/>
                </a:solidFill>
                <a:latin typeface="Calibri" panose="020F0502020204030204"/>
                <a:cs typeface="Calibri" panose="020F0502020204030204"/>
              </a:rPr>
              <a:t>Function</a:t>
            </a:r>
            <a:r>
              <a:rPr spc="-35"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vs</a:t>
            </a:r>
            <a:r>
              <a:rPr spc="-3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Object</a:t>
            </a:r>
            <a:r>
              <a:rPr spc="-30" dirty="0">
                <a:solidFill>
                  <a:srgbClr val="000000"/>
                </a:solidFill>
                <a:latin typeface="Calibri" panose="020F0502020204030204"/>
                <a:cs typeface="Calibri" panose="020F0502020204030204"/>
              </a:rPr>
              <a:t> </a:t>
            </a:r>
            <a:r>
              <a:rPr spc="-5" dirty="0">
                <a:solidFill>
                  <a:srgbClr val="000000"/>
                </a:solidFill>
                <a:latin typeface="Calibri" panose="020F0502020204030204"/>
                <a:cs typeface="Calibri" panose="020F0502020204030204"/>
              </a:rPr>
              <a:t>Oriented</a:t>
            </a:r>
          </a:p>
        </p:txBody>
      </p:sp>
      <p:sp>
        <p:nvSpPr>
          <p:cNvPr id="3" name="object 3"/>
          <p:cNvSpPr/>
          <p:nvPr/>
        </p:nvSpPr>
        <p:spPr>
          <a:xfrm>
            <a:off x="0" y="6640335"/>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4" name="object 4"/>
          <p:cNvSpPr/>
          <p:nvPr/>
        </p:nvSpPr>
        <p:spPr>
          <a:xfrm>
            <a:off x="0" y="586966"/>
            <a:ext cx="12105640" cy="5979795"/>
          </a:xfrm>
          <a:custGeom>
            <a:avLst/>
            <a:gdLst/>
            <a:ahLst/>
            <a:cxnLst/>
            <a:rect l="l" t="t" r="r" b="b"/>
            <a:pathLst>
              <a:path w="12105640" h="5979795">
                <a:moveTo>
                  <a:pt x="0" y="0"/>
                </a:moveTo>
                <a:lnTo>
                  <a:pt x="12105503" y="0"/>
                </a:lnTo>
                <a:lnTo>
                  <a:pt x="12105503" y="5979175"/>
                </a:lnTo>
                <a:lnTo>
                  <a:pt x="0" y="5979175"/>
                </a:lnTo>
                <a:lnTo>
                  <a:pt x="0" y="0"/>
                </a:lnTo>
                <a:close/>
              </a:path>
            </a:pathLst>
          </a:custGeom>
          <a:ln w="12699">
            <a:solidFill>
              <a:srgbClr val="00B0F0"/>
            </a:solidFill>
          </a:ln>
        </p:spPr>
        <p:txBody>
          <a:bodyPr wrap="square" lIns="0" tIns="0" rIns="0" bIns="0" rtlCol="0"/>
          <a:lstStyle/>
          <a:p>
            <a:endParaRPr/>
          </a:p>
        </p:txBody>
      </p:sp>
      <p:sp>
        <p:nvSpPr>
          <p:cNvPr id="5" name="object 5"/>
          <p:cNvSpPr txBox="1"/>
          <p:nvPr/>
        </p:nvSpPr>
        <p:spPr>
          <a:xfrm>
            <a:off x="162694" y="854457"/>
            <a:ext cx="46799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panose="020F0502020204030204"/>
                <a:cs typeface="Calibri" panose="020F0502020204030204"/>
              </a:rPr>
              <a:t>S.No</a:t>
            </a:r>
            <a:endParaRPr sz="1800">
              <a:latin typeface="Calibri" panose="020F0502020204030204"/>
              <a:cs typeface="Calibri" panose="020F0502020204030204"/>
            </a:endParaRPr>
          </a:p>
        </p:txBody>
      </p:sp>
      <p:sp>
        <p:nvSpPr>
          <p:cNvPr id="6" name="object 6"/>
          <p:cNvSpPr txBox="1"/>
          <p:nvPr/>
        </p:nvSpPr>
        <p:spPr>
          <a:xfrm>
            <a:off x="928845" y="854457"/>
            <a:ext cx="206121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panose="020F0502020204030204"/>
                <a:cs typeface="Calibri" panose="020F0502020204030204"/>
              </a:rPr>
              <a:t>Functional</a:t>
            </a:r>
            <a:r>
              <a:rPr sz="1800" b="1" spc="-75" dirty="0">
                <a:latin typeface="Calibri" panose="020F0502020204030204"/>
                <a:cs typeface="Calibri" panose="020F0502020204030204"/>
              </a:rPr>
              <a:t> </a:t>
            </a:r>
            <a:r>
              <a:rPr sz="1800" b="1" spc="-5" dirty="0">
                <a:latin typeface="Calibri" panose="020F0502020204030204"/>
                <a:cs typeface="Calibri" panose="020F0502020204030204"/>
              </a:rPr>
              <a:t>Paradigms</a:t>
            </a:r>
            <a:endParaRPr sz="1800">
              <a:latin typeface="Calibri" panose="020F0502020204030204"/>
              <a:cs typeface="Calibri" panose="020F0502020204030204"/>
            </a:endParaRPr>
          </a:p>
        </p:txBody>
      </p:sp>
      <p:sp>
        <p:nvSpPr>
          <p:cNvPr id="7" name="object 7"/>
          <p:cNvSpPr txBox="1"/>
          <p:nvPr/>
        </p:nvSpPr>
        <p:spPr>
          <a:xfrm>
            <a:off x="162694" y="1300707"/>
            <a:ext cx="14160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1</a:t>
            </a:r>
            <a:endParaRPr sz="1800">
              <a:latin typeface="Calibri" panose="020F0502020204030204"/>
              <a:cs typeface="Calibri" panose="020F0502020204030204"/>
            </a:endParaRPr>
          </a:p>
        </p:txBody>
      </p:sp>
      <p:sp>
        <p:nvSpPr>
          <p:cNvPr id="8" name="object 8"/>
          <p:cNvSpPr txBox="1"/>
          <p:nvPr/>
        </p:nvSpPr>
        <p:spPr>
          <a:xfrm>
            <a:off x="928845" y="1300707"/>
            <a:ext cx="229997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panose="020F0502020204030204"/>
                <a:cs typeface="Calibri" panose="020F0502020204030204"/>
              </a:rPr>
              <a:t>FP</a:t>
            </a:r>
            <a:r>
              <a:rPr sz="1800" spc="-30" dirty="0">
                <a:latin typeface="Calibri" panose="020F0502020204030204"/>
                <a:cs typeface="Calibri" panose="020F0502020204030204"/>
              </a:rPr>
              <a:t> </a:t>
            </a:r>
            <a:r>
              <a:rPr sz="1800" spc="-5" dirty="0">
                <a:latin typeface="Calibri" panose="020F0502020204030204"/>
                <a:cs typeface="Calibri" panose="020F0502020204030204"/>
              </a:rPr>
              <a:t>uses</a:t>
            </a:r>
            <a:r>
              <a:rPr sz="1800" spc="-30" dirty="0">
                <a:latin typeface="Calibri" panose="020F0502020204030204"/>
                <a:cs typeface="Calibri" panose="020F0502020204030204"/>
              </a:rPr>
              <a:t> </a:t>
            </a:r>
            <a:r>
              <a:rPr sz="1800" spc="-5" dirty="0">
                <a:latin typeface="Calibri" panose="020F0502020204030204"/>
                <a:cs typeface="Calibri" panose="020F0502020204030204"/>
              </a:rPr>
              <a:t>Immutable</a:t>
            </a:r>
            <a:r>
              <a:rPr sz="1800" spc="-30" dirty="0">
                <a:latin typeface="Calibri" panose="020F0502020204030204"/>
                <a:cs typeface="Calibri" panose="020F0502020204030204"/>
              </a:rPr>
              <a:t> </a:t>
            </a:r>
            <a:r>
              <a:rPr sz="1800" spc="-5" dirty="0">
                <a:latin typeface="Calibri" panose="020F0502020204030204"/>
                <a:cs typeface="Calibri" panose="020F0502020204030204"/>
              </a:rPr>
              <a:t>data.</a:t>
            </a:r>
            <a:endParaRPr sz="1800">
              <a:latin typeface="Calibri" panose="020F0502020204030204"/>
              <a:cs typeface="Calibri" panose="020F0502020204030204"/>
            </a:endParaRPr>
          </a:p>
        </p:txBody>
      </p:sp>
      <p:sp>
        <p:nvSpPr>
          <p:cNvPr id="9" name="object 9"/>
          <p:cNvSpPr txBox="1"/>
          <p:nvPr/>
        </p:nvSpPr>
        <p:spPr>
          <a:xfrm>
            <a:off x="162694" y="1879556"/>
            <a:ext cx="14160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2</a:t>
            </a:r>
            <a:endParaRPr sz="1800">
              <a:latin typeface="Calibri" panose="020F0502020204030204"/>
              <a:cs typeface="Calibri" panose="020F0502020204030204"/>
            </a:endParaRPr>
          </a:p>
        </p:txBody>
      </p:sp>
      <p:sp>
        <p:nvSpPr>
          <p:cNvPr id="10" name="object 10"/>
          <p:cNvSpPr txBox="1"/>
          <p:nvPr/>
        </p:nvSpPr>
        <p:spPr>
          <a:xfrm>
            <a:off x="928845" y="1879556"/>
            <a:ext cx="445008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panose="020F0502020204030204"/>
                <a:cs typeface="Calibri" panose="020F0502020204030204"/>
              </a:rPr>
              <a:t>Follows</a:t>
            </a:r>
            <a:r>
              <a:rPr sz="1800" spc="-25" dirty="0">
                <a:latin typeface="Calibri" panose="020F0502020204030204"/>
                <a:cs typeface="Calibri" panose="020F0502020204030204"/>
              </a:rPr>
              <a:t> </a:t>
            </a:r>
            <a:r>
              <a:rPr sz="1800" spc="-5" dirty="0">
                <a:latin typeface="Calibri" panose="020F0502020204030204"/>
                <a:cs typeface="Calibri" panose="020F0502020204030204"/>
              </a:rPr>
              <a:t>Declarative</a:t>
            </a:r>
            <a:r>
              <a:rPr sz="1800" spc="-20" dirty="0">
                <a:latin typeface="Calibri" panose="020F0502020204030204"/>
                <a:cs typeface="Calibri" panose="020F0502020204030204"/>
              </a:rPr>
              <a:t> </a:t>
            </a:r>
            <a:r>
              <a:rPr sz="1800" spc="-5" dirty="0">
                <a:latin typeface="Calibri" panose="020F0502020204030204"/>
                <a:cs typeface="Calibri" panose="020F0502020204030204"/>
              </a:rPr>
              <a:t>Programming</a:t>
            </a:r>
            <a:r>
              <a:rPr sz="1800" spc="-25" dirty="0">
                <a:latin typeface="Calibri" panose="020F0502020204030204"/>
                <a:cs typeface="Calibri" panose="020F0502020204030204"/>
              </a:rPr>
              <a:t> </a:t>
            </a:r>
            <a:r>
              <a:rPr sz="1800" spc="-5" dirty="0">
                <a:latin typeface="Calibri" panose="020F0502020204030204"/>
                <a:cs typeface="Calibri" panose="020F0502020204030204"/>
              </a:rPr>
              <a:t>based</a:t>
            </a:r>
            <a:r>
              <a:rPr sz="1800" spc="-20" dirty="0">
                <a:latin typeface="Calibri" panose="020F0502020204030204"/>
                <a:cs typeface="Calibri" panose="020F0502020204030204"/>
              </a:rPr>
              <a:t> </a:t>
            </a:r>
            <a:r>
              <a:rPr sz="1800" spc="-5" dirty="0">
                <a:latin typeface="Calibri" panose="020F0502020204030204"/>
                <a:cs typeface="Calibri" panose="020F0502020204030204"/>
              </a:rPr>
              <a:t>Model.</a:t>
            </a:r>
            <a:endParaRPr sz="1800">
              <a:latin typeface="Calibri" panose="020F0502020204030204"/>
              <a:cs typeface="Calibri" panose="020F0502020204030204"/>
            </a:endParaRPr>
          </a:p>
        </p:txBody>
      </p:sp>
      <p:sp>
        <p:nvSpPr>
          <p:cNvPr id="11" name="object 11"/>
          <p:cNvSpPr txBox="1"/>
          <p:nvPr/>
        </p:nvSpPr>
        <p:spPr>
          <a:xfrm>
            <a:off x="162694" y="2523107"/>
            <a:ext cx="14160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3</a:t>
            </a:r>
            <a:endParaRPr sz="1800">
              <a:latin typeface="Calibri" panose="020F0502020204030204"/>
              <a:cs typeface="Calibri" panose="020F0502020204030204"/>
            </a:endParaRPr>
          </a:p>
        </p:txBody>
      </p:sp>
      <p:sp>
        <p:nvSpPr>
          <p:cNvPr id="12" name="object 12"/>
          <p:cNvSpPr txBox="1"/>
          <p:nvPr/>
        </p:nvSpPr>
        <p:spPr>
          <a:xfrm>
            <a:off x="162694" y="3073577"/>
            <a:ext cx="141605" cy="1129030"/>
          </a:xfrm>
          <a:prstGeom prst="rect">
            <a:avLst/>
          </a:prstGeom>
        </p:spPr>
        <p:txBody>
          <a:bodyPr vert="horz" wrap="square" lIns="0" tIns="106045" rIns="0" bIns="0" rtlCol="0">
            <a:spAutoFit/>
          </a:bodyPr>
          <a:lstStyle/>
          <a:p>
            <a:pPr marL="12700">
              <a:lnSpc>
                <a:spcPct val="100000"/>
              </a:lnSpc>
              <a:spcBef>
                <a:spcPts val="835"/>
              </a:spcBef>
            </a:pPr>
            <a:r>
              <a:rPr sz="1800" b="1" dirty="0">
                <a:latin typeface="Calibri" panose="020F0502020204030204"/>
                <a:cs typeface="Calibri" panose="020F0502020204030204"/>
              </a:rPr>
              <a:t>4</a:t>
            </a:r>
            <a:endParaRPr sz="1800">
              <a:latin typeface="Calibri" panose="020F0502020204030204"/>
              <a:cs typeface="Calibri" panose="020F0502020204030204"/>
            </a:endParaRPr>
          </a:p>
          <a:p>
            <a:pPr marL="12700">
              <a:lnSpc>
                <a:spcPct val="100000"/>
              </a:lnSpc>
              <a:spcBef>
                <a:spcPts val="735"/>
              </a:spcBef>
            </a:pPr>
            <a:r>
              <a:rPr sz="1800" b="1" dirty="0">
                <a:latin typeface="Calibri" panose="020F0502020204030204"/>
                <a:cs typeface="Calibri" panose="020F0502020204030204"/>
              </a:rPr>
              <a:t>5</a:t>
            </a:r>
            <a:endParaRPr sz="1800">
              <a:latin typeface="Calibri" panose="020F0502020204030204"/>
              <a:cs typeface="Calibri" panose="020F0502020204030204"/>
            </a:endParaRPr>
          </a:p>
          <a:p>
            <a:pPr marL="12700">
              <a:lnSpc>
                <a:spcPct val="100000"/>
              </a:lnSpc>
              <a:spcBef>
                <a:spcPts val="735"/>
              </a:spcBef>
            </a:pPr>
            <a:r>
              <a:rPr sz="1800" b="1" dirty="0">
                <a:latin typeface="Calibri" panose="020F0502020204030204"/>
                <a:cs typeface="Calibri" panose="020F0502020204030204"/>
              </a:rPr>
              <a:t>6</a:t>
            </a:r>
            <a:endParaRPr sz="1800">
              <a:latin typeface="Calibri" panose="020F0502020204030204"/>
              <a:cs typeface="Calibri" panose="020F0502020204030204"/>
            </a:endParaRPr>
          </a:p>
        </p:txBody>
      </p:sp>
      <p:sp>
        <p:nvSpPr>
          <p:cNvPr id="13" name="object 13"/>
          <p:cNvSpPr txBox="1"/>
          <p:nvPr/>
        </p:nvSpPr>
        <p:spPr>
          <a:xfrm>
            <a:off x="162694" y="4546406"/>
            <a:ext cx="14160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7</a:t>
            </a:r>
            <a:endParaRPr sz="1800">
              <a:latin typeface="Calibri" panose="020F0502020204030204"/>
              <a:cs typeface="Calibri" panose="020F0502020204030204"/>
            </a:endParaRPr>
          </a:p>
        </p:txBody>
      </p:sp>
      <p:sp>
        <p:nvSpPr>
          <p:cNvPr id="14" name="object 14"/>
          <p:cNvSpPr txBox="1"/>
          <p:nvPr/>
        </p:nvSpPr>
        <p:spPr>
          <a:xfrm>
            <a:off x="928845" y="2523107"/>
            <a:ext cx="5305425" cy="2323465"/>
          </a:xfrm>
          <a:prstGeom prst="rect">
            <a:avLst/>
          </a:prstGeom>
        </p:spPr>
        <p:txBody>
          <a:bodyPr vert="horz" wrap="square" lIns="0" tIns="10795" rIns="0" bIns="0" rtlCol="0">
            <a:spAutoFit/>
          </a:bodyPr>
          <a:lstStyle/>
          <a:p>
            <a:pPr marL="12700" marR="684530">
              <a:lnSpc>
                <a:spcPct val="101000"/>
              </a:lnSpc>
              <a:spcBef>
                <a:spcPts val="85"/>
              </a:spcBef>
            </a:pPr>
            <a:r>
              <a:rPr sz="1800" spc="-5" dirty="0">
                <a:latin typeface="Calibri" panose="020F0502020204030204"/>
                <a:cs typeface="Calibri" panose="020F0502020204030204"/>
              </a:rPr>
              <a:t>What it focuses is on: "What you </a:t>
            </a:r>
            <a:r>
              <a:rPr sz="1800" dirty="0">
                <a:latin typeface="Calibri" panose="020F0502020204030204"/>
                <a:cs typeface="Calibri" panose="020F0502020204030204"/>
              </a:rPr>
              <a:t>are </a:t>
            </a:r>
            <a:r>
              <a:rPr sz="1800" spc="-5" dirty="0">
                <a:latin typeface="Calibri" panose="020F0502020204030204"/>
                <a:cs typeface="Calibri" panose="020F0502020204030204"/>
              </a:rPr>
              <a:t>doing. in the </a:t>
            </a:r>
            <a:r>
              <a:rPr sz="1800" spc="-395" dirty="0">
                <a:latin typeface="Calibri" panose="020F0502020204030204"/>
                <a:cs typeface="Calibri" panose="020F0502020204030204"/>
              </a:rPr>
              <a:t> </a:t>
            </a:r>
            <a:r>
              <a:rPr sz="1800" spc="-5" dirty="0">
                <a:latin typeface="Calibri" panose="020F0502020204030204"/>
                <a:cs typeface="Calibri" panose="020F0502020204030204"/>
              </a:rPr>
              <a:t>programme."</a:t>
            </a:r>
            <a:endParaRPr sz="1800">
              <a:latin typeface="Calibri" panose="020F0502020204030204"/>
              <a:cs typeface="Calibri" panose="020F0502020204030204"/>
            </a:endParaRPr>
          </a:p>
          <a:p>
            <a:pPr marL="12700" marR="2172970">
              <a:lnSpc>
                <a:spcPts val="2900"/>
              </a:lnSpc>
              <a:spcBef>
                <a:spcPts val="215"/>
              </a:spcBef>
            </a:pPr>
            <a:r>
              <a:rPr sz="1800" spc="-5" dirty="0">
                <a:latin typeface="Calibri" panose="020F0502020204030204"/>
                <a:cs typeface="Calibri" panose="020F0502020204030204"/>
              </a:rPr>
              <a:t>Supports Parallel Programming. </a:t>
            </a:r>
            <a:r>
              <a:rPr sz="1800" dirty="0">
                <a:latin typeface="Calibri" panose="020F0502020204030204"/>
                <a:cs typeface="Calibri" panose="020F0502020204030204"/>
              </a:rPr>
              <a:t> </a:t>
            </a:r>
            <a:r>
              <a:rPr sz="1800" spc="-5" dirty="0">
                <a:latin typeface="Calibri" panose="020F0502020204030204"/>
                <a:cs typeface="Calibri" panose="020F0502020204030204"/>
              </a:rPr>
              <a:t>Its</a:t>
            </a:r>
            <a:r>
              <a:rPr sz="1800" spc="-25" dirty="0">
                <a:latin typeface="Calibri" panose="020F0502020204030204"/>
                <a:cs typeface="Calibri" panose="020F0502020204030204"/>
              </a:rPr>
              <a:t> </a:t>
            </a:r>
            <a:r>
              <a:rPr sz="1800" spc="-5" dirty="0">
                <a:latin typeface="Calibri" panose="020F0502020204030204"/>
                <a:cs typeface="Calibri" panose="020F0502020204030204"/>
              </a:rPr>
              <a:t>functions</a:t>
            </a:r>
            <a:r>
              <a:rPr sz="1800" spc="-25" dirty="0">
                <a:latin typeface="Calibri" panose="020F0502020204030204"/>
                <a:cs typeface="Calibri" panose="020F0502020204030204"/>
              </a:rPr>
              <a:t> </a:t>
            </a:r>
            <a:r>
              <a:rPr sz="1800" spc="-5" dirty="0">
                <a:latin typeface="Calibri" panose="020F0502020204030204"/>
                <a:cs typeface="Calibri" panose="020F0502020204030204"/>
              </a:rPr>
              <a:t>have</a:t>
            </a:r>
            <a:r>
              <a:rPr sz="1800" spc="-25" dirty="0">
                <a:latin typeface="Calibri" panose="020F0502020204030204"/>
                <a:cs typeface="Calibri" panose="020F0502020204030204"/>
              </a:rPr>
              <a:t> </a:t>
            </a:r>
            <a:r>
              <a:rPr sz="1800" spc="-5" dirty="0">
                <a:latin typeface="Calibri" panose="020F0502020204030204"/>
                <a:cs typeface="Calibri" panose="020F0502020204030204"/>
              </a:rPr>
              <a:t>no-side</a:t>
            </a:r>
            <a:r>
              <a:rPr sz="1800" spc="-20" dirty="0">
                <a:latin typeface="Calibri" panose="020F0502020204030204"/>
                <a:cs typeface="Calibri" panose="020F0502020204030204"/>
              </a:rPr>
              <a:t> </a:t>
            </a:r>
            <a:r>
              <a:rPr sz="1800" spc="-5" dirty="0">
                <a:latin typeface="Calibri" panose="020F0502020204030204"/>
                <a:cs typeface="Calibri" panose="020F0502020204030204"/>
              </a:rPr>
              <a:t>effects.</a:t>
            </a:r>
            <a:endParaRPr sz="1800">
              <a:latin typeface="Calibri" panose="020F0502020204030204"/>
              <a:cs typeface="Calibri" panose="020F0502020204030204"/>
            </a:endParaRPr>
          </a:p>
          <a:p>
            <a:pPr marL="12700" marR="5080">
              <a:lnSpc>
                <a:spcPct val="101000"/>
              </a:lnSpc>
              <a:spcBef>
                <a:spcPts val="495"/>
              </a:spcBef>
            </a:pPr>
            <a:r>
              <a:rPr sz="1800" spc="-5" dirty="0">
                <a:latin typeface="Calibri" panose="020F0502020204030204"/>
                <a:cs typeface="Calibri" panose="020F0502020204030204"/>
              </a:rPr>
              <a:t>Flow Control is performed using function calls </a:t>
            </a:r>
            <a:r>
              <a:rPr sz="1800" dirty="0">
                <a:latin typeface="Calibri" panose="020F0502020204030204"/>
                <a:cs typeface="Calibri" panose="020F0502020204030204"/>
              </a:rPr>
              <a:t>&amp; </a:t>
            </a:r>
            <a:r>
              <a:rPr sz="1800" spc="-5" dirty="0">
                <a:latin typeface="Calibri" panose="020F0502020204030204"/>
                <a:cs typeface="Calibri" panose="020F0502020204030204"/>
              </a:rPr>
              <a:t>function </a:t>
            </a:r>
            <a:r>
              <a:rPr sz="1800" spc="-395" dirty="0">
                <a:latin typeface="Calibri" panose="020F0502020204030204"/>
                <a:cs typeface="Calibri" panose="020F0502020204030204"/>
              </a:rPr>
              <a:t> </a:t>
            </a:r>
            <a:r>
              <a:rPr sz="1800" spc="-5" dirty="0">
                <a:latin typeface="Calibri" panose="020F0502020204030204"/>
                <a:cs typeface="Calibri" panose="020F0502020204030204"/>
              </a:rPr>
              <a:t>calls</a:t>
            </a:r>
            <a:r>
              <a:rPr sz="1800" spc="-10" dirty="0">
                <a:latin typeface="Calibri" panose="020F0502020204030204"/>
                <a:cs typeface="Calibri" panose="020F0502020204030204"/>
              </a:rPr>
              <a:t> </a:t>
            </a:r>
            <a:r>
              <a:rPr sz="1800" spc="-5" dirty="0">
                <a:latin typeface="Calibri" panose="020F0502020204030204"/>
                <a:cs typeface="Calibri" panose="020F0502020204030204"/>
              </a:rPr>
              <a:t>with recursion.</a:t>
            </a:r>
            <a:endParaRPr sz="1800">
              <a:latin typeface="Calibri" panose="020F0502020204030204"/>
              <a:cs typeface="Calibri" panose="020F0502020204030204"/>
            </a:endParaRPr>
          </a:p>
          <a:p>
            <a:pPr marL="12700">
              <a:lnSpc>
                <a:spcPct val="100000"/>
              </a:lnSpc>
              <a:spcBef>
                <a:spcPts val="735"/>
              </a:spcBef>
            </a:pPr>
            <a:r>
              <a:rPr sz="1800" spc="-5" dirty="0">
                <a:latin typeface="Calibri" panose="020F0502020204030204"/>
                <a:cs typeface="Calibri" panose="020F0502020204030204"/>
              </a:rPr>
              <a:t>Execution</a:t>
            </a:r>
            <a:r>
              <a:rPr sz="1800" spc="-15" dirty="0">
                <a:latin typeface="Calibri" panose="020F0502020204030204"/>
                <a:cs typeface="Calibri" panose="020F0502020204030204"/>
              </a:rPr>
              <a:t> </a:t>
            </a:r>
            <a:r>
              <a:rPr sz="1800" spc="-5" dirty="0">
                <a:latin typeface="Calibri" panose="020F0502020204030204"/>
                <a:cs typeface="Calibri" panose="020F0502020204030204"/>
              </a:rPr>
              <a:t>order</a:t>
            </a:r>
            <a:r>
              <a:rPr sz="1800" spc="-15" dirty="0">
                <a:latin typeface="Calibri" panose="020F0502020204030204"/>
                <a:cs typeface="Calibri" panose="020F0502020204030204"/>
              </a:rPr>
              <a:t> </a:t>
            </a:r>
            <a:r>
              <a:rPr sz="1800" spc="-5" dirty="0">
                <a:latin typeface="Calibri" panose="020F0502020204030204"/>
                <a:cs typeface="Calibri" panose="020F0502020204030204"/>
              </a:rPr>
              <a:t>of</a:t>
            </a:r>
            <a:r>
              <a:rPr sz="1800" spc="-10" dirty="0">
                <a:latin typeface="Calibri" panose="020F0502020204030204"/>
                <a:cs typeface="Calibri" panose="020F0502020204030204"/>
              </a:rPr>
              <a:t> </a:t>
            </a:r>
            <a:r>
              <a:rPr sz="1800" spc="-5" dirty="0">
                <a:latin typeface="Calibri" panose="020F0502020204030204"/>
                <a:cs typeface="Calibri" panose="020F0502020204030204"/>
              </a:rPr>
              <a:t>statements</a:t>
            </a:r>
            <a:r>
              <a:rPr sz="1800" spc="-15" dirty="0">
                <a:latin typeface="Calibri" panose="020F0502020204030204"/>
                <a:cs typeface="Calibri" panose="020F0502020204030204"/>
              </a:rPr>
              <a:t> </a:t>
            </a:r>
            <a:r>
              <a:rPr sz="1800" spc="-5" dirty="0">
                <a:latin typeface="Calibri" panose="020F0502020204030204"/>
                <a:cs typeface="Calibri" panose="020F0502020204030204"/>
              </a:rPr>
              <a:t>is</a:t>
            </a:r>
            <a:r>
              <a:rPr sz="1800" spc="-10" dirty="0">
                <a:latin typeface="Calibri" panose="020F0502020204030204"/>
                <a:cs typeface="Calibri" panose="020F0502020204030204"/>
              </a:rPr>
              <a:t> </a:t>
            </a:r>
            <a:r>
              <a:rPr sz="1800" spc="-5" dirty="0">
                <a:latin typeface="Calibri" panose="020F0502020204030204"/>
                <a:cs typeface="Calibri" panose="020F0502020204030204"/>
              </a:rPr>
              <a:t>not</a:t>
            </a:r>
            <a:r>
              <a:rPr sz="1800" spc="-15" dirty="0">
                <a:latin typeface="Calibri" panose="020F0502020204030204"/>
                <a:cs typeface="Calibri" panose="020F0502020204030204"/>
              </a:rPr>
              <a:t> </a:t>
            </a:r>
            <a:r>
              <a:rPr sz="1800" spc="-5" dirty="0">
                <a:latin typeface="Calibri" panose="020F0502020204030204"/>
                <a:cs typeface="Calibri" panose="020F0502020204030204"/>
              </a:rPr>
              <a:t>very</a:t>
            </a:r>
            <a:r>
              <a:rPr sz="1800" spc="-10" dirty="0">
                <a:latin typeface="Calibri" panose="020F0502020204030204"/>
                <a:cs typeface="Calibri" panose="020F0502020204030204"/>
              </a:rPr>
              <a:t> </a:t>
            </a:r>
            <a:r>
              <a:rPr sz="1800" spc="-5" dirty="0">
                <a:latin typeface="Calibri" panose="020F0502020204030204"/>
                <a:cs typeface="Calibri" panose="020F0502020204030204"/>
              </a:rPr>
              <a:t>important.</a:t>
            </a:r>
            <a:endParaRPr sz="1800">
              <a:latin typeface="Calibri" panose="020F0502020204030204"/>
              <a:cs typeface="Calibri" panose="020F0502020204030204"/>
            </a:endParaRPr>
          </a:p>
        </p:txBody>
      </p:sp>
      <p:sp>
        <p:nvSpPr>
          <p:cNvPr id="15" name="object 15"/>
          <p:cNvSpPr txBox="1"/>
          <p:nvPr/>
        </p:nvSpPr>
        <p:spPr>
          <a:xfrm>
            <a:off x="162694" y="5116057"/>
            <a:ext cx="14160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8</a:t>
            </a:r>
            <a:endParaRPr sz="1800">
              <a:latin typeface="Calibri" panose="020F0502020204030204"/>
              <a:cs typeface="Calibri" panose="020F0502020204030204"/>
            </a:endParaRPr>
          </a:p>
        </p:txBody>
      </p:sp>
      <p:sp>
        <p:nvSpPr>
          <p:cNvPr id="16" name="object 16"/>
          <p:cNvSpPr txBox="1"/>
          <p:nvPr/>
        </p:nvSpPr>
        <p:spPr>
          <a:xfrm>
            <a:off x="928845" y="5116057"/>
            <a:ext cx="5217160" cy="575945"/>
          </a:xfrm>
          <a:prstGeom prst="rect">
            <a:avLst/>
          </a:prstGeom>
        </p:spPr>
        <p:txBody>
          <a:bodyPr vert="horz" wrap="square" lIns="0" tIns="10795" rIns="0" bIns="0" rtlCol="0">
            <a:spAutoFit/>
          </a:bodyPr>
          <a:lstStyle/>
          <a:p>
            <a:pPr marL="12700" marR="5080">
              <a:lnSpc>
                <a:spcPct val="101000"/>
              </a:lnSpc>
              <a:spcBef>
                <a:spcPts val="85"/>
              </a:spcBef>
            </a:pPr>
            <a:r>
              <a:rPr sz="1800" spc="-5" dirty="0">
                <a:latin typeface="Calibri" panose="020F0502020204030204"/>
                <a:cs typeface="Calibri" panose="020F0502020204030204"/>
              </a:rPr>
              <a:t>Supports both "Abstraction over Data" </a:t>
            </a:r>
            <a:r>
              <a:rPr sz="1800" dirty="0">
                <a:latin typeface="Calibri" panose="020F0502020204030204"/>
                <a:cs typeface="Calibri" panose="020F0502020204030204"/>
              </a:rPr>
              <a:t>and </a:t>
            </a:r>
            <a:r>
              <a:rPr sz="1800" spc="-5" dirty="0">
                <a:latin typeface="Calibri" panose="020F0502020204030204"/>
                <a:cs typeface="Calibri" panose="020F0502020204030204"/>
              </a:rPr>
              <a:t>"Abstraction </a:t>
            </a:r>
            <a:r>
              <a:rPr sz="1800" spc="-395" dirty="0">
                <a:latin typeface="Calibri" panose="020F0502020204030204"/>
                <a:cs typeface="Calibri" panose="020F0502020204030204"/>
              </a:rPr>
              <a:t> </a:t>
            </a:r>
            <a:r>
              <a:rPr sz="1800" spc="-5" dirty="0">
                <a:latin typeface="Calibri" panose="020F0502020204030204"/>
                <a:cs typeface="Calibri" panose="020F0502020204030204"/>
              </a:rPr>
              <a:t>over</a:t>
            </a:r>
            <a:r>
              <a:rPr sz="1800" spc="-10" dirty="0">
                <a:latin typeface="Calibri" panose="020F0502020204030204"/>
                <a:cs typeface="Calibri" panose="020F0502020204030204"/>
              </a:rPr>
              <a:t> </a:t>
            </a:r>
            <a:r>
              <a:rPr sz="1800" spc="-5" dirty="0">
                <a:latin typeface="Calibri" panose="020F0502020204030204"/>
                <a:cs typeface="Calibri" panose="020F0502020204030204"/>
              </a:rPr>
              <a:t>Behavior."</a:t>
            </a:r>
            <a:endParaRPr sz="1800">
              <a:latin typeface="Calibri" panose="020F0502020204030204"/>
              <a:cs typeface="Calibri" panose="020F0502020204030204"/>
            </a:endParaRPr>
          </a:p>
        </p:txBody>
      </p:sp>
      <p:sp>
        <p:nvSpPr>
          <p:cNvPr id="17" name="object 17"/>
          <p:cNvSpPr txBox="1"/>
          <p:nvPr/>
        </p:nvSpPr>
        <p:spPr>
          <a:xfrm>
            <a:off x="6503269" y="854457"/>
            <a:ext cx="4663440" cy="456184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panose="020F0502020204030204"/>
                <a:cs typeface="Calibri" panose="020F0502020204030204"/>
              </a:rPr>
              <a:t>Object</a:t>
            </a:r>
            <a:r>
              <a:rPr sz="1800" b="1" spc="-35" dirty="0">
                <a:latin typeface="Calibri" panose="020F0502020204030204"/>
                <a:cs typeface="Calibri" panose="020F0502020204030204"/>
              </a:rPr>
              <a:t> </a:t>
            </a:r>
            <a:r>
              <a:rPr sz="1800" b="1" spc="-5" dirty="0">
                <a:latin typeface="Calibri" panose="020F0502020204030204"/>
                <a:cs typeface="Calibri" panose="020F0502020204030204"/>
              </a:rPr>
              <a:t>Oriented</a:t>
            </a:r>
            <a:r>
              <a:rPr sz="1800" b="1" spc="-30" dirty="0">
                <a:latin typeface="Calibri" panose="020F0502020204030204"/>
                <a:cs typeface="Calibri" panose="020F0502020204030204"/>
              </a:rPr>
              <a:t> </a:t>
            </a:r>
            <a:r>
              <a:rPr sz="1800" b="1" spc="-5" dirty="0">
                <a:latin typeface="Calibri" panose="020F0502020204030204"/>
                <a:cs typeface="Calibri" panose="020F0502020204030204"/>
              </a:rPr>
              <a:t>Paradigm</a:t>
            </a:r>
            <a:endParaRPr sz="1800">
              <a:latin typeface="Calibri" panose="020F0502020204030204"/>
              <a:cs typeface="Calibri" panose="020F0502020204030204"/>
            </a:endParaRPr>
          </a:p>
          <a:p>
            <a:pPr marL="12700">
              <a:lnSpc>
                <a:spcPct val="100000"/>
              </a:lnSpc>
              <a:spcBef>
                <a:spcPts val="1350"/>
              </a:spcBef>
            </a:pPr>
            <a:r>
              <a:rPr sz="1800" spc="-5" dirty="0">
                <a:latin typeface="Calibri" panose="020F0502020204030204"/>
                <a:cs typeface="Calibri" panose="020F0502020204030204"/>
              </a:rPr>
              <a:t>OOP</a:t>
            </a:r>
            <a:r>
              <a:rPr sz="1800" spc="-25" dirty="0">
                <a:latin typeface="Calibri" panose="020F0502020204030204"/>
                <a:cs typeface="Calibri" panose="020F0502020204030204"/>
              </a:rPr>
              <a:t> </a:t>
            </a:r>
            <a:r>
              <a:rPr sz="1800" spc="-5" dirty="0">
                <a:latin typeface="Calibri" panose="020F0502020204030204"/>
                <a:cs typeface="Calibri" panose="020F0502020204030204"/>
              </a:rPr>
              <a:t>uses</a:t>
            </a:r>
            <a:r>
              <a:rPr sz="1800" spc="-25" dirty="0">
                <a:latin typeface="Calibri" panose="020F0502020204030204"/>
                <a:cs typeface="Calibri" panose="020F0502020204030204"/>
              </a:rPr>
              <a:t> </a:t>
            </a:r>
            <a:r>
              <a:rPr sz="1800" spc="-5" dirty="0">
                <a:latin typeface="Calibri" panose="020F0502020204030204"/>
                <a:cs typeface="Calibri" panose="020F0502020204030204"/>
              </a:rPr>
              <a:t>Mutable</a:t>
            </a:r>
            <a:r>
              <a:rPr sz="1800" spc="-25" dirty="0">
                <a:latin typeface="Calibri" panose="020F0502020204030204"/>
                <a:cs typeface="Calibri" panose="020F0502020204030204"/>
              </a:rPr>
              <a:t> </a:t>
            </a:r>
            <a:r>
              <a:rPr sz="1800" spc="-5" dirty="0">
                <a:latin typeface="Calibri" panose="020F0502020204030204"/>
                <a:cs typeface="Calibri" panose="020F0502020204030204"/>
              </a:rPr>
              <a:t>data.</a:t>
            </a:r>
            <a:endParaRPr sz="1800">
              <a:latin typeface="Calibri" panose="020F0502020204030204"/>
              <a:cs typeface="Calibri" panose="020F0502020204030204"/>
            </a:endParaRPr>
          </a:p>
          <a:p>
            <a:pPr>
              <a:lnSpc>
                <a:spcPct val="100000"/>
              </a:lnSpc>
              <a:spcBef>
                <a:spcPts val="20"/>
              </a:spcBef>
            </a:pPr>
            <a:endParaRPr sz="1950">
              <a:latin typeface="Calibri" panose="020F0502020204030204"/>
              <a:cs typeface="Calibri" panose="020F0502020204030204"/>
            </a:endParaRPr>
          </a:p>
          <a:p>
            <a:pPr marL="12700">
              <a:lnSpc>
                <a:spcPct val="100000"/>
              </a:lnSpc>
            </a:pPr>
            <a:r>
              <a:rPr sz="1800" spc="-5" dirty="0">
                <a:latin typeface="Calibri" panose="020F0502020204030204"/>
                <a:cs typeface="Calibri" panose="020F0502020204030204"/>
              </a:rPr>
              <a:t>Follows</a:t>
            </a:r>
            <a:r>
              <a:rPr sz="1800" spc="-25" dirty="0">
                <a:latin typeface="Calibri" panose="020F0502020204030204"/>
                <a:cs typeface="Calibri" panose="020F0502020204030204"/>
              </a:rPr>
              <a:t> </a:t>
            </a:r>
            <a:r>
              <a:rPr sz="1800" spc="-5" dirty="0">
                <a:latin typeface="Calibri" panose="020F0502020204030204"/>
                <a:cs typeface="Calibri" panose="020F0502020204030204"/>
              </a:rPr>
              <a:t>Imperative</a:t>
            </a:r>
            <a:r>
              <a:rPr sz="1800" spc="-25" dirty="0">
                <a:latin typeface="Calibri" panose="020F0502020204030204"/>
                <a:cs typeface="Calibri" panose="020F0502020204030204"/>
              </a:rPr>
              <a:t> </a:t>
            </a:r>
            <a:r>
              <a:rPr sz="1800" spc="-5" dirty="0">
                <a:latin typeface="Calibri" panose="020F0502020204030204"/>
                <a:cs typeface="Calibri" panose="020F0502020204030204"/>
              </a:rPr>
              <a:t>Programming</a:t>
            </a:r>
            <a:r>
              <a:rPr sz="1800" spc="-25" dirty="0">
                <a:latin typeface="Calibri" panose="020F0502020204030204"/>
                <a:cs typeface="Calibri" panose="020F0502020204030204"/>
              </a:rPr>
              <a:t> </a:t>
            </a:r>
            <a:r>
              <a:rPr sz="1800" spc="-5" dirty="0">
                <a:latin typeface="Calibri" panose="020F0502020204030204"/>
                <a:cs typeface="Calibri" panose="020F0502020204030204"/>
              </a:rPr>
              <a:t>Model.</a:t>
            </a:r>
            <a:endParaRPr sz="1800">
              <a:latin typeface="Calibri" panose="020F0502020204030204"/>
              <a:cs typeface="Calibri" panose="020F0502020204030204"/>
            </a:endParaRPr>
          </a:p>
          <a:p>
            <a:pPr>
              <a:lnSpc>
                <a:spcPct val="100000"/>
              </a:lnSpc>
              <a:spcBef>
                <a:spcPts val="20"/>
              </a:spcBef>
            </a:pPr>
            <a:endParaRPr sz="2350">
              <a:latin typeface="Calibri" panose="020F0502020204030204"/>
              <a:cs typeface="Calibri" panose="020F0502020204030204"/>
            </a:endParaRPr>
          </a:p>
          <a:p>
            <a:pPr marL="12700" marR="354330">
              <a:lnSpc>
                <a:spcPct val="101000"/>
              </a:lnSpc>
              <a:spcBef>
                <a:spcPts val="5"/>
              </a:spcBef>
            </a:pPr>
            <a:r>
              <a:rPr sz="1800" spc="-5" dirty="0">
                <a:latin typeface="Calibri" panose="020F0502020204030204"/>
                <a:cs typeface="Calibri" panose="020F0502020204030204"/>
              </a:rPr>
              <a:t>What it focuses is on "How you </a:t>
            </a:r>
            <a:r>
              <a:rPr sz="1800" dirty="0">
                <a:latin typeface="Calibri" panose="020F0502020204030204"/>
                <a:cs typeface="Calibri" panose="020F0502020204030204"/>
              </a:rPr>
              <a:t>are </a:t>
            </a:r>
            <a:r>
              <a:rPr sz="1800" spc="-5" dirty="0">
                <a:latin typeface="Calibri" panose="020F0502020204030204"/>
                <a:cs typeface="Calibri" panose="020F0502020204030204"/>
              </a:rPr>
              <a:t>doing your </a:t>
            </a:r>
            <a:r>
              <a:rPr sz="1800" spc="-395" dirty="0">
                <a:latin typeface="Calibri" panose="020F0502020204030204"/>
                <a:cs typeface="Calibri" panose="020F0502020204030204"/>
              </a:rPr>
              <a:t> </a:t>
            </a:r>
            <a:r>
              <a:rPr sz="1800" spc="-5" dirty="0">
                <a:latin typeface="Calibri" panose="020F0502020204030204"/>
                <a:cs typeface="Calibri" panose="020F0502020204030204"/>
              </a:rPr>
              <a:t>programming."</a:t>
            </a:r>
            <a:endParaRPr sz="1800">
              <a:latin typeface="Calibri" panose="020F0502020204030204"/>
              <a:cs typeface="Calibri" panose="020F0502020204030204"/>
            </a:endParaRPr>
          </a:p>
          <a:p>
            <a:pPr marL="12700" marR="969010">
              <a:lnSpc>
                <a:spcPts val="2900"/>
              </a:lnSpc>
              <a:spcBef>
                <a:spcPts val="215"/>
              </a:spcBef>
            </a:pPr>
            <a:r>
              <a:rPr sz="1800" spc="-5" dirty="0">
                <a:latin typeface="Calibri" panose="020F0502020204030204"/>
                <a:cs typeface="Calibri" panose="020F0502020204030204"/>
              </a:rPr>
              <a:t>No supports for Parallel Programming. </a:t>
            </a:r>
            <a:r>
              <a:rPr sz="1800" dirty="0">
                <a:latin typeface="Calibri" panose="020F0502020204030204"/>
                <a:cs typeface="Calibri" panose="020F0502020204030204"/>
              </a:rPr>
              <a:t> </a:t>
            </a:r>
            <a:r>
              <a:rPr sz="1800" spc="-5" dirty="0">
                <a:latin typeface="Calibri" panose="020F0502020204030204"/>
                <a:cs typeface="Calibri" panose="020F0502020204030204"/>
              </a:rPr>
              <a:t>Method</a:t>
            </a:r>
            <a:r>
              <a:rPr sz="1800" spc="-20" dirty="0">
                <a:latin typeface="Calibri" panose="020F0502020204030204"/>
                <a:cs typeface="Calibri" panose="020F0502020204030204"/>
              </a:rPr>
              <a:t> </a:t>
            </a:r>
            <a:r>
              <a:rPr sz="1800" spc="-5" dirty="0">
                <a:latin typeface="Calibri" panose="020F0502020204030204"/>
                <a:cs typeface="Calibri" panose="020F0502020204030204"/>
              </a:rPr>
              <a:t>can</a:t>
            </a:r>
            <a:r>
              <a:rPr sz="1800" spc="-20" dirty="0">
                <a:latin typeface="Calibri" panose="020F0502020204030204"/>
                <a:cs typeface="Calibri" panose="020F0502020204030204"/>
              </a:rPr>
              <a:t> </a:t>
            </a:r>
            <a:r>
              <a:rPr sz="1800" spc="-5" dirty="0">
                <a:latin typeface="Calibri" panose="020F0502020204030204"/>
                <a:cs typeface="Calibri" panose="020F0502020204030204"/>
              </a:rPr>
              <a:t>produce</a:t>
            </a:r>
            <a:r>
              <a:rPr sz="1800" spc="-20" dirty="0">
                <a:latin typeface="Calibri" panose="020F0502020204030204"/>
                <a:cs typeface="Calibri" panose="020F0502020204030204"/>
              </a:rPr>
              <a:t> </a:t>
            </a:r>
            <a:r>
              <a:rPr sz="1800" spc="-5" dirty="0">
                <a:latin typeface="Calibri" panose="020F0502020204030204"/>
                <a:cs typeface="Calibri" panose="020F0502020204030204"/>
              </a:rPr>
              <a:t>many</a:t>
            </a:r>
            <a:r>
              <a:rPr sz="1800" spc="-20" dirty="0">
                <a:latin typeface="Calibri" panose="020F0502020204030204"/>
                <a:cs typeface="Calibri" panose="020F0502020204030204"/>
              </a:rPr>
              <a:t> </a:t>
            </a:r>
            <a:r>
              <a:rPr sz="1800" spc="-5" dirty="0">
                <a:latin typeface="Calibri" panose="020F0502020204030204"/>
                <a:cs typeface="Calibri" panose="020F0502020204030204"/>
              </a:rPr>
              <a:t>side</a:t>
            </a:r>
            <a:r>
              <a:rPr sz="1800" spc="-20" dirty="0">
                <a:latin typeface="Calibri" panose="020F0502020204030204"/>
                <a:cs typeface="Calibri" panose="020F0502020204030204"/>
              </a:rPr>
              <a:t> </a:t>
            </a:r>
            <a:r>
              <a:rPr sz="1800" spc="-5" dirty="0">
                <a:latin typeface="Calibri" panose="020F0502020204030204"/>
                <a:cs typeface="Calibri" panose="020F0502020204030204"/>
              </a:rPr>
              <a:t>effects.</a:t>
            </a:r>
            <a:endParaRPr sz="1800">
              <a:latin typeface="Calibri" panose="020F0502020204030204"/>
              <a:cs typeface="Calibri" panose="020F0502020204030204"/>
            </a:endParaRPr>
          </a:p>
          <a:p>
            <a:pPr marL="12700" marR="5080">
              <a:lnSpc>
                <a:spcPct val="101000"/>
              </a:lnSpc>
              <a:spcBef>
                <a:spcPts val="495"/>
              </a:spcBef>
            </a:pPr>
            <a:r>
              <a:rPr sz="1800" spc="-5" dirty="0">
                <a:latin typeface="Calibri" panose="020F0502020204030204"/>
                <a:cs typeface="Calibri" panose="020F0502020204030204"/>
              </a:rPr>
              <a:t>Flow control process is conducted using loops </a:t>
            </a:r>
            <a:r>
              <a:rPr sz="1800" dirty="0">
                <a:latin typeface="Calibri" panose="020F0502020204030204"/>
                <a:cs typeface="Calibri" panose="020F0502020204030204"/>
              </a:rPr>
              <a:t>and </a:t>
            </a:r>
            <a:r>
              <a:rPr sz="1800" spc="-395" dirty="0">
                <a:latin typeface="Calibri" panose="020F0502020204030204"/>
                <a:cs typeface="Calibri" panose="020F0502020204030204"/>
              </a:rPr>
              <a:t> </a:t>
            </a:r>
            <a:r>
              <a:rPr sz="1800" spc="-5" dirty="0">
                <a:latin typeface="Calibri" panose="020F0502020204030204"/>
                <a:cs typeface="Calibri" panose="020F0502020204030204"/>
              </a:rPr>
              <a:t>conditional</a:t>
            </a:r>
            <a:r>
              <a:rPr sz="1800" spc="-10" dirty="0">
                <a:latin typeface="Calibri" panose="020F0502020204030204"/>
                <a:cs typeface="Calibri" panose="020F0502020204030204"/>
              </a:rPr>
              <a:t> </a:t>
            </a:r>
            <a:r>
              <a:rPr sz="1800" spc="-5" dirty="0">
                <a:latin typeface="Calibri" panose="020F0502020204030204"/>
                <a:cs typeface="Calibri" panose="020F0502020204030204"/>
              </a:rPr>
              <a:t>statements.</a:t>
            </a:r>
            <a:endParaRPr sz="1800">
              <a:latin typeface="Calibri" panose="020F0502020204030204"/>
              <a:cs typeface="Calibri" panose="020F0502020204030204"/>
            </a:endParaRPr>
          </a:p>
          <a:p>
            <a:pPr marL="12700">
              <a:lnSpc>
                <a:spcPct val="100000"/>
              </a:lnSpc>
              <a:spcBef>
                <a:spcPts val="735"/>
              </a:spcBef>
            </a:pPr>
            <a:r>
              <a:rPr sz="1800" spc="-5" dirty="0">
                <a:latin typeface="Calibri" panose="020F0502020204030204"/>
                <a:cs typeface="Calibri" panose="020F0502020204030204"/>
              </a:rPr>
              <a:t>Execution</a:t>
            </a:r>
            <a:r>
              <a:rPr sz="1800" spc="-20" dirty="0">
                <a:latin typeface="Calibri" panose="020F0502020204030204"/>
                <a:cs typeface="Calibri" panose="020F0502020204030204"/>
              </a:rPr>
              <a:t> </a:t>
            </a:r>
            <a:r>
              <a:rPr sz="1800" spc="-5" dirty="0">
                <a:latin typeface="Calibri" panose="020F0502020204030204"/>
                <a:cs typeface="Calibri" panose="020F0502020204030204"/>
              </a:rPr>
              <a:t>order</a:t>
            </a:r>
            <a:r>
              <a:rPr sz="1800" spc="-15" dirty="0">
                <a:latin typeface="Calibri" panose="020F0502020204030204"/>
                <a:cs typeface="Calibri" panose="020F0502020204030204"/>
              </a:rPr>
              <a:t> </a:t>
            </a:r>
            <a:r>
              <a:rPr sz="1800" spc="-5" dirty="0">
                <a:latin typeface="Calibri" panose="020F0502020204030204"/>
                <a:cs typeface="Calibri" panose="020F0502020204030204"/>
              </a:rPr>
              <a:t>of</a:t>
            </a:r>
            <a:r>
              <a:rPr sz="1800" spc="-15" dirty="0">
                <a:latin typeface="Calibri" panose="020F0502020204030204"/>
                <a:cs typeface="Calibri" panose="020F0502020204030204"/>
              </a:rPr>
              <a:t> </a:t>
            </a:r>
            <a:r>
              <a:rPr sz="1800" spc="-5" dirty="0">
                <a:latin typeface="Calibri" panose="020F0502020204030204"/>
                <a:cs typeface="Calibri" panose="020F0502020204030204"/>
              </a:rPr>
              <a:t>statements</a:t>
            </a:r>
            <a:r>
              <a:rPr sz="1800" spc="-20" dirty="0">
                <a:latin typeface="Calibri" panose="020F0502020204030204"/>
                <a:cs typeface="Calibri" panose="020F0502020204030204"/>
              </a:rPr>
              <a:t> </a:t>
            </a:r>
            <a:r>
              <a:rPr sz="1800" spc="-5" dirty="0">
                <a:latin typeface="Calibri" panose="020F0502020204030204"/>
                <a:cs typeface="Calibri" panose="020F0502020204030204"/>
              </a:rPr>
              <a:t>is</a:t>
            </a:r>
            <a:r>
              <a:rPr sz="1800" spc="-15" dirty="0">
                <a:latin typeface="Calibri" panose="020F0502020204030204"/>
                <a:cs typeface="Calibri" panose="020F0502020204030204"/>
              </a:rPr>
              <a:t> </a:t>
            </a:r>
            <a:r>
              <a:rPr sz="1800" spc="-5" dirty="0">
                <a:latin typeface="Calibri" panose="020F0502020204030204"/>
                <a:cs typeface="Calibri" panose="020F0502020204030204"/>
              </a:rPr>
              <a:t>important.</a:t>
            </a:r>
            <a:endParaRPr sz="1800">
              <a:latin typeface="Calibri" panose="020F0502020204030204"/>
              <a:cs typeface="Calibri" panose="020F0502020204030204"/>
            </a:endParaRPr>
          </a:p>
          <a:p>
            <a:pPr>
              <a:lnSpc>
                <a:spcPct val="100000"/>
              </a:lnSpc>
              <a:spcBef>
                <a:spcPts val="5"/>
              </a:spcBef>
            </a:pPr>
            <a:endParaRPr sz="1900">
              <a:latin typeface="Calibri" panose="020F0502020204030204"/>
              <a:cs typeface="Calibri" panose="020F0502020204030204"/>
            </a:endParaRPr>
          </a:p>
          <a:p>
            <a:pPr marL="12700">
              <a:lnSpc>
                <a:spcPct val="100000"/>
              </a:lnSpc>
            </a:pPr>
            <a:r>
              <a:rPr sz="1800" spc="-5" dirty="0">
                <a:latin typeface="Calibri" panose="020F0502020204030204"/>
                <a:cs typeface="Calibri" panose="020F0502020204030204"/>
              </a:rPr>
              <a:t>Supports</a:t>
            </a:r>
            <a:r>
              <a:rPr sz="1800" spc="-20" dirty="0">
                <a:latin typeface="Calibri" panose="020F0502020204030204"/>
                <a:cs typeface="Calibri" panose="020F0502020204030204"/>
              </a:rPr>
              <a:t> </a:t>
            </a:r>
            <a:r>
              <a:rPr sz="1800" spc="-5" dirty="0">
                <a:latin typeface="Calibri" panose="020F0502020204030204"/>
                <a:cs typeface="Calibri" panose="020F0502020204030204"/>
              </a:rPr>
              <a:t>only</a:t>
            </a:r>
            <a:r>
              <a:rPr sz="1800" spc="-20" dirty="0">
                <a:latin typeface="Calibri" panose="020F0502020204030204"/>
                <a:cs typeface="Calibri" panose="020F0502020204030204"/>
              </a:rPr>
              <a:t> </a:t>
            </a:r>
            <a:r>
              <a:rPr sz="1800" spc="-5" dirty="0">
                <a:latin typeface="Calibri" panose="020F0502020204030204"/>
                <a:cs typeface="Calibri" panose="020F0502020204030204"/>
              </a:rPr>
              <a:t>"Abstraction</a:t>
            </a:r>
            <a:r>
              <a:rPr sz="1800" spc="-20" dirty="0">
                <a:latin typeface="Calibri" panose="020F0502020204030204"/>
                <a:cs typeface="Calibri" panose="020F0502020204030204"/>
              </a:rPr>
              <a:t> </a:t>
            </a:r>
            <a:r>
              <a:rPr sz="1800" spc="-5" dirty="0">
                <a:latin typeface="Calibri" panose="020F0502020204030204"/>
                <a:cs typeface="Calibri" panose="020F0502020204030204"/>
              </a:rPr>
              <a:t>over</a:t>
            </a:r>
            <a:r>
              <a:rPr sz="1800" spc="-20" dirty="0">
                <a:latin typeface="Calibri" panose="020F0502020204030204"/>
                <a:cs typeface="Calibri" panose="020F0502020204030204"/>
              </a:rPr>
              <a:t> </a:t>
            </a:r>
            <a:r>
              <a:rPr sz="1800" spc="-5" dirty="0">
                <a:latin typeface="Calibri" panose="020F0502020204030204"/>
                <a:cs typeface="Calibri" panose="020F0502020204030204"/>
              </a:rPr>
              <a:t>Data".</a:t>
            </a:r>
            <a:endParaRPr sz="1800">
              <a:latin typeface="Calibri" panose="020F0502020204030204"/>
              <a:cs typeface="Calibri" panose="020F0502020204030204"/>
            </a:endParaRPr>
          </a:p>
        </p:txBody>
      </p:sp>
      <p:sp>
        <p:nvSpPr>
          <p:cNvPr id="18" name="Slide Number Placeholder 17"/>
          <p:cNvSpPr>
            <a:spLocks noGrp="1"/>
          </p:cNvSpPr>
          <p:nvPr>
            <p:ph type="sldNum" sz="quarter" idx="7"/>
          </p:nvPr>
        </p:nvSpPr>
        <p:spPr/>
        <p:txBody>
          <a:bodyPr/>
          <a:lstStyle/>
          <a:p>
            <a:fld id="{B6F15528-21DE-4FAA-801E-634DDDAF4B2B}" type="slidenum">
              <a:rPr/>
              <a:t>37</a:t>
            </a:fld>
            <a:endParaRPr/>
          </a:p>
        </p:txBody>
      </p:sp>
      <p:sp>
        <p:nvSpPr>
          <p:cNvPr id="19" name="Footer Placeholder 18"/>
          <p:cNvSpPr>
            <a:spLocks noGrp="1"/>
          </p:cNvSpPr>
          <p:nvPr>
            <p:ph type="ftr" sz="quarter" idx="5"/>
          </p:nvPr>
        </p:nvSpPr>
        <p:spPr/>
        <p:txBody>
          <a:bodyPr/>
          <a:lstStyle/>
          <a:p>
            <a:r>
              <a:t>UNIT IV : Pythonic Programming Paradigm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90800" y="2362200"/>
            <a:ext cx="6779895" cy="553720"/>
          </a:xfrm>
        </p:spPr>
        <p:txBody>
          <a:bodyPr wrap="square"/>
          <a:lstStyle/>
          <a:p>
            <a:r>
              <a:rPr sz="3600" spc="-10" dirty="0">
                <a:solidFill>
                  <a:schemeClr val="tx1"/>
                </a:solidFill>
                <a:latin typeface="Times New Roman" panose="02020603050405020304"/>
                <a:cs typeface="Times New Roman" panose="02020603050405020304"/>
                <a:sym typeface="+mn-ea"/>
              </a:rPr>
              <a:t>Logical</a:t>
            </a:r>
            <a:r>
              <a:rPr sz="3600" spc="-95" dirty="0">
                <a:solidFill>
                  <a:schemeClr val="tx1"/>
                </a:solidFill>
                <a:latin typeface="Times New Roman" panose="02020603050405020304"/>
                <a:cs typeface="Times New Roman" panose="02020603050405020304"/>
                <a:sym typeface="+mn-ea"/>
              </a:rPr>
              <a:t> </a:t>
            </a:r>
            <a:r>
              <a:rPr sz="3600" spc="-10" dirty="0">
                <a:solidFill>
                  <a:schemeClr val="tx1"/>
                </a:solidFill>
                <a:latin typeface="Times New Roman" panose="02020603050405020304"/>
                <a:cs typeface="Times New Roman" panose="02020603050405020304"/>
                <a:sym typeface="+mn-ea"/>
              </a:rPr>
              <a:t>Programming </a:t>
            </a:r>
            <a:r>
              <a:rPr sz="3600" spc="-860" dirty="0">
                <a:solidFill>
                  <a:schemeClr val="tx1"/>
                </a:solidFill>
                <a:latin typeface="Times New Roman" panose="02020603050405020304"/>
                <a:cs typeface="Times New Roman" panose="02020603050405020304"/>
                <a:sym typeface="+mn-ea"/>
              </a:rPr>
              <a:t> </a:t>
            </a:r>
            <a:r>
              <a:rPr sz="3600" spc="-5" dirty="0">
                <a:solidFill>
                  <a:schemeClr val="tx1"/>
                </a:solidFill>
                <a:latin typeface="Times New Roman" panose="02020603050405020304"/>
                <a:cs typeface="Times New Roman" panose="02020603050405020304"/>
                <a:sym typeface="+mn-ea"/>
              </a:rPr>
              <a:t>Paradigm</a:t>
            </a:r>
            <a:endParaRPr lang="en-US" sz="3600" spc="-5" dirty="0">
              <a:solidFill>
                <a:schemeClr val="tx1"/>
              </a:solidFill>
              <a:latin typeface="Times New Roman" panose="02020603050405020304"/>
              <a:cs typeface="Times New Roman" panose="02020603050405020304"/>
              <a:sym typeface="+mn-ea"/>
            </a:endParaRPr>
          </a:p>
        </p:txBody>
      </p:sp>
      <p:sp>
        <p:nvSpPr>
          <p:cNvPr id="4" name="Slide Number Placeholder 3"/>
          <p:cNvSpPr>
            <a:spLocks noGrp="1"/>
          </p:cNvSpPr>
          <p:nvPr>
            <p:ph type="sldNum" sz="quarter" idx="7"/>
          </p:nvPr>
        </p:nvSpPr>
        <p:spPr/>
        <p:txBody>
          <a:bodyPr/>
          <a:lstStyle/>
          <a:p>
            <a:fld id="{B6F15528-21DE-4FAA-801E-634DDDAF4B2B}" type="slidenum">
              <a:rPr/>
              <a:t>38</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740" y="34162"/>
            <a:ext cx="12113260" cy="391160"/>
          </a:xfrm>
          <a:prstGeom prst="rect">
            <a:avLst/>
          </a:prstGeom>
        </p:spPr>
        <p:txBody>
          <a:bodyPr vert="horz" wrap="square" lIns="0" tIns="12700" rIns="0" bIns="0" rtlCol="0">
            <a:spAutoFit/>
          </a:bodyPr>
          <a:lstStyle/>
          <a:p>
            <a:pPr marL="12700">
              <a:lnSpc>
                <a:spcPct val="100000"/>
              </a:lnSpc>
              <a:spcBef>
                <a:spcPts val="100"/>
              </a:spcBef>
              <a:tabLst>
                <a:tab pos="12099925" algn="l"/>
              </a:tabLst>
            </a:pPr>
            <a:r>
              <a:rPr u="heavy" spc="-5" dirty="0">
                <a:uFill>
                  <a:solidFill>
                    <a:srgbClr val="1F97C8"/>
                  </a:solidFill>
                </a:uFill>
              </a:rPr>
              <a:t>Logical</a:t>
            </a:r>
            <a:r>
              <a:rPr u="heavy" spc="-40" dirty="0">
                <a:uFill>
                  <a:solidFill>
                    <a:srgbClr val="1F97C8"/>
                  </a:solidFill>
                </a:uFill>
              </a:rPr>
              <a:t> </a:t>
            </a:r>
            <a:r>
              <a:rPr u="heavy" spc="-5" dirty="0">
                <a:uFill>
                  <a:solidFill>
                    <a:srgbClr val="1F97C8"/>
                  </a:solidFill>
                </a:uFill>
              </a:rPr>
              <a:t>Programming</a:t>
            </a:r>
            <a:r>
              <a:rPr u="heavy" spc="-35" dirty="0">
                <a:uFill>
                  <a:solidFill>
                    <a:srgbClr val="1F97C8"/>
                  </a:solidFill>
                </a:uFill>
              </a:rPr>
              <a:t> </a:t>
            </a:r>
            <a:r>
              <a:rPr u="heavy" spc="-5" dirty="0">
                <a:uFill>
                  <a:solidFill>
                    <a:srgbClr val="1F97C8"/>
                  </a:solidFill>
                </a:uFill>
              </a:rPr>
              <a:t>Paradigm	</a:t>
            </a:r>
          </a:p>
        </p:txBody>
      </p:sp>
      <p:sp>
        <p:nvSpPr>
          <p:cNvPr id="3" name="object 3"/>
          <p:cNvSpPr/>
          <p:nvPr/>
        </p:nvSpPr>
        <p:spPr>
          <a:xfrm>
            <a:off x="0" y="6694114"/>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4" name="object 4"/>
          <p:cNvSpPr/>
          <p:nvPr/>
        </p:nvSpPr>
        <p:spPr>
          <a:xfrm>
            <a:off x="31953" y="490866"/>
            <a:ext cx="12105640" cy="6118860"/>
          </a:xfrm>
          <a:custGeom>
            <a:avLst/>
            <a:gdLst/>
            <a:ahLst/>
            <a:cxnLst/>
            <a:rect l="l" t="t" r="r" b="b"/>
            <a:pathLst>
              <a:path w="12105640" h="6118859">
                <a:moveTo>
                  <a:pt x="0" y="0"/>
                </a:moveTo>
                <a:lnTo>
                  <a:pt x="12105504" y="0"/>
                </a:lnTo>
                <a:lnTo>
                  <a:pt x="12105504" y="6118857"/>
                </a:lnTo>
                <a:lnTo>
                  <a:pt x="0" y="6118857"/>
                </a:lnTo>
                <a:lnTo>
                  <a:pt x="0" y="0"/>
                </a:lnTo>
                <a:close/>
              </a:path>
            </a:pathLst>
          </a:custGeom>
          <a:ln w="12699">
            <a:solidFill>
              <a:srgbClr val="00B0F0"/>
            </a:solidFill>
          </a:ln>
        </p:spPr>
        <p:txBody>
          <a:bodyPr wrap="square" lIns="0" tIns="0" rIns="0" bIns="0" rtlCol="0"/>
          <a:lstStyle/>
          <a:p>
            <a:endParaRPr/>
          </a:p>
        </p:txBody>
      </p:sp>
      <p:sp>
        <p:nvSpPr>
          <p:cNvPr id="5" name="object 5"/>
          <p:cNvSpPr txBox="1"/>
          <p:nvPr/>
        </p:nvSpPr>
        <p:spPr>
          <a:xfrm>
            <a:off x="82875" y="406245"/>
            <a:ext cx="11945620" cy="749300"/>
          </a:xfrm>
          <a:prstGeom prst="rect">
            <a:avLst/>
          </a:prstGeom>
        </p:spPr>
        <p:txBody>
          <a:bodyPr vert="horz" wrap="square" lIns="0" tIns="12700" rIns="0" bIns="0" rtlCol="0">
            <a:spAutoFit/>
          </a:bodyPr>
          <a:lstStyle/>
          <a:p>
            <a:pPr marL="12700" marR="5080">
              <a:lnSpc>
                <a:spcPct val="148000"/>
              </a:lnSpc>
              <a:spcBef>
                <a:spcPts val="100"/>
              </a:spcBef>
            </a:pPr>
            <a:r>
              <a:rPr sz="1600" spc="-5" dirty="0">
                <a:latin typeface="Calibri" panose="020F0502020204030204"/>
                <a:cs typeface="Calibri" panose="020F0502020204030204"/>
              </a:rPr>
              <a:t>Logic</a:t>
            </a:r>
            <a:r>
              <a:rPr sz="1600" spc="100" dirty="0">
                <a:latin typeface="Calibri" panose="020F0502020204030204"/>
                <a:cs typeface="Calibri" panose="020F0502020204030204"/>
              </a:rPr>
              <a:t> </a:t>
            </a:r>
            <a:r>
              <a:rPr sz="1600" spc="-5" dirty="0">
                <a:latin typeface="Calibri" panose="020F0502020204030204"/>
                <a:cs typeface="Calibri" panose="020F0502020204030204"/>
              </a:rPr>
              <a:t>programming</a:t>
            </a:r>
            <a:r>
              <a:rPr sz="1600" spc="105" dirty="0">
                <a:latin typeface="Calibri" panose="020F0502020204030204"/>
                <a:cs typeface="Calibri" panose="020F0502020204030204"/>
              </a:rPr>
              <a:t> </a:t>
            </a:r>
            <a:r>
              <a:rPr sz="1600" spc="-5" dirty="0">
                <a:latin typeface="Calibri" panose="020F0502020204030204"/>
                <a:cs typeface="Calibri" panose="020F0502020204030204"/>
              </a:rPr>
              <a:t>is</a:t>
            </a:r>
            <a:r>
              <a:rPr sz="1600" spc="105" dirty="0">
                <a:latin typeface="Calibri" panose="020F0502020204030204"/>
                <a:cs typeface="Calibri" panose="020F0502020204030204"/>
              </a:rPr>
              <a:t> </a:t>
            </a:r>
            <a:r>
              <a:rPr sz="1600" dirty="0">
                <a:latin typeface="Calibri" panose="020F0502020204030204"/>
                <a:cs typeface="Calibri" panose="020F0502020204030204"/>
              </a:rPr>
              <a:t>a</a:t>
            </a:r>
            <a:r>
              <a:rPr sz="1600" spc="110" dirty="0">
                <a:latin typeface="Calibri" panose="020F0502020204030204"/>
                <a:cs typeface="Calibri" panose="020F0502020204030204"/>
              </a:rPr>
              <a:t> </a:t>
            </a:r>
            <a:r>
              <a:rPr sz="1600" spc="-5" dirty="0">
                <a:latin typeface="Calibri" panose="020F0502020204030204"/>
                <a:cs typeface="Calibri" panose="020F0502020204030204"/>
              </a:rPr>
              <a:t>paradigm</a:t>
            </a:r>
            <a:r>
              <a:rPr sz="1600" spc="105" dirty="0">
                <a:latin typeface="Calibri" panose="020F0502020204030204"/>
                <a:cs typeface="Calibri" panose="020F0502020204030204"/>
              </a:rPr>
              <a:t> </a:t>
            </a:r>
            <a:r>
              <a:rPr sz="1600" spc="-5" dirty="0">
                <a:latin typeface="Calibri" panose="020F0502020204030204"/>
                <a:cs typeface="Calibri" panose="020F0502020204030204"/>
              </a:rPr>
              <a:t>where</a:t>
            </a:r>
            <a:r>
              <a:rPr sz="1600" spc="105" dirty="0">
                <a:latin typeface="Calibri" panose="020F0502020204030204"/>
                <a:cs typeface="Calibri" panose="020F0502020204030204"/>
              </a:rPr>
              <a:t> </a:t>
            </a:r>
            <a:r>
              <a:rPr sz="1600" spc="-5" dirty="0">
                <a:latin typeface="Calibri" panose="020F0502020204030204"/>
                <a:cs typeface="Calibri" panose="020F0502020204030204"/>
              </a:rPr>
              <a:t>computation</a:t>
            </a:r>
            <a:r>
              <a:rPr sz="1600" spc="105" dirty="0">
                <a:latin typeface="Calibri" panose="020F0502020204030204"/>
                <a:cs typeface="Calibri" panose="020F0502020204030204"/>
              </a:rPr>
              <a:t> </a:t>
            </a:r>
            <a:r>
              <a:rPr sz="1600" dirty="0">
                <a:latin typeface="Calibri" panose="020F0502020204030204"/>
                <a:cs typeface="Calibri" panose="020F0502020204030204"/>
              </a:rPr>
              <a:t>arises</a:t>
            </a:r>
            <a:r>
              <a:rPr sz="1600" spc="110" dirty="0">
                <a:latin typeface="Calibri" panose="020F0502020204030204"/>
                <a:cs typeface="Calibri" panose="020F0502020204030204"/>
              </a:rPr>
              <a:t> </a:t>
            </a:r>
            <a:r>
              <a:rPr sz="1600" spc="-5" dirty="0">
                <a:latin typeface="Calibri" panose="020F0502020204030204"/>
                <a:cs typeface="Calibri" panose="020F0502020204030204"/>
              </a:rPr>
              <a:t>from</a:t>
            </a:r>
            <a:r>
              <a:rPr sz="1600" spc="100" dirty="0">
                <a:latin typeface="Calibri" panose="020F0502020204030204"/>
                <a:cs typeface="Calibri" panose="020F0502020204030204"/>
              </a:rPr>
              <a:t> </a:t>
            </a:r>
            <a:r>
              <a:rPr sz="1600" spc="-5" dirty="0">
                <a:latin typeface="Calibri" panose="020F0502020204030204"/>
                <a:cs typeface="Calibri" panose="020F0502020204030204"/>
              </a:rPr>
              <a:t>proof</a:t>
            </a:r>
            <a:r>
              <a:rPr sz="1600" spc="105" dirty="0">
                <a:latin typeface="Calibri" panose="020F0502020204030204"/>
                <a:cs typeface="Calibri" panose="020F0502020204030204"/>
              </a:rPr>
              <a:t> </a:t>
            </a:r>
            <a:r>
              <a:rPr sz="1600" spc="-5" dirty="0">
                <a:latin typeface="Calibri" panose="020F0502020204030204"/>
                <a:cs typeface="Calibri" panose="020F0502020204030204"/>
              </a:rPr>
              <a:t>search</a:t>
            </a:r>
            <a:r>
              <a:rPr sz="1600" spc="105" dirty="0">
                <a:latin typeface="Calibri" panose="020F0502020204030204"/>
                <a:cs typeface="Calibri" panose="020F0502020204030204"/>
              </a:rPr>
              <a:t> </a:t>
            </a:r>
            <a:r>
              <a:rPr sz="1600" spc="-5" dirty="0">
                <a:latin typeface="Calibri" panose="020F0502020204030204"/>
                <a:cs typeface="Calibri" panose="020F0502020204030204"/>
              </a:rPr>
              <a:t>in</a:t>
            </a:r>
            <a:r>
              <a:rPr sz="1600" spc="105" dirty="0">
                <a:latin typeface="Calibri" panose="020F0502020204030204"/>
                <a:cs typeface="Calibri" panose="020F0502020204030204"/>
              </a:rPr>
              <a:t> </a:t>
            </a:r>
            <a:r>
              <a:rPr sz="1600" dirty="0">
                <a:latin typeface="Calibri" panose="020F0502020204030204"/>
                <a:cs typeface="Calibri" panose="020F0502020204030204"/>
              </a:rPr>
              <a:t>a</a:t>
            </a:r>
            <a:r>
              <a:rPr sz="1600" spc="110" dirty="0">
                <a:latin typeface="Calibri" panose="020F0502020204030204"/>
                <a:cs typeface="Calibri" panose="020F0502020204030204"/>
              </a:rPr>
              <a:t> </a:t>
            </a:r>
            <a:r>
              <a:rPr sz="1600" spc="-5" dirty="0">
                <a:latin typeface="Calibri" panose="020F0502020204030204"/>
                <a:cs typeface="Calibri" panose="020F0502020204030204"/>
              </a:rPr>
              <a:t>logic</a:t>
            </a:r>
            <a:r>
              <a:rPr sz="1600" spc="105" dirty="0">
                <a:latin typeface="Calibri" panose="020F0502020204030204"/>
                <a:cs typeface="Calibri" panose="020F0502020204030204"/>
              </a:rPr>
              <a:t> </a:t>
            </a:r>
            <a:r>
              <a:rPr sz="1600" dirty="0">
                <a:latin typeface="Calibri" panose="020F0502020204030204"/>
                <a:cs typeface="Calibri" panose="020F0502020204030204"/>
              </a:rPr>
              <a:t>according</a:t>
            </a:r>
            <a:r>
              <a:rPr sz="1600" spc="110" dirty="0">
                <a:latin typeface="Calibri" panose="020F0502020204030204"/>
                <a:cs typeface="Calibri" panose="020F0502020204030204"/>
              </a:rPr>
              <a:t> </a:t>
            </a:r>
            <a:r>
              <a:rPr sz="1600" spc="-5" dirty="0">
                <a:latin typeface="Calibri" panose="020F0502020204030204"/>
                <a:cs typeface="Calibri" panose="020F0502020204030204"/>
              </a:rPr>
              <a:t>to</a:t>
            </a:r>
            <a:r>
              <a:rPr sz="1600" spc="100" dirty="0">
                <a:latin typeface="Calibri" panose="020F0502020204030204"/>
                <a:cs typeface="Calibri" panose="020F0502020204030204"/>
              </a:rPr>
              <a:t> </a:t>
            </a:r>
            <a:r>
              <a:rPr sz="1600" dirty="0">
                <a:latin typeface="Calibri" panose="020F0502020204030204"/>
                <a:cs typeface="Calibri" panose="020F0502020204030204"/>
              </a:rPr>
              <a:t>a</a:t>
            </a:r>
            <a:r>
              <a:rPr sz="1600" spc="110" dirty="0">
                <a:latin typeface="Calibri" panose="020F0502020204030204"/>
                <a:cs typeface="Calibri" panose="020F0502020204030204"/>
              </a:rPr>
              <a:t> </a:t>
            </a:r>
            <a:r>
              <a:rPr sz="1600" spc="-5" dirty="0">
                <a:latin typeface="Calibri" panose="020F0502020204030204"/>
                <a:cs typeface="Calibri" panose="020F0502020204030204"/>
              </a:rPr>
              <a:t>fixed,</a:t>
            </a:r>
            <a:r>
              <a:rPr sz="1600" spc="105" dirty="0">
                <a:latin typeface="Calibri" panose="020F0502020204030204"/>
                <a:cs typeface="Calibri" panose="020F0502020204030204"/>
              </a:rPr>
              <a:t> </a:t>
            </a:r>
            <a:r>
              <a:rPr sz="1600" spc="-5" dirty="0">
                <a:latin typeface="Calibri" panose="020F0502020204030204"/>
                <a:cs typeface="Calibri" panose="020F0502020204030204"/>
              </a:rPr>
              <a:t>predictable</a:t>
            </a:r>
            <a:r>
              <a:rPr sz="1600" spc="105" dirty="0">
                <a:latin typeface="Calibri" panose="020F0502020204030204"/>
                <a:cs typeface="Calibri" panose="020F0502020204030204"/>
              </a:rPr>
              <a:t> </a:t>
            </a:r>
            <a:r>
              <a:rPr sz="1600" spc="-5" dirty="0">
                <a:latin typeface="Calibri" panose="020F0502020204030204"/>
                <a:cs typeface="Calibri" panose="020F0502020204030204"/>
              </a:rPr>
              <a:t>strategy.</a:t>
            </a:r>
            <a:r>
              <a:rPr sz="1600" spc="105" dirty="0">
                <a:latin typeface="Calibri" panose="020F0502020204030204"/>
                <a:cs typeface="Calibri" panose="020F0502020204030204"/>
              </a:rPr>
              <a:t> </a:t>
            </a:r>
            <a:r>
              <a:rPr sz="1600" dirty="0">
                <a:latin typeface="Calibri" panose="020F0502020204030204"/>
                <a:cs typeface="Calibri" panose="020F0502020204030204"/>
              </a:rPr>
              <a:t>A</a:t>
            </a:r>
            <a:r>
              <a:rPr sz="1600" spc="105" dirty="0">
                <a:latin typeface="Calibri" panose="020F0502020204030204"/>
                <a:cs typeface="Calibri" panose="020F0502020204030204"/>
              </a:rPr>
              <a:t> </a:t>
            </a:r>
            <a:r>
              <a:rPr sz="1600" spc="-5" dirty="0">
                <a:latin typeface="Calibri" panose="020F0502020204030204"/>
                <a:cs typeface="Calibri" panose="020F0502020204030204"/>
              </a:rPr>
              <a:t>logic</a:t>
            </a:r>
            <a:r>
              <a:rPr sz="1600" spc="105" dirty="0">
                <a:latin typeface="Calibri" panose="020F0502020204030204"/>
                <a:cs typeface="Calibri" panose="020F0502020204030204"/>
              </a:rPr>
              <a:t> </a:t>
            </a:r>
            <a:r>
              <a:rPr sz="1600" spc="-5" dirty="0">
                <a:latin typeface="Calibri" panose="020F0502020204030204"/>
                <a:cs typeface="Calibri" panose="020F0502020204030204"/>
              </a:rPr>
              <a:t>is</a:t>
            </a:r>
            <a:r>
              <a:rPr sz="1600" spc="105" dirty="0">
                <a:latin typeface="Calibri" panose="020F0502020204030204"/>
                <a:cs typeface="Calibri" panose="020F0502020204030204"/>
              </a:rPr>
              <a:t> </a:t>
            </a:r>
            <a:r>
              <a:rPr sz="1600" dirty="0">
                <a:latin typeface="Calibri" panose="020F0502020204030204"/>
                <a:cs typeface="Calibri" panose="020F0502020204030204"/>
              </a:rPr>
              <a:t>a </a:t>
            </a:r>
            <a:r>
              <a:rPr sz="1600" spc="5" dirty="0">
                <a:latin typeface="Calibri" panose="020F0502020204030204"/>
                <a:cs typeface="Calibri" panose="020F0502020204030204"/>
              </a:rPr>
              <a:t> </a:t>
            </a:r>
            <a:r>
              <a:rPr sz="1600" spc="-5" dirty="0">
                <a:latin typeface="Calibri" panose="020F0502020204030204"/>
                <a:cs typeface="Calibri" panose="020F0502020204030204"/>
              </a:rPr>
              <a:t>language.</a:t>
            </a:r>
            <a:r>
              <a:rPr sz="1600" spc="-10" dirty="0">
                <a:latin typeface="Calibri" panose="020F0502020204030204"/>
                <a:cs typeface="Calibri" panose="020F0502020204030204"/>
              </a:rPr>
              <a:t> </a:t>
            </a:r>
            <a:r>
              <a:rPr sz="1600" spc="-5" dirty="0">
                <a:latin typeface="Calibri" panose="020F0502020204030204"/>
                <a:cs typeface="Calibri" panose="020F0502020204030204"/>
              </a:rPr>
              <a:t>It has syntax </a:t>
            </a:r>
            <a:r>
              <a:rPr sz="1600" dirty="0">
                <a:latin typeface="Calibri" panose="020F0502020204030204"/>
                <a:cs typeface="Calibri" panose="020F0502020204030204"/>
              </a:rPr>
              <a:t>and</a:t>
            </a:r>
            <a:r>
              <a:rPr sz="1600" spc="-5" dirty="0">
                <a:latin typeface="Calibri" panose="020F0502020204030204"/>
                <a:cs typeface="Calibri" panose="020F0502020204030204"/>
              </a:rPr>
              <a:t> semantics. </a:t>
            </a:r>
            <a:r>
              <a:rPr sz="1600" dirty="0">
                <a:latin typeface="Calibri" panose="020F0502020204030204"/>
                <a:cs typeface="Calibri" panose="020F0502020204030204"/>
              </a:rPr>
              <a:t>A</a:t>
            </a:r>
            <a:r>
              <a:rPr sz="1600" spc="-5" dirty="0">
                <a:latin typeface="Calibri" panose="020F0502020204030204"/>
                <a:cs typeface="Calibri" panose="020F0502020204030204"/>
              </a:rPr>
              <a:t> logic is </a:t>
            </a:r>
            <a:r>
              <a:rPr sz="1600" dirty="0">
                <a:latin typeface="Calibri" panose="020F0502020204030204"/>
                <a:cs typeface="Calibri" panose="020F0502020204030204"/>
              </a:rPr>
              <a:t>a</a:t>
            </a:r>
            <a:r>
              <a:rPr sz="1600" spc="-5" dirty="0">
                <a:latin typeface="Calibri" panose="020F0502020204030204"/>
                <a:cs typeface="Calibri" panose="020F0502020204030204"/>
              </a:rPr>
              <a:t> language. It has syntax </a:t>
            </a:r>
            <a:r>
              <a:rPr sz="1600" dirty="0">
                <a:latin typeface="Calibri" panose="020F0502020204030204"/>
                <a:cs typeface="Calibri" panose="020F0502020204030204"/>
              </a:rPr>
              <a:t>and</a:t>
            </a:r>
            <a:r>
              <a:rPr sz="1600" spc="-5" dirty="0">
                <a:latin typeface="Calibri" panose="020F0502020204030204"/>
                <a:cs typeface="Calibri" panose="020F0502020204030204"/>
              </a:rPr>
              <a:t> semantics. More than </a:t>
            </a:r>
            <a:r>
              <a:rPr sz="1600" dirty="0">
                <a:latin typeface="Calibri" panose="020F0502020204030204"/>
                <a:cs typeface="Calibri" panose="020F0502020204030204"/>
              </a:rPr>
              <a:t>a</a:t>
            </a:r>
            <a:r>
              <a:rPr sz="1600" spc="-5" dirty="0">
                <a:latin typeface="Calibri" panose="020F0502020204030204"/>
                <a:cs typeface="Calibri" panose="020F0502020204030204"/>
              </a:rPr>
              <a:t> language, it has inference</a:t>
            </a:r>
            <a:r>
              <a:rPr sz="1600" spc="-10" dirty="0">
                <a:latin typeface="Calibri" panose="020F0502020204030204"/>
                <a:cs typeface="Calibri" panose="020F0502020204030204"/>
              </a:rPr>
              <a:t> </a:t>
            </a:r>
            <a:r>
              <a:rPr sz="1600" spc="-5" dirty="0">
                <a:latin typeface="Calibri" panose="020F0502020204030204"/>
                <a:cs typeface="Calibri" panose="020F0502020204030204"/>
              </a:rPr>
              <a:t>rules.</a:t>
            </a:r>
            <a:endParaRPr sz="1600">
              <a:latin typeface="Calibri" panose="020F0502020204030204"/>
              <a:cs typeface="Calibri" panose="020F0502020204030204"/>
            </a:endParaRPr>
          </a:p>
        </p:txBody>
      </p:sp>
      <p:sp>
        <p:nvSpPr>
          <p:cNvPr id="6" name="object 6"/>
          <p:cNvSpPr txBox="1"/>
          <p:nvPr/>
        </p:nvSpPr>
        <p:spPr>
          <a:xfrm>
            <a:off x="82875" y="2939895"/>
            <a:ext cx="7454265" cy="2921000"/>
          </a:xfrm>
          <a:prstGeom prst="rect">
            <a:avLst/>
          </a:prstGeom>
        </p:spPr>
        <p:txBody>
          <a:bodyPr vert="horz" wrap="square" lIns="0" tIns="130810" rIns="0" bIns="0" rtlCol="0">
            <a:spAutoFit/>
          </a:bodyPr>
          <a:lstStyle/>
          <a:p>
            <a:pPr marL="12700">
              <a:lnSpc>
                <a:spcPct val="100000"/>
              </a:lnSpc>
              <a:spcBef>
                <a:spcPts val="1030"/>
              </a:spcBef>
            </a:pPr>
            <a:r>
              <a:rPr sz="1600" b="1" spc="-5" dirty="0">
                <a:latin typeface="Calibri" panose="020F0502020204030204"/>
                <a:cs typeface="Calibri" panose="020F0502020204030204"/>
              </a:rPr>
              <a:t>Syntax:</a:t>
            </a:r>
            <a:endParaRPr sz="1600">
              <a:latin typeface="Calibri" panose="020F0502020204030204"/>
              <a:cs typeface="Calibri" panose="020F0502020204030204"/>
            </a:endParaRPr>
          </a:p>
          <a:p>
            <a:pPr marL="469900">
              <a:lnSpc>
                <a:spcPct val="100000"/>
              </a:lnSpc>
              <a:spcBef>
                <a:spcPts val="930"/>
              </a:spcBef>
            </a:pPr>
            <a:r>
              <a:rPr sz="1600" spc="-5" dirty="0">
                <a:latin typeface="Calibri" panose="020F0502020204030204"/>
                <a:cs typeface="Calibri" panose="020F0502020204030204"/>
              </a:rPr>
              <a:t>this</a:t>
            </a:r>
            <a:r>
              <a:rPr sz="1600" spc="-10" dirty="0">
                <a:latin typeface="Calibri" panose="020F0502020204030204"/>
                <a:cs typeface="Calibri" panose="020F0502020204030204"/>
              </a:rPr>
              <a:t> </a:t>
            </a:r>
            <a:r>
              <a:rPr sz="1600" spc="-5" dirty="0">
                <a:latin typeface="Calibri" panose="020F0502020204030204"/>
                <a:cs typeface="Calibri" panose="020F0502020204030204"/>
              </a:rPr>
              <a:t>is the rules</a:t>
            </a:r>
            <a:r>
              <a:rPr sz="1600" spc="-10" dirty="0">
                <a:latin typeface="Calibri" panose="020F0502020204030204"/>
                <a:cs typeface="Calibri" panose="020F0502020204030204"/>
              </a:rPr>
              <a:t> </a:t>
            </a:r>
            <a:r>
              <a:rPr sz="1600" dirty="0">
                <a:latin typeface="Calibri" panose="020F0502020204030204"/>
                <a:cs typeface="Calibri" panose="020F0502020204030204"/>
              </a:rPr>
              <a:t>about</a:t>
            </a:r>
            <a:r>
              <a:rPr sz="1600" spc="-5" dirty="0">
                <a:latin typeface="Calibri" panose="020F0502020204030204"/>
                <a:cs typeface="Calibri" panose="020F0502020204030204"/>
              </a:rPr>
              <a:t> how to form</a:t>
            </a:r>
            <a:r>
              <a:rPr sz="1600" spc="-10" dirty="0">
                <a:latin typeface="Calibri" panose="020F0502020204030204"/>
                <a:cs typeface="Calibri" panose="020F0502020204030204"/>
              </a:rPr>
              <a:t> </a:t>
            </a:r>
            <a:r>
              <a:rPr sz="1600" spc="-5" dirty="0">
                <a:latin typeface="Calibri" panose="020F0502020204030204"/>
                <a:cs typeface="Calibri" panose="020F0502020204030204"/>
              </a:rPr>
              <a:t>formulas; this is usually</a:t>
            </a:r>
            <a:r>
              <a:rPr sz="1600" spc="-10" dirty="0">
                <a:latin typeface="Calibri" panose="020F0502020204030204"/>
                <a:cs typeface="Calibri" panose="020F0502020204030204"/>
              </a:rPr>
              <a:t> </a:t>
            </a:r>
            <a:r>
              <a:rPr sz="1600" spc="-5" dirty="0">
                <a:latin typeface="Calibri" panose="020F0502020204030204"/>
                <a:cs typeface="Calibri" panose="020F0502020204030204"/>
              </a:rPr>
              <a:t>the easy part</a:t>
            </a:r>
            <a:r>
              <a:rPr sz="1600" spc="-10" dirty="0">
                <a:latin typeface="Calibri" panose="020F0502020204030204"/>
                <a:cs typeface="Calibri" panose="020F0502020204030204"/>
              </a:rPr>
              <a:t> </a:t>
            </a:r>
            <a:r>
              <a:rPr sz="1600" spc="-5" dirty="0">
                <a:latin typeface="Calibri" panose="020F0502020204030204"/>
                <a:cs typeface="Calibri" panose="020F0502020204030204"/>
              </a:rPr>
              <a:t>of </a:t>
            </a:r>
            <a:r>
              <a:rPr sz="1600" dirty="0">
                <a:latin typeface="Calibri" panose="020F0502020204030204"/>
                <a:cs typeface="Calibri" panose="020F0502020204030204"/>
              </a:rPr>
              <a:t>a</a:t>
            </a:r>
            <a:r>
              <a:rPr sz="1600" spc="-5" dirty="0">
                <a:latin typeface="Calibri" panose="020F0502020204030204"/>
                <a:cs typeface="Calibri" panose="020F0502020204030204"/>
              </a:rPr>
              <a:t> logic.</a:t>
            </a:r>
            <a:endParaRPr sz="1600">
              <a:latin typeface="Calibri" panose="020F0502020204030204"/>
              <a:cs typeface="Calibri" panose="020F0502020204030204"/>
            </a:endParaRPr>
          </a:p>
          <a:p>
            <a:pPr>
              <a:lnSpc>
                <a:spcPct val="100000"/>
              </a:lnSpc>
            </a:pPr>
            <a:endParaRPr sz="1600">
              <a:latin typeface="Calibri" panose="020F0502020204030204"/>
              <a:cs typeface="Calibri" panose="020F0502020204030204"/>
            </a:endParaRPr>
          </a:p>
          <a:p>
            <a:pPr>
              <a:lnSpc>
                <a:spcPct val="100000"/>
              </a:lnSpc>
              <a:spcBef>
                <a:spcPts val="55"/>
              </a:spcBef>
            </a:pPr>
            <a:endParaRPr sz="1450">
              <a:latin typeface="Calibri" panose="020F0502020204030204"/>
              <a:cs typeface="Calibri" panose="020F0502020204030204"/>
            </a:endParaRPr>
          </a:p>
          <a:p>
            <a:pPr marL="12700">
              <a:lnSpc>
                <a:spcPct val="100000"/>
              </a:lnSpc>
            </a:pPr>
            <a:r>
              <a:rPr sz="1600" b="1" spc="-5" dirty="0">
                <a:latin typeface="Calibri" panose="020F0502020204030204"/>
                <a:cs typeface="Calibri" panose="020F0502020204030204"/>
              </a:rPr>
              <a:t>Semantics:</a:t>
            </a:r>
            <a:endParaRPr sz="1600">
              <a:latin typeface="Calibri" panose="020F0502020204030204"/>
              <a:cs typeface="Calibri" panose="020F0502020204030204"/>
            </a:endParaRPr>
          </a:p>
          <a:p>
            <a:pPr marL="469900">
              <a:lnSpc>
                <a:spcPct val="100000"/>
              </a:lnSpc>
              <a:spcBef>
                <a:spcPts val="930"/>
              </a:spcBef>
            </a:pPr>
            <a:r>
              <a:rPr sz="1600" spc="-5" dirty="0">
                <a:latin typeface="Calibri" panose="020F0502020204030204"/>
                <a:cs typeface="Calibri" panose="020F0502020204030204"/>
              </a:rPr>
              <a:t>About</a:t>
            </a:r>
            <a:r>
              <a:rPr sz="1600" spc="-10" dirty="0">
                <a:latin typeface="Calibri" panose="020F0502020204030204"/>
                <a:cs typeface="Calibri" panose="020F0502020204030204"/>
              </a:rPr>
              <a:t> </a:t>
            </a:r>
            <a:r>
              <a:rPr sz="1600" spc="-5" dirty="0">
                <a:latin typeface="Calibri" panose="020F0502020204030204"/>
                <a:cs typeface="Calibri" panose="020F0502020204030204"/>
              </a:rPr>
              <a:t>the</a:t>
            </a:r>
            <a:r>
              <a:rPr sz="1600" spc="-10" dirty="0">
                <a:latin typeface="Calibri" panose="020F0502020204030204"/>
                <a:cs typeface="Calibri" panose="020F0502020204030204"/>
              </a:rPr>
              <a:t> </a:t>
            </a:r>
            <a:r>
              <a:rPr sz="1600" spc="-5" dirty="0">
                <a:latin typeface="Calibri" panose="020F0502020204030204"/>
                <a:cs typeface="Calibri" panose="020F0502020204030204"/>
              </a:rPr>
              <a:t>meaning carried</a:t>
            </a:r>
            <a:r>
              <a:rPr sz="1600" spc="-10" dirty="0">
                <a:latin typeface="Calibri" panose="020F0502020204030204"/>
                <a:cs typeface="Calibri" panose="020F0502020204030204"/>
              </a:rPr>
              <a:t> </a:t>
            </a:r>
            <a:r>
              <a:rPr sz="1600" spc="-5" dirty="0">
                <a:latin typeface="Calibri" panose="020F0502020204030204"/>
                <a:cs typeface="Calibri" panose="020F0502020204030204"/>
              </a:rPr>
              <a:t>by</a:t>
            </a:r>
            <a:r>
              <a:rPr sz="1600" spc="-10" dirty="0">
                <a:latin typeface="Calibri" panose="020F0502020204030204"/>
                <a:cs typeface="Calibri" panose="020F0502020204030204"/>
              </a:rPr>
              <a:t> </a:t>
            </a:r>
            <a:r>
              <a:rPr sz="1600" spc="-5" dirty="0">
                <a:latin typeface="Calibri" panose="020F0502020204030204"/>
                <a:cs typeface="Calibri" panose="020F0502020204030204"/>
              </a:rPr>
              <a:t>the formulas,</a:t>
            </a:r>
            <a:r>
              <a:rPr sz="1600" spc="-10" dirty="0">
                <a:latin typeface="Calibri" panose="020F0502020204030204"/>
                <a:cs typeface="Calibri" panose="020F0502020204030204"/>
              </a:rPr>
              <a:t> </a:t>
            </a:r>
            <a:r>
              <a:rPr sz="1600" spc="-5" dirty="0">
                <a:latin typeface="Calibri" panose="020F0502020204030204"/>
                <a:cs typeface="Calibri" panose="020F0502020204030204"/>
              </a:rPr>
              <a:t>mainly in</a:t>
            </a:r>
            <a:r>
              <a:rPr sz="1600" spc="-10" dirty="0">
                <a:latin typeface="Calibri" panose="020F0502020204030204"/>
                <a:cs typeface="Calibri" panose="020F0502020204030204"/>
              </a:rPr>
              <a:t> </a:t>
            </a:r>
            <a:r>
              <a:rPr sz="1600" spc="-5" dirty="0">
                <a:latin typeface="Calibri" panose="020F0502020204030204"/>
                <a:cs typeface="Calibri" panose="020F0502020204030204"/>
              </a:rPr>
              <a:t>terms</a:t>
            </a:r>
            <a:r>
              <a:rPr sz="1600" spc="-10" dirty="0">
                <a:latin typeface="Calibri" panose="020F0502020204030204"/>
                <a:cs typeface="Calibri" panose="020F0502020204030204"/>
              </a:rPr>
              <a:t> </a:t>
            </a:r>
            <a:r>
              <a:rPr sz="1600" spc="-5" dirty="0">
                <a:latin typeface="Calibri" panose="020F0502020204030204"/>
                <a:cs typeface="Calibri" panose="020F0502020204030204"/>
              </a:rPr>
              <a:t>of logical</a:t>
            </a:r>
            <a:r>
              <a:rPr sz="1600" spc="-10" dirty="0">
                <a:latin typeface="Calibri" panose="020F0502020204030204"/>
                <a:cs typeface="Calibri" panose="020F0502020204030204"/>
              </a:rPr>
              <a:t> </a:t>
            </a:r>
            <a:r>
              <a:rPr sz="1600" spc="-5" dirty="0">
                <a:latin typeface="Calibri" panose="020F0502020204030204"/>
                <a:cs typeface="Calibri" panose="020F0502020204030204"/>
              </a:rPr>
              <a:t>consequences.</a:t>
            </a:r>
            <a:endParaRPr sz="1600">
              <a:latin typeface="Calibri" panose="020F0502020204030204"/>
              <a:cs typeface="Calibri" panose="020F0502020204030204"/>
            </a:endParaRPr>
          </a:p>
          <a:p>
            <a:pPr>
              <a:lnSpc>
                <a:spcPct val="100000"/>
              </a:lnSpc>
            </a:pPr>
            <a:endParaRPr sz="1600">
              <a:latin typeface="Calibri" panose="020F0502020204030204"/>
              <a:cs typeface="Calibri" panose="020F0502020204030204"/>
            </a:endParaRPr>
          </a:p>
          <a:p>
            <a:pPr>
              <a:lnSpc>
                <a:spcPct val="100000"/>
              </a:lnSpc>
              <a:spcBef>
                <a:spcPts val="55"/>
              </a:spcBef>
            </a:pPr>
            <a:endParaRPr sz="1450">
              <a:latin typeface="Calibri" panose="020F0502020204030204"/>
              <a:cs typeface="Calibri" panose="020F0502020204030204"/>
            </a:endParaRPr>
          </a:p>
          <a:p>
            <a:pPr marL="12700">
              <a:lnSpc>
                <a:spcPct val="100000"/>
              </a:lnSpc>
            </a:pPr>
            <a:r>
              <a:rPr sz="1600" b="1" spc="-5" dirty="0">
                <a:latin typeface="Calibri" panose="020F0502020204030204"/>
                <a:cs typeface="Calibri" panose="020F0502020204030204"/>
              </a:rPr>
              <a:t>Inference</a:t>
            </a:r>
            <a:r>
              <a:rPr sz="1600" b="1" spc="-45" dirty="0">
                <a:latin typeface="Calibri" panose="020F0502020204030204"/>
                <a:cs typeface="Calibri" panose="020F0502020204030204"/>
              </a:rPr>
              <a:t> </a:t>
            </a:r>
            <a:r>
              <a:rPr sz="1600" b="1" spc="-5" dirty="0">
                <a:latin typeface="Calibri" panose="020F0502020204030204"/>
                <a:cs typeface="Calibri" panose="020F0502020204030204"/>
              </a:rPr>
              <a:t>rules:</a:t>
            </a:r>
            <a:endParaRPr sz="1600">
              <a:latin typeface="Calibri" panose="020F0502020204030204"/>
              <a:cs typeface="Calibri" panose="020F0502020204030204"/>
            </a:endParaRPr>
          </a:p>
          <a:p>
            <a:pPr marL="469900">
              <a:lnSpc>
                <a:spcPct val="100000"/>
              </a:lnSpc>
              <a:spcBef>
                <a:spcPts val="930"/>
              </a:spcBef>
            </a:pPr>
            <a:r>
              <a:rPr sz="1600" spc="-5" dirty="0">
                <a:latin typeface="Calibri" panose="020F0502020204030204"/>
                <a:cs typeface="Calibri" panose="020F0502020204030204"/>
              </a:rPr>
              <a:t>Inference</a:t>
            </a:r>
            <a:r>
              <a:rPr sz="1600" spc="-15" dirty="0">
                <a:latin typeface="Calibri" panose="020F0502020204030204"/>
                <a:cs typeface="Calibri" panose="020F0502020204030204"/>
              </a:rPr>
              <a:t> </a:t>
            </a:r>
            <a:r>
              <a:rPr sz="1600" spc="-5" dirty="0">
                <a:latin typeface="Calibri" panose="020F0502020204030204"/>
                <a:cs typeface="Calibri" panose="020F0502020204030204"/>
              </a:rPr>
              <a:t>rules</a:t>
            </a:r>
            <a:r>
              <a:rPr sz="1600" spc="-15" dirty="0">
                <a:latin typeface="Calibri" panose="020F0502020204030204"/>
                <a:cs typeface="Calibri" panose="020F0502020204030204"/>
              </a:rPr>
              <a:t> </a:t>
            </a:r>
            <a:r>
              <a:rPr sz="1600" spc="-5" dirty="0">
                <a:latin typeface="Calibri" panose="020F0502020204030204"/>
                <a:cs typeface="Calibri" panose="020F0502020204030204"/>
              </a:rPr>
              <a:t>describe</a:t>
            </a:r>
            <a:r>
              <a:rPr sz="1600" spc="-10" dirty="0">
                <a:latin typeface="Calibri" panose="020F0502020204030204"/>
                <a:cs typeface="Calibri" panose="020F0502020204030204"/>
              </a:rPr>
              <a:t> </a:t>
            </a:r>
            <a:r>
              <a:rPr sz="1600" spc="-5" dirty="0">
                <a:latin typeface="Calibri" panose="020F0502020204030204"/>
                <a:cs typeface="Calibri" panose="020F0502020204030204"/>
              </a:rPr>
              <a:t>correct</a:t>
            </a:r>
            <a:r>
              <a:rPr sz="1600" spc="-15" dirty="0">
                <a:latin typeface="Calibri" panose="020F0502020204030204"/>
                <a:cs typeface="Calibri" panose="020F0502020204030204"/>
              </a:rPr>
              <a:t> </a:t>
            </a:r>
            <a:r>
              <a:rPr sz="1600" spc="-5" dirty="0">
                <a:latin typeface="Calibri" panose="020F0502020204030204"/>
                <a:cs typeface="Calibri" panose="020F0502020204030204"/>
              </a:rPr>
              <a:t>ways</a:t>
            </a:r>
            <a:r>
              <a:rPr sz="1600" spc="-10" dirty="0">
                <a:latin typeface="Calibri" panose="020F0502020204030204"/>
                <a:cs typeface="Calibri" panose="020F0502020204030204"/>
              </a:rPr>
              <a:t> </a:t>
            </a:r>
            <a:r>
              <a:rPr sz="1600" spc="-5" dirty="0">
                <a:latin typeface="Calibri" panose="020F0502020204030204"/>
                <a:cs typeface="Calibri" panose="020F0502020204030204"/>
              </a:rPr>
              <a:t>to</a:t>
            </a:r>
            <a:r>
              <a:rPr sz="1600" spc="-15" dirty="0">
                <a:latin typeface="Calibri" panose="020F0502020204030204"/>
                <a:cs typeface="Calibri" panose="020F0502020204030204"/>
              </a:rPr>
              <a:t> </a:t>
            </a:r>
            <a:r>
              <a:rPr sz="1600" spc="-5" dirty="0">
                <a:latin typeface="Calibri" panose="020F0502020204030204"/>
                <a:cs typeface="Calibri" panose="020F0502020204030204"/>
              </a:rPr>
              <a:t>derive</a:t>
            </a:r>
            <a:r>
              <a:rPr sz="1600" spc="-10" dirty="0">
                <a:latin typeface="Calibri" panose="020F0502020204030204"/>
                <a:cs typeface="Calibri" panose="020F0502020204030204"/>
              </a:rPr>
              <a:t> </a:t>
            </a:r>
            <a:r>
              <a:rPr sz="1600" spc="-5" dirty="0">
                <a:latin typeface="Calibri" panose="020F0502020204030204"/>
                <a:cs typeface="Calibri" panose="020F0502020204030204"/>
              </a:rPr>
              <a:t>conclusions</a:t>
            </a:r>
            <a:endParaRPr sz="1600">
              <a:latin typeface="Calibri" panose="020F0502020204030204"/>
              <a:cs typeface="Calibri" panose="020F0502020204030204"/>
            </a:endParaRPr>
          </a:p>
        </p:txBody>
      </p:sp>
      <p:pic>
        <p:nvPicPr>
          <p:cNvPr id="7" name="object 7"/>
          <p:cNvPicPr/>
          <p:nvPr/>
        </p:nvPicPr>
        <p:blipFill>
          <a:blip r:embed="rId3" cstate="print"/>
          <a:stretch>
            <a:fillRect/>
          </a:stretch>
        </p:blipFill>
        <p:spPr>
          <a:xfrm>
            <a:off x="3084581" y="1342650"/>
            <a:ext cx="5343771" cy="1710007"/>
          </a:xfrm>
          <a:prstGeom prst="rect">
            <a:avLst/>
          </a:prstGeom>
        </p:spPr>
      </p:pic>
      <p:sp>
        <p:nvSpPr>
          <p:cNvPr id="8" name="Slide Number Placeholder 7"/>
          <p:cNvSpPr>
            <a:spLocks noGrp="1"/>
          </p:cNvSpPr>
          <p:nvPr>
            <p:ph type="sldNum" sz="quarter" idx="7"/>
          </p:nvPr>
        </p:nvSpPr>
        <p:spPr/>
        <p:txBody>
          <a:bodyPr/>
          <a:lstStyle/>
          <a:p>
            <a:fld id="{B6F15528-21DE-4FAA-801E-634DDDAF4B2B}" type="slidenum">
              <a:rPr/>
              <a:t>39</a:t>
            </a:fld>
            <a:endParaRPr/>
          </a:p>
        </p:txBody>
      </p:sp>
      <p:sp>
        <p:nvSpPr>
          <p:cNvPr id="9" name="Footer Placeholder 8"/>
          <p:cNvSpPr>
            <a:spLocks noGrp="1"/>
          </p:cNvSpPr>
          <p:nvPr>
            <p:ph type="ftr" sz="quarter" idx="5"/>
          </p:nvPr>
        </p:nvSpPr>
        <p:spPr/>
        <p:txBody>
          <a:bodyPr/>
          <a:lstStyle/>
          <a:p>
            <a:r>
              <a:t>UNIT IV : Pythonic Programming Paradigm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740" y="34162"/>
            <a:ext cx="12113260" cy="391160"/>
          </a:xfrm>
          <a:prstGeom prst="rect">
            <a:avLst/>
          </a:prstGeom>
        </p:spPr>
        <p:txBody>
          <a:bodyPr vert="horz" wrap="square" lIns="0" tIns="12700" rIns="0" bIns="0" rtlCol="0">
            <a:spAutoFit/>
          </a:bodyPr>
          <a:lstStyle/>
          <a:p>
            <a:pPr marL="12700">
              <a:lnSpc>
                <a:spcPct val="100000"/>
              </a:lnSpc>
              <a:spcBef>
                <a:spcPts val="100"/>
              </a:spcBef>
              <a:tabLst>
                <a:tab pos="12099925" algn="l"/>
              </a:tabLst>
            </a:pPr>
            <a:r>
              <a:rPr u="heavy" spc="-5" dirty="0">
                <a:uFill>
                  <a:solidFill>
                    <a:srgbClr val="1F97C8"/>
                  </a:solidFill>
                </a:uFill>
              </a:rPr>
              <a:t>Logical</a:t>
            </a:r>
            <a:r>
              <a:rPr u="heavy" spc="-40" dirty="0">
                <a:uFill>
                  <a:solidFill>
                    <a:srgbClr val="1F97C8"/>
                  </a:solidFill>
                </a:uFill>
              </a:rPr>
              <a:t> </a:t>
            </a:r>
            <a:r>
              <a:rPr u="heavy" spc="-5" dirty="0">
                <a:uFill>
                  <a:solidFill>
                    <a:srgbClr val="1F97C8"/>
                  </a:solidFill>
                </a:uFill>
              </a:rPr>
              <a:t>Programming</a:t>
            </a:r>
            <a:r>
              <a:rPr u="heavy" spc="-35" dirty="0">
                <a:uFill>
                  <a:solidFill>
                    <a:srgbClr val="1F97C8"/>
                  </a:solidFill>
                </a:uFill>
              </a:rPr>
              <a:t> </a:t>
            </a:r>
            <a:r>
              <a:rPr u="heavy" spc="-5" dirty="0">
                <a:uFill>
                  <a:solidFill>
                    <a:srgbClr val="1F97C8"/>
                  </a:solidFill>
                </a:uFill>
              </a:rPr>
              <a:t>Paradigm	</a:t>
            </a:r>
          </a:p>
        </p:txBody>
      </p:sp>
      <p:sp>
        <p:nvSpPr>
          <p:cNvPr id="3" name="object 3"/>
          <p:cNvSpPr/>
          <p:nvPr/>
        </p:nvSpPr>
        <p:spPr>
          <a:xfrm>
            <a:off x="0" y="6694114"/>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4" name="object 4"/>
          <p:cNvSpPr/>
          <p:nvPr/>
        </p:nvSpPr>
        <p:spPr>
          <a:xfrm>
            <a:off x="31953" y="490866"/>
            <a:ext cx="12105640" cy="6118860"/>
          </a:xfrm>
          <a:custGeom>
            <a:avLst/>
            <a:gdLst/>
            <a:ahLst/>
            <a:cxnLst/>
            <a:rect l="l" t="t" r="r" b="b"/>
            <a:pathLst>
              <a:path w="12105640" h="6118859">
                <a:moveTo>
                  <a:pt x="0" y="0"/>
                </a:moveTo>
                <a:lnTo>
                  <a:pt x="12105504" y="0"/>
                </a:lnTo>
                <a:lnTo>
                  <a:pt x="12105504" y="6118857"/>
                </a:lnTo>
                <a:lnTo>
                  <a:pt x="0" y="6118857"/>
                </a:lnTo>
                <a:lnTo>
                  <a:pt x="0" y="0"/>
                </a:lnTo>
                <a:close/>
              </a:path>
            </a:pathLst>
          </a:custGeom>
          <a:ln w="12699">
            <a:solidFill>
              <a:srgbClr val="00B0F0"/>
            </a:solidFill>
          </a:ln>
        </p:spPr>
        <p:txBody>
          <a:bodyPr wrap="square" lIns="0" tIns="0" rIns="0" bIns="0" rtlCol="0"/>
          <a:lstStyle/>
          <a:p>
            <a:endParaRPr/>
          </a:p>
        </p:txBody>
      </p:sp>
      <p:sp>
        <p:nvSpPr>
          <p:cNvPr id="5" name="object 5"/>
          <p:cNvSpPr txBox="1"/>
          <p:nvPr/>
        </p:nvSpPr>
        <p:spPr>
          <a:xfrm>
            <a:off x="82875" y="406245"/>
            <a:ext cx="11948160" cy="3644900"/>
          </a:xfrm>
          <a:prstGeom prst="rect">
            <a:avLst/>
          </a:prstGeom>
        </p:spPr>
        <p:txBody>
          <a:bodyPr vert="horz" wrap="square" lIns="0" tIns="130810" rIns="0" bIns="0" rtlCol="0">
            <a:spAutoFit/>
          </a:bodyPr>
          <a:lstStyle/>
          <a:p>
            <a:pPr marL="12700">
              <a:lnSpc>
                <a:spcPct val="100000"/>
              </a:lnSpc>
              <a:spcBef>
                <a:spcPts val="1030"/>
              </a:spcBef>
            </a:pPr>
            <a:r>
              <a:rPr sz="1600" b="1" spc="-5" dirty="0">
                <a:latin typeface="Calibri" panose="020F0502020204030204"/>
                <a:cs typeface="Calibri" panose="020F0502020204030204"/>
              </a:rPr>
              <a:t>Logic</a:t>
            </a:r>
            <a:r>
              <a:rPr sz="1600" b="1" spc="-45" dirty="0">
                <a:latin typeface="Calibri" panose="020F0502020204030204"/>
                <a:cs typeface="Calibri" panose="020F0502020204030204"/>
              </a:rPr>
              <a:t> </a:t>
            </a:r>
            <a:r>
              <a:rPr sz="1600" b="1" dirty="0">
                <a:latin typeface="Calibri" panose="020F0502020204030204"/>
                <a:cs typeface="Calibri" panose="020F0502020204030204"/>
              </a:rPr>
              <a:t>:</a:t>
            </a:r>
            <a:endParaRPr sz="1600" dirty="0">
              <a:latin typeface="Calibri" panose="020F0502020204030204"/>
              <a:cs typeface="Calibri" panose="020F0502020204030204"/>
            </a:endParaRPr>
          </a:p>
          <a:p>
            <a:pPr marL="469900">
              <a:lnSpc>
                <a:spcPct val="100000"/>
              </a:lnSpc>
              <a:spcBef>
                <a:spcPts val="930"/>
              </a:spcBef>
            </a:pPr>
            <a:r>
              <a:rPr sz="1600" dirty="0">
                <a:latin typeface="Calibri" panose="020F0502020204030204"/>
                <a:cs typeface="Calibri" panose="020F0502020204030204"/>
              </a:rPr>
              <a:t>A</a:t>
            </a:r>
            <a:r>
              <a:rPr sz="1600" spc="-15" dirty="0">
                <a:latin typeface="Calibri" panose="020F0502020204030204"/>
                <a:cs typeface="Calibri" panose="020F0502020204030204"/>
              </a:rPr>
              <a:t> </a:t>
            </a:r>
            <a:r>
              <a:rPr sz="1600" spc="-5" dirty="0">
                <a:latin typeface="Calibri" panose="020F0502020204030204"/>
                <a:cs typeface="Calibri" panose="020F0502020204030204"/>
              </a:rPr>
              <a:t>Logic</a:t>
            </a:r>
            <a:r>
              <a:rPr sz="1600" spc="-15" dirty="0">
                <a:latin typeface="Calibri" panose="020F0502020204030204"/>
                <a:cs typeface="Calibri" panose="020F0502020204030204"/>
              </a:rPr>
              <a:t> </a:t>
            </a:r>
            <a:r>
              <a:rPr sz="1600" spc="-5" dirty="0">
                <a:latin typeface="Calibri" panose="020F0502020204030204"/>
                <a:cs typeface="Calibri" panose="020F0502020204030204"/>
              </a:rPr>
              <a:t>program</a:t>
            </a:r>
            <a:r>
              <a:rPr sz="1600" spc="-15" dirty="0">
                <a:latin typeface="Calibri" panose="020F0502020204030204"/>
                <a:cs typeface="Calibri" panose="020F0502020204030204"/>
              </a:rPr>
              <a:t> </a:t>
            </a:r>
            <a:r>
              <a:rPr sz="1600" spc="-5" dirty="0">
                <a:latin typeface="Calibri" panose="020F0502020204030204"/>
                <a:cs typeface="Calibri" panose="020F0502020204030204"/>
              </a:rPr>
              <a:t>is</a:t>
            </a:r>
            <a:r>
              <a:rPr sz="1600" spc="-15" dirty="0">
                <a:latin typeface="Calibri" panose="020F0502020204030204"/>
                <a:cs typeface="Calibri" panose="020F0502020204030204"/>
              </a:rPr>
              <a:t> </a:t>
            </a:r>
            <a:r>
              <a:rPr sz="1600" dirty="0">
                <a:latin typeface="Calibri" panose="020F0502020204030204"/>
                <a:cs typeface="Calibri" panose="020F0502020204030204"/>
              </a:rPr>
              <a:t>a</a:t>
            </a:r>
            <a:r>
              <a:rPr sz="1600" spc="-10" dirty="0">
                <a:latin typeface="Calibri" panose="020F0502020204030204"/>
                <a:cs typeface="Calibri" panose="020F0502020204030204"/>
              </a:rPr>
              <a:t> </a:t>
            </a:r>
            <a:r>
              <a:rPr sz="1600" spc="-5" dirty="0">
                <a:latin typeface="Calibri" panose="020F0502020204030204"/>
                <a:cs typeface="Calibri" panose="020F0502020204030204"/>
              </a:rPr>
              <a:t>set</a:t>
            </a:r>
            <a:r>
              <a:rPr sz="1600" spc="-15" dirty="0">
                <a:latin typeface="Calibri" panose="020F0502020204030204"/>
                <a:cs typeface="Calibri" panose="020F0502020204030204"/>
              </a:rPr>
              <a:t> </a:t>
            </a:r>
            <a:r>
              <a:rPr sz="1600" spc="-5" dirty="0">
                <a:latin typeface="Calibri" panose="020F0502020204030204"/>
                <a:cs typeface="Calibri" panose="020F0502020204030204"/>
              </a:rPr>
              <a:t>of</a:t>
            </a:r>
            <a:r>
              <a:rPr sz="1600" spc="-15" dirty="0">
                <a:latin typeface="Calibri" panose="020F0502020204030204"/>
                <a:cs typeface="Calibri" panose="020F0502020204030204"/>
              </a:rPr>
              <a:t> </a:t>
            </a:r>
            <a:r>
              <a:rPr sz="1600" spc="-5" dirty="0">
                <a:latin typeface="Calibri" panose="020F0502020204030204"/>
                <a:cs typeface="Calibri" panose="020F0502020204030204"/>
              </a:rPr>
              <a:t>predicates.</a:t>
            </a:r>
            <a:endParaRPr sz="1600" dirty="0">
              <a:latin typeface="Calibri" panose="020F0502020204030204"/>
              <a:cs typeface="Calibri" panose="020F0502020204030204"/>
            </a:endParaRPr>
          </a:p>
          <a:p>
            <a:pPr>
              <a:lnSpc>
                <a:spcPct val="100000"/>
              </a:lnSpc>
            </a:pPr>
            <a:endParaRPr sz="1600" dirty="0">
              <a:latin typeface="Calibri" panose="020F0502020204030204"/>
              <a:cs typeface="Calibri" panose="020F0502020204030204"/>
            </a:endParaRPr>
          </a:p>
          <a:p>
            <a:pPr>
              <a:lnSpc>
                <a:spcPct val="100000"/>
              </a:lnSpc>
              <a:spcBef>
                <a:spcPts val="55"/>
              </a:spcBef>
            </a:pPr>
            <a:endParaRPr sz="1450" dirty="0">
              <a:latin typeface="Calibri" panose="020F0502020204030204"/>
              <a:cs typeface="Calibri" panose="020F0502020204030204"/>
            </a:endParaRPr>
          </a:p>
          <a:p>
            <a:pPr marL="12700">
              <a:lnSpc>
                <a:spcPct val="100000"/>
              </a:lnSpc>
            </a:pPr>
            <a:r>
              <a:rPr sz="1600" b="1" spc="-5" dirty="0">
                <a:latin typeface="Calibri" panose="020F0502020204030204"/>
                <a:cs typeface="Calibri" panose="020F0502020204030204"/>
              </a:rPr>
              <a:t>Predicates</a:t>
            </a:r>
            <a:r>
              <a:rPr sz="1600" b="1" spc="-45" dirty="0">
                <a:latin typeface="Calibri" panose="020F0502020204030204"/>
                <a:cs typeface="Calibri" panose="020F0502020204030204"/>
              </a:rPr>
              <a:t> </a:t>
            </a:r>
            <a:r>
              <a:rPr sz="1600" b="1" dirty="0">
                <a:latin typeface="Calibri" panose="020F0502020204030204"/>
                <a:cs typeface="Calibri" panose="020F0502020204030204"/>
              </a:rPr>
              <a:t>:</a:t>
            </a:r>
            <a:endParaRPr sz="1600" dirty="0">
              <a:latin typeface="Calibri" panose="020F0502020204030204"/>
              <a:cs typeface="Calibri" panose="020F0502020204030204"/>
            </a:endParaRPr>
          </a:p>
          <a:p>
            <a:pPr marL="12700" marR="5080" indent="457200">
              <a:lnSpc>
                <a:spcPct val="148000"/>
              </a:lnSpc>
            </a:pPr>
            <a:r>
              <a:rPr sz="1600" spc="-5" dirty="0">
                <a:latin typeface="Calibri" panose="020F0502020204030204"/>
                <a:cs typeface="Calibri" panose="020F0502020204030204"/>
              </a:rPr>
              <a:t>Define</a:t>
            </a:r>
            <a:r>
              <a:rPr sz="1600" spc="185" dirty="0">
                <a:latin typeface="Calibri" panose="020F0502020204030204"/>
                <a:cs typeface="Calibri" panose="020F0502020204030204"/>
              </a:rPr>
              <a:t> </a:t>
            </a:r>
            <a:r>
              <a:rPr sz="1600" spc="-5" dirty="0">
                <a:latin typeface="Calibri" panose="020F0502020204030204"/>
                <a:cs typeface="Calibri" panose="020F0502020204030204"/>
              </a:rPr>
              <a:t>relations</a:t>
            </a:r>
            <a:r>
              <a:rPr sz="1600" spc="180" dirty="0">
                <a:latin typeface="Calibri" panose="020F0502020204030204"/>
                <a:cs typeface="Calibri" panose="020F0502020204030204"/>
              </a:rPr>
              <a:t> </a:t>
            </a:r>
            <a:r>
              <a:rPr sz="1600" spc="-5" dirty="0">
                <a:latin typeface="Calibri" panose="020F0502020204030204"/>
                <a:cs typeface="Calibri" panose="020F0502020204030204"/>
              </a:rPr>
              <a:t>between</a:t>
            </a:r>
            <a:r>
              <a:rPr sz="1600" spc="185" dirty="0">
                <a:latin typeface="Calibri" panose="020F0502020204030204"/>
                <a:cs typeface="Calibri" panose="020F0502020204030204"/>
              </a:rPr>
              <a:t> </a:t>
            </a:r>
            <a:r>
              <a:rPr sz="1600" spc="-5" dirty="0">
                <a:latin typeface="Calibri" panose="020F0502020204030204"/>
                <a:cs typeface="Calibri" panose="020F0502020204030204"/>
              </a:rPr>
              <a:t>their</a:t>
            </a:r>
            <a:r>
              <a:rPr sz="1600" spc="180" dirty="0">
                <a:latin typeface="Calibri" panose="020F0502020204030204"/>
                <a:cs typeface="Calibri" panose="020F0502020204030204"/>
              </a:rPr>
              <a:t> </a:t>
            </a:r>
            <a:r>
              <a:rPr sz="1600" dirty="0">
                <a:latin typeface="Calibri" panose="020F0502020204030204"/>
                <a:cs typeface="Calibri" panose="020F0502020204030204"/>
              </a:rPr>
              <a:t>arguments.</a:t>
            </a:r>
            <a:r>
              <a:rPr sz="1600" spc="185" dirty="0">
                <a:latin typeface="Calibri" panose="020F0502020204030204"/>
                <a:cs typeface="Calibri" panose="020F0502020204030204"/>
              </a:rPr>
              <a:t> </a:t>
            </a:r>
            <a:r>
              <a:rPr sz="1600" spc="-5" dirty="0">
                <a:latin typeface="Calibri" panose="020F0502020204030204"/>
                <a:cs typeface="Calibri" panose="020F0502020204030204"/>
              </a:rPr>
              <a:t>Logically,</a:t>
            </a:r>
            <a:r>
              <a:rPr sz="1600" spc="185" dirty="0">
                <a:latin typeface="Calibri" panose="020F0502020204030204"/>
                <a:cs typeface="Calibri" panose="020F0502020204030204"/>
              </a:rPr>
              <a:t> </a:t>
            </a:r>
            <a:r>
              <a:rPr sz="1600" dirty="0">
                <a:latin typeface="Calibri" panose="020F0502020204030204"/>
                <a:cs typeface="Calibri" panose="020F0502020204030204"/>
              </a:rPr>
              <a:t>a</a:t>
            </a:r>
            <a:r>
              <a:rPr sz="1600" spc="190" dirty="0">
                <a:latin typeface="Calibri" panose="020F0502020204030204"/>
                <a:cs typeface="Calibri" panose="020F0502020204030204"/>
              </a:rPr>
              <a:t> </a:t>
            </a:r>
            <a:r>
              <a:rPr sz="1600" spc="-5" dirty="0">
                <a:latin typeface="Calibri" panose="020F0502020204030204"/>
                <a:cs typeface="Calibri" panose="020F0502020204030204"/>
              </a:rPr>
              <a:t>Logic</a:t>
            </a:r>
            <a:r>
              <a:rPr sz="1600" spc="185" dirty="0">
                <a:latin typeface="Calibri" panose="020F0502020204030204"/>
                <a:cs typeface="Calibri" panose="020F0502020204030204"/>
              </a:rPr>
              <a:t> </a:t>
            </a:r>
            <a:r>
              <a:rPr sz="1600" spc="-5" dirty="0">
                <a:latin typeface="Calibri" panose="020F0502020204030204"/>
                <a:cs typeface="Calibri" panose="020F0502020204030204"/>
              </a:rPr>
              <a:t>program</a:t>
            </a:r>
            <a:r>
              <a:rPr sz="1600" spc="185" dirty="0">
                <a:latin typeface="Calibri" panose="020F0502020204030204"/>
                <a:cs typeface="Calibri" panose="020F0502020204030204"/>
              </a:rPr>
              <a:t> </a:t>
            </a:r>
            <a:r>
              <a:rPr sz="1600" spc="-5" dirty="0">
                <a:latin typeface="Calibri" panose="020F0502020204030204"/>
                <a:cs typeface="Calibri" panose="020F0502020204030204"/>
              </a:rPr>
              <a:t>states</a:t>
            </a:r>
            <a:r>
              <a:rPr sz="1600" spc="185" dirty="0">
                <a:latin typeface="Calibri" panose="020F0502020204030204"/>
                <a:cs typeface="Calibri" panose="020F0502020204030204"/>
              </a:rPr>
              <a:t> </a:t>
            </a:r>
            <a:r>
              <a:rPr sz="1600" spc="-5" dirty="0">
                <a:latin typeface="Calibri" panose="020F0502020204030204"/>
                <a:cs typeface="Calibri" panose="020F0502020204030204"/>
              </a:rPr>
              <a:t>what</a:t>
            </a:r>
            <a:r>
              <a:rPr sz="1600" spc="180" dirty="0">
                <a:latin typeface="Calibri" panose="020F0502020204030204"/>
                <a:cs typeface="Calibri" panose="020F0502020204030204"/>
              </a:rPr>
              <a:t> </a:t>
            </a:r>
            <a:r>
              <a:rPr sz="1600" spc="-5" dirty="0">
                <a:latin typeface="Calibri" panose="020F0502020204030204"/>
                <a:cs typeface="Calibri" panose="020F0502020204030204"/>
              </a:rPr>
              <a:t>holds.</a:t>
            </a:r>
            <a:r>
              <a:rPr sz="1600" spc="185" dirty="0">
                <a:latin typeface="Calibri" panose="020F0502020204030204"/>
                <a:cs typeface="Calibri" panose="020F0502020204030204"/>
              </a:rPr>
              <a:t> </a:t>
            </a:r>
            <a:r>
              <a:rPr sz="1600" spc="-5" dirty="0">
                <a:latin typeface="Calibri" panose="020F0502020204030204"/>
                <a:cs typeface="Calibri" panose="020F0502020204030204"/>
              </a:rPr>
              <a:t>Each</a:t>
            </a:r>
            <a:r>
              <a:rPr sz="1600" spc="185" dirty="0">
                <a:latin typeface="Calibri" panose="020F0502020204030204"/>
                <a:cs typeface="Calibri" panose="020F0502020204030204"/>
              </a:rPr>
              <a:t> </a:t>
            </a:r>
            <a:r>
              <a:rPr sz="1600" spc="-5" dirty="0">
                <a:latin typeface="Calibri" panose="020F0502020204030204"/>
                <a:cs typeface="Calibri" panose="020F0502020204030204"/>
              </a:rPr>
              <a:t>predicate</a:t>
            </a:r>
            <a:r>
              <a:rPr sz="1600" spc="190" dirty="0">
                <a:latin typeface="Calibri" panose="020F0502020204030204"/>
                <a:cs typeface="Calibri" panose="020F0502020204030204"/>
              </a:rPr>
              <a:t> </a:t>
            </a:r>
            <a:r>
              <a:rPr sz="1600" spc="-5" dirty="0">
                <a:latin typeface="Calibri" panose="020F0502020204030204"/>
                <a:cs typeface="Calibri" panose="020F0502020204030204"/>
              </a:rPr>
              <a:t>has</a:t>
            </a:r>
            <a:r>
              <a:rPr sz="1600" spc="185" dirty="0">
                <a:latin typeface="Calibri" panose="020F0502020204030204"/>
                <a:cs typeface="Calibri" panose="020F0502020204030204"/>
              </a:rPr>
              <a:t> </a:t>
            </a:r>
            <a:r>
              <a:rPr sz="1600" dirty="0">
                <a:latin typeface="Calibri" panose="020F0502020204030204"/>
                <a:cs typeface="Calibri" panose="020F0502020204030204"/>
              </a:rPr>
              <a:t>a</a:t>
            </a:r>
            <a:r>
              <a:rPr sz="1600" spc="185" dirty="0">
                <a:latin typeface="Calibri" panose="020F0502020204030204"/>
                <a:cs typeface="Calibri" panose="020F0502020204030204"/>
              </a:rPr>
              <a:t> </a:t>
            </a:r>
            <a:r>
              <a:rPr sz="1600" spc="-5" dirty="0">
                <a:latin typeface="Calibri" panose="020F0502020204030204"/>
                <a:cs typeface="Calibri" panose="020F0502020204030204"/>
              </a:rPr>
              <a:t>name,</a:t>
            </a:r>
            <a:r>
              <a:rPr sz="1600" spc="185" dirty="0">
                <a:latin typeface="Calibri" panose="020F0502020204030204"/>
                <a:cs typeface="Calibri" panose="020F0502020204030204"/>
              </a:rPr>
              <a:t> </a:t>
            </a:r>
            <a:r>
              <a:rPr sz="1600" dirty="0">
                <a:latin typeface="Calibri" panose="020F0502020204030204"/>
                <a:cs typeface="Calibri" panose="020F0502020204030204"/>
              </a:rPr>
              <a:t>and</a:t>
            </a:r>
            <a:r>
              <a:rPr sz="1600" spc="185" dirty="0">
                <a:latin typeface="Calibri" panose="020F0502020204030204"/>
                <a:cs typeface="Calibri" panose="020F0502020204030204"/>
              </a:rPr>
              <a:t> </a:t>
            </a:r>
            <a:r>
              <a:rPr sz="1600" spc="-5" dirty="0">
                <a:latin typeface="Calibri" panose="020F0502020204030204"/>
                <a:cs typeface="Calibri" panose="020F0502020204030204"/>
              </a:rPr>
              <a:t>zero</a:t>
            </a:r>
            <a:r>
              <a:rPr sz="1600" spc="185" dirty="0">
                <a:latin typeface="Calibri" panose="020F0502020204030204"/>
                <a:cs typeface="Calibri" panose="020F0502020204030204"/>
              </a:rPr>
              <a:t> </a:t>
            </a:r>
            <a:r>
              <a:rPr sz="1600" spc="-5" dirty="0">
                <a:latin typeface="Calibri" panose="020F0502020204030204"/>
                <a:cs typeface="Calibri" panose="020F0502020204030204"/>
              </a:rPr>
              <a:t>or</a:t>
            </a:r>
            <a:r>
              <a:rPr sz="1600" spc="190" dirty="0">
                <a:latin typeface="Calibri" panose="020F0502020204030204"/>
                <a:cs typeface="Calibri" panose="020F0502020204030204"/>
              </a:rPr>
              <a:t> </a:t>
            </a:r>
            <a:r>
              <a:rPr sz="1600" spc="-5" dirty="0">
                <a:latin typeface="Calibri" panose="020F0502020204030204"/>
                <a:cs typeface="Calibri" panose="020F0502020204030204"/>
              </a:rPr>
              <a:t>more </a:t>
            </a:r>
            <a:r>
              <a:rPr sz="1600" spc="-350" dirty="0">
                <a:latin typeface="Calibri" panose="020F0502020204030204"/>
                <a:cs typeface="Calibri" panose="020F0502020204030204"/>
              </a:rPr>
              <a:t> </a:t>
            </a:r>
            <a:r>
              <a:rPr sz="1600" dirty="0">
                <a:latin typeface="Calibri" panose="020F0502020204030204"/>
                <a:cs typeface="Calibri" panose="020F0502020204030204"/>
              </a:rPr>
              <a:t>arguments.</a:t>
            </a:r>
            <a:r>
              <a:rPr sz="1600" spc="-10" dirty="0">
                <a:latin typeface="Calibri" panose="020F0502020204030204"/>
                <a:cs typeface="Calibri" panose="020F0502020204030204"/>
              </a:rPr>
              <a:t> </a:t>
            </a:r>
            <a:r>
              <a:rPr sz="1600" spc="-5" dirty="0">
                <a:latin typeface="Calibri" panose="020F0502020204030204"/>
                <a:cs typeface="Calibri" panose="020F0502020204030204"/>
              </a:rPr>
              <a:t>The predicate name is </a:t>
            </a:r>
            <a:r>
              <a:rPr sz="1600" dirty="0">
                <a:latin typeface="Calibri" panose="020F0502020204030204"/>
                <a:cs typeface="Calibri" panose="020F0502020204030204"/>
              </a:rPr>
              <a:t>a</a:t>
            </a:r>
            <a:r>
              <a:rPr sz="1600" spc="-5" dirty="0">
                <a:latin typeface="Calibri" panose="020F0502020204030204"/>
                <a:cs typeface="Calibri" panose="020F0502020204030204"/>
              </a:rPr>
              <a:t> </a:t>
            </a:r>
            <a:r>
              <a:rPr sz="1600" dirty="0">
                <a:latin typeface="Calibri" panose="020F0502020204030204"/>
                <a:cs typeface="Calibri" panose="020F0502020204030204"/>
              </a:rPr>
              <a:t>atom.</a:t>
            </a:r>
            <a:r>
              <a:rPr sz="1600" spc="-5" dirty="0">
                <a:latin typeface="Calibri" panose="020F0502020204030204"/>
                <a:cs typeface="Calibri" panose="020F0502020204030204"/>
              </a:rPr>
              <a:t> Each</a:t>
            </a:r>
            <a:r>
              <a:rPr sz="1600" spc="-10" dirty="0">
                <a:latin typeface="Calibri" panose="020F0502020204030204"/>
                <a:cs typeface="Calibri" panose="020F0502020204030204"/>
              </a:rPr>
              <a:t> </a:t>
            </a:r>
            <a:r>
              <a:rPr sz="1600" dirty="0">
                <a:latin typeface="Calibri" panose="020F0502020204030204"/>
                <a:cs typeface="Calibri" panose="020F0502020204030204"/>
              </a:rPr>
              <a:t>argument</a:t>
            </a:r>
            <a:r>
              <a:rPr sz="1600" spc="-5" dirty="0">
                <a:latin typeface="Calibri" panose="020F0502020204030204"/>
                <a:cs typeface="Calibri" panose="020F0502020204030204"/>
              </a:rPr>
              <a:t> is </a:t>
            </a:r>
            <a:r>
              <a:rPr sz="1600" dirty="0">
                <a:latin typeface="Calibri" panose="020F0502020204030204"/>
                <a:cs typeface="Calibri" panose="020F0502020204030204"/>
              </a:rPr>
              <a:t>an</a:t>
            </a:r>
            <a:r>
              <a:rPr sz="1600" spc="-5" dirty="0">
                <a:latin typeface="Calibri" panose="020F0502020204030204"/>
                <a:cs typeface="Calibri" panose="020F0502020204030204"/>
              </a:rPr>
              <a:t> </a:t>
            </a:r>
            <a:r>
              <a:rPr sz="1600" dirty="0">
                <a:latin typeface="Calibri" panose="020F0502020204030204"/>
                <a:cs typeface="Calibri" panose="020F0502020204030204"/>
              </a:rPr>
              <a:t>arbitrary</a:t>
            </a:r>
            <a:r>
              <a:rPr sz="1600" spc="-5" dirty="0">
                <a:latin typeface="Calibri" panose="020F0502020204030204"/>
                <a:cs typeface="Calibri" panose="020F0502020204030204"/>
              </a:rPr>
              <a:t> Logic term. </a:t>
            </a:r>
            <a:r>
              <a:rPr sz="1600" dirty="0">
                <a:latin typeface="Calibri" panose="020F0502020204030204"/>
                <a:cs typeface="Calibri" panose="020F0502020204030204"/>
              </a:rPr>
              <a:t>A</a:t>
            </a:r>
            <a:r>
              <a:rPr sz="1600" spc="-5" dirty="0">
                <a:latin typeface="Calibri" panose="020F0502020204030204"/>
                <a:cs typeface="Calibri" panose="020F0502020204030204"/>
              </a:rPr>
              <a:t> predicate</a:t>
            </a:r>
            <a:r>
              <a:rPr sz="1600" spc="-10" dirty="0">
                <a:latin typeface="Calibri" panose="020F0502020204030204"/>
                <a:cs typeface="Calibri" panose="020F0502020204030204"/>
              </a:rPr>
              <a:t> </a:t>
            </a:r>
            <a:r>
              <a:rPr sz="1600" spc="-5" dirty="0">
                <a:latin typeface="Calibri" panose="020F0502020204030204"/>
                <a:cs typeface="Calibri" panose="020F0502020204030204"/>
              </a:rPr>
              <a:t>is defined by </a:t>
            </a:r>
            <a:r>
              <a:rPr sz="1600" dirty="0">
                <a:latin typeface="Calibri" panose="020F0502020204030204"/>
                <a:cs typeface="Calibri" panose="020F0502020204030204"/>
              </a:rPr>
              <a:t>a</a:t>
            </a:r>
            <a:r>
              <a:rPr sz="1600" spc="-5" dirty="0">
                <a:latin typeface="Calibri" panose="020F0502020204030204"/>
                <a:cs typeface="Calibri" panose="020F0502020204030204"/>
              </a:rPr>
              <a:t> collection of clauses.</a:t>
            </a:r>
            <a:endParaRPr sz="1600" dirty="0">
              <a:latin typeface="Calibri" panose="020F0502020204030204"/>
              <a:cs typeface="Calibri" panose="020F0502020204030204"/>
            </a:endParaRPr>
          </a:p>
          <a:p>
            <a:pPr>
              <a:lnSpc>
                <a:spcPct val="100000"/>
              </a:lnSpc>
            </a:pPr>
            <a:endParaRPr sz="1600" dirty="0">
              <a:latin typeface="Calibri" panose="020F0502020204030204"/>
              <a:cs typeface="Calibri" panose="020F0502020204030204"/>
            </a:endParaRPr>
          </a:p>
          <a:p>
            <a:pPr>
              <a:lnSpc>
                <a:spcPct val="100000"/>
              </a:lnSpc>
              <a:spcBef>
                <a:spcPts val="55"/>
              </a:spcBef>
            </a:pPr>
            <a:endParaRPr sz="1450" dirty="0">
              <a:latin typeface="Calibri" panose="020F0502020204030204"/>
              <a:cs typeface="Calibri" panose="020F0502020204030204"/>
            </a:endParaRPr>
          </a:p>
          <a:p>
            <a:pPr marL="12700">
              <a:lnSpc>
                <a:spcPct val="100000"/>
              </a:lnSpc>
              <a:spcBef>
                <a:spcPts val="5"/>
              </a:spcBef>
            </a:pPr>
            <a:r>
              <a:rPr sz="1600" b="1" spc="-5" dirty="0">
                <a:latin typeface="Calibri" panose="020F0502020204030204"/>
                <a:cs typeface="Calibri" panose="020F0502020204030204"/>
              </a:rPr>
              <a:t>Clause</a:t>
            </a:r>
            <a:r>
              <a:rPr sz="1600" b="1" spc="-45" dirty="0">
                <a:latin typeface="Calibri" panose="020F0502020204030204"/>
                <a:cs typeface="Calibri" panose="020F0502020204030204"/>
              </a:rPr>
              <a:t> </a:t>
            </a:r>
            <a:r>
              <a:rPr sz="1600" b="1" dirty="0">
                <a:latin typeface="Calibri" panose="020F0502020204030204"/>
                <a:cs typeface="Calibri" panose="020F0502020204030204"/>
              </a:rPr>
              <a:t>:</a:t>
            </a:r>
            <a:endParaRPr sz="1600" dirty="0">
              <a:latin typeface="Calibri" panose="020F0502020204030204"/>
              <a:cs typeface="Calibri" panose="020F0502020204030204"/>
            </a:endParaRPr>
          </a:p>
          <a:p>
            <a:pPr marL="12700" marR="15875" indent="457200">
              <a:lnSpc>
                <a:spcPct val="148000"/>
              </a:lnSpc>
            </a:pPr>
            <a:r>
              <a:rPr sz="1600" dirty="0">
                <a:latin typeface="Calibri" panose="020F0502020204030204"/>
                <a:cs typeface="Calibri" panose="020F0502020204030204"/>
              </a:rPr>
              <a:t>A</a:t>
            </a:r>
            <a:r>
              <a:rPr sz="1600" spc="80" dirty="0">
                <a:latin typeface="Calibri" panose="020F0502020204030204"/>
                <a:cs typeface="Calibri" panose="020F0502020204030204"/>
              </a:rPr>
              <a:t> </a:t>
            </a:r>
            <a:r>
              <a:rPr sz="1600" spc="-5" dirty="0">
                <a:latin typeface="Calibri" panose="020F0502020204030204"/>
                <a:cs typeface="Calibri" panose="020F0502020204030204"/>
              </a:rPr>
              <a:t>clause</a:t>
            </a:r>
            <a:r>
              <a:rPr sz="1600" spc="85" dirty="0">
                <a:latin typeface="Calibri" panose="020F0502020204030204"/>
                <a:cs typeface="Calibri" panose="020F0502020204030204"/>
              </a:rPr>
              <a:t> </a:t>
            </a:r>
            <a:r>
              <a:rPr sz="1600" spc="-5" dirty="0">
                <a:latin typeface="Calibri" panose="020F0502020204030204"/>
                <a:cs typeface="Calibri" panose="020F0502020204030204"/>
              </a:rPr>
              <a:t>is</a:t>
            </a:r>
            <a:r>
              <a:rPr sz="1600" spc="85" dirty="0">
                <a:latin typeface="Calibri" panose="020F0502020204030204"/>
                <a:cs typeface="Calibri" panose="020F0502020204030204"/>
              </a:rPr>
              <a:t> </a:t>
            </a:r>
            <a:r>
              <a:rPr sz="1600" spc="-5" dirty="0">
                <a:latin typeface="Calibri" panose="020F0502020204030204"/>
                <a:cs typeface="Calibri" panose="020F0502020204030204"/>
              </a:rPr>
              <a:t>either</a:t>
            </a:r>
            <a:r>
              <a:rPr sz="1600" spc="85" dirty="0">
                <a:latin typeface="Calibri" panose="020F0502020204030204"/>
                <a:cs typeface="Calibri" panose="020F0502020204030204"/>
              </a:rPr>
              <a:t> </a:t>
            </a:r>
            <a:r>
              <a:rPr sz="1600" dirty="0">
                <a:latin typeface="Calibri" panose="020F0502020204030204"/>
                <a:cs typeface="Calibri" panose="020F0502020204030204"/>
              </a:rPr>
              <a:t>a</a:t>
            </a:r>
            <a:r>
              <a:rPr sz="1600" spc="90" dirty="0">
                <a:latin typeface="Calibri" panose="020F0502020204030204"/>
                <a:cs typeface="Calibri" panose="020F0502020204030204"/>
              </a:rPr>
              <a:t> </a:t>
            </a:r>
            <a:r>
              <a:rPr sz="1600" spc="-5" dirty="0">
                <a:latin typeface="Calibri" panose="020F0502020204030204"/>
                <a:cs typeface="Calibri" panose="020F0502020204030204"/>
              </a:rPr>
              <a:t>rule</a:t>
            </a:r>
            <a:r>
              <a:rPr sz="1600" spc="85" dirty="0">
                <a:latin typeface="Calibri" panose="020F0502020204030204"/>
                <a:cs typeface="Calibri" panose="020F0502020204030204"/>
              </a:rPr>
              <a:t> </a:t>
            </a:r>
            <a:r>
              <a:rPr sz="1600" spc="-5" dirty="0">
                <a:latin typeface="Calibri" panose="020F0502020204030204"/>
                <a:cs typeface="Calibri" panose="020F0502020204030204"/>
              </a:rPr>
              <a:t>or</a:t>
            </a:r>
            <a:r>
              <a:rPr sz="1600" spc="90" dirty="0">
                <a:latin typeface="Calibri" panose="020F0502020204030204"/>
                <a:cs typeface="Calibri" panose="020F0502020204030204"/>
              </a:rPr>
              <a:t> </a:t>
            </a:r>
            <a:r>
              <a:rPr sz="1600" dirty="0">
                <a:latin typeface="Calibri" panose="020F0502020204030204"/>
                <a:cs typeface="Calibri" panose="020F0502020204030204"/>
              </a:rPr>
              <a:t>a</a:t>
            </a:r>
            <a:r>
              <a:rPr sz="1600" spc="90" dirty="0">
                <a:latin typeface="Calibri" panose="020F0502020204030204"/>
                <a:cs typeface="Calibri" panose="020F0502020204030204"/>
              </a:rPr>
              <a:t> </a:t>
            </a:r>
            <a:r>
              <a:rPr sz="1600" spc="-5" dirty="0">
                <a:latin typeface="Calibri" panose="020F0502020204030204"/>
                <a:cs typeface="Calibri" panose="020F0502020204030204"/>
              </a:rPr>
              <a:t>fact.</a:t>
            </a:r>
            <a:r>
              <a:rPr sz="1600" spc="90" dirty="0">
                <a:latin typeface="Calibri" panose="020F0502020204030204"/>
                <a:cs typeface="Calibri" panose="020F0502020204030204"/>
              </a:rPr>
              <a:t> </a:t>
            </a:r>
            <a:r>
              <a:rPr sz="1600" spc="-5" dirty="0">
                <a:latin typeface="Calibri" panose="020F0502020204030204"/>
                <a:cs typeface="Calibri" panose="020F0502020204030204"/>
              </a:rPr>
              <a:t>The</a:t>
            </a:r>
            <a:r>
              <a:rPr sz="1600" spc="90" dirty="0">
                <a:latin typeface="Calibri" panose="020F0502020204030204"/>
                <a:cs typeface="Calibri" panose="020F0502020204030204"/>
              </a:rPr>
              <a:t> </a:t>
            </a:r>
            <a:r>
              <a:rPr sz="1600" spc="-5" dirty="0">
                <a:latin typeface="Calibri" panose="020F0502020204030204"/>
                <a:cs typeface="Calibri" panose="020F0502020204030204"/>
              </a:rPr>
              <a:t>clauses</a:t>
            </a:r>
            <a:r>
              <a:rPr sz="1600" spc="85" dirty="0">
                <a:latin typeface="Calibri" panose="020F0502020204030204"/>
                <a:cs typeface="Calibri" panose="020F0502020204030204"/>
              </a:rPr>
              <a:t> </a:t>
            </a:r>
            <a:r>
              <a:rPr sz="1600" spc="-5" dirty="0">
                <a:latin typeface="Calibri" panose="020F0502020204030204"/>
                <a:cs typeface="Calibri" panose="020F0502020204030204"/>
              </a:rPr>
              <a:t>that</a:t>
            </a:r>
            <a:r>
              <a:rPr sz="1600" spc="85" dirty="0">
                <a:latin typeface="Calibri" panose="020F0502020204030204"/>
                <a:cs typeface="Calibri" panose="020F0502020204030204"/>
              </a:rPr>
              <a:t> </a:t>
            </a:r>
            <a:r>
              <a:rPr sz="1600" spc="-5" dirty="0">
                <a:latin typeface="Calibri" panose="020F0502020204030204"/>
                <a:cs typeface="Calibri" panose="020F0502020204030204"/>
              </a:rPr>
              <a:t>constitute</a:t>
            </a:r>
            <a:r>
              <a:rPr sz="1600" spc="85" dirty="0">
                <a:latin typeface="Calibri" panose="020F0502020204030204"/>
                <a:cs typeface="Calibri" panose="020F0502020204030204"/>
              </a:rPr>
              <a:t> </a:t>
            </a:r>
            <a:r>
              <a:rPr sz="1600" dirty="0">
                <a:latin typeface="Calibri" panose="020F0502020204030204"/>
                <a:cs typeface="Calibri" panose="020F0502020204030204"/>
              </a:rPr>
              <a:t>a</a:t>
            </a:r>
            <a:r>
              <a:rPr sz="1600" spc="90" dirty="0">
                <a:latin typeface="Calibri" panose="020F0502020204030204"/>
                <a:cs typeface="Calibri" panose="020F0502020204030204"/>
              </a:rPr>
              <a:t> </a:t>
            </a:r>
            <a:r>
              <a:rPr sz="1600" spc="-5" dirty="0">
                <a:latin typeface="Calibri" panose="020F0502020204030204"/>
                <a:cs typeface="Calibri" panose="020F0502020204030204"/>
              </a:rPr>
              <a:t>predicate</a:t>
            </a:r>
            <a:r>
              <a:rPr sz="1600" spc="85" dirty="0">
                <a:latin typeface="Calibri" panose="020F0502020204030204"/>
                <a:cs typeface="Calibri" panose="020F0502020204030204"/>
              </a:rPr>
              <a:t> </a:t>
            </a:r>
            <a:r>
              <a:rPr sz="1600" spc="-5" dirty="0">
                <a:latin typeface="Calibri" panose="020F0502020204030204"/>
                <a:cs typeface="Calibri" panose="020F0502020204030204"/>
              </a:rPr>
              <a:t>denote</a:t>
            </a:r>
            <a:r>
              <a:rPr sz="1600" spc="85" dirty="0">
                <a:latin typeface="Calibri" panose="020F0502020204030204"/>
                <a:cs typeface="Calibri" panose="020F0502020204030204"/>
              </a:rPr>
              <a:t> </a:t>
            </a:r>
            <a:r>
              <a:rPr sz="1600" spc="-5" dirty="0">
                <a:latin typeface="Calibri" panose="020F0502020204030204"/>
                <a:cs typeface="Calibri" panose="020F0502020204030204"/>
              </a:rPr>
              <a:t>logical</a:t>
            </a:r>
            <a:r>
              <a:rPr sz="1600" spc="85" dirty="0">
                <a:latin typeface="Calibri" panose="020F0502020204030204"/>
                <a:cs typeface="Calibri" panose="020F0502020204030204"/>
              </a:rPr>
              <a:t> </a:t>
            </a:r>
            <a:r>
              <a:rPr sz="1600" dirty="0">
                <a:latin typeface="Calibri" panose="020F0502020204030204"/>
                <a:cs typeface="Calibri" panose="020F0502020204030204"/>
              </a:rPr>
              <a:t>alternatives:</a:t>
            </a:r>
            <a:r>
              <a:rPr sz="1600" spc="90" dirty="0">
                <a:latin typeface="Calibri" panose="020F0502020204030204"/>
                <a:cs typeface="Calibri" panose="020F0502020204030204"/>
              </a:rPr>
              <a:t> </a:t>
            </a:r>
            <a:r>
              <a:rPr sz="1600" spc="-5" dirty="0">
                <a:latin typeface="Calibri" panose="020F0502020204030204"/>
                <a:cs typeface="Calibri" panose="020F0502020204030204"/>
              </a:rPr>
              <a:t>If</a:t>
            </a:r>
            <a:r>
              <a:rPr sz="1600" spc="85" dirty="0">
                <a:latin typeface="Calibri" panose="020F0502020204030204"/>
                <a:cs typeface="Calibri" panose="020F0502020204030204"/>
              </a:rPr>
              <a:t> </a:t>
            </a:r>
            <a:r>
              <a:rPr sz="1600" dirty="0">
                <a:latin typeface="Calibri" panose="020F0502020204030204"/>
                <a:cs typeface="Calibri" panose="020F0502020204030204"/>
              </a:rPr>
              <a:t>any</a:t>
            </a:r>
            <a:r>
              <a:rPr sz="1600" spc="90" dirty="0">
                <a:latin typeface="Calibri" panose="020F0502020204030204"/>
                <a:cs typeface="Calibri" panose="020F0502020204030204"/>
              </a:rPr>
              <a:t> </a:t>
            </a:r>
            <a:r>
              <a:rPr sz="1600" spc="-5" dirty="0">
                <a:latin typeface="Calibri" panose="020F0502020204030204"/>
                <a:cs typeface="Calibri" panose="020F0502020204030204"/>
              </a:rPr>
              <a:t>clause</a:t>
            </a:r>
            <a:r>
              <a:rPr sz="1600" spc="85" dirty="0">
                <a:latin typeface="Calibri" panose="020F0502020204030204"/>
                <a:cs typeface="Calibri" panose="020F0502020204030204"/>
              </a:rPr>
              <a:t> </a:t>
            </a:r>
            <a:r>
              <a:rPr sz="1600" spc="-5" dirty="0">
                <a:latin typeface="Calibri" panose="020F0502020204030204"/>
                <a:cs typeface="Calibri" panose="020F0502020204030204"/>
              </a:rPr>
              <a:t>is</a:t>
            </a:r>
            <a:r>
              <a:rPr sz="1600" spc="85" dirty="0">
                <a:latin typeface="Calibri" panose="020F0502020204030204"/>
                <a:cs typeface="Calibri" panose="020F0502020204030204"/>
              </a:rPr>
              <a:t> </a:t>
            </a:r>
            <a:r>
              <a:rPr sz="1600" spc="-5" dirty="0">
                <a:latin typeface="Calibri" panose="020F0502020204030204"/>
                <a:cs typeface="Calibri" panose="020F0502020204030204"/>
              </a:rPr>
              <a:t>true,</a:t>
            </a:r>
            <a:r>
              <a:rPr sz="1600" spc="85" dirty="0">
                <a:latin typeface="Calibri" panose="020F0502020204030204"/>
                <a:cs typeface="Calibri" panose="020F0502020204030204"/>
              </a:rPr>
              <a:t> </a:t>
            </a:r>
            <a:r>
              <a:rPr sz="1600" spc="-5" dirty="0">
                <a:latin typeface="Calibri" panose="020F0502020204030204"/>
                <a:cs typeface="Calibri" panose="020F0502020204030204"/>
              </a:rPr>
              <a:t>then</a:t>
            </a:r>
            <a:r>
              <a:rPr sz="1600" spc="85" dirty="0">
                <a:latin typeface="Calibri" panose="020F0502020204030204"/>
                <a:cs typeface="Calibri" panose="020F0502020204030204"/>
              </a:rPr>
              <a:t> </a:t>
            </a:r>
            <a:r>
              <a:rPr sz="1600" spc="-5" dirty="0">
                <a:latin typeface="Calibri" panose="020F0502020204030204"/>
                <a:cs typeface="Calibri" panose="020F0502020204030204"/>
              </a:rPr>
              <a:t>the</a:t>
            </a:r>
            <a:r>
              <a:rPr sz="1600" spc="85" dirty="0">
                <a:latin typeface="Calibri" panose="020F0502020204030204"/>
                <a:cs typeface="Calibri" panose="020F0502020204030204"/>
              </a:rPr>
              <a:t> </a:t>
            </a:r>
            <a:r>
              <a:rPr sz="1600" spc="-5" dirty="0">
                <a:latin typeface="Calibri" panose="020F0502020204030204"/>
                <a:cs typeface="Calibri" panose="020F0502020204030204"/>
              </a:rPr>
              <a:t>whole </a:t>
            </a:r>
            <a:r>
              <a:rPr sz="1600" spc="-350" dirty="0">
                <a:latin typeface="Calibri" panose="020F0502020204030204"/>
                <a:cs typeface="Calibri" panose="020F0502020204030204"/>
              </a:rPr>
              <a:t> </a:t>
            </a:r>
            <a:r>
              <a:rPr sz="1600" spc="-5" dirty="0">
                <a:latin typeface="Calibri" panose="020F0502020204030204"/>
                <a:cs typeface="Calibri" panose="020F0502020204030204"/>
              </a:rPr>
              <a:t>predicate</a:t>
            </a:r>
            <a:r>
              <a:rPr sz="1600" spc="-10" dirty="0">
                <a:latin typeface="Calibri" panose="020F0502020204030204"/>
                <a:cs typeface="Calibri" panose="020F0502020204030204"/>
              </a:rPr>
              <a:t> </a:t>
            </a:r>
            <a:r>
              <a:rPr sz="1600" spc="-5" dirty="0">
                <a:latin typeface="Calibri" panose="020F0502020204030204"/>
                <a:cs typeface="Calibri" panose="020F0502020204030204"/>
              </a:rPr>
              <a:t>is true.</a:t>
            </a:r>
            <a:endParaRPr sz="1600" dirty="0">
              <a:latin typeface="Calibri" panose="020F0502020204030204"/>
              <a:cs typeface="Calibri" panose="020F0502020204030204"/>
            </a:endParaRPr>
          </a:p>
        </p:txBody>
      </p:sp>
      <p:sp>
        <p:nvSpPr>
          <p:cNvPr id="6" name="Slide Number Placeholder 5"/>
          <p:cNvSpPr>
            <a:spLocks noGrp="1"/>
          </p:cNvSpPr>
          <p:nvPr>
            <p:ph type="sldNum" sz="quarter" idx="7"/>
          </p:nvPr>
        </p:nvSpPr>
        <p:spPr/>
        <p:txBody>
          <a:bodyPr/>
          <a:lstStyle/>
          <a:p>
            <a:fld id="{B6F15528-21DE-4FAA-801E-634DDDAF4B2B}" type="slidenum">
              <a:rPr/>
              <a:t>40</a:t>
            </a:fld>
            <a:endParaRPr/>
          </a:p>
        </p:txBody>
      </p:sp>
      <p:sp>
        <p:nvSpPr>
          <p:cNvPr id="7" name="Footer Placeholder 6"/>
          <p:cNvSpPr>
            <a:spLocks noGrp="1"/>
          </p:cNvSpPr>
          <p:nvPr>
            <p:ph type="ftr" sz="quarter" idx="5"/>
          </p:nvPr>
        </p:nvSpPr>
        <p:spPr/>
        <p:txBody>
          <a:bodyPr/>
          <a:lstStyle/>
          <a:p>
            <a:r>
              <a:t>UNIT IV : Pythonic Programming Paradigm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426173"/>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 dirty="0"/>
              <a:t>Logical</a:t>
            </a:r>
            <a:r>
              <a:rPr spc="-55" dirty="0"/>
              <a:t> </a:t>
            </a:r>
            <a:r>
              <a:rPr spc="-5" dirty="0"/>
              <a:t>Programming</a:t>
            </a:r>
            <a:r>
              <a:rPr spc="-50" dirty="0"/>
              <a:t> </a:t>
            </a:r>
            <a:r>
              <a:rPr spc="-5" dirty="0"/>
              <a:t>Paradigm</a:t>
            </a:r>
          </a:p>
        </p:txBody>
      </p:sp>
      <p:sp>
        <p:nvSpPr>
          <p:cNvPr id="4" name="object 4"/>
          <p:cNvSpPr/>
          <p:nvPr/>
        </p:nvSpPr>
        <p:spPr>
          <a:xfrm>
            <a:off x="0" y="6694114"/>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31953" y="490866"/>
            <a:ext cx="12105640" cy="6118860"/>
          </a:xfrm>
          <a:custGeom>
            <a:avLst/>
            <a:gdLst/>
            <a:ahLst/>
            <a:cxnLst/>
            <a:rect l="l" t="t" r="r" b="b"/>
            <a:pathLst>
              <a:path w="12105640" h="6118859">
                <a:moveTo>
                  <a:pt x="0" y="0"/>
                </a:moveTo>
                <a:lnTo>
                  <a:pt x="12105504" y="0"/>
                </a:lnTo>
                <a:lnTo>
                  <a:pt x="12105504" y="6118857"/>
                </a:lnTo>
                <a:lnTo>
                  <a:pt x="0" y="6118857"/>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82875" y="271775"/>
            <a:ext cx="11948160" cy="4368800"/>
          </a:xfrm>
          <a:prstGeom prst="rect">
            <a:avLst/>
          </a:prstGeom>
        </p:spPr>
        <p:txBody>
          <a:bodyPr vert="horz" wrap="square" lIns="0" tIns="130810" rIns="0" bIns="0" rtlCol="0">
            <a:spAutoFit/>
          </a:bodyPr>
          <a:lstStyle/>
          <a:p>
            <a:pPr marL="12700">
              <a:lnSpc>
                <a:spcPct val="100000"/>
              </a:lnSpc>
              <a:spcBef>
                <a:spcPts val="1030"/>
              </a:spcBef>
            </a:pPr>
            <a:r>
              <a:rPr sz="1600" b="1" spc="-5" dirty="0">
                <a:latin typeface="Calibri" panose="020F0502020204030204"/>
                <a:cs typeface="Calibri" panose="020F0502020204030204"/>
              </a:rPr>
              <a:t>Fact</a:t>
            </a:r>
            <a:endParaRPr sz="1600">
              <a:latin typeface="Calibri" panose="020F0502020204030204"/>
              <a:cs typeface="Calibri" panose="020F0502020204030204"/>
            </a:endParaRPr>
          </a:p>
          <a:p>
            <a:pPr marL="12700" marR="5080">
              <a:lnSpc>
                <a:spcPct val="148000"/>
              </a:lnSpc>
            </a:pPr>
            <a:r>
              <a:rPr sz="1600" dirty="0">
                <a:latin typeface="Calibri" panose="020F0502020204030204"/>
                <a:cs typeface="Calibri" panose="020F0502020204030204"/>
              </a:rPr>
              <a:t>A</a:t>
            </a:r>
            <a:r>
              <a:rPr sz="1600" spc="-10" dirty="0">
                <a:latin typeface="Calibri" panose="020F0502020204030204"/>
                <a:cs typeface="Calibri" panose="020F0502020204030204"/>
              </a:rPr>
              <a:t> </a:t>
            </a:r>
            <a:r>
              <a:rPr sz="1600" spc="-5" dirty="0">
                <a:latin typeface="Calibri" panose="020F0502020204030204"/>
                <a:cs typeface="Calibri" panose="020F0502020204030204"/>
              </a:rPr>
              <a:t>fact must</a:t>
            </a:r>
            <a:r>
              <a:rPr sz="1600" spc="295" dirty="0">
                <a:latin typeface="Calibri" panose="020F0502020204030204"/>
                <a:cs typeface="Calibri" panose="020F0502020204030204"/>
              </a:rPr>
              <a:t> </a:t>
            </a:r>
            <a:r>
              <a:rPr sz="1600" spc="-5" dirty="0">
                <a:latin typeface="Calibri" panose="020F0502020204030204"/>
                <a:cs typeface="Calibri" panose="020F0502020204030204"/>
              </a:rPr>
              <a:t>start</a:t>
            </a:r>
            <a:r>
              <a:rPr sz="1600" spc="295" dirty="0">
                <a:latin typeface="Calibri" panose="020F0502020204030204"/>
                <a:cs typeface="Calibri" panose="020F0502020204030204"/>
              </a:rPr>
              <a:t> </a:t>
            </a:r>
            <a:r>
              <a:rPr sz="1600" spc="-5" dirty="0">
                <a:latin typeface="Calibri" panose="020F0502020204030204"/>
                <a:cs typeface="Calibri" panose="020F0502020204030204"/>
              </a:rPr>
              <a:t>with</a:t>
            </a:r>
            <a:r>
              <a:rPr sz="1600" spc="290" dirty="0">
                <a:latin typeface="Calibri" panose="020F0502020204030204"/>
                <a:cs typeface="Calibri" panose="020F0502020204030204"/>
              </a:rPr>
              <a:t> </a:t>
            </a:r>
            <a:r>
              <a:rPr sz="1600" dirty="0">
                <a:latin typeface="Calibri" panose="020F0502020204030204"/>
                <a:cs typeface="Calibri" panose="020F0502020204030204"/>
              </a:rPr>
              <a:t>a</a:t>
            </a:r>
            <a:r>
              <a:rPr sz="1600" spc="295" dirty="0">
                <a:latin typeface="Calibri" panose="020F0502020204030204"/>
                <a:cs typeface="Calibri" panose="020F0502020204030204"/>
              </a:rPr>
              <a:t> </a:t>
            </a:r>
            <a:r>
              <a:rPr sz="1600" spc="-5" dirty="0">
                <a:latin typeface="Calibri" panose="020F0502020204030204"/>
                <a:cs typeface="Calibri" panose="020F0502020204030204"/>
              </a:rPr>
              <a:t>predicate</a:t>
            </a:r>
            <a:r>
              <a:rPr sz="1600" spc="300" dirty="0">
                <a:latin typeface="Calibri" panose="020F0502020204030204"/>
                <a:cs typeface="Calibri" panose="020F0502020204030204"/>
              </a:rPr>
              <a:t> </a:t>
            </a:r>
            <a:r>
              <a:rPr sz="1600" spc="-5" dirty="0">
                <a:latin typeface="Calibri" panose="020F0502020204030204"/>
                <a:cs typeface="Calibri" panose="020F0502020204030204"/>
              </a:rPr>
              <a:t>(which</a:t>
            </a:r>
            <a:r>
              <a:rPr sz="1600" spc="295" dirty="0">
                <a:latin typeface="Calibri" panose="020F0502020204030204"/>
                <a:cs typeface="Calibri" panose="020F0502020204030204"/>
              </a:rPr>
              <a:t> </a:t>
            </a:r>
            <a:r>
              <a:rPr sz="1600" spc="-5" dirty="0">
                <a:latin typeface="Calibri" panose="020F0502020204030204"/>
                <a:cs typeface="Calibri" panose="020F0502020204030204"/>
              </a:rPr>
              <a:t>is</a:t>
            </a:r>
            <a:r>
              <a:rPr sz="1600" spc="295" dirty="0">
                <a:latin typeface="Calibri" panose="020F0502020204030204"/>
                <a:cs typeface="Calibri" panose="020F0502020204030204"/>
              </a:rPr>
              <a:t> </a:t>
            </a:r>
            <a:r>
              <a:rPr sz="1600" dirty="0">
                <a:latin typeface="Calibri" panose="020F0502020204030204"/>
                <a:cs typeface="Calibri" panose="020F0502020204030204"/>
              </a:rPr>
              <a:t>an</a:t>
            </a:r>
            <a:r>
              <a:rPr sz="1600" spc="295" dirty="0">
                <a:latin typeface="Calibri" panose="020F0502020204030204"/>
                <a:cs typeface="Calibri" panose="020F0502020204030204"/>
              </a:rPr>
              <a:t> </a:t>
            </a:r>
            <a:r>
              <a:rPr sz="1600" dirty="0">
                <a:latin typeface="Calibri" panose="020F0502020204030204"/>
                <a:cs typeface="Calibri" panose="020F0502020204030204"/>
              </a:rPr>
              <a:t>atom).</a:t>
            </a:r>
            <a:r>
              <a:rPr sz="1600" spc="300" dirty="0">
                <a:latin typeface="Calibri" panose="020F0502020204030204"/>
                <a:cs typeface="Calibri" panose="020F0502020204030204"/>
              </a:rPr>
              <a:t> </a:t>
            </a:r>
            <a:r>
              <a:rPr sz="1600" spc="-5" dirty="0">
                <a:latin typeface="Calibri" panose="020F0502020204030204"/>
                <a:cs typeface="Calibri" panose="020F0502020204030204"/>
              </a:rPr>
              <a:t>The</a:t>
            </a:r>
            <a:r>
              <a:rPr sz="1600" spc="295" dirty="0">
                <a:latin typeface="Calibri" panose="020F0502020204030204"/>
                <a:cs typeface="Calibri" panose="020F0502020204030204"/>
              </a:rPr>
              <a:t> </a:t>
            </a:r>
            <a:r>
              <a:rPr sz="1600" spc="-5" dirty="0">
                <a:latin typeface="Calibri" panose="020F0502020204030204"/>
                <a:cs typeface="Calibri" panose="020F0502020204030204"/>
              </a:rPr>
              <a:t>predicate</a:t>
            </a:r>
            <a:r>
              <a:rPr sz="1600" spc="295" dirty="0">
                <a:latin typeface="Calibri" panose="020F0502020204030204"/>
                <a:cs typeface="Calibri" panose="020F0502020204030204"/>
              </a:rPr>
              <a:t> </a:t>
            </a:r>
            <a:r>
              <a:rPr sz="1600" spc="-5" dirty="0">
                <a:latin typeface="Calibri" panose="020F0502020204030204"/>
                <a:cs typeface="Calibri" panose="020F0502020204030204"/>
              </a:rPr>
              <a:t>may</a:t>
            </a:r>
            <a:r>
              <a:rPr sz="1600" spc="295" dirty="0">
                <a:latin typeface="Calibri" panose="020F0502020204030204"/>
                <a:cs typeface="Calibri" panose="020F0502020204030204"/>
              </a:rPr>
              <a:t> </a:t>
            </a:r>
            <a:r>
              <a:rPr sz="1600" spc="-5" dirty="0">
                <a:latin typeface="Calibri" panose="020F0502020204030204"/>
                <a:cs typeface="Calibri" panose="020F0502020204030204"/>
              </a:rPr>
              <a:t>be</a:t>
            </a:r>
            <a:r>
              <a:rPr sz="1600" spc="295" dirty="0">
                <a:latin typeface="Calibri" panose="020F0502020204030204"/>
                <a:cs typeface="Calibri" panose="020F0502020204030204"/>
              </a:rPr>
              <a:t> </a:t>
            </a:r>
            <a:r>
              <a:rPr sz="1600" spc="-5" dirty="0">
                <a:latin typeface="Calibri" panose="020F0502020204030204"/>
                <a:cs typeface="Calibri" panose="020F0502020204030204"/>
              </a:rPr>
              <a:t>followed</a:t>
            </a:r>
            <a:r>
              <a:rPr sz="1600" spc="295" dirty="0">
                <a:latin typeface="Calibri" panose="020F0502020204030204"/>
                <a:cs typeface="Calibri" panose="020F0502020204030204"/>
              </a:rPr>
              <a:t> </a:t>
            </a:r>
            <a:r>
              <a:rPr sz="1600" spc="-5" dirty="0">
                <a:latin typeface="Calibri" panose="020F0502020204030204"/>
                <a:cs typeface="Calibri" panose="020F0502020204030204"/>
              </a:rPr>
              <a:t>by</a:t>
            </a:r>
            <a:r>
              <a:rPr sz="1600" spc="295" dirty="0">
                <a:latin typeface="Calibri" panose="020F0502020204030204"/>
                <a:cs typeface="Calibri" panose="020F0502020204030204"/>
              </a:rPr>
              <a:t> </a:t>
            </a:r>
            <a:r>
              <a:rPr sz="1600" spc="-5" dirty="0">
                <a:latin typeface="Calibri" panose="020F0502020204030204"/>
                <a:cs typeface="Calibri" panose="020F0502020204030204"/>
              </a:rPr>
              <a:t>one</a:t>
            </a:r>
            <a:r>
              <a:rPr sz="1600" spc="300" dirty="0">
                <a:latin typeface="Calibri" panose="020F0502020204030204"/>
                <a:cs typeface="Calibri" panose="020F0502020204030204"/>
              </a:rPr>
              <a:t> </a:t>
            </a:r>
            <a:r>
              <a:rPr sz="1600" spc="-5" dirty="0">
                <a:latin typeface="Calibri" panose="020F0502020204030204"/>
                <a:cs typeface="Calibri" panose="020F0502020204030204"/>
              </a:rPr>
              <a:t>or</a:t>
            </a:r>
            <a:r>
              <a:rPr sz="1600" spc="295" dirty="0">
                <a:latin typeface="Calibri" panose="020F0502020204030204"/>
                <a:cs typeface="Calibri" panose="020F0502020204030204"/>
              </a:rPr>
              <a:t> </a:t>
            </a:r>
            <a:r>
              <a:rPr sz="1600" spc="-5" dirty="0">
                <a:latin typeface="Calibri" panose="020F0502020204030204"/>
                <a:cs typeface="Calibri" panose="020F0502020204030204"/>
              </a:rPr>
              <a:t>more</a:t>
            </a:r>
            <a:r>
              <a:rPr sz="1600" spc="290" dirty="0">
                <a:latin typeface="Calibri" panose="020F0502020204030204"/>
                <a:cs typeface="Calibri" panose="020F0502020204030204"/>
              </a:rPr>
              <a:t> </a:t>
            </a:r>
            <a:r>
              <a:rPr sz="1600" dirty="0">
                <a:latin typeface="Calibri" panose="020F0502020204030204"/>
                <a:cs typeface="Calibri" panose="020F0502020204030204"/>
              </a:rPr>
              <a:t>arguments</a:t>
            </a:r>
            <a:r>
              <a:rPr sz="1600" spc="295" dirty="0">
                <a:latin typeface="Calibri" panose="020F0502020204030204"/>
                <a:cs typeface="Calibri" panose="020F0502020204030204"/>
              </a:rPr>
              <a:t> </a:t>
            </a:r>
            <a:r>
              <a:rPr sz="1600" spc="-5" dirty="0">
                <a:latin typeface="Calibri" panose="020F0502020204030204"/>
                <a:cs typeface="Calibri" panose="020F0502020204030204"/>
              </a:rPr>
              <a:t>which</a:t>
            </a:r>
            <a:r>
              <a:rPr sz="1600" spc="295" dirty="0">
                <a:latin typeface="Calibri" panose="020F0502020204030204"/>
                <a:cs typeface="Calibri" panose="020F0502020204030204"/>
              </a:rPr>
              <a:t> </a:t>
            </a:r>
            <a:r>
              <a:rPr sz="1600" dirty="0">
                <a:latin typeface="Calibri" panose="020F0502020204030204"/>
                <a:cs typeface="Calibri" panose="020F0502020204030204"/>
              </a:rPr>
              <a:t>are</a:t>
            </a:r>
            <a:r>
              <a:rPr sz="1600" spc="295" dirty="0">
                <a:latin typeface="Calibri" panose="020F0502020204030204"/>
                <a:cs typeface="Calibri" panose="020F0502020204030204"/>
              </a:rPr>
              <a:t> </a:t>
            </a:r>
            <a:r>
              <a:rPr sz="1600" spc="-5" dirty="0">
                <a:latin typeface="Calibri" panose="020F0502020204030204"/>
                <a:cs typeface="Calibri" panose="020F0502020204030204"/>
              </a:rPr>
              <a:t>enclosed</a:t>
            </a:r>
            <a:r>
              <a:rPr sz="1600" spc="295" dirty="0">
                <a:latin typeface="Calibri" panose="020F0502020204030204"/>
                <a:cs typeface="Calibri" panose="020F0502020204030204"/>
              </a:rPr>
              <a:t> </a:t>
            </a:r>
            <a:r>
              <a:rPr sz="1600" spc="-5" dirty="0">
                <a:latin typeface="Calibri" panose="020F0502020204030204"/>
                <a:cs typeface="Calibri" panose="020F0502020204030204"/>
              </a:rPr>
              <a:t>by </a:t>
            </a:r>
            <a:r>
              <a:rPr sz="1600" spc="-345" dirty="0">
                <a:latin typeface="Calibri" panose="020F0502020204030204"/>
                <a:cs typeface="Calibri" panose="020F0502020204030204"/>
              </a:rPr>
              <a:t> </a:t>
            </a:r>
            <a:r>
              <a:rPr sz="1600" spc="-5" dirty="0">
                <a:latin typeface="Calibri" panose="020F0502020204030204"/>
                <a:cs typeface="Calibri" panose="020F0502020204030204"/>
              </a:rPr>
              <a:t>parentheses.</a:t>
            </a:r>
            <a:r>
              <a:rPr sz="1600" spc="-10" dirty="0">
                <a:latin typeface="Calibri" panose="020F0502020204030204"/>
                <a:cs typeface="Calibri" panose="020F0502020204030204"/>
              </a:rPr>
              <a:t> </a:t>
            </a:r>
            <a:r>
              <a:rPr sz="1600" spc="-5" dirty="0">
                <a:latin typeface="Calibri" panose="020F0502020204030204"/>
                <a:cs typeface="Calibri" panose="020F0502020204030204"/>
              </a:rPr>
              <a:t>The </a:t>
            </a:r>
            <a:r>
              <a:rPr sz="1600" dirty="0">
                <a:latin typeface="Calibri" panose="020F0502020204030204"/>
                <a:cs typeface="Calibri" panose="020F0502020204030204"/>
              </a:rPr>
              <a:t>arguments</a:t>
            </a:r>
            <a:r>
              <a:rPr sz="1600" spc="-5" dirty="0">
                <a:latin typeface="Calibri" panose="020F0502020204030204"/>
                <a:cs typeface="Calibri" panose="020F0502020204030204"/>
              </a:rPr>
              <a:t> can be </a:t>
            </a:r>
            <a:r>
              <a:rPr sz="1600" dirty="0">
                <a:latin typeface="Calibri" panose="020F0502020204030204"/>
                <a:cs typeface="Calibri" panose="020F0502020204030204"/>
              </a:rPr>
              <a:t>atoms</a:t>
            </a:r>
            <a:r>
              <a:rPr sz="1600" spc="-5" dirty="0">
                <a:latin typeface="Calibri" panose="020F0502020204030204"/>
                <a:cs typeface="Calibri" panose="020F0502020204030204"/>
              </a:rPr>
              <a:t> (in this case,</a:t>
            </a:r>
            <a:r>
              <a:rPr sz="1600" spc="-10" dirty="0">
                <a:latin typeface="Calibri" panose="020F0502020204030204"/>
                <a:cs typeface="Calibri" panose="020F0502020204030204"/>
              </a:rPr>
              <a:t> </a:t>
            </a:r>
            <a:r>
              <a:rPr sz="1600" spc="-5" dirty="0">
                <a:latin typeface="Calibri" panose="020F0502020204030204"/>
                <a:cs typeface="Calibri" panose="020F0502020204030204"/>
              </a:rPr>
              <a:t>these </a:t>
            </a:r>
            <a:r>
              <a:rPr sz="1600" dirty="0">
                <a:latin typeface="Calibri" panose="020F0502020204030204"/>
                <a:cs typeface="Calibri" panose="020F0502020204030204"/>
              </a:rPr>
              <a:t>atoms</a:t>
            </a:r>
            <a:r>
              <a:rPr sz="1600" spc="-5" dirty="0">
                <a:latin typeface="Calibri" panose="020F0502020204030204"/>
                <a:cs typeface="Calibri" panose="020F0502020204030204"/>
              </a:rPr>
              <a:t> </a:t>
            </a:r>
            <a:r>
              <a:rPr sz="1600" dirty="0">
                <a:latin typeface="Calibri" panose="020F0502020204030204"/>
                <a:cs typeface="Calibri" panose="020F0502020204030204"/>
              </a:rPr>
              <a:t>are</a:t>
            </a:r>
            <a:r>
              <a:rPr sz="1600" spc="-5" dirty="0">
                <a:latin typeface="Calibri" panose="020F0502020204030204"/>
                <a:cs typeface="Calibri" panose="020F0502020204030204"/>
              </a:rPr>
              <a:t> treated </a:t>
            </a:r>
            <a:r>
              <a:rPr sz="1600" dirty="0">
                <a:latin typeface="Calibri" panose="020F0502020204030204"/>
                <a:cs typeface="Calibri" panose="020F0502020204030204"/>
              </a:rPr>
              <a:t>as</a:t>
            </a:r>
            <a:r>
              <a:rPr sz="1600" spc="-5" dirty="0">
                <a:latin typeface="Calibri" panose="020F0502020204030204"/>
                <a:cs typeface="Calibri" panose="020F0502020204030204"/>
              </a:rPr>
              <a:t> constants), numbers, variables or</a:t>
            </a:r>
            <a:r>
              <a:rPr sz="1600" spc="-10" dirty="0">
                <a:latin typeface="Calibri" panose="020F0502020204030204"/>
                <a:cs typeface="Calibri" panose="020F0502020204030204"/>
              </a:rPr>
              <a:t> </a:t>
            </a:r>
            <a:r>
              <a:rPr sz="1600" spc="-5" dirty="0">
                <a:latin typeface="Calibri" panose="020F0502020204030204"/>
                <a:cs typeface="Calibri" panose="020F0502020204030204"/>
              </a:rPr>
              <a:t>lists.</a:t>
            </a:r>
            <a:endParaRPr sz="1600">
              <a:latin typeface="Calibri" panose="020F0502020204030204"/>
              <a:cs typeface="Calibri" panose="020F0502020204030204"/>
            </a:endParaRPr>
          </a:p>
          <a:p>
            <a:pPr marL="12700" marR="6043295">
              <a:lnSpc>
                <a:spcPct val="148000"/>
              </a:lnSpc>
            </a:pPr>
            <a:r>
              <a:rPr sz="1600" spc="-5" dirty="0">
                <a:latin typeface="Calibri" panose="020F0502020204030204"/>
                <a:cs typeface="Calibri" panose="020F0502020204030204"/>
              </a:rPr>
              <a:t>Facts </a:t>
            </a:r>
            <a:r>
              <a:rPr sz="1600" dirty="0">
                <a:latin typeface="Calibri" panose="020F0502020204030204"/>
                <a:cs typeface="Calibri" panose="020F0502020204030204"/>
              </a:rPr>
              <a:t>are axioms; </a:t>
            </a:r>
            <a:r>
              <a:rPr sz="1600" spc="-5" dirty="0">
                <a:latin typeface="Calibri" panose="020F0502020204030204"/>
                <a:cs typeface="Calibri" panose="020F0502020204030204"/>
              </a:rPr>
              <a:t>relations between terms that </a:t>
            </a:r>
            <a:r>
              <a:rPr sz="1600" dirty="0">
                <a:latin typeface="Calibri" panose="020F0502020204030204"/>
                <a:cs typeface="Calibri" panose="020F0502020204030204"/>
              </a:rPr>
              <a:t>are assumed </a:t>
            </a:r>
            <a:r>
              <a:rPr sz="1600" spc="-5" dirty="0">
                <a:latin typeface="Calibri" panose="020F0502020204030204"/>
                <a:cs typeface="Calibri" panose="020F0502020204030204"/>
              </a:rPr>
              <a:t>to be true. </a:t>
            </a:r>
            <a:r>
              <a:rPr sz="1600" spc="-350" dirty="0">
                <a:latin typeface="Calibri" panose="020F0502020204030204"/>
                <a:cs typeface="Calibri" panose="020F0502020204030204"/>
              </a:rPr>
              <a:t> </a:t>
            </a:r>
            <a:r>
              <a:rPr sz="1600" spc="-5" dirty="0">
                <a:latin typeface="Calibri" panose="020F0502020204030204"/>
                <a:cs typeface="Calibri" panose="020F0502020204030204"/>
              </a:rPr>
              <a:t>Example</a:t>
            </a:r>
            <a:r>
              <a:rPr sz="1600" spc="-10" dirty="0">
                <a:latin typeface="Calibri" panose="020F0502020204030204"/>
                <a:cs typeface="Calibri" panose="020F0502020204030204"/>
              </a:rPr>
              <a:t> </a:t>
            </a:r>
            <a:r>
              <a:rPr sz="1600" spc="-5" dirty="0">
                <a:latin typeface="Calibri" panose="020F0502020204030204"/>
                <a:cs typeface="Calibri" panose="020F0502020204030204"/>
              </a:rPr>
              <a:t>facts:</a:t>
            </a:r>
            <a:endParaRPr sz="1600">
              <a:latin typeface="Calibri" panose="020F0502020204030204"/>
              <a:cs typeface="Calibri" panose="020F0502020204030204"/>
            </a:endParaRPr>
          </a:p>
          <a:p>
            <a:pPr marL="725170">
              <a:lnSpc>
                <a:spcPct val="100000"/>
              </a:lnSpc>
              <a:spcBef>
                <a:spcPts val="930"/>
              </a:spcBef>
            </a:pPr>
            <a:r>
              <a:rPr sz="1600" spc="-5" dirty="0">
                <a:latin typeface="Calibri" panose="020F0502020204030204"/>
                <a:cs typeface="Calibri" panose="020F0502020204030204"/>
              </a:rPr>
              <a:t>+big('bear')</a:t>
            </a:r>
            <a:endParaRPr sz="1600">
              <a:latin typeface="Calibri" panose="020F0502020204030204"/>
              <a:cs typeface="Calibri" panose="020F0502020204030204"/>
            </a:endParaRPr>
          </a:p>
          <a:p>
            <a:pPr marL="725170">
              <a:lnSpc>
                <a:spcPct val="100000"/>
              </a:lnSpc>
              <a:spcBef>
                <a:spcPts val="930"/>
              </a:spcBef>
            </a:pPr>
            <a:r>
              <a:rPr sz="1600" spc="-5" dirty="0">
                <a:latin typeface="Calibri" panose="020F0502020204030204"/>
                <a:cs typeface="Calibri" panose="020F0502020204030204"/>
              </a:rPr>
              <a:t>+big('elephant')</a:t>
            </a:r>
            <a:endParaRPr sz="1600">
              <a:latin typeface="Calibri" panose="020F0502020204030204"/>
              <a:cs typeface="Calibri" panose="020F0502020204030204"/>
            </a:endParaRPr>
          </a:p>
          <a:p>
            <a:pPr marL="725170">
              <a:lnSpc>
                <a:spcPct val="100000"/>
              </a:lnSpc>
              <a:spcBef>
                <a:spcPts val="930"/>
              </a:spcBef>
            </a:pPr>
            <a:r>
              <a:rPr sz="1600" spc="-5" dirty="0">
                <a:latin typeface="Calibri" panose="020F0502020204030204"/>
                <a:cs typeface="Calibri" panose="020F0502020204030204"/>
              </a:rPr>
              <a:t>+small('cat')</a:t>
            </a:r>
            <a:endParaRPr sz="1600">
              <a:latin typeface="Calibri" panose="020F0502020204030204"/>
              <a:cs typeface="Calibri" panose="020F0502020204030204"/>
            </a:endParaRPr>
          </a:p>
          <a:p>
            <a:pPr marL="725170">
              <a:lnSpc>
                <a:spcPct val="100000"/>
              </a:lnSpc>
              <a:spcBef>
                <a:spcPts val="930"/>
              </a:spcBef>
            </a:pPr>
            <a:r>
              <a:rPr sz="1600" spc="-5" dirty="0">
                <a:latin typeface="Calibri" panose="020F0502020204030204"/>
                <a:cs typeface="Calibri" panose="020F0502020204030204"/>
              </a:rPr>
              <a:t>+brown('bear')</a:t>
            </a:r>
            <a:endParaRPr sz="1600">
              <a:latin typeface="Calibri" panose="020F0502020204030204"/>
              <a:cs typeface="Calibri" panose="020F0502020204030204"/>
            </a:endParaRPr>
          </a:p>
          <a:p>
            <a:pPr marL="725170">
              <a:lnSpc>
                <a:spcPct val="100000"/>
              </a:lnSpc>
              <a:spcBef>
                <a:spcPts val="930"/>
              </a:spcBef>
            </a:pPr>
            <a:r>
              <a:rPr sz="1600" spc="-5" dirty="0">
                <a:latin typeface="Calibri" panose="020F0502020204030204"/>
                <a:cs typeface="Calibri" panose="020F0502020204030204"/>
              </a:rPr>
              <a:t>+black('cat')</a:t>
            </a:r>
            <a:endParaRPr sz="1600">
              <a:latin typeface="Calibri" panose="020F0502020204030204"/>
              <a:cs typeface="Calibri" panose="020F0502020204030204"/>
            </a:endParaRPr>
          </a:p>
          <a:p>
            <a:pPr marL="725170">
              <a:lnSpc>
                <a:spcPct val="100000"/>
              </a:lnSpc>
              <a:spcBef>
                <a:spcPts val="930"/>
              </a:spcBef>
            </a:pPr>
            <a:r>
              <a:rPr sz="1600" spc="-5" dirty="0">
                <a:latin typeface="Calibri" panose="020F0502020204030204"/>
                <a:cs typeface="Calibri" panose="020F0502020204030204"/>
              </a:rPr>
              <a:t>+grey('elephant')</a:t>
            </a:r>
            <a:endParaRPr sz="1600">
              <a:latin typeface="Calibri" panose="020F0502020204030204"/>
              <a:cs typeface="Calibri" panose="020F0502020204030204"/>
            </a:endParaRPr>
          </a:p>
          <a:p>
            <a:pPr marL="725170">
              <a:lnSpc>
                <a:spcPct val="100000"/>
              </a:lnSpc>
              <a:spcBef>
                <a:spcPts val="930"/>
              </a:spcBef>
            </a:pPr>
            <a:r>
              <a:rPr sz="1600" spc="-5" dirty="0">
                <a:latin typeface="Calibri" panose="020F0502020204030204"/>
                <a:cs typeface="Calibri" panose="020F0502020204030204"/>
              </a:rPr>
              <a:t>Consider</a:t>
            </a:r>
            <a:r>
              <a:rPr sz="1600" spc="-10" dirty="0">
                <a:latin typeface="Calibri" panose="020F0502020204030204"/>
                <a:cs typeface="Calibri" panose="020F0502020204030204"/>
              </a:rPr>
              <a:t> </a:t>
            </a:r>
            <a:r>
              <a:rPr sz="1600" spc="-5" dirty="0">
                <a:latin typeface="Calibri" panose="020F0502020204030204"/>
                <a:cs typeface="Calibri" panose="020F0502020204030204"/>
              </a:rPr>
              <a:t>the </a:t>
            </a:r>
            <a:r>
              <a:rPr sz="1600" dirty="0">
                <a:latin typeface="Calibri" panose="020F0502020204030204"/>
                <a:cs typeface="Calibri" panose="020F0502020204030204"/>
              </a:rPr>
              <a:t>3</a:t>
            </a:r>
            <a:r>
              <a:rPr sz="1600" spc="-5" dirty="0">
                <a:latin typeface="Calibri" panose="020F0502020204030204"/>
                <a:cs typeface="Calibri" panose="020F0502020204030204"/>
              </a:rPr>
              <a:t> fact</a:t>
            </a:r>
            <a:r>
              <a:rPr sz="1600" spc="-10" dirty="0">
                <a:latin typeface="Calibri" panose="020F0502020204030204"/>
                <a:cs typeface="Calibri" panose="020F0502020204030204"/>
              </a:rPr>
              <a:t> </a:t>
            </a:r>
            <a:r>
              <a:rPr sz="1600" spc="-5" dirty="0">
                <a:latin typeface="Calibri" panose="020F0502020204030204"/>
                <a:cs typeface="Calibri" panose="020F0502020204030204"/>
              </a:rPr>
              <a:t>saying ‘cat’ is</a:t>
            </a:r>
            <a:r>
              <a:rPr sz="1600" spc="-10" dirty="0">
                <a:latin typeface="Calibri" panose="020F0502020204030204"/>
                <a:cs typeface="Calibri" panose="020F0502020204030204"/>
              </a:rPr>
              <a:t> </a:t>
            </a:r>
            <a:r>
              <a:rPr sz="1600" dirty="0">
                <a:latin typeface="Calibri" panose="020F0502020204030204"/>
                <a:cs typeface="Calibri" panose="020F0502020204030204"/>
              </a:rPr>
              <a:t>a</a:t>
            </a:r>
            <a:r>
              <a:rPr sz="1600" spc="-5" dirty="0">
                <a:latin typeface="Calibri" panose="020F0502020204030204"/>
                <a:cs typeface="Calibri" panose="020F0502020204030204"/>
              </a:rPr>
              <a:t> smallest </a:t>
            </a:r>
            <a:r>
              <a:rPr sz="1600" dirty="0">
                <a:latin typeface="Calibri" panose="020F0502020204030204"/>
                <a:cs typeface="Calibri" panose="020F0502020204030204"/>
              </a:rPr>
              <a:t>animal</a:t>
            </a:r>
            <a:r>
              <a:rPr sz="1600" spc="-5" dirty="0">
                <a:latin typeface="Calibri" panose="020F0502020204030204"/>
                <a:cs typeface="Calibri" panose="020F0502020204030204"/>
              </a:rPr>
              <a:t> </a:t>
            </a:r>
            <a:r>
              <a:rPr sz="1600" dirty="0">
                <a:latin typeface="Calibri" panose="020F0502020204030204"/>
                <a:cs typeface="Calibri" panose="020F0502020204030204"/>
              </a:rPr>
              <a:t>and</a:t>
            </a:r>
            <a:r>
              <a:rPr sz="1600" spc="-10" dirty="0">
                <a:latin typeface="Calibri" panose="020F0502020204030204"/>
                <a:cs typeface="Calibri" panose="020F0502020204030204"/>
              </a:rPr>
              <a:t> </a:t>
            </a:r>
            <a:r>
              <a:rPr sz="1600" spc="-5" dirty="0">
                <a:latin typeface="Calibri" panose="020F0502020204030204"/>
                <a:cs typeface="Calibri" panose="020F0502020204030204"/>
              </a:rPr>
              <a:t>fact </a:t>
            </a:r>
            <a:r>
              <a:rPr sz="1600" dirty="0">
                <a:latin typeface="Calibri" panose="020F0502020204030204"/>
                <a:cs typeface="Calibri" panose="020F0502020204030204"/>
              </a:rPr>
              <a:t>6</a:t>
            </a:r>
            <a:r>
              <a:rPr sz="1600" spc="-5" dirty="0">
                <a:latin typeface="Calibri" panose="020F0502020204030204"/>
                <a:cs typeface="Calibri" panose="020F0502020204030204"/>
              </a:rPr>
              <a:t> saying</a:t>
            </a:r>
            <a:r>
              <a:rPr sz="1600" spc="-10" dirty="0">
                <a:latin typeface="Calibri" panose="020F0502020204030204"/>
                <a:cs typeface="Calibri" panose="020F0502020204030204"/>
              </a:rPr>
              <a:t> </a:t>
            </a:r>
            <a:r>
              <a:rPr sz="1600" spc="-5" dirty="0">
                <a:latin typeface="Calibri" panose="020F0502020204030204"/>
                <a:cs typeface="Calibri" panose="020F0502020204030204"/>
              </a:rPr>
              <a:t>the elephant is grey</a:t>
            </a:r>
            <a:r>
              <a:rPr sz="1600" spc="-10" dirty="0">
                <a:latin typeface="Calibri" panose="020F0502020204030204"/>
                <a:cs typeface="Calibri" panose="020F0502020204030204"/>
              </a:rPr>
              <a:t> </a:t>
            </a:r>
            <a:r>
              <a:rPr sz="1600" spc="-5" dirty="0">
                <a:latin typeface="Calibri" panose="020F0502020204030204"/>
                <a:cs typeface="Calibri" panose="020F0502020204030204"/>
              </a:rPr>
              <a:t>in color</a:t>
            </a:r>
            <a:endParaRPr sz="1600">
              <a:latin typeface="Calibri" panose="020F0502020204030204"/>
              <a:cs typeface="Calibri" panose="020F0502020204030204"/>
            </a:endParaRPr>
          </a:p>
        </p:txBody>
      </p:sp>
      <p:sp>
        <p:nvSpPr>
          <p:cNvPr id="7" name="Slide Number Placeholder 6"/>
          <p:cNvSpPr>
            <a:spLocks noGrp="1"/>
          </p:cNvSpPr>
          <p:nvPr>
            <p:ph type="sldNum" sz="quarter" idx="7"/>
          </p:nvPr>
        </p:nvSpPr>
        <p:spPr/>
        <p:txBody>
          <a:bodyPr/>
          <a:lstStyle/>
          <a:p>
            <a:fld id="{B6F15528-21DE-4FAA-801E-634DDDAF4B2B}" type="slidenum">
              <a:rPr/>
              <a:t>41</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426173"/>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 dirty="0"/>
              <a:t>Logical</a:t>
            </a:r>
            <a:r>
              <a:rPr spc="-55" dirty="0"/>
              <a:t> </a:t>
            </a:r>
            <a:r>
              <a:rPr spc="-5" dirty="0"/>
              <a:t>Programming</a:t>
            </a:r>
            <a:r>
              <a:rPr spc="-50" dirty="0"/>
              <a:t> </a:t>
            </a:r>
            <a:r>
              <a:rPr spc="-5" dirty="0"/>
              <a:t>Paradigm</a:t>
            </a:r>
          </a:p>
        </p:txBody>
      </p:sp>
      <p:sp>
        <p:nvSpPr>
          <p:cNvPr id="4" name="object 4"/>
          <p:cNvSpPr/>
          <p:nvPr/>
        </p:nvSpPr>
        <p:spPr>
          <a:xfrm>
            <a:off x="0" y="6694114"/>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31953" y="490866"/>
            <a:ext cx="12105640" cy="6118860"/>
          </a:xfrm>
          <a:custGeom>
            <a:avLst/>
            <a:gdLst/>
            <a:ahLst/>
            <a:cxnLst/>
            <a:rect l="l" t="t" r="r" b="b"/>
            <a:pathLst>
              <a:path w="12105640" h="6118859">
                <a:moveTo>
                  <a:pt x="0" y="0"/>
                </a:moveTo>
                <a:lnTo>
                  <a:pt x="12105504" y="0"/>
                </a:lnTo>
                <a:lnTo>
                  <a:pt x="12105504" y="6118857"/>
                </a:lnTo>
                <a:lnTo>
                  <a:pt x="0" y="6118857"/>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82875" y="271775"/>
            <a:ext cx="8729345" cy="4778375"/>
          </a:xfrm>
          <a:prstGeom prst="rect">
            <a:avLst/>
          </a:prstGeom>
        </p:spPr>
        <p:txBody>
          <a:bodyPr vert="horz" wrap="square" lIns="0" tIns="130810" rIns="0" bIns="0" rtlCol="0">
            <a:spAutoFit/>
          </a:bodyPr>
          <a:lstStyle/>
          <a:p>
            <a:pPr marL="12700">
              <a:lnSpc>
                <a:spcPct val="100000"/>
              </a:lnSpc>
              <a:spcBef>
                <a:spcPts val="1030"/>
              </a:spcBef>
            </a:pPr>
            <a:r>
              <a:rPr sz="1600" b="1" spc="-5" dirty="0">
                <a:latin typeface="Calibri" panose="020F0502020204030204"/>
                <a:cs typeface="Calibri" panose="020F0502020204030204"/>
              </a:rPr>
              <a:t>Rule</a:t>
            </a:r>
            <a:endParaRPr sz="1600">
              <a:latin typeface="Calibri" panose="020F0502020204030204"/>
              <a:cs typeface="Calibri" panose="020F0502020204030204"/>
            </a:endParaRPr>
          </a:p>
          <a:p>
            <a:pPr marL="298450" indent="-255905">
              <a:lnSpc>
                <a:spcPct val="100000"/>
              </a:lnSpc>
              <a:spcBef>
                <a:spcPts val="930"/>
              </a:spcBef>
              <a:buFont typeface="Arial MT"/>
              <a:buChar char="•"/>
              <a:tabLst>
                <a:tab pos="297815" algn="l"/>
                <a:tab pos="298450" algn="l"/>
              </a:tabLst>
            </a:pPr>
            <a:r>
              <a:rPr sz="1600" spc="-5" dirty="0">
                <a:latin typeface="Calibri" panose="020F0502020204030204"/>
                <a:cs typeface="Calibri" panose="020F0502020204030204"/>
              </a:rPr>
              <a:t>Rules</a:t>
            </a:r>
            <a:r>
              <a:rPr sz="1600" spc="-15" dirty="0">
                <a:latin typeface="Calibri" panose="020F0502020204030204"/>
                <a:cs typeface="Calibri" panose="020F0502020204030204"/>
              </a:rPr>
              <a:t> </a:t>
            </a:r>
            <a:r>
              <a:rPr sz="1600" dirty="0">
                <a:latin typeface="Calibri" panose="020F0502020204030204"/>
                <a:cs typeface="Calibri" panose="020F0502020204030204"/>
              </a:rPr>
              <a:t>are</a:t>
            </a:r>
            <a:r>
              <a:rPr sz="1600" spc="-10" dirty="0">
                <a:latin typeface="Calibri" panose="020F0502020204030204"/>
                <a:cs typeface="Calibri" panose="020F0502020204030204"/>
              </a:rPr>
              <a:t> </a:t>
            </a:r>
            <a:r>
              <a:rPr sz="1600" spc="-5" dirty="0">
                <a:latin typeface="Calibri" panose="020F0502020204030204"/>
                <a:cs typeface="Calibri" panose="020F0502020204030204"/>
              </a:rPr>
              <a:t>theorems</a:t>
            </a:r>
            <a:r>
              <a:rPr sz="1600" spc="-10" dirty="0">
                <a:latin typeface="Calibri" panose="020F0502020204030204"/>
                <a:cs typeface="Calibri" panose="020F0502020204030204"/>
              </a:rPr>
              <a:t> </a:t>
            </a:r>
            <a:r>
              <a:rPr sz="1600" spc="-5" dirty="0">
                <a:latin typeface="Calibri" panose="020F0502020204030204"/>
                <a:cs typeface="Calibri" panose="020F0502020204030204"/>
              </a:rPr>
              <a:t>that</a:t>
            </a:r>
            <a:r>
              <a:rPr sz="1600" spc="-10" dirty="0">
                <a:latin typeface="Calibri" panose="020F0502020204030204"/>
                <a:cs typeface="Calibri" panose="020F0502020204030204"/>
              </a:rPr>
              <a:t> </a:t>
            </a:r>
            <a:r>
              <a:rPr sz="1600" dirty="0">
                <a:latin typeface="Calibri" panose="020F0502020204030204"/>
                <a:cs typeface="Calibri" panose="020F0502020204030204"/>
              </a:rPr>
              <a:t>allow</a:t>
            </a:r>
            <a:r>
              <a:rPr sz="1600" spc="-15" dirty="0">
                <a:latin typeface="Calibri" panose="020F0502020204030204"/>
                <a:cs typeface="Calibri" panose="020F0502020204030204"/>
              </a:rPr>
              <a:t> </a:t>
            </a:r>
            <a:r>
              <a:rPr sz="1600" spc="-5" dirty="0">
                <a:latin typeface="Calibri" panose="020F0502020204030204"/>
                <a:cs typeface="Calibri" panose="020F0502020204030204"/>
              </a:rPr>
              <a:t>new</a:t>
            </a:r>
            <a:r>
              <a:rPr sz="1600" spc="-10" dirty="0">
                <a:latin typeface="Calibri" panose="020F0502020204030204"/>
                <a:cs typeface="Calibri" panose="020F0502020204030204"/>
              </a:rPr>
              <a:t> </a:t>
            </a:r>
            <a:r>
              <a:rPr sz="1600" spc="-5" dirty="0">
                <a:latin typeface="Calibri" panose="020F0502020204030204"/>
                <a:cs typeface="Calibri" panose="020F0502020204030204"/>
              </a:rPr>
              <a:t>inferences</a:t>
            </a:r>
            <a:r>
              <a:rPr sz="1600" spc="-10" dirty="0">
                <a:latin typeface="Calibri" panose="020F0502020204030204"/>
                <a:cs typeface="Calibri" panose="020F0502020204030204"/>
              </a:rPr>
              <a:t> </a:t>
            </a:r>
            <a:r>
              <a:rPr sz="1600" spc="-5" dirty="0">
                <a:latin typeface="Calibri" panose="020F0502020204030204"/>
                <a:cs typeface="Calibri" panose="020F0502020204030204"/>
              </a:rPr>
              <a:t>to</a:t>
            </a:r>
            <a:r>
              <a:rPr sz="1600" spc="-10" dirty="0">
                <a:latin typeface="Calibri" panose="020F0502020204030204"/>
                <a:cs typeface="Calibri" panose="020F0502020204030204"/>
              </a:rPr>
              <a:t> </a:t>
            </a:r>
            <a:r>
              <a:rPr sz="1600" spc="-5" dirty="0">
                <a:latin typeface="Calibri" panose="020F0502020204030204"/>
                <a:cs typeface="Calibri" panose="020F0502020204030204"/>
              </a:rPr>
              <a:t>be</a:t>
            </a:r>
            <a:r>
              <a:rPr sz="1600" spc="-15" dirty="0">
                <a:latin typeface="Calibri" panose="020F0502020204030204"/>
                <a:cs typeface="Calibri" panose="020F0502020204030204"/>
              </a:rPr>
              <a:t> </a:t>
            </a:r>
            <a:r>
              <a:rPr sz="1600" spc="-5" dirty="0">
                <a:latin typeface="Calibri" panose="020F0502020204030204"/>
                <a:cs typeface="Calibri" panose="020F0502020204030204"/>
              </a:rPr>
              <a:t>made.</a:t>
            </a:r>
            <a:endParaRPr sz="1600">
              <a:latin typeface="Calibri" panose="020F0502020204030204"/>
              <a:cs typeface="Calibri" panose="020F0502020204030204"/>
            </a:endParaRPr>
          </a:p>
          <a:p>
            <a:pPr marL="12700" marR="4364990" indent="30480">
              <a:lnSpc>
                <a:spcPct val="148000"/>
              </a:lnSpc>
              <a:buFont typeface="Arial MT"/>
              <a:buChar char="•"/>
              <a:tabLst>
                <a:tab pos="297815" algn="l"/>
                <a:tab pos="298450" algn="l"/>
              </a:tabLst>
            </a:pPr>
            <a:r>
              <a:rPr sz="1600" spc="-5" dirty="0">
                <a:latin typeface="Calibri" panose="020F0502020204030204"/>
                <a:cs typeface="Calibri" panose="020F0502020204030204"/>
              </a:rPr>
              <a:t>Describe Relationships Using other Relationships. </a:t>
            </a:r>
            <a:r>
              <a:rPr sz="1600" spc="-350" dirty="0">
                <a:latin typeface="Calibri" panose="020F0502020204030204"/>
                <a:cs typeface="Calibri" panose="020F0502020204030204"/>
              </a:rPr>
              <a:t> </a:t>
            </a:r>
            <a:r>
              <a:rPr sz="1600" spc="-5" dirty="0">
                <a:latin typeface="Calibri" panose="020F0502020204030204"/>
                <a:cs typeface="Calibri" panose="020F0502020204030204"/>
              </a:rPr>
              <a:t>Example</a:t>
            </a:r>
            <a:endParaRPr sz="1600">
              <a:latin typeface="Calibri" panose="020F0502020204030204"/>
              <a:cs typeface="Calibri" panose="020F0502020204030204"/>
            </a:endParaRPr>
          </a:p>
          <a:p>
            <a:pPr marL="469900" marR="2136140">
              <a:lnSpc>
                <a:spcPct val="148000"/>
              </a:lnSpc>
            </a:pPr>
            <a:r>
              <a:rPr sz="1600" spc="-5" dirty="0">
                <a:latin typeface="Calibri" panose="020F0502020204030204"/>
                <a:cs typeface="Calibri" panose="020F0502020204030204"/>
              </a:rPr>
              <a:t>Two people </a:t>
            </a:r>
            <a:r>
              <a:rPr sz="1600" dirty="0">
                <a:latin typeface="Calibri" panose="020F0502020204030204"/>
                <a:cs typeface="Calibri" panose="020F0502020204030204"/>
              </a:rPr>
              <a:t>are </a:t>
            </a:r>
            <a:r>
              <a:rPr sz="1600" spc="-5" dirty="0">
                <a:latin typeface="Calibri" panose="020F0502020204030204"/>
                <a:cs typeface="Calibri" panose="020F0502020204030204"/>
              </a:rPr>
              <a:t>sisters if they </a:t>
            </a:r>
            <a:r>
              <a:rPr sz="1600" dirty="0">
                <a:latin typeface="Calibri" panose="020F0502020204030204"/>
                <a:cs typeface="Calibri" panose="020F0502020204030204"/>
              </a:rPr>
              <a:t>are </a:t>
            </a:r>
            <a:r>
              <a:rPr sz="1600" spc="-5" dirty="0">
                <a:latin typeface="Calibri" panose="020F0502020204030204"/>
                <a:cs typeface="Calibri" panose="020F0502020204030204"/>
              </a:rPr>
              <a:t>both female </a:t>
            </a:r>
            <a:r>
              <a:rPr sz="1600" dirty="0">
                <a:latin typeface="Calibri" panose="020F0502020204030204"/>
                <a:cs typeface="Calibri" panose="020F0502020204030204"/>
              </a:rPr>
              <a:t>and </a:t>
            </a:r>
            <a:r>
              <a:rPr sz="1600" spc="-5" dirty="0">
                <a:latin typeface="Calibri" panose="020F0502020204030204"/>
                <a:cs typeface="Calibri" panose="020F0502020204030204"/>
              </a:rPr>
              <a:t>have the same parents. </a:t>
            </a:r>
            <a:r>
              <a:rPr sz="1600" spc="-350" dirty="0">
                <a:latin typeface="Calibri" panose="020F0502020204030204"/>
                <a:cs typeface="Calibri" panose="020F0502020204030204"/>
              </a:rPr>
              <a:t> </a:t>
            </a:r>
            <a:r>
              <a:rPr sz="1600" spc="-5" dirty="0">
                <a:latin typeface="Calibri" panose="020F0502020204030204"/>
                <a:cs typeface="Calibri" panose="020F0502020204030204"/>
              </a:rPr>
              <a:t>Gives</a:t>
            </a:r>
            <a:r>
              <a:rPr sz="1600" spc="-10" dirty="0">
                <a:latin typeface="Calibri" panose="020F0502020204030204"/>
                <a:cs typeface="Calibri" panose="020F0502020204030204"/>
              </a:rPr>
              <a:t> </a:t>
            </a:r>
            <a:r>
              <a:rPr sz="1600" dirty="0">
                <a:latin typeface="Calibri" panose="020F0502020204030204"/>
                <a:cs typeface="Calibri" panose="020F0502020204030204"/>
              </a:rPr>
              <a:t>a</a:t>
            </a:r>
            <a:r>
              <a:rPr sz="1600" spc="-5" dirty="0">
                <a:latin typeface="Calibri" panose="020F0502020204030204"/>
                <a:cs typeface="Calibri" panose="020F0502020204030204"/>
              </a:rPr>
              <a:t> definition</a:t>
            </a:r>
            <a:r>
              <a:rPr sz="1600" spc="-10" dirty="0">
                <a:latin typeface="Calibri" panose="020F0502020204030204"/>
                <a:cs typeface="Calibri" panose="020F0502020204030204"/>
              </a:rPr>
              <a:t> </a:t>
            </a:r>
            <a:r>
              <a:rPr sz="1600" spc="-5" dirty="0">
                <a:latin typeface="Calibri" panose="020F0502020204030204"/>
                <a:cs typeface="Calibri" panose="020F0502020204030204"/>
              </a:rPr>
              <a:t>of one</a:t>
            </a:r>
            <a:r>
              <a:rPr sz="1600" spc="-10" dirty="0">
                <a:latin typeface="Calibri" panose="020F0502020204030204"/>
                <a:cs typeface="Calibri" panose="020F0502020204030204"/>
              </a:rPr>
              <a:t> </a:t>
            </a:r>
            <a:r>
              <a:rPr sz="1600" spc="-5" dirty="0">
                <a:latin typeface="Calibri" panose="020F0502020204030204"/>
                <a:cs typeface="Calibri" panose="020F0502020204030204"/>
              </a:rPr>
              <a:t>relationship given</a:t>
            </a:r>
            <a:r>
              <a:rPr sz="1600" spc="-10" dirty="0">
                <a:latin typeface="Calibri" panose="020F0502020204030204"/>
                <a:cs typeface="Calibri" panose="020F0502020204030204"/>
              </a:rPr>
              <a:t> </a:t>
            </a:r>
            <a:r>
              <a:rPr sz="1600" spc="-5" dirty="0">
                <a:latin typeface="Calibri" panose="020F0502020204030204"/>
                <a:cs typeface="Calibri" panose="020F0502020204030204"/>
              </a:rPr>
              <a:t>other relationships.</a:t>
            </a:r>
            <a:endParaRPr sz="1600">
              <a:latin typeface="Calibri" panose="020F0502020204030204"/>
              <a:cs typeface="Calibri" panose="020F0502020204030204"/>
            </a:endParaRPr>
          </a:p>
          <a:p>
            <a:pPr marL="927100">
              <a:lnSpc>
                <a:spcPct val="100000"/>
              </a:lnSpc>
              <a:spcBef>
                <a:spcPts val="930"/>
              </a:spcBef>
            </a:pPr>
            <a:r>
              <a:rPr sz="1600" spc="-5" dirty="0">
                <a:latin typeface="Calibri" panose="020F0502020204030204"/>
                <a:cs typeface="Calibri" panose="020F0502020204030204"/>
              </a:rPr>
              <a:t>Both</a:t>
            </a:r>
            <a:r>
              <a:rPr sz="1600" spc="-25" dirty="0">
                <a:latin typeface="Calibri" panose="020F0502020204030204"/>
                <a:cs typeface="Calibri" panose="020F0502020204030204"/>
              </a:rPr>
              <a:t> </a:t>
            </a:r>
            <a:r>
              <a:rPr sz="1600" spc="-5" dirty="0">
                <a:latin typeface="Calibri" panose="020F0502020204030204"/>
                <a:cs typeface="Calibri" panose="020F0502020204030204"/>
              </a:rPr>
              <a:t>must</a:t>
            </a:r>
            <a:r>
              <a:rPr sz="1600" spc="-25" dirty="0">
                <a:latin typeface="Calibri" panose="020F0502020204030204"/>
                <a:cs typeface="Calibri" panose="020F0502020204030204"/>
              </a:rPr>
              <a:t> </a:t>
            </a:r>
            <a:r>
              <a:rPr sz="1600" spc="-5" dirty="0">
                <a:latin typeface="Calibri" panose="020F0502020204030204"/>
                <a:cs typeface="Calibri" panose="020F0502020204030204"/>
              </a:rPr>
              <a:t>be</a:t>
            </a:r>
            <a:r>
              <a:rPr sz="1600" spc="-25" dirty="0">
                <a:latin typeface="Calibri" panose="020F0502020204030204"/>
                <a:cs typeface="Calibri" panose="020F0502020204030204"/>
              </a:rPr>
              <a:t> </a:t>
            </a:r>
            <a:r>
              <a:rPr sz="1600" spc="-5" dirty="0">
                <a:latin typeface="Calibri" panose="020F0502020204030204"/>
                <a:cs typeface="Calibri" panose="020F0502020204030204"/>
              </a:rPr>
              <a:t>females.</a:t>
            </a:r>
            <a:endParaRPr sz="1600">
              <a:latin typeface="Calibri" panose="020F0502020204030204"/>
              <a:cs typeface="Calibri" panose="020F0502020204030204"/>
            </a:endParaRPr>
          </a:p>
          <a:p>
            <a:pPr marL="927100">
              <a:lnSpc>
                <a:spcPct val="100000"/>
              </a:lnSpc>
              <a:spcBef>
                <a:spcPts val="930"/>
              </a:spcBef>
            </a:pPr>
            <a:r>
              <a:rPr sz="1600" spc="-5" dirty="0">
                <a:latin typeface="Calibri" panose="020F0502020204030204"/>
                <a:cs typeface="Calibri" panose="020F0502020204030204"/>
              </a:rPr>
              <a:t>Both</a:t>
            </a:r>
            <a:r>
              <a:rPr sz="1600" spc="-20" dirty="0">
                <a:latin typeface="Calibri" panose="020F0502020204030204"/>
                <a:cs typeface="Calibri" panose="020F0502020204030204"/>
              </a:rPr>
              <a:t> </a:t>
            </a:r>
            <a:r>
              <a:rPr sz="1600" spc="-5" dirty="0">
                <a:latin typeface="Calibri" panose="020F0502020204030204"/>
                <a:cs typeface="Calibri" panose="020F0502020204030204"/>
              </a:rPr>
              <a:t>must</a:t>
            </a:r>
            <a:r>
              <a:rPr sz="1600" spc="-15" dirty="0">
                <a:latin typeface="Calibri" panose="020F0502020204030204"/>
                <a:cs typeface="Calibri" panose="020F0502020204030204"/>
              </a:rPr>
              <a:t> </a:t>
            </a:r>
            <a:r>
              <a:rPr sz="1600" spc="-5" dirty="0">
                <a:latin typeface="Calibri" panose="020F0502020204030204"/>
                <a:cs typeface="Calibri" panose="020F0502020204030204"/>
              </a:rPr>
              <a:t>have</a:t>
            </a:r>
            <a:r>
              <a:rPr sz="1600" spc="-15" dirty="0">
                <a:latin typeface="Calibri" panose="020F0502020204030204"/>
                <a:cs typeface="Calibri" panose="020F0502020204030204"/>
              </a:rPr>
              <a:t> </a:t>
            </a:r>
            <a:r>
              <a:rPr sz="1600" spc="-5" dirty="0">
                <a:latin typeface="Calibri" panose="020F0502020204030204"/>
                <a:cs typeface="Calibri" panose="020F0502020204030204"/>
              </a:rPr>
              <a:t>the</a:t>
            </a:r>
            <a:r>
              <a:rPr sz="1600" spc="-20" dirty="0">
                <a:latin typeface="Calibri" panose="020F0502020204030204"/>
                <a:cs typeface="Calibri" panose="020F0502020204030204"/>
              </a:rPr>
              <a:t> </a:t>
            </a:r>
            <a:r>
              <a:rPr sz="1600" spc="-5" dirty="0">
                <a:latin typeface="Calibri" panose="020F0502020204030204"/>
                <a:cs typeface="Calibri" panose="020F0502020204030204"/>
              </a:rPr>
              <a:t>same</a:t>
            </a:r>
            <a:r>
              <a:rPr sz="1600" spc="-15" dirty="0">
                <a:latin typeface="Calibri" panose="020F0502020204030204"/>
                <a:cs typeface="Calibri" panose="020F0502020204030204"/>
              </a:rPr>
              <a:t> </a:t>
            </a:r>
            <a:r>
              <a:rPr sz="1600" spc="-5" dirty="0">
                <a:latin typeface="Calibri" panose="020F0502020204030204"/>
                <a:cs typeface="Calibri" panose="020F0502020204030204"/>
              </a:rPr>
              <a:t>parents.</a:t>
            </a:r>
            <a:endParaRPr sz="1600">
              <a:latin typeface="Calibri" panose="020F0502020204030204"/>
              <a:cs typeface="Calibri" panose="020F0502020204030204"/>
            </a:endParaRPr>
          </a:p>
          <a:p>
            <a:pPr marL="927100">
              <a:lnSpc>
                <a:spcPct val="100000"/>
              </a:lnSpc>
              <a:spcBef>
                <a:spcPts val="930"/>
              </a:spcBef>
            </a:pPr>
            <a:r>
              <a:rPr sz="1600" spc="-5" dirty="0">
                <a:latin typeface="Calibri" panose="020F0502020204030204"/>
                <a:cs typeface="Calibri" panose="020F0502020204030204"/>
              </a:rPr>
              <a:t>If</a:t>
            </a:r>
            <a:r>
              <a:rPr sz="1600" spc="-10" dirty="0">
                <a:latin typeface="Calibri" panose="020F0502020204030204"/>
                <a:cs typeface="Calibri" panose="020F0502020204030204"/>
              </a:rPr>
              <a:t> </a:t>
            </a:r>
            <a:r>
              <a:rPr sz="1600" spc="-5" dirty="0">
                <a:latin typeface="Calibri" panose="020F0502020204030204"/>
                <a:cs typeface="Calibri" panose="020F0502020204030204"/>
              </a:rPr>
              <a:t>two people</a:t>
            </a:r>
            <a:r>
              <a:rPr sz="1600" spc="-10" dirty="0">
                <a:latin typeface="Calibri" panose="020F0502020204030204"/>
                <a:cs typeface="Calibri" panose="020F0502020204030204"/>
              </a:rPr>
              <a:t> </a:t>
            </a:r>
            <a:r>
              <a:rPr sz="1600" spc="-5" dirty="0">
                <a:latin typeface="Calibri" panose="020F0502020204030204"/>
                <a:cs typeface="Calibri" panose="020F0502020204030204"/>
              </a:rPr>
              <a:t>satisfy these</a:t>
            </a:r>
            <a:r>
              <a:rPr sz="1600" spc="-10" dirty="0">
                <a:latin typeface="Calibri" panose="020F0502020204030204"/>
                <a:cs typeface="Calibri" panose="020F0502020204030204"/>
              </a:rPr>
              <a:t> </a:t>
            </a:r>
            <a:r>
              <a:rPr sz="1600" spc="-5" dirty="0">
                <a:latin typeface="Calibri" panose="020F0502020204030204"/>
                <a:cs typeface="Calibri" panose="020F0502020204030204"/>
              </a:rPr>
              <a:t>rules, then</a:t>
            </a:r>
            <a:r>
              <a:rPr sz="1600" spc="-10" dirty="0">
                <a:latin typeface="Calibri" panose="020F0502020204030204"/>
                <a:cs typeface="Calibri" panose="020F0502020204030204"/>
              </a:rPr>
              <a:t> </a:t>
            </a:r>
            <a:r>
              <a:rPr sz="1600" spc="-5" dirty="0">
                <a:latin typeface="Calibri" panose="020F0502020204030204"/>
                <a:cs typeface="Calibri" panose="020F0502020204030204"/>
              </a:rPr>
              <a:t>they </a:t>
            </a:r>
            <a:r>
              <a:rPr sz="1600" dirty="0">
                <a:latin typeface="Calibri" panose="020F0502020204030204"/>
                <a:cs typeface="Calibri" panose="020F0502020204030204"/>
              </a:rPr>
              <a:t>are</a:t>
            </a:r>
            <a:r>
              <a:rPr sz="1600" spc="-10" dirty="0">
                <a:latin typeface="Calibri" panose="020F0502020204030204"/>
                <a:cs typeface="Calibri" panose="020F0502020204030204"/>
              </a:rPr>
              <a:t> </a:t>
            </a:r>
            <a:r>
              <a:rPr sz="1600" spc="-5" dirty="0">
                <a:latin typeface="Calibri" panose="020F0502020204030204"/>
                <a:cs typeface="Calibri" panose="020F0502020204030204"/>
              </a:rPr>
              <a:t>sisters (according</a:t>
            </a:r>
            <a:r>
              <a:rPr sz="1600" spc="-10" dirty="0">
                <a:latin typeface="Calibri" panose="020F0502020204030204"/>
                <a:cs typeface="Calibri" panose="020F0502020204030204"/>
              </a:rPr>
              <a:t> </a:t>
            </a:r>
            <a:r>
              <a:rPr sz="1600" spc="-5" dirty="0">
                <a:latin typeface="Calibri" panose="020F0502020204030204"/>
                <a:cs typeface="Calibri" panose="020F0502020204030204"/>
              </a:rPr>
              <a:t>to our</a:t>
            </a:r>
            <a:r>
              <a:rPr sz="1600" spc="-10" dirty="0">
                <a:latin typeface="Calibri" panose="020F0502020204030204"/>
                <a:cs typeface="Calibri" panose="020F0502020204030204"/>
              </a:rPr>
              <a:t> </a:t>
            </a:r>
            <a:r>
              <a:rPr sz="1600" spc="-5" dirty="0">
                <a:latin typeface="Calibri" panose="020F0502020204030204"/>
                <a:cs typeface="Calibri" panose="020F0502020204030204"/>
              </a:rPr>
              <a:t>simplified relationship)</a:t>
            </a:r>
            <a:endParaRPr sz="1600">
              <a:latin typeface="Calibri" panose="020F0502020204030204"/>
              <a:cs typeface="Calibri" panose="020F0502020204030204"/>
            </a:endParaRPr>
          </a:p>
          <a:p>
            <a:pPr>
              <a:lnSpc>
                <a:spcPct val="100000"/>
              </a:lnSpc>
            </a:pPr>
            <a:endParaRPr sz="1600">
              <a:latin typeface="Calibri" panose="020F0502020204030204"/>
              <a:cs typeface="Calibri" panose="020F0502020204030204"/>
            </a:endParaRPr>
          </a:p>
          <a:p>
            <a:pPr marL="725170" marR="6432550">
              <a:lnSpc>
                <a:spcPct val="148000"/>
              </a:lnSpc>
              <a:spcBef>
                <a:spcPts val="1275"/>
              </a:spcBef>
            </a:pPr>
            <a:r>
              <a:rPr sz="1600" spc="-5" dirty="0">
                <a:latin typeface="Calibri" panose="020F0502020204030204"/>
                <a:cs typeface="Calibri" panose="020F0502020204030204"/>
              </a:rPr>
              <a:t>dark(X)&lt;=black(X) </a:t>
            </a:r>
            <a:r>
              <a:rPr sz="1600" dirty="0">
                <a:latin typeface="Calibri" panose="020F0502020204030204"/>
                <a:cs typeface="Calibri" panose="020F0502020204030204"/>
              </a:rPr>
              <a:t> </a:t>
            </a:r>
            <a:r>
              <a:rPr sz="1600" spc="-5" dirty="0">
                <a:latin typeface="Calibri" panose="020F0502020204030204"/>
                <a:cs typeface="Calibri" panose="020F0502020204030204"/>
              </a:rPr>
              <a:t>dark(X)&lt;=brown(X)</a:t>
            </a:r>
            <a:endParaRPr sz="1600">
              <a:latin typeface="Calibri" panose="020F0502020204030204"/>
              <a:cs typeface="Calibri" panose="020F0502020204030204"/>
            </a:endParaRPr>
          </a:p>
          <a:p>
            <a:pPr marL="725170">
              <a:lnSpc>
                <a:spcPct val="100000"/>
              </a:lnSpc>
              <a:spcBef>
                <a:spcPts val="930"/>
              </a:spcBef>
            </a:pPr>
            <a:r>
              <a:rPr sz="1600" spc="-5" dirty="0">
                <a:latin typeface="Calibri" panose="020F0502020204030204"/>
                <a:cs typeface="Calibri" panose="020F0502020204030204"/>
              </a:rPr>
              <a:t>Consider</a:t>
            </a:r>
            <a:r>
              <a:rPr sz="1600" spc="-10" dirty="0">
                <a:latin typeface="Calibri" panose="020F0502020204030204"/>
                <a:cs typeface="Calibri" panose="020F0502020204030204"/>
              </a:rPr>
              <a:t> </a:t>
            </a:r>
            <a:r>
              <a:rPr sz="1600" spc="-5" dirty="0">
                <a:latin typeface="Calibri" panose="020F0502020204030204"/>
                <a:cs typeface="Calibri" panose="020F0502020204030204"/>
              </a:rPr>
              <a:t>rule </a:t>
            </a:r>
            <a:r>
              <a:rPr sz="1600" dirty="0">
                <a:latin typeface="Calibri" panose="020F0502020204030204"/>
                <a:cs typeface="Calibri" panose="020F0502020204030204"/>
              </a:rPr>
              <a:t>1</a:t>
            </a:r>
            <a:r>
              <a:rPr sz="1600" spc="-10" dirty="0">
                <a:latin typeface="Calibri" panose="020F0502020204030204"/>
                <a:cs typeface="Calibri" panose="020F0502020204030204"/>
              </a:rPr>
              <a:t> </a:t>
            </a:r>
            <a:r>
              <a:rPr sz="1600" spc="-5" dirty="0">
                <a:latin typeface="Calibri" panose="020F0502020204030204"/>
                <a:cs typeface="Calibri" panose="020F0502020204030204"/>
              </a:rPr>
              <a:t>saying the</a:t>
            </a:r>
            <a:r>
              <a:rPr sz="1600" spc="-10" dirty="0">
                <a:latin typeface="Calibri" panose="020F0502020204030204"/>
                <a:cs typeface="Calibri" panose="020F0502020204030204"/>
              </a:rPr>
              <a:t> </a:t>
            </a:r>
            <a:r>
              <a:rPr sz="1600" dirty="0">
                <a:latin typeface="Calibri" panose="020F0502020204030204"/>
                <a:cs typeface="Calibri" panose="020F0502020204030204"/>
              </a:rPr>
              <a:t>animal</a:t>
            </a:r>
            <a:r>
              <a:rPr sz="1600" spc="-5" dirty="0">
                <a:latin typeface="Calibri" panose="020F0502020204030204"/>
                <a:cs typeface="Calibri" panose="020F0502020204030204"/>
              </a:rPr>
              <a:t> color is</a:t>
            </a:r>
            <a:r>
              <a:rPr sz="1600" spc="-10" dirty="0">
                <a:latin typeface="Calibri" panose="020F0502020204030204"/>
                <a:cs typeface="Calibri" panose="020F0502020204030204"/>
              </a:rPr>
              <a:t> </a:t>
            </a:r>
            <a:r>
              <a:rPr sz="1600" spc="-5" dirty="0">
                <a:latin typeface="Calibri" panose="020F0502020204030204"/>
                <a:cs typeface="Calibri" panose="020F0502020204030204"/>
              </a:rPr>
              <a:t>black its</a:t>
            </a:r>
            <a:r>
              <a:rPr sz="1600" spc="-10" dirty="0">
                <a:latin typeface="Calibri" panose="020F0502020204030204"/>
                <a:cs typeface="Calibri" panose="020F0502020204030204"/>
              </a:rPr>
              <a:t> </a:t>
            </a:r>
            <a:r>
              <a:rPr sz="1600" spc="-5" dirty="0">
                <a:latin typeface="Calibri" panose="020F0502020204030204"/>
                <a:cs typeface="Calibri" panose="020F0502020204030204"/>
              </a:rPr>
              <a:t>consider to</a:t>
            </a:r>
            <a:r>
              <a:rPr sz="1600" spc="-10" dirty="0">
                <a:latin typeface="Calibri" panose="020F0502020204030204"/>
                <a:cs typeface="Calibri" panose="020F0502020204030204"/>
              </a:rPr>
              <a:t> </a:t>
            </a:r>
            <a:r>
              <a:rPr sz="1600" spc="-5" dirty="0">
                <a:latin typeface="Calibri" panose="020F0502020204030204"/>
                <a:cs typeface="Calibri" panose="020F0502020204030204"/>
              </a:rPr>
              <a:t>be dark color</a:t>
            </a:r>
            <a:r>
              <a:rPr sz="1600" spc="-10" dirty="0">
                <a:latin typeface="Calibri" panose="020F0502020204030204"/>
                <a:cs typeface="Calibri" panose="020F0502020204030204"/>
              </a:rPr>
              <a:t> </a:t>
            </a:r>
            <a:r>
              <a:rPr sz="1600" dirty="0">
                <a:latin typeface="Calibri" panose="020F0502020204030204"/>
                <a:cs typeface="Calibri" panose="020F0502020204030204"/>
              </a:rPr>
              <a:t>animal</a:t>
            </a:r>
            <a:endParaRPr sz="1600">
              <a:latin typeface="Calibri" panose="020F0502020204030204"/>
              <a:cs typeface="Calibri" panose="020F0502020204030204"/>
            </a:endParaRPr>
          </a:p>
        </p:txBody>
      </p:sp>
      <p:sp>
        <p:nvSpPr>
          <p:cNvPr id="7" name="Slide Number Placeholder 6"/>
          <p:cNvSpPr>
            <a:spLocks noGrp="1"/>
          </p:cNvSpPr>
          <p:nvPr>
            <p:ph type="sldNum" sz="quarter" idx="7"/>
          </p:nvPr>
        </p:nvSpPr>
        <p:spPr/>
        <p:txBody>
          <a:bodyPr/>
          <a:lstStyle/>
          <a:p>
            <a:fld id="{B6F15528-21DE-4FAA-801E-634DDDAF4B2B}" type="slidenum">
              <a:rPr/>
              <a:t>42</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426173"/>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 dirty="0"/>
              <a:t>Logical</a:t>
            </a:r>
            <a:r>
              <a:rPr spc="-55" dirty="0"/>
              <a:t> </a:t>
            </a:r>
            <a:r>
              <a:rPr spc="-5" dirty="0"/>
              <a:t>Programming</a:t>
            </a:r>
            <a:r>
              <a:rPr spc="-50" dirty="0"/>
              <a:t> </a:t>
            </a:r>
            <a:r>
              <a:rPr spc="-5" dirty="0"/>
              <a:t>Paradigm</a:t>
            </a:r>
          </a:p>
        </p:txBody>
      </p:sp>
      <p:sp>
        <p:nvSpPr>
          <p:cNvPr id="4" name="object 4"/>
          <p:cNvSpPr/>
          <p:nvPr/>
        </p:nvSpPr>
        <p:spPr>
          <a:xfrm>
            <a:off x="0" y="6694114"/>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31953" y="490866"/>
            <a:ext cx="12105640" cy="6118860"/>
          </a:xfrm>
          <a:custGeom>
            <a:avLst/>
            <a:gdLst/>
            <a:ahLst/>
            <a:cxnLst/>
            <a:rect l="l" t="t" r="r" b="b"/>
            <a:pathLst>
              <a:path w="12105640" h="6118859">
                <a:moveTo>
                  <a:pt x="0" y="0"/>
                </a:moveTo>
                <a:lnTo>
                  <a:pt x="12105504" y="0"/>
                </a:lnTo>
                <a:lnTo>
                  <a:pt x="12105504" y="6118857"/>
                </a:lnTo>
                <a:lnTo>
                  <a:pt x="0" y="6118857"/>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82875" y="271775"/>
            <a:ext cx="11949430" cy="4368800"/>
          </a:xfrm>
          <a:prstGeom prst="rect">
            <a:avLst/>
          </a:prstGeom>
        </p:spPr>
        <p:txBody>
          <a:bodyPr vert="horz" wrap="square" lIns="0" tIns="130810" rIns="0" bIns="0" rtlCol="0">
            <a:spAutoFit/>
          </a:bodyPr>
          <a:lstStyle/>
          <a:p>
            <a:pPr marL="12700">
              <a:lnSpc>
                <a:spcPct val="100000"/>
              </a:lnSpc>
              <a:spcBef>
                <a:spcPts val="1030"/>
              </a:spcBef>
            </a:pPr>
            <a:r>
              <a:rPr sz="1600" b="1" spc="-5" dirty="0">
                <a:latin typeface="Calibri" panose="020F0502020204030204"/>
                <a:cs typeface="Calibri" panose="020F0502020204030204"/>
              </a:rPr>
              <a:t>Queries</a:t>
            </a:r>
            <a:endParaRPr sz="1600">
              <a:latin typeface="Calibri" panose="020F0502020204030204"/>
              <a:cs typeface="Calibri" panose="020F0502020204030204"/>
            </a:endParaRPr>
          </a:p>
          <a:p>
            <a:pPr marL="12700" marR="5080" indent="457200" algn="just">
              <a:lnSpc>
                <a:spcPct val="148000"/>
              </a:lnSpc>
            </a:pPr>
            <a:r>
              <a:rPr sz="1600" dirty="0">
                <a:latin typeface="Calibri" panose="020F0502020204030204"/>
                <a:cs typeface="Calibri" panose="020F0502020204030204"/>
              </a:rPr>
              <a:t>A </a:t>
            </a:r>
            <a:r>
              <a:rPr sz="1600" spc="-5" dirty="0">
                <a:latin typeface="Calibri" panose="020F0502020204030204"/>
                <a:cs typeface="Calibri" panose="020F0502020204030204"/>
              </a:rPr>
              <a:t>query is </a:t>
            </a:r>
            <a:r>
              <a:rPr sz="1600" dirty="0">
                <a:latin typeface="Calibri" panose="020F0502020204030204"/>
                <a:cs typeface="Calibri" panose="020F0502020204030204"/>
              </a:rPr>
              <a:t>a </a:t>
            </a:r>
            <a:r>
              <a:rPr sz="1600" spc="-5" dirty="0">
                <a:latin typeface="Calibri" panose="020F0502020204030204"/>
                <a:cs typeface="Calibri" panose="020F0502020204030204"/>
              </a:rPr>
              <a:t>statement starting with </a:t>
            </a:r>
            <a:r>
              <a:rPr sz="1600" dirty="0">
                <a:latin typeface="Calibri" panose="020F0502020204030204"/>
                <a:cs typeface="Calibri" panose="020F0502020204030204"/>
              </a:rPr>
              <a:t>a </a:t>
            </a:r>
            <a:r>
              <a:rPr sz="1600" spc="-5" dirty="0">
                <a:latin typeface="Calibri" panose="020F0502020204030204"/>
                <a:cs typeface="Calibri" panose="020F0502020204030204"/>
              </a:rPr>
              <a:t>predicate </a:t>
            </a:r>
            <a:r>
              <a:rPr sz="1600" dirty="0">
                <a:latin typeface="Calibri" panose="020F0502020204030204"/>
                <a:cs typeface="Calibri" panose="020F0502020204030204"/>
              </a:rPr>
              <a:t>and </a:t>
            </a:r>
            <a:r>
              <a:rPr sz="1600" spc="-5" dirty="0">
                <a:latin typeface="Calibri" panose="020F0502020204030204"/>
                <a:cs typeface="Calibri" panose="020F0502020204030204"/>
              </a:rPr>
              <a:t>followed by its </a:t>
            </a:r>
            <a:r>
              <a:rPr sz="1600" dirty="0">
                <a:latin typeface="Calibri" panose="020F0502020204030204"/>
                <a:cs typeface="Calibri" panose="020F0502020204030204"/>
              </a:rPr>
              <a:t>arguments, </a:t>
            </a:r>
            <a:r>
              <a:rPr sz="1600" spc="-5" dirty="0">
                <a:latin typeface="Calibri" panose="020F0502020204030204"/>
                <a:cs typeface="Calibri" panose="020F0502020204030204"/>
              </a:rPr>
              <a:t>some of which </a:t>
            </a:r>
            <a:r>
              <a:rPr sz="1600" dirty="0">
                <a:latin typeface="Calibri" panose="020F0502020204030204"/>
                <a:cs typeface="Calibri" panose="020F0502020204030204"/>
              </a:rPr>
              <a:t>are </a:t>
            </a:r>
            <a:r>
              <a:rPr sz="1600" spc="-5" dirty="0">
                <a:latin typeface="Calibri" panose="020F0502020204030204"/>
                <a:cs typeface="Calibri" panose="020F0502020204030204"/>
              </a:rPr>
              <a:t>variables. Similar to goals, the predicate </a:t>
            </a:r>
            <a:r>
              <a:rPr sz="1600" dirty="0">
                <a:latin typeface="Calibri" panose="020F0502020204030204"/>
                <a:cs typeface="Calibri" panose="020F0502020204030204"/>
              </a:rPr>
              <a:t> </a:t>
            </a:r>
            <a:r>
              <a:rPr sz="1600" spc="-5" dirty="0">
                <a:latin typeface="Calibri" panose="020F0502020204030204"/>
                <a:cs typeface="Calibri" panose="020F0502020204030204"/>
              </a:rPr>
              <a:t>of</a:t>
            </a:r>
            <a:r>
              <a:rPr sz="1600" spc="80" dirty="0">
                <a:latin typeface="Calibri" panose="020F0502020204030204"/>
                <a:cs typeface="Calibri" panose="020F0502020204030204"/>
              </a:rPr>
              <a:t> </a:t>
            </a:r>
            <a:r>
              <a:rPr sz="1600" dirty="0">
                <a:latin typeface="Calibri" panose="020F0502020204030204"/>
                <a:cs typeface="Calibri" panose="020F0502020204030204"/>
              </a:rPr>
              <a:t>a</a:t>
            </a:r>
            <a:r>
              <a:rPr sz="1600" spc="80" dirty="0">
                <a:latin typeface="Calibri" panose="020F0502020204030204"/>
                <a:cs typeface="Calibri" panose="020F0502020204030204"/>
              </a:rPr>
              <a:t> </a:t>
            </a:r>
            <a:r>
              <a:rPr sz="1600" spc="-5" dirty="0">
                <a:latin typeface="Calibri" panose="020F0502020204030204"/>
                <a:cs typeface="Calibri" panose="020F0502020204030204"/>
              </a:rPr>
              <a:t>valid</a:t>
            </a:r>
            <a:r>
              <a:rPr sz="1600" spc="80" dirty="0">
                <a:latin typeface="Calibri" panose="020F0502020204030204"/>
                <a:cs typeface="Calibri" panose="020F0502020204030204"/>
              </a:rPr>
              <a:t> </a:t>
            </a:r>
            <a:r>
              <a:rPr sz="1600" spc="-5" dirty="0">
                <a:latin typeface="Calibri" panose="020F0502020204030204"/>
                <a:cs typeface="Calibri" panose="020F0502020204030204"/>
              </a:rPr>
              <a:t>query</a:t>
            </a:r>
            <a:r>
              <a:rPr sz="1600" spc="80" dirty="0">
                <a:latin typeface="Calibri" panose="020F0502020204030204"/>
                <a:cs typeface="Calibri" panose="020F0502020204030204"/>
              </a:rPr>
              <a:t> </a:t>
            </a:r>
            <a:r>
              <a:rPr sz="1600" spc="-5" dirty="0">
                <a:latin typeface="Calibri" panose="020F0502020204030204"/>
                <a:cs typeface="Calibri" panose="020F0502020204030204"/>
              </a:rPr>
              <a:t>must</a:t>
            </a:r>
            <a:r>
              <a:rPr sz="1600" spc="80" dirty="0">
                <a:latin typeface="Calibri" panose="020F0502020204030204"/>
                <a:cs typeface="Calibri" panose="020F0502020204030204"/>
              </a:rPr>
              <a:t> </a:t>
            </a:r>
            <a:r>
              <a:rPr sz="1600" spc="-5" dirty="0">
                <a:latin typeface="Calibri" panose="020F0502020204030204"/>
                <a:cs typeface="Calibri" panose="020F0502020204030204"/>
              </a:rPr>
              <a:t>have</a:t>
            </a:r>
            <a:r>
              <a:rPr sz="1600" spc="80" dirty="0">
                <a:latin typeface="Calibri" panose="020F0502020204030204"/>
                <a:cs typeface="Calibri" panose="020F0502020204030204"/>
              </a:rPr>
              <a:t> </a:t>
            </a:r>
            <a:r>
              <a:rPr sz="1600" dirty="0">
                <a:latin typeface="Calibri" panose="020F0502020204030204"/>
                <a:cs typeface="Calibri" panose="020F0502020204030204"/>
              </a:rPr>
              <a:t>appeared</a:t>
            </a:r>
            <a:r>
              <a:rPr sz="1600" spc="80" dirty="0">
                <a:latin typeface="Calibri" panose="020F0502020204030204"/>
                <a:cs typeface="Calibri" panose="020F0502020204030204"/>
              </a:rPr>
              <a:t> </a:t>
            </a:r>
            <a:r>
              <a:rPr sz="1600" spc="-5" dirty="0">
                <a:latin typeface="Calibri" panose="020F0502020204030204"/>
                <a:cs typeface="Calibri" panose="020F0502020204030204"/>
              </a:rPr>
              <a:t>in</a:t>
            </a:r>
            <a:r>
              <a:rPr sz="1600" spc="80" dirty="0">
                <a:latin typeface="Calibri" panose="020F0502020204030204"/>
                <a:cs typeface="Calibri" panose="020F0502020204030204"/>
              </a:rPr>
              <a:t> </a:t>
            </a:r>
            <a:r>
              <a:rPr sz="1600" dirty="0">
                <a:latin typeface="Calibri" panose="020F0502020204030204"/>
                <a:cs typeface="Calibri" panose="020F0502020204030204"/>
              </a:rPr>
              <a:t>at</a:t>
            </a:r>
            <a:r>
              <a:rPr sz="1600" spc="80" dirty="0">
                <a:latin typeface="Calibri" panose="020F0502020204030204"/>
                <a:cs typeface="Calibri" panose="020F0502020204030204"/>
              </a:rPr>
              <a:t> </a:t>
            </a:r>
            <a:r>
              <a:rPr sz="1600" spc="-5" dirty="0">
                <a:latin typeface="Calibri" panose="020F0502020204030204"/>
                <a:cs typeface="Calibri" panose="020F0502020204030204"/>
              </a:rPr>
              <a:t>least</a:t>
            </a:r>
            <a:r>
              <a:rPr sz="1600" spc="80" dirty="0">
                <a:latin typeface="Calibri" panose="020F0502020204030204"/>
                <a:cs typeface="Calibri" panose="020F0502020204030204"/>
              </a:rPr>
              <a:t> </a:t>
            </a:r>
            <a:r>
              <a:rPr sz="1600" spc="-5" dirty="0">
                <a:latin typeface="Calibri" panose="020F0502020204030204"/>
                <a:cs typeface="Calibri" panose="020F0502020204030204"/>
              </a:rPr>
              <a:t>one</a:t>
            </a:r>
            <a:r>
              <a:rPr sz="1600" spc="80" dirty="0">
                <a:latin typeface="Calibri" panose="020F0502020204030204"/>
                <a:cs typeface="Calibri" panose="020F0502020204030204"/>
              </a:rPr>
              <a:t> </a:t>
            </a:r>
            <a:r>
              <a:rPr sz="1600" spc="-5" dirty="0">
                <a:latin typeface="Calibri" panose="020F0502020204030204"/>
                <a:cs typeface="Calibri" panose="020F0502020204030204"/>
              </a:rPr>
              <a:t>fact</a:t>
            </a:r>
            <a:r>
              <a:rPr sz="1600" spc="80" dirty="0">
                <a:latin typeface="Calibri" panose="020F0502020204030204"/>
                <a:cs typeface="Calibri" panose="020F0502020204030204"/>
              </a:rPr>
              <a:t> </a:t>
            </a:r>
            <a:r>
              <a:rPr sz="1600" spc="-5" dirty="0">
                <a:latin typeface="Calibri" panose="020F0502020204030204"/>
                <a:cs typeface="Calibri" panose="020F0502020204030204"/>
              </a:rPr>
              <a:t>or</a:t>
            </a:r>
            <a:r>
              <a:rPr sz="1600" spc="80" dirty="0">
                <a:latin typeface="Calibri" panose="020F0502020204030204"/>
                <a:cs typeface="Calibri" panose="020F0502020204030204"/>
              </a:rPr>
              <a:t> </a:t>
            </a:r>
            <a:r>
              <a:rPr sz="1600" spc="-5" dirty="0">
                <a:latin typeface="Calibri" panose="020F0502020204030204"/>
                <a:cs typeface="Calibri" panose="020F0502020204030204"/>
              </a:rPr>
              <a:t>rule</a:t>
            </a:r>
            <a:r>
              <a:rPr sz="1600" spc="85" dirty="0">
                <a:latin typeface="Calibri" panose="020F0502020204030204"/>
                <a:cs typeface="Calibri" panose="020F0502020204030204"/>
              </a:rPr>
              <a:t> </a:t>
            </a:r>
            <a:r>
              <a:rPr sz="1600" spc="-5" dirty="0">
                <a:latin typeface="Calibri" panose="020F0502020204030204"/>
                <a:cs typeface="Calibri" panose="020F0502020204030204"/>
              </a:rPr>
              <a:t>in</a:t>
            </a:r>
            <a:r>
              <a:rPr sz="1600" spc="80" dirty="0">
                <a:latin typeface="Calibri" panose="020F0502020204030204"/>
                <a:cs typeface="Calibri" panose="020F0502020204030204"/>
              </a:rPr>
              <a:t> </a:t>
            </a:r>
            <a:r>
              <a:rPr sz="1600" spc="-5" dirty="0">
                <a:latin typeface="Calibri" panose="020F0502020204030204"/>
                <a:cs typeface="Calibri" panose="020F0502020204030204"/>
              </a:rPr>
              <a:t>the</a:t>
            </a:r>
            <a:r>
              <a:rPr sz="1600" spc="80" dirty="0">
                <a:latin typeface="Calibri" panose="020F0502020204030204"/>
                <a:cs typeface="Calibri" panose="020F0502020204030204"/>
              </a:rPr>
              <a:t> </a:t>
            </a:r>
            <a:r>
              <a:rPr sz="1600" spc="-5" dirty="0">
                <a:latin typeface="Calibri" panose="020F0502020204030204"/>
                <a:cs typeface="Calibri" panose="020F0502020204030204"/>
              </a:rPr>
              <a:t>consulted</a:t>
            </a:r>
            <a:r>
              <a:rPr sz="1600" spc="80" dirty="0">
                <a:latin typeface="Calibri" panose="020F0502020204030204"/>
                <a:cs typeface="Calibri" panose="020F0502020204030204"/>
              </a:rPr>
              <a:t> </a:t>
            </a:r>
            <a:r>
              <a:rPr sz="1600" spc="-5" dirty="0">
                <a:latin typeface="Calibri" panose="020F0502020204030204"/>
                <a:cs typeface="Calibri" panose="020F0502020204030204"/>
              </a:rPr>
              <a:t>program,</a:t>
            </a:r>
            <a:r>
              <a:rPr sz="1600" spc="80" dirty="0">
                <a:latin typeface="Calibri" panose="020F0502020204030204"/>
                <a:cs typeface="Calibri" panose="020F0502020204030204"/>
              </a:rPr>
              <a:t> </a:t>
            </a:r>
            <a:r>
              <a:rPr sz="1600" dirty="0">
                <a:latin typeface="Calibri" panose="020F0502020204030204"/>
                <a:cs typeface="Calibri" panose="020F0502020204030204"/>
              </a:rPr>
              <a:t>and</a:t>
            </a:r>
            <a:r>
              <a:rPr sz="1600" spc="80" dirty="0">
                <a:latin typeface="Calibri" panose="020F0502020204030204"/>
                <a:cs typeface="Calibri" panose="020F0502020204030204"/>
              </a:rPr>
              <a:t> </a:t>
            </a:r>
            <a:r>
              <a:rPr sz="1600" spc="-5" dirty="0">
                <a:latin typeface="Calibri" panose="020F0502020204030204"/>
                <a:cs typeface="Calibri" panose="020F0502020204030204"/>
              </a:rPr>
              <a:t>the</a:t>
            </a:r>
            <a:r>
              <a:rPr sz="1600" spc="80" dirty="0">
                <a:latin typeface="Calibri" panose="020F0502020204030204"/>
                <a:cs typeface="Calibri" panose="020F0502020204030204"/>
              </a:rPr>
              <a:t> </a:t>
            </a:r>
            <a:r>
              <a:rPr sz="1600" spc="-5" dirty="0">
                <a:latin typeface="Calibri" panose="020F0502020204030204"/>
                <a:cs typeface="Calibri" panose="020F0502020204030204"/>
              </a:rPr>
              <a:t>number</a:t>
            </a:r>
            <a:r>
              <a:rPr sz="1600" spc="80" dirty="0">
                <a:latin typeface="Calibri" panose="020F0502020204030204"/>
                <a:cs typeface="Calibri" panose="020F0502020204030204"/>
              </a:rPr>
              <a:t> </a:t>
            </a:r>
            <a:r>
              <a:rPr sz="1600" spc="-5" dirty="0">
                <a:latin typeface="Calibri" panose="020F0502020204030204"/>
                <a:cs typeface="Calibri" panose="020F0502020204030204"/>
              </a:rPr>
              <a:t>of</a:t>
            </a:r>
            <a:r>
              <a:rPr sz="1600" spc="80" dirty="0">
                <a:latin typeface="Calibri" panose="020F0502020204030204"/>
                <a:cs typeface="Calibri" panose="020F0502020204030204"/>
              </a:rPr>
              <a:t> </a:t>
            </a:r>
            <a:r>
              <a:rPr sz="1600" dirty="0">
                <a:latin typeface="Calibri" panose="020F0502020204030204"/>
                <a:cs typeface="Calibri" panose="020F0502020204030204"/>
              </a:rPr>
              <a:t>arguments</a:t>
            </a:r>
            <a:r>
              <a:rPr sz="1600" spc="80" dirty="0">
                <a:latin typeface="Calibri" panose="020F0502020204030204"/>
                <a:cs typeface="Calibri" panose="020F0502020204030204"/>
              </a:rPr>
              <a:t> </a:t>
            </a:r>
            <a:r>
              <a:rPr sz="1600" spc="-5" dirty="0">
                <a:latin typeface="Calibri" panose="020F0502020204030204"/>
                <a:cs typeface="Calibri" panose="020F0502020204030204"/>
              </a:rPr>
              <a:t>in</a:t>
            </a:r>
            <a:r>
              <a:rPr sz="1600" spc="80" dirty="0">
                <a:latin typeface="Calibri" panose="020F0502020204030204"/>
                <a:cs typeface="Calibri" panose="020F0502020204030204"/>
              </a:rPr>
              <a:t> </a:t>
            </a:r>
            <a:r>
              <a:rPr sz="1600" spc="-5" dirty="0">
                <a:latin typeface="Calibri" panose="020F0502020204030204"/>
                <a:cs typeface="Calibri" panose="020F0502020204030204"/>
              </a:rPr>
              <a:t>the</a:t>
            </a:r>
            <a:r>
              <a:rPr sz="1600" spc="80" dirty="0">
                <a:latin typeface="Calibri" panose="020F0502020204030204"/>
                <a:cs typeface="Calibri" panose="020F0502020204030204"/>
              </a:rPr>
              <a:t> </a:t>
            </a:r>
            <a:r>
              <a:rPr sz="1600" spc="-5" dirty="0">
                <a:latin typeface="Calibri" panose="020F0502020204030204"/>
                <a:cs typeface="Calibri" panose="020F0502020204030204"/>
              </a:rPr>
              <a:t>query</a:t>
            </a:r>
            <a:r>
              <a:rPr sz="1600" spc="80" dirty="0">
                <a:latin typeface="Calibri" panose="020F0502020204030204"/>
                <a:cs typeface="Calibri" panose="020F0502020204030204"/>
              </a:rPr>
              <a:t> </a:t>
            </a:r>
            <a:r>
              <a:rPr sz="1600" spc="-5" dirty="0">
                <a:latin typeface="Calibri" panose="020F0502020204030204"/>
                <a:cs typeface="Calibri" panose="020F0502020204030204"/>
              </a:rPr>
              <a:t>must</a:t>
            </a:r>
            <a:r>
              <a:rPr sz="1600" spc="80" dirty="0">
                <a:latin typeface="Calibri" panose="020F0502020204030204"/>
                <a:cs typeface="Calibri" panose="020F0502020204030204"/>
              </a:rPr>
              <a:t> </a:t>
            </a:r>
            <a:r>
              <a:rPr sz="1600" spc="-5" dirty="0">
                <a:latin typeface="Calibri" panose="020F0502020204030204"/>
                <a:cs typeface="Calibri" panose="020F0502020204030204"/>
              </a:rPr>
              <a:t>be </a:t>
            </a:r>
            <a:r>
              <a:rPr sz="1600" dirty="0">
                <a:latin typeface="Calibri" panose="020F0502020204030204"/>
                <a:cs typeface="Calibri" panose="020F0502020204030204"/>
              </a:rPr>
              <a:t> </a:t>
            </a:r>
            <a:r>
              <a:rPr sz="1600" spc="-5" dirty="0">
                <a:latin typeface="Calibri" panose="020F0502020204030204"/>
                <a:cs typeface="Calibri" panose="020F0502020204030204"/>
              </a:rPr>
              <a:t>the</a:t>
            </a:r>
            <a:r>
              <a:rPr sz="1600" spc="-10" dirty="0">
                <a:latin typeface="Calibri" panose="020F0502020204030204"/>
                <a:cs typeface="Calibri" panose="020F0502020204030204"/>
              </a:rPr>
              <a:t> </a:t>
            </a:r>
            <a:r>
              <a:rPr sz="1600" spc="-5" dirty="0">
                <a:latin typeface="Calibri" panose="020F0502020204030204"/>
                <a:cs typeface="Calibri" panose="020F0502020204030204"/>
              </a:rPr>
              <a:t>same </a:t>
            </a:r>
            <a:r>
              <a:rPr sz="1600" dirty="0">
                <a:latin typeface="Calibri" panose="020F0502020204030204"/>
                <a:cs typeface="Calibri" panose="020F0502020204030204"/>
              </a:rPr>
              <a:t>as</a:t>
            </a:r>
            <a:r>
              <a:rPr sz="1600" spc="-5" dirty="0">
                <a:latin typeface="Calibri" panose="020F0502020204030204"/>
                <a:cs typeface="Calibri" panose="020F0502020204030204"/>
              </a:rPr>
              <a:t> that </a:t>
            </a:r>
            <a:r>
              <a:rPr sz="1600" dirty="0">
                <a:latin typeface="Calibri" panose="020F0502020204030204"/>
                <a:cs typeface="Calibri" panose="020F0502020204030204"/>
              </a:rPr>
              <a:t>appears</a:t>
            </a:r>
            <a:r>
              <a:rPr sz="1600" spc="-5" dirty="0">
                <a:latin typeface="Calibri" panose="020F0502020204030204"/>
                <a:cs typeface="Calibri" panose="020F0502020204030204"/>
              </a:rPr>
              <a:t> in the consulted program.</a:t>
            </a:r>
            <a:endParaRPr sz="1600">
              <a:latin typeface="Calibri" panose="020F0502020204030204"/>
              <a:cs typeface="Calibri" panose="020F0502020204030204"/>
            </a:endParaRPr>
          </a:p>
          <a:p>
            <a:pPr marL="469900">
              <a:lnSpc>
                <a:spcPct val="100000"/>
              </a:lnSpc>
              <a:spcBef>
                <a:spcPts val="930"/>
              </a:spcBef>
            </a:pPr>
            <a:r>
              <a:rPr sz="1600" spc="-5" dirty="0">
                <a:latin typeface="Calibri" panose="020F0502020204030204"/>
                <a:cs typeface="Calibri" panose="020F0502020204030204"/>
              </a:rPr>
              <a:t>print(pyDatalog.ask('father_of(X,jess)'))</a:t>
            </a:r>
            <a:endParaRPr sz="1600">
              <a:latin typeface="Calibri" panose="020F0502020204030204"/>
              <a:cs typeface="Calibri" panose="020F0502020204030204"/>
            </a:endParaRPr>
          </a:p>
          <a:p>
            <a:pPr marL="12700">
              <a:lnSpc>
                <a:spcPct val="100000"/>
              </a:lnSpc>
              <a:spcBef>
                <a:spcPts val="930"/>
              </a:spcBef>
            </a:pPr>
            <a:r>
              <a:rPr sz="1600" b="1" spc="-5" dirty="0">
                <a:latin typeface="Calibri" panose="020F0502020204030204"/>
                <a:cs typeface="Calibri" panose="020F0502020204030204"/>
              </a:rPr>
              <a:t>Output:</a:t>
            </a:r>
            <a:endParaRPr sz="1600">
              <a:latin typeface="Calibri" panose="020F0502020204030204"/>
              <a:cs typeface="Calibri" panose="020F0502020204030204"/>
            </a:endParaRPr>
          </a:p>
          <a:p>
            <a:pPr marL="469900" marR="10756900">
              <a:lnSpc>
                <a:spcPct val="148000"/>
              </a:lnSpc>
            </a:pPr>
            <a:r>
              <a:rPr sz="1600" spc="-5" dirty="0">
                <a:latin typeface="Calibri" panose="020F0502020204030204"/>
                <a:cs typeface="Calibri" panose="020F0502020204030204"/>
              </a:rPr>
              <a:t>{('jack',)}  </a:t>
            </a:r>
            <a:r>
              <a:rPr sz="1600" dirty="0">
                <a:latin typeface="Calibri" panose="020F0502020204030204"/>
                <a:cs typeface="Calibri" panose="020F0502020204030204"/>
              </a:rPr>
              <a:t>X</a:t>
            </a:r>
            <a:endParaRPr sz="1600">
              <a:latin typeface="Calibri" panose="020F0502020204030204"/>
              <a:cs typeface="Calibri" panose="020F0502020204030204"/>
            </a:endParaRPr>
          </a:p>
          <a:p>
            <a:pPr marL="469900">
              <a:lnSpc>
                <a:spcPct val="100000"/>
              </a:lnSpc>
              <a:spcBef>
                <a:spcPts val="930"/>
              </a:spcBef>
            </a:pPr>
            <a:r>
              <a:rPr sz="1600" spc="-5" dirty="0">
                <a:latin typeface="Calibri" panose="020F0502020204030204"/>
                <a:cs typeface="Calibri" panose="020F0502020204030204"/>
              </a:rPr>
              <a:t>print(father_of(X,'jess'))</a:t>
            </a:r>
            <a:endParaRPr sz="1600">
              <a:latin typeface="Calibri" panose="020F0502020204030204"/>
              <a:cs typeface="Calibri" panose="020F0502020204030204"/>
            </a:endParaRPr>
          </a:p>
          <a:p>
            <a:pPr marL="12700">
              <a:lnSpc>
                <a:spcPct val="100000"/>
              </a:lnSpc>
              <a:spcBef>
                <a:spcPts val="930"/>
              </a:spcBef>
            </a:pPr>
            <a:r>
              <a:rPr sz="1600" b="1" spc="-5" dirty="0">
                <a:latin typeface="Calibri" panose="020F0502020204030204"/>
                <a:cs typeface="Calibri" panose="020F0502020204030204"/>
              </a:rPr>
              <a:t>Output:</a:t>
            </a:r>
            <a:endParaRPr sz="1600">
              <a:latin typeface="Calibri" panose="020F0502020204030204"/>
              <a:cs typeface="Calibri" panose="020F0502020204030204"/>
            </a:endParaRPr>
          </a:p>
          <a:p>
            <a:pPr marL="469900" marR="11147425">
              <a:lnSpc>
                <a:spcPct val="148000"/>
              </a:lnSpc>
            </a:pPr>
            <a:r>
              <a:rPr sz="1600" spc="-5" dirty="0">
                <a:latin typeface="Calibri" panose="020F0502020204030204"/>
                <a:cs typeface="Calibri" panose="020F0502020204030204"/>
              </a:rPr>
              <a:t>jack  </a:t>
            </a:r>
            <a:r>
              <a:rPr sz="1600" dirty="0">
                <a:latin typeface="Calibri" panose="020F0502020204030204"/>
                <a:cs typeface="Calibri" panose="020F0502020204030204"/>
              </a:rPr>
              <a:t>X</a:t>
            </a:r>
            <a:endParaRPr sz="1600">
              <a:latin typeface="Calibri" panose="020F0502020204030204"/>
              <a:cs typeface="Calibri" panose="020F0502020204030204"/>
            </a:endParaRPr>
          </a:p>
        </p:txBody>
      </p:sp>
      <p:sp>
        <p:nvSpPr>
          <p:cNvPr id="7" name="Slide Number Placeholder 6"/>
          <p:cNvSpPr>
            <a:spLocks noGrp="1"/>
          </p:cNvSpPr>
          <p:nvPr>
            <p:ph type="sldNum" sz="quarter" idx="7"/>
          </p:nvPr>
        </p:nvSpPr>
        <p:spPr/>
        <p:txBody>
          <a:bodyPr/>
          <a:lstStyle/>
          <a:p>
            <a:fld id="{B6F15528-21DE-4FAA-801E-634DDDAF4B2B}" type="slidenum">
              <a:rPr/>
              <a:t>43</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740" y="34162"/>
            <a:ext cx="12113260" cy="391160"/>
          </a:xfrm>
          <a:prstGeom prst="rect">
            <a:avLst/>
          </a:prstGeom>
        </p:spPr>
        <p:txBody>
          <a:bodyPr vert="horz" wrap="square" lIns="0" tIns="12700" rIns="0" bIns="0" rtlCol="0">
            <a:spAutoFit/>
          </a:bodyPr>
          <a:lstStyle/>
          <a:p>
            <a:pPr marL="12700">
              <a:lnSpc>
                <a:spcPct val="100000"/>
              </a:lnSpc>
              <a:spcBef>
                <a:spcPts val="100"/>
              </a:spcBef>
              <a:tabLst>
                <a:tab pos="12099925" algn="l"/>
              </a:tabLst>
            </a:pPr>
            <a:r>
              <a:rPr u="heavy" spc="-5" dirty="0">
                <a:uFill>
                  <a:solidFill>
                    <a:srgbClr val="1F97C8"/>
                  </a:solidFill>
                </a:uFill>
              </a:rPr>
              <a:t>Anatomy</a:t>
            </a:r>
            <a:r>
              <a:rPr u="heavy" spc="-25" dirty="0">
                <a:uFill>
                  <a:solidFill>
                    <a:srgbClr val="1F97C8"/>
                  </a:solidFill>
                </a:uFill>
              </a:rPr>
              <a:t> </a:t>
            </a:r>
            <a:r>
              <a:rPr u="heavy" spc="-5" dirty="0">
                <a:uFill>
                  <a:solidFill>
                    <a:srgbClr val="1F97C8"/>
                  </a:solidFill>
                </a:uFill>
              </a:rPr>
              <a:t>Logical</a:t>
            </a:r>
            <a:r>
              <a:rPr u="heavy" spc="-30" dirty="0">
                <a:uFill>
                  <a:solidFill>
                    <a:srgbClr val="1F97C8"/>
                  </a:solidFill>
                </a:uFill>
              </a:rPr>
              <a:t> </a:t>
            </a:r>
            <a:r>
              <a:rPr u="heavy" spc="-5" dirty="0">
                <a:uFill>
                  <a:solidFill>
                    <a:srgbClr val="1F97C8"/>
                  </a:solidFill>
                </a:uFill>
              </a:rPr>
              <a:t>Programming</a:t>
            </a:r>
            <a:r>
              <a:rPr u="heavy" spc="-30" dirty="0">
                <a:uFill>
                  <a:solidFill>
                    <a:srgbClr val="1F97C8"/>
                  </a:solidFill>
                </a:uFill>
              </a:rPr>
              <a:t> </a:t>
            </a:r>
            <a:r>
              <a:rPr u="heavy" spc="-5" dirty="0">
                <a:uFill>
                  <a:solidFill>
                    <a:srgbClr val="1F97C8"/>
                  </a:solidFill>
                </a:uFill>
              </a:rPr>
              <a:t>Paradigm	</a:t>
            </a:r>
          </a:p>
        </p:txBody>
      </p:sp>
      <p:sp>
        <p:nvSpPr>
          <p:cNvPr id="3" name="object 3"/>
          <p:cNvSpPr/>
          <p:nvPr/>
        </p:nvSpPr>
        <p:spPr>
          <a:xfrm>
            <a:off x="0" y="6694114"/>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4" name="object 4"/>
          <p:cNvSpPr/>
          <p:nvPr/>
        </p:nvSpPr>
        <p:spPr>
          <a:xfrm>
            <a:off x="0" y="500673"/>
            <a:ext cx="12105640" cy="6118860"/>
          </a:xfrm>
          <a:custGeom>
            <a:avLst/>
            <a:gdLst/>
            <a:ahLst/>
            <a:cxnLst/>
            <a:rect l="l" t="t" r="r" b="b"/>
            <a:pathLst>
              <a:path w="12105640" h="6118859">
                <a:moveTo>
                  <a:pt x="0" y="0"/>
                </a:moveTo>
                <a:lnTo>
                  <a:pt x="12105504" y="0"/>
                </a:lnTo>
                <a:lnTo>
                  <a:pt x="12105504" y="6118857"/>
                </a:lnTo>
                <a:lnTo>
                  <a:pt x="0" y="6118857"/>
                </a:lnTo>
                <a:lnTo>
                  <a:pt x="0" y="0"/>
                </a:lnTo>
                <a:close/>
              </a:path>
            </a:pathLst>
          </a:custGeom>
          <a:ln w="12699">
            <a:solidFill>
              <a:srgbClr val="00B0F0"/>
            </a:solidFill>
          </a:ln>
        </p:spPr>
        <p:txBody>
          <a:bodyPr wrap="square" lIns="0" tIns="0" rIns="0" bIns="0" rtlCol="0"/>
          <a:lstStyle/>
          <a:p>
            <a:endParaRPr/>
          </a:p>
        </p:txBody>
      </p:sp>
      <p:sp>
        <p:nvSpPr>
          <p:cNvPr id="5" name="object 5"/>
          <p:cNvSpPr txBox="1"/>
          <p:nvPr/>
        </p:nvSpPr>
        <p:spPr>
          <a:xfrm>
            <a:off x="1883101" y="3131054"/>
            <a:ext cx="341630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Calibri" panose="020F0502020204030204"/>
                <a:cs typeface="Calibri" panose="020F0502020204030204"/>
              </a:rPr>
              <a:t>son(X,Y)&lt;=</a:t>
            </a:r>
            <a:r>
              <a:rPr sz="2000" spc="-35" dirty="0">
                <a:latin typeface="Calibri" panose="020F0502020204030204"/>
                <a:cs typeface="Calibri" panose="020F0502020204030204"/>
              </a:rPr>
              <a:t> </a:t>
            </a:r>
            <a:r>
              <a:rPr sz="2000" spc="-5" dirty="0">
                <a:latin typeface="Calibri" panose="020F0502020204030204"/>
                <a:cs typeface="Calibri" panose="020F0502020204030204"/>
              </a:rPr>
              <a:t>male(X)</a:t>
            </a:r>
            <a:r>
              <a:rPr sz="2000" spc="-30" dirty="0">
                <a:latin typeface="Calibri" panose="020F0502020204030204"/>
                <a:cs typeface="Calibri" panose="020F0502020204030204"/>
              </a:rPr>
              <a:t> </a:t>
            </a:r>
            <a:r>
              <a:rPr sz="2000" dirty="0">
                <a:latin typeface="Calibri" panose="020F0502020204030204"/>
                <a:cs typeface="Calibri" panose="020F0502020204030204"/>
              </a:rPr>
              <a:t>&amp;</a:t>
            </a:r>
            <a:r>
              <a:rPr sz="2000" spc="-30" dirty="0">
                <a:latin typeface="Calibri" panose="020F0502020204030204"/>
                <a:cs typeface="Calibri" panose="020F0502020204030204"/>
              </a:rPr>
              <a:t> </a:t>
            </a:r>
            <a:r>
              <a:rPr sz="2000" spc="-5" dirty="0">
                <a:latin typeface="Calibri" panose="020F0502020204030204"/>
                <a:cs typeface="Calibri" panose="020F0502020204030204"/>
              </a:rPr>
              <a:t>parent(Y,X)</a:t>
            </a:r>
            <a:endParaRPr sz="2000">
              <a:latin typeface="Calibri" panose="020F0502020204030204"/>
              <a:cs typeface="Calibri" panose="020F0502020204030204"/>
            </a:endParaRPr>
          </a:p>
        </p:txBody>
      </p:sp>
      <p:grpSp>
        <p:nvGrpSpPr>
          <p:cNvPr id="6" name="object 6"/>
          <p:cNvGrpSpPr/>
          <p:nvPr/>
        </p:nvGrpSpPr>
        <p:grpSpPr>
          <a:xfrm>
            <a:off x="3281867" y="787046"/>
            <a:ext cx="1227455" cy="772795"/>
            <a:chOff x="3281867" y="787046"/>
            <a:chExt cx="1227455" cy="772795"/>
          </a:xfrm>
        </p:grpSpPr>
        <p:sp>
          <p:nvSpPr>
            <p:cNvPr id="7" name="object 7"/>
            <p:cNvSpPr/>
            <p:nvPr/>
          </p:nvSpPr>
          <p:spPr>
            <a:xfrm>
              <a:off x="3288217" y="793396"/>
              <a:ext cx="1214755" cy="760095"/>
            </a:xfrm>
            <a:custGeom>
              <a:avLst/>
              <a:gdLst/>
              <a:ahLst/>
              <a:cxnLst/>
              <a:rect l="l" t="t" r="r" b="b"/>
              <a:pathLst>
                <a:path w="1214754" h="760094">
                  <a:moveTo>
                    <a:pt x="354284" y="759700"/>
                  </a:moveTo>
                  <a:lnTo>
                    <a:pt x="308881" y="631687"/>
                  </a:lnTo>
                  <a:lnTo>
                    <a:pt x="253000" y="611867"/>
                  </a:lnTo>
                  <a:lnTo>
                    <a:pt x="202226" y="589233"/>
                  </a:lnTo>
                  <a:lnTo>
                    <a:pt x="156727" y="564066"/>
                  </a:lnTo>
                  <a:lnTo>
                    <a:pt x="116670" y="536649"/>
                  </a:lnTo>
                  <a:lnTo>
                    <a:pt x="82223" y="507262"/>
                  </a:lnTo>
                  <a:lnTo>
                    <a:pt x="53554" y="476187"/>
                  </a:lnTo>
                  <a:lnTo>
                    <a:pt x="30829" y="443705"/>
                  </a:lnTo>
                  <a:lnTo>
                    <a:pt x="3885" y="375647"/>
                  </a:lnTo>
                  <a:lnTo>
                    <a:pt x="0" y="340634"/>
                  </a:lnTo>
                  <a:lnTo>
                    <a:pt x="2729" y="305340"/>
                  </a:lnTo>
                  <a:lnTo>
                    <a:pt x="28704" y="235036"/>
                  </a:lnTo>
                  <a:lnTo>
                    <a:pt x="52284" y="200588"/>
                  </a:lnTo>
                  <a:lnTo>
                    <a:pt x="104868" y="147864"/>
                  </a:lnTo>
                  <a:lnTo>
                    <a:pt x="136597" y="124149"/>
                  </a:lnTo>
                  <a:lnTo>
                    <a:pt x="171587" y="102289"/>
                  </a:lnTo>
                  <a:lnTo>
                    <a:pt x="209566" y="82349"/>
                  </a:lnTo>
                  <a:lnTo>
                    <a:pt x="250262" y="64396"/>
                  </a:lnTo>
                  <a:lnTo>
                    <a:pt x="293402" y="48499"/>
                  </a:lnTo>
                  <a:lnTo>
                    <a:pt x="338713" y="34722"/>
                  </a:lnTo>
                  <a:lnTo>
                    <a:pt x="385924" y="23134"/>
                  </a:lnTo>
                  <a:lnTo>
                    <a:pt x="434762" y="13800"/>
                  </a:lnTo>
                  <a:lnTo>
                    <a:pt x="484955" y="6789"/>
                  </a:lnTo>
                  <a:lnTo>
                    <a:pt x="536230" y="2166"/>
                  </a:lnTo>
                  <a:lnTo>
                    <a:pt x="588314" y="0"/>
                  </a:lnTo>
                  <a:lnTo>
                    <a:pt x="640936" y="355"/>
                  </a:lnTo>
                  <a:lnTo>
                    <a:pt x="693824" y="3300"/>
                  </a:lnTo>
                  <a:lnTo>
                    <a:pt x="746704" y="8901"/>
                  </a:lnTo>
                  <a:lnTo>
                    <a:pt x="799304" y="17225"/>
                  </a:lnTo>
                  <a:lnTo>
                    <a:pt x="860959" y="30751"/>
                  </a:lnTo>
                  <a:lnTo>
                    <a:pt x="918566" y="47582"/>
                  </a:lnTo>
                  <a:lnTo>
                    <a:pt x="971864" y="67458"/>
                  </a:lnTo>
                  <a:lnTo>
                    <a:pt x="1020592" y="90121"/>
                  </a:lnTo>
                  <a:lnTo>
                    <a:pt x="1064488" y="115313"/>
                  </a:lnTo>
                  <a:lnTo>
                    <a:pt x="1103293" y="142775"/>
                  </a:lnTo>
                  <a:lnTo>
                    <a:pt x="1136745" y="172248"/>
                  </a:lnTo>
                  <a:lnTo>
                    <a:pt x="1164583" y="203475"/>
                  </a:lnTo>
                  <a:lnTo>
                    <a:pt x="1186545" y="236196"/>
                  </a:lnTo>
                  <a:lnTo>
                    <a:pt x="1211802" y="305089"/>
                  </a:lnTo>
                  <a:lnTo>
                    <a:pt x="1214574" y="340743"/>
                  </a:lnTo>
                  <a:lnTo>
                    <a:pt x="1210426" y="376858"/>
                  </a:lnTo>
                  <a:lnTo>
                    <a:pt x="1183439" y="444275"/>
                  </a:lnTo>
                  <a:lnTo>
                    <a:pt x="1137812" y="501991"/>
                  </a:lnTo>
                  <a:lnTo>
                    <a:pt x="1108431" y="528380"/>
                  </a:lnTo>
                  <a:lnTo>
                    <a:pt x="1075063" y="552971"/>
                  </a:lnTo>
                  <a:lnTo>
                    <a:pt x="1038002" y="575653"/>
                  </a:lnTo>
                  <a:lnTo>
                    <a:pt x="997539" y="596310"/>
                  </a:lnTo>
                  <a:lnTo>
                    <a:pt x="953969" y="614830"/>
                  </a:lnTo>
                  <a:lnTo>
                    <a:pt x="907584" y="631099"/>
                  </a:lnTo>
                  <a:lnTo>
                    <a:pt x="858678" y="645004"/>
                  </a:lnTo>
                  <a:lnTo>
                    <a:pt x="807544" y="656431"/>
                  </a:lnTo>
                  <a:lnTo>
                    <a:pt x="754476" y="665268"/>
                  </a:lnTo>
                  <a:lnTo>
                    <a:pt x="699765" y="671401"/>
                  </a:lnTo>
                  <a:lnTo>
                    <a:pt x="682213" y="672438"/>
                  </a:lnTo>
                  <a:lnTo>
                    <a:pt x="528716" y="672438"/>
                  </a:lnTo>
                  <a:lnTo>
                    <a:pt x="354284" y="759700"/>
                  </a:lnTo>
                  <a:close/>
                </a:path>
                <a:path w="1214754" h="760094">
                  <a:moveTo>
                    <a:pt x="586592" y="675099"/>
                  </a:moveTo>
                  <a:lnTo>
                    <a:pt x="528716" y="672438"/>
                  </a:lnTo>
                  <a:lnTo>
                    <a:pt x="682213" y="672438"/>
                  </a:lnTo>
                  <a:lnTo>
                    <a:pt x="643706" y="674715"/>
                  </a:lnTo>
                  <a:lnTo>
                    <a:pt x="586592" y="675099"/>
                  </a:lnTo>
                  <a:close/>
                </a:path>
              </a:pathLst>
            </a:custGeom>
            <a:solidFill>
              <a:srgbClr val="FFFFFF"/>
            </a:solidFill>
          </p:spPr>
          <p:txBody>
            <a:bodyPr wrap="square" lIns="0" tIns="0" rIns="0" bIns="0" rtlCol="0"/>
            <a:lstStyle/>
            <a:p>
              <a:endParaRPr/>
            </a:p>
          </p:txBody>
        </p:sp>
        <p:sp>
          <p:nvSpPr>
            <p:cNvPr id="8" name="object 8"/>
            <p:cNvSpPr/>
            <p:nvPr/>
          </p:nvSpPr>
          <p:spPr>
            <a:xfrm>
              <a:off x="3288217" y="793396"/>
              <a:ext cx="1214755" cy="760095"/>
            </a:xfrm>
            <a:custGeom>
              <a:avLst/>
              <a:gdLst/>
              <a:ahLst/>
              <a:cxnLst/>
              <a:rect l="l" t="t" r="r" b="b"/>
              <a:pathLst>
                <a:path w="1214754" h="760094">
                  <a:moveTo>
                    <a:pt x="354284" y="759700"/>
                  </a:moveTo>
                  <a:lnTo>
                    <a:pt x="308881" y="631687"/>
                  </a:lnTo>
                  <a:lnTo>
                    <a:pt x="253000" y="611867"/>
                  </a:lnTo>
                  <a:lnTo>
                    <a:pt x="202226" y="589233"/>
                  </a:lnTo>
                  <a:lnTo>
                    <a:pt x="156727" y="564066"/>
                  </a:lnTo>
                  <a:lnTo>
                    <a:pt x="116670" y="536649"/>
                  </a:lnTo>
                  <a:lnTo>
                    <a:pt x="82223" y="507262"/>
                  </a:lnTo>
                  <a:lnTo>
                    <a:pt x="53554" y="476187"/>
                  </a:lnTo>
                  <a:lnTo>
                    <a:pt x="30829" y="443705"/>
                  </a:lnTo>
                  <a:lnTo>
                    <a:pt x="3885" y="375647"/>
                  </a:lnTo>
                  <a:lnTo>
                    <a:pt x="0" y="340634"/>
                  </a:lnTo>
                  <a:lnTo>
                    <a:pt x="2729" y="305340"/>
                  </a:lnTo>
                  <a:lnTo>
                    <a:pt x="28704" y="235036"/>
                  </a:lnTo>
                  <a:lnTo>
                    <a:pt x="52284" y="200588"/>
                  </a:lnTo>
                  <a:lnTo>
                    <a:pt x="104868" y="147864"/>
                  </a:lnTo>
                  <a:lnTo>
                    <a:pt x="136597" y="124149"/>
                  </a:lnTo>
                  <a:lnTo>
                    <a:pt x="171587" y="102289"/>
                  </a:lnTo>
                  <a:lnTo>
                    <a:pt x="209566" y="82349"/>
                  </a:lnTo>
                  <a:lnTo>
                    <a:pt x="250262" y="64396"/>
                  </a:lnTo>
                  <a:lnTo>
                    <a:pt x="293402" y="48499"/>
                  </a:lnTo>
                  <a:lnTo>
                    <a:pt x="338713" y="34722"/>
                  </a:lnTo>
                  <a:lnTo>
                    <a:pt x="385924" y="23134"/>
                  </a:lnTo>
                  <a:lnTo>
                    <a:pt x="434762" y="13800"/>
                  </a:lnTo>
                  <a:lnTo>
                    <a:pt x="484955" y="6789"/>
                  </a:lnTo>
                  <a:lnTo>
                    <a:pt x="536230" y="2166"/>
                  </a:lnTo>
                  <a:lnTo>
                    <a:pt x="588314" y="0"/>
                  </a:lnTo>
                  <a:lnTo>
                    <a:pt x="640936" y="355"/>
                  </a:lnTo>
                  <a:lnTo>
                    <a:pt x="693824" y="3300"/>
                  </a:lnTo>
                  <a:lnTo>
                    <a:pt x="746704" y="8901"/>
                  </a:lnTo>
                  <a:lnTo>
                    <a:pt x="799304" y="17225"/>
                  </a:lnTo>
                  <a:lnTo>
                    <a:pt x="860959" y="30751"/>
                  </a:lnTo>
                  <a:lnTo>
                    <a:pt x="918566" y="47582"/>
                  </a:lnTo>
                  <a:lnTo>
                    <a:pt x="971864" y="67458"/>
                  </a:lnTo>
                  <a:lnTo>
                    <a:pt x="1020592" y="90121"/>
                  </a:lnTo>
                  <a:lnTo>
                    <a:pt x="1064488" y="115313"/>
                  </a:lnTo>
                  <a:lnTo>
                    <a:pt x="1103293" y="142775"/>
                  </a:lnTo>
                  <a:lnTo>
                    <a:pt x="1136745" y="172248"/>
                  </a:lnTo>
                  <a:lnTo>
                    <a:pt x="1164583" y="203475"/>
                  </a:lnTo>
                  <a:lnTo>
                    <a:pt x="1186545" y="236196"/>
                  </a:lnTo>
                  <a:lnTo>
                    <a:pt x="1211802" y="305089"/>
                  </a:lnTo>
                  <a:lnTo>
                    <a:pt x="1214574" y="340743"/>
                  </a:lnTo>
                  <a:lnTo>
                    <a:pt x="1210426" y="376858"/>
                  </a:lnTo>
                  <a:lnTo>
                    <a:pt x="1183439" y="444275"/>
                  </a:lnTo>
                  <a:lnTo>
                    <a:pt x="1137812" y="501991"/>
                  </a:lnTo>
                  <a:lnTo>
                    <a:pt x="1108431" y="528380"/>
                  </a:lnTo>
                  <a:lnTo>
                    <a:pt x="1075063" y="552971"/>
                  </a:lnTo>
                  <a:lnTo>
                    <a:pt x="1038002" y="575653"/>
                  </a:lnTo>
                  <a:lnTo>
                    <a:pt x="997539" y="596310"/>
                  </a:lnTo>
                  <a:lnTo>
                    <a:pt x="953969" y="614830"/>
                  </a:lnTo>
                  <a:lnTo>
                    <a:pt x="907584" y="631099"/>
                  </a:lnTo>
                  <a:lnTo>
                    <a:pt x="858678" y="645004"/>
                  </a:lnTo>
                  <a:lnTo>
                    <a:pt x="807544" y="656431"/>
                  </a:lnTo>
                  <a:lnTo>
                    <a:pt x="754476" y="665268"/>
                  </a:lnTo>
                  <a:lnTo>
                    <a:pt x="699765" y="671401"/>
                  </a:lnTo>
                  <a:lnTo>
                    <a:pt x="643706" y="674715"/>
                  </a:lnTo>
                  <a:lnTo>
                    <a:pt x="586592" y="675099"/>
                  </a:lnTo>
                  <a:lnTo>
                    <a:pt x="528716" y="672438"/>
                  </a:lnTo>
                  <a:lnTo>
                    <a:pt x="354284" y="759700"/>
                  </a:lnTo>
                  <a:close/>
                </a:path>
              </a:pathLst>
            </a:custGeom>
            <a:ln w="12699">
              <a:solidFill>
                <a:srgbClr val="000000"/>
              </a:solidFill>
            </a:ln>
          </p:spPr>
          <p:txBody>
            <a:bodyPr wrap="square" lIns="0" tIns="0" rIns="0" bIns="0" rtlCol="0"/>
            <a:lstStyle/>
            <a:p>
              <a:endParaRPr/>
            </a:p>
          </p:txBody>
        </p:sp>
      </p:grpSp>
      <p:sp>
        <p:nvSpPr>
          <p:cNvPr id="9" name="object 9"/>
          <p:cNvSpPr txBox="1"/>
          <p:nvPr/>
        </p:nvSpPr>
        <p:spPr>
          <a:xfrm>
            <a:off x="1883101" y="919810"/>
            <a:ext cx="2218690" cy="713105"/>
          </a:xfrm>
          <a:prstGeom prst="rect">
            <a:avLst/>
          </a:prstGeom>
        </p:spPr>
        <p:txBody>
          <a:bodyPr vert="horz" wrap="square" lIns="0" tIns="63500" rIns="0" bIns="0" rtlCol="0">
            <a:spAutoFit/>
          </a:bodyPr>
          <a:lstStyle/>
          <a:p>
            <a:pPr marL="1818005">
              <a:lnSpc>
                <a:spcPct val="100000"/>
              </a:lnSpc>
              <a:spcBef>
                <a:spcPts val="500"/>
              </a:spcBef>
            </a:pPr>
            <a:r>
              <a:rPr sz="1800" spc="-5" dirty="0">
                <a:latin typeface="Calibri" panose="020F0502020204030204"/>
                <a:cs typeface="Calibri" panose="020F0502020204030204"/>
              </a:rPr>
              <a:t>Fact</a:t>
            </a:r>
            <a:endParaRPr sz="1800">
              <a:latin typeface="Calibri" panose="020F0502020204030204"/>
              <a:cs typeface="Calibri" panose="020F0502020204030204"/>
            </a:endParaRPr>
          </a:p>
          <a:p>
            <a:pPr marL="12700">
              <a:lnSpc>
                <a:spcPct val="100000"/>
              </a:lnSpc>
              <a:spcBef>
                <a:spcPts val="450"/>
              </a:spcBef>
            </a:pPr>
            <a:r>
              <a:rPr sz="2000" dirty="0">
                <a:latin typeface="Calibri" panose="020F0502020204030204"/>
                <a:cs typeface="Calibri" panose="020F0502020204030204"/>
              </a:rPr>
              <a:t>X</a:t>
            </a:r>
            <a:r>
              <a:rPr sz="2000" spc="-50" dirty="0">
                <a:latin typeface="Calibri" panose="020F0502020204030204"/>
                <a:cs typeface="Calibri" panose="020F0502020204030204"/>
              </a:rPr>
              <a:t> </a:t>
            </a:r>
            <a:r>
              <a:rPr sz="2000" spc="-5" dirty="0">
                <a:latin typeface="Calibri" panose="020F0502020204030204"/>
                <a:cs typeface="Calibri" panose="020F0502020204030204"/>
              </a:rPr>
              <a:t>+male('adam')</a:t>
            </a:r>
            <a:endParaRPr sz="2000">
              <a:latin typeface="Calibri" panose="020F0502020204030204"/>
              <a:cs typeface="Calibri" panose="020F0502020204030204"/>
            </a:endParaRPr>
          </a:p>
        </p:txBody>
      </p:sp>
      <p:grpSp>
        <p:nvGrpSpPr>
          <p:cNvPr id="10" name="object 10"/>
          <p:cNvGrpSpPr/>
          <p:nvPr/>
        </p:nvGrpSpPr>
        <p:grpSpPr>
          <a:xfrm>
            <a:off x="4946580" y="2499074"/>
            <a:ext cx="1227455" cy="772795"/>
            <a:chOff x="4946580" y="2499074"/>
            <a:chExt cx="1227455" cy="772795"/>
          </a:xfrm>
        </p:grpSpPr>
        <p:sp>
          <p:nvSpPr>
            <p:cNvPr id="11" name="object 11"/>
            <p:cNvSpPr/>
            <p:nvPr/>
          </p:nvSpPr>
          <p:spPr>
            <a:xfrm>
              <a:off x="4952930" y="2505424"/>
              <a:ext cx="1214755" cy="760095"/>
            </a:xfrm>
            <a:custGeom>
              <a:avLst/>
              <a:gdLst/>
              <a:ahLst/>
              <a:cxnLst/>
              <a:rect l="l" t="t" r="r" b="b"/>
              <a:pathLst>
                <a:path w="1214754" h="760095">
                  <a:moveTo>
                    <a:pt x="354283" y="759700"/>
                  </a:moveTo>
                  <a:lnTo>
                    <a:pt x="308881" y="631687"/>
                  </a:lnTo>
                  <a:lnTo>
                    <a:pt x="253000" y="611867"/>
                  </a:lnTo>
                  <a:lnTo>
                    <a:pt x="202226" y="589233"/>
                  </a:lnTo>
                  <a:lnTo>
                    <a:pt x="156727" y="564066"/>
                  </a:lnTo>
                  <a:lnTo>
                    <a:pt x="116670" y="536649"/>
                  </a:lnTo>
                  <a:lnTo>
                    <a:pt x="82223" y="507262"/>
                  </a:lnTo>
                  <a:lnTo>
                    <a:pt x="53554" y="476187"/>
                  </a:lnTo>
                  <a:lnTo>
                    <a:pt x="30829" y="443705"/>
                  </a:lnTo>
                  <a:lnTo>
                    <a:pt x="3884" y="375647"/>
                  </a:lnTo>
                  <a:lnTo>
                    <a:pt x="0" y="340634"/>
                  </a:lnTo>
                  <a:lnTo>
                    <a:pt x="2729" y="305341"/>
                  </a:lnTo>
                  <a:lnTo>
                    <a:pt x="28704" y="235036"/>
                  </a:lnTo>
                  <a:lnTo>
                    <a:pt x="52284" y="200588"/>
                  </a:lnTo>
                  <a:lnTo>
                    <a:pt x="104868" y="147864"/>
                  </a:lnTo>
                  <a:lnTo>
                    <a:pt x="136597" y="124150"/>
                  </a:lnTo>
                  <a:lnTo>
                    <a:pt x="171588" y="102289"/>
                  </a:lnTo>
                  <a:lnTo>
                    <a:pt x="209567" y="82349"/>
                  </a:lnTo>
                  <a:lnTo>
                    <a:pt x="250262" y="64396"/>
                  </a:lnTo>
                  <a:lnTo>
                    <a:pt x="293402" y="48499"/>
                  </a:lnTo>
                  <a:lnTo>
                    <a:pt x="338713" y="34722"/>
                  </a:lnTo>
                  <a:lnTo>
                    <a:pt x="385924" y="23134"/>
                  </a:lnTo>
                  <a:lnTo>
                    <a:pt x="434762" y="13800"/>
                  </a:lnTo>
                  <a:lnTo>
                    <a:pt x="484955" y="6789"/>
                  </a:lnTo>
                  <a:lnTo>
                    <a:pt x="536230" y="2166"/>
                  </a:lnTo>
                  <a:lnTo>
                    <a:pt x="588314" y="0"/>
                  </a:lnTo>
                  <a:lnTo>
                    <a:pt x="640936" y="355"/>
                  </a:lnTo>
                  <a:lnTo>
                    <a:pt x="693824" y="3300"/>
                  </a:lnTo>
                  <a:lnTo>
                    <a:pt x="746704" y="8901"/>
                  </a:lnTo>
                  <a:lnTo>
                    <a:pt x="799304" y="17225"/>
                  </a:lnTo>
                  <a:lnTo>
                    <a:pt x="860959" y="30751"/>
                  </a:lnTo>
                  <a:lnTo>
                    <a:pt x="918566" y="47582"/>
                  </a:lnTo>
                  <a:lnTo>
                    <a:pt x="971864" y="67458"/>
                  </a:lnTo>
                  <a:lnTo>
                    <a:pt x="1020592" y="90121"/>
                  </a:lnTo>
                  <a:lnTo>
                    <a:pt x="1064488" y="115313"/>
                  </a:lnTo>
                  <a:lnTo>
                    <a:pt x="1103293" y="142775"/>
                  </a:lnTo>
                  <a:lnTo>
                    <a:pt x="1136745" y="172248"/>
                  </a:lnTo>
                  <a:lnTo>
                    <a:pt x="1164583" y="203475"/>
                  </a:lnTo>
                  <a:lnTo>
                    <a:pt x="1186545" y="236196"/>
                  </a:lnTo>
                  <a:lnTo>
                    <a:pt x="1211802" y="305089"/>
                  </a:lnTo>
                  <a:lnTo>
                    <a:pt x="1214573" y="340743"/>
                  </a:lnTo>
                  <a:lnTo>
                    <a:pt x="1210426" y="376858"/>
                  </a:lnTo>
                  <a:lnTo>
                    <a:pt x="1183439" y="444276"/>
                  </a:lnTo>
                  <a:lnTo>
                    <a:pt x="1137812" y="501991"/>
                  </a:lnTo>
                  <a:lnTo>
                    <a:pt x="1108431" y="528380"/>
                  </a:lnTo>
                  <a:lnTo>
                    <a:pt x="1075063" y="552972"/>
                  </a:lnTo>
                  <a:lnTo>
                    <a:pt x="1038002" y="575653"/>
                  </a:lnTo>
                  <a:lnTo>
                    <a:pt x="997539" y="596310"/>
                  </a:lnTo>
                  <a:lnTo>
                    <a:pt x="953969" y="614830"/>
                  </a:lnTo>
                  <a:lnTo>
                    <a:pt x="907584" y="631099"/>
                  </a:lnTo>
                  <a:lnTo>
                    <a:pt x="858678" y="645004"/>
                  </a:lnTo>
                  <a:lnTo>
                    <a:pt x="807544" y="656431"/>
                  </a:lnTo>
                  <a:lnTo>
                    <a:pt x="754476" y="665268"/>
                  </a:lnTo>
                  <a:lnTo>
                    <a:pt x="699765" y="671401"/>
                  </a:lnTo>
                  <a:lnTo>
                    <a:pt x="682213" y="672438"/>
                  </a:lnTo>
                  <a:lnTo>
                    <a:pt x="528716" y="672438"/>
                  </a:lnTo>
                  <a:lnTo>
                    <a:pt x="354283" y="759700"/>
                  </a:lnTo>
                  <a:close/>
                </a:path>
                <a:path w="1214754" h="760095">
                  <a:moveTo>
                    <a:pt x="586592" y="675099"/>
                  </a:moveTo>
                  <a:lnTo>
                    <a:pt x="528716" y="672438"/>
                  </a:lnTo>
                  <a:lnTo>
                    <a:pt x="682213" y="672438"/>
                  </a:lnTo>
                  <a:lnTo>
                    <a:pt x="643706" y="674715"/>
                  </a:lnTo>
                  <a:lnTo>
                    <a:pt x="586592" y="675099"/>
                  </a:lnTo>
                  <a:close/>
                </a:path>
              </a:pathLst>
            </a:custGeom>
            <a:solidFill>
              <a:srgbClr val="FFFFFF"/>
            </a:solidFill>
          </p:spPr>
          <p:txBody>
            <a:bodyPr wrap="square" lIns="0" tIns="0" rIns="0" bIns="0" rtlCol="0"/>
            <a:lstStyle/>
            <a:p>
              <a:endParaRPr/>
            </a:p>
          </p:txBody>
        </p:sp>
        <p:sp>
          <p:nvSpPr>
            <p:cNvPr id="12" name="object 12"/>
            <p:cNvSpPr/>
            <p:nvPr/>
          </p:nvSpPr>
          <p:spPr>
            <a:xfrm>
              <a:off x="4952930" y="2505424"/>
              <a:ext cx="1214755" cy="760095"/>
            </a:xfrm>
            <a:custGeom>
              <a:avLst/>
              <a:gdLst/>
              <a:ahLst/>
              <a:cxnLst/>
              <a:rect l="l" t="t" r="r" b="b"/>
              <a:pathLst>
                <a:path w="1214754" h="760095">
                  <a:moveTo>
                    <a:pt x="354283" y="759700"/>
                  </a:moveTo>
                  <a:lnTo>
                    <a:pt x="308881" y="631687"/>
                  </a:lnTo>
                  <a:lnTo>
                    <a:pt x="253000" y="611867"/>
                  </a:lnTo>
                  <a:lnTo>
                    <a:pt x="202226" y="589233"/>
                  </a:lnTo>
                  <a:lnTo>
                    <a:pt x="156727" y="564066"/>
                  </a:lnTo>
                  <a:lnTo>
                    <a:pt x="116670" y="536649"/>
                  </a:lnTo>
                  <a:lnTo>
                    <a:pt x="82223" y="507262"/>
                  </a:lnTo>
                  <a:lnTo>
                    <a:pt x="53554" y="476187"/>
                  </a:lnTo>
                  <a:lnTo>
                    <a:pt x="30829" y="443705"/>
                  </a:lnTo>
                  <a:lnTo>
                    <a:pt x="3884" y="375647"/>
                  </a:lnTo>
                  <a:lnTo>
                    <a:pt x="0" y="340634"/>
                  </a:lnTo>
                  <a:lnTo>
                    <a:pt x="2729" y="305341"/>
                  </a:lnTo>
                  <a:lnTo>
                    <a:pt x="28704" y="235036"/>
                  </a:lnTo>
                  <a:lnTo>
                    <a:pt x="52284" y="200588"/>
                  </a:lnTo>
                  <a:lnTo>
                    <a:pt x="104868" y="147864"/>
                  </a:lnTo>
                  <a:lnTo>
                    <a:pt x="136597" y="124150"/>
                  </a:lnTo>
                  <a:lnTo>
                    <a:pt x="171588" y="102289"/>
                  </a:lnTo>
                  <a:lnTo>
                    <a:pt x="209567" y="82349"/>
                  </a:lnTo>
                  <a:lnTo>
                    <a:pt x="250262" y="64396"/>
                  </a:lnTo>
                  <a:lnTo>
                    <a:pt x="293402" y="48499"/>
                  </a:lnTo>
                  <a:lnTo>
                    <a:pt x="338713" y="34722"/>
                  </a:lnTo>
                  <a:lnTo>
                    <a:pt x="385924" y="23134"/>
                  </a:lnTo>
                  <a:lnTo>
                    <a:pt x="434762" y="13800"/>
                  </a:lnTo>
                  <a:lnTo>
                    <a:pt x="484955" y="6789"/>
                  </a:lnTo>
                  <a:lnTo>
                    <a:pt x="536230" y="2166"/>
                  </a:lnTo>
                  <a:lnTo>
                    <a:pt x="588314" y="0"/>
                  </a:lnTo>
                  <a:lnTo>
                    <a:pt x="640936" y="355"/>
                  </a:lnTo>
                  <a:lnTo>
                    <a:pt x="693824" y="3300"/>
                  </a:lnTo>
                  <a:lnTo>
                    <a:pt x="746704" y="8901"/>
                  </a:lnTo>
                  <a:lnTo>
                    <a:pt x="799304" y="17225"/>
                  </a:lnTo>
                  <a:lnTo>
                    <a:pt x="860959" y="30751"/>
                  </a:lnTo>
                  <a:lnTo>
                    <a:pt x="918566" y="47582"/>
                  </a:lnTo>
                  <a:lnTo>
                    <a:pt x="971864" y="67458"/>
                  </a:lnTo>
                  <a:lnTo>
                    <a:pt x="1020592" y="90121"/>
                  </a:lnTo>
                  <a:lnTo>
                    <a:pt x="1064488" y="115313"/>
                  </a:lnTo>
                  <a:lnTo>
                    <a:pt x="1103293" y="142775"/>
                  </a:lnTo>
                  <a:lnTo>
                    <a:pt x="1136745" y="172248"/>
                  </a:lnTo>
                  <a:lnTo>
                    <a:pt x="1164583" y="203475"/>
                  </a:lnTo>
                  <a:lnTo>
                    <a:pt x="1186545" y="236196"/>
                  </a:lnTo>
                  <a:lnTo>
                    <a:pt x="1211802" y="305089"/>
                  </a:lnTo>
                  <a:lnTo>
                    <a:pt x="1214573" y="340743"/>
                  </a:lnTo>
                  <a:lnTo>
                    <a:pt x="1210426" y="376858"/>
                  </a:lnTo>
                  <a:lnTo>
                    <a:pt x="1183439" y="444276"/>
                  </a:lnTo>
                  <a:lnTo>
                    <a:pt x="1137812" y="501991"/>
                  </a:lnTo>
                  <a:lnTo>
                    <a:pt x="1108431" y="528380"/>
                  </a:lnTo>
                  <a:lnTo>
                    <a:pt x="1075063" y="552972"/>
                  </a:lnTo>
                  <a:lnTo>
                    <a:pt x="1038002" y="575653"/>
                  </a:lnTo>
                  <a:lnTo>
                    <a:pt x="997539" y="596310"/>
                  </a:lnTo>
                  <a:lnTo>
                    <a:pt x="953969" y="614830"/>
                  </a:lnTo>
                  <a:lnTo>
                    <a:pt x="907584" y="631099"/>
                  </a:lnTo>
                  <a:lnTo>
                    <a:pt x="858678" y="645004"/>
                  </a:lnTo>
                  <a:lnTo>
                    <a:pt x="807544" y="656431"/>
                  </a:lnTo>
                  <a:lnTo>
                    <a:pt x="754476" y="665268"/>
                  </a:lnTo>
                  <a:lnTo>
                    <a:pt x="699765" y="671401"/>
                  </a:lnTo>
                  <a:lnTo>
                    <a:pt x="643706" y="674715"/>
                  </a:lnTo>
                  <a:lnTo>
                    <a:pt x="586592" y="675099"/>
                  </a:lnTo>
                  <a:lnTo>
                    <a:pt x="528716" y="672438"/>
                  </a:lnTo>
                  <a:lnTo>
                    <a:pt x="354283" y="759700"/>
                  </a:lnTo>
                  <a:close/>
                </a:path>
              </a:pathLst>
            </a:custGeom>
            <a:ln w="12699">
              <a:solidFill>
                <a:srgbClr val="000000"/>
              </a:solidFill>
            </a:ln>
          </p:spPr>
          <p:txBody>
            <a:bodyPr wrap="square" lIns="0" tIns="0" rIns="0" bIns="0" rtlCol="0"/>
            <a:lstStyle/>
            <a:p>
              <a:endParaRPr/>
            </a:p>
          </p:txBody>
        </p:sp>
      </p:grpSp>
      <p:sp>
        <p:nvSpPr>
          <p:cNvPr id="13" name="object 13"/>
          <p:cNvSpPr txBox="1"/>
          <p:nvPr/>
        </p:nvSpPr>
        <p:spPr>
          <a:xfrm>
            <a:off x="5243965" y="2683055"/>
            <a:ext cx="63246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panose="020F0502020204030204"/>
                <a:cs typeface="Calibri" panose="020F0502020204030204"/>
              </a:rPr>
              <a:t>Clause</a:t>
            </a:r>
            <a:endParaRPr sz="1800">
              <a:latin typeface="Calibri" panose="020F0502020204030204"/>
              <a:cs typeface="Calibri" panose="020F0502020204030204"/>
            </a:endParaRPr>
          </a:p>
        </p:txBody>
      </p:sp>
      <p:sp>
        <p:nvSpPr>
          <p:cNvPr id="14" name="object 14"/>
          <p:cNvSpPr/>
          <p:nvPr/>
        </p:nvSpPr>
        <p:spPr>
          <a:xfrm>
            <a:off x="4838244" y="4605494"/>
            <a:ext cx="1214755" cy="760095"/>
          </a:xfrm>
          <a:custGeom>
            <a:avLst/>
            <a:gdLst/>
            <a:ahLst/>
            <a:cxnLst/>
            <a:rect l="l" t="t" r="r" b="b"/>
            <a:pathLst>
              <a:path w="1214754" h="760095">
                <a:moveTo>
                  <a:pt x="354284" y="759700"/>
                </a:moveTo>
                <a:lnTo>
                  <a:pt x="308881" y="631687"/>
                </a:lnTo>
                <a:lnTo>
                  <a:pt x="253000" y="611867"/>
                </a:lnTo>
                <a:lnTo>
                  <a:pt x="202226" y="589233"/>
                </a:lnTo>
                <a:lnTo>
                  <a:pt x="156727" y="564066"/>
                </a:lnTo>
                <a:lnTo>
                  <a:pt x="116670" y="536649"/>
                </a:lnTo>
                <a:lnTo>
                  <a:pt x="82224" y="507262"/>
                </a:lnTo>
                <a:lnTo>
                  <a:pt x="53554" y="476187"/>
                </a:lnTo>
                <a:lnTo>
                  <a:pt x="30829" y="443705"/>
                </a:lnTo>
                <a:lnTo>
                  <a:pt x="3884" y="375647"/>
                </a:lnTo>
                <a:lnTo>
                  <a:pt x="0" y="340634"/>
                </a:lnTo>
                <a:lnTo>
                  <a:pt x="2729" y="305340"/>
                </a:lnTo>
                <a:lnTo>
                  <a:pt x="28704" y="235035"/>
                </a:lnTo>
                <a:lnTo>
                  <a:pt x="52284" y="200587"/>
                </a:lnTo>
                <a:lnTo>
                  <a:pt x="104868" y="147864"/>
                </a:lnTo>
                <a:lnTo>
                  <a:pt x="136597" y="124149"/>
                </a:lnTo>
                <a:lnTo>
                  <a:pt x="171588" y="102289"/>
                </a:lnTo>
                <a:lnTo>
                  <a:pt x="209567" y="82349"/>
                </a:lnTo>
                <a:lnTo>
                  <a:pt x="250262" y="64396"/>
                </a:lnTo>
                <a:lnTo>
                  <a:pt x="293402" y="48499"/>
                </a:lnTo>
                <a:lnTo>
                  <a:pt x="338713" y="34722"/>
                </a:lnTo>
                <a:lnTo>
                  <a:pt x="385924" y="23134"/>
                </a:lnTo>
                <a:lnTo>
                  <a:pt x="434762" y="13800"/>
                </a:lnTo>
                <a:lnTo>
                  <a:pt x="484955" y="6789"/>
                </a:lnTo>
                <a:lnTo>
                  <a:pt x="536229" y="2166"/>
                </a:lnTo>
                <a:lnTo>
                  <a:pt x="588314" y="0"/>
                </a:lnTo>
                <a:lnTo>
                  <a:pt x="640936" y="355"/>
                </a:lnTo>
                <a:lnTo>
                  <a:pt x="693823" y="3300"/>
                </a:lnTo>
                <a:lnTo>
                  <a:pt x="746703" y="8901"/>
                </a:lnTo>
                <a:lnTo>
                  <a:pt x="799304" y="17225"/>
                </a:lnTo>
                <a:lnTo>
                  <a:pt x="860959" y="30751"/>
                </a:lnTo>
                <a:lnTo>
                  <a:pt x="918566" y="47582"/>
                </a:lnTo>
                <a:lnTo>
                  <a:pt x="971864" y="67458"/>
                </a:lnTo>
                <a:lnTo>
                  <a:pt x="1020592" y="90121"/>
                </a:lnTo>
                <a:lnTo>
                  <a:pt x="1064488" y="115313"/>
                </a:lnTo>
                <a:lnTo>
                  <a:pt x="1103293" y="142775"/>
                </a:lnTo>
                <a:lnTo>
                  <a:pt x="1136745" y="172248"/>
                </a:lnTo>
                <a:lnTo>
                  <a:pt x="1164583" y="203475"/>
                </a:lnTo>
                <a:lnTo>
                  <a:pt x="1186546" y="236196"/>
                </a:lnTo>
                <a:lnTo>
                  <a:pt x="1211802" y="305089"/>
                </a:lnTo>
                <a:lnTo>
                  <a:pt x="1214574" y="340743"/>
                </a:lnTo>
                <a:lnTo>
                  <a:pt x="1210426" y="376858"/>
                </a:lnTo>
                <a:lnTo>
                  <a:pt x="1183439" y="444276"/>
                </a:lnTo>
                <a:lnTo>
                  <a:pt x="1137812" y="501991"/>
                </a:lnTo>
                <a:lnTo>
                  <a:pt x="1108431" y="528380"/>
                </a:lnTo>
                <a:lnTo>
                  <a:pt x="1075063" y="552971"/>
                </a:lnTo>
                <a:lnTo>
                  <a:pt x="1038002" y="575653"/>
                </a:lnTo>
                <a:lnTo>
                  <a:pt x="997539" y="596310"/>
                </a:lnTo>
                <a:lnTo>
                  <a:pt x="953969" y="614830"/>
                </a:lnTo>
                <a:lnTo>
                  <a:pt x="907584" y="631099"/>
                </a:lnTo>
                <a:lnTo>
                  <a:pt x="858678" y="645004"/>
                </a:lnTo>
                <a:lnTo>
                  <a:pt x="807544" y="656431"/>
                </a:lnTo>
                <a:lnTo>
                  <a:pt x="754476" y="665268"/>
                </a:lnTo>
                <a:lnTo>
                  <a:pt x="699765" y="671401"/>
                </a:lnTo>
                <a:lnTo>
                  <a:pt x="643706" y="674715"/>
                </a:lnTo>
                <a:lnTo>
                  <a:pt x="586592" y="675099"/>
                </a:lnTo>
                <a:lnTo>
                  <a:pt x="528716" y="672439"/>
                </a:lnTo>
                <a:lnTo>
                  <a:pt x="354284" y="759700"/>
                </a:lnTo>
                <a:close/>
              </a:path>
            </a:pathLst>
          </a:custGeom>
          <a:ln w="12699">
            <a:solidFill>
              <a:srgbClr val="000000"/>
            </a:solidFill>
          </a:ln>
        </p:spPr>
        <p:txBody>
          <a:bodyPr wrap="square" lIns="0" tIns="0" rIns="0" bIns="0" rtlCol="0"/>
          <a:lstStyle/>
          <a:p>
            <a:endParaRPr/>
          </a:p>
        </p:txBody>
      </p:sp>
      <p:sp>
        <p:nvSpPr>
          <p:cNvPr id="15" name="object 15"/>
          <p:cNvSpPr txBox="1"/>
          <p:nvPr/>
        </p:nvSpPr>
        <p:spPr>
          <a:xfrm>
            <a:off x="1883101" y="4783125"/>
            <a:ext cx="3860165" cy="964565"/>
          </a:xfrm>
          <a:prstGeom prst="rect">
            <a:avLst/>
          </a:prstGeom>
        </p:spPr>
        <p:txBody>
          <a:bodyPr vert="horz" wrap="square" lIns="0" tIns="12700" rIns="0" bIns="0" rtlCol="0">
            <a:spAutoFit/>
          </a:bodyPr>
          <a:lstStyle/>
          <a:p>
            <a:pPr marR="5080" algn="r">
              <a:lnSpc>
                <a:spcPct val="100000"/>
              </a:lnSpc>
              <a:spcBef>
                <a:spcPts val="100"/>
              </a:spcBef>
            </a:pPr>
            <a:r>
              <a:rPr sz="1800" spc="-5" dirty="0">
                <a:latin typeface="Calibri" panose="020F0502020204030204"/>
                <a:cs typeface="Calibri" panose="020F0502020204030204"/>
              </a:rPr>
              <a:t>Query</a:t>
            </a:r>
            <a:endParaRPr sz="1800">
              <a:latin typeface="Calibri" panose="020F0502020204030204"/>
              <a:cs typeface="Calibri" panose="020F0502020204030204"/>
            </a:endParaRPr>
          </a:p>
          <a:p>
            <a:pPr>
              <a:lnSpc>
                <a:spcPct val="100000"/>
              </a:lnSpc>
              <a:spcBef>
                <a:spcPts val="20"/>
              </a:spcBef>
            </a:pPr>
            <a:endParaRPr sz="2300">
              <a:latin typeface="Calibri" panose="020F0502020204030204"/>
              <a:cs typeface="Calibri" panose="020F0502020204030204"/>
            </a:endParaRPr>
          </a:p>
          <a:p>
            <a:pPr marL="12700">
              <a:lnSpc>
                <a:spcPct val="100000"/>
              </a:lnSpc>
            </a:pPr>
            <a:r>
              <a:rPr sz="2000" spc="-5" dirty="0">
                <a:latin typeface="Calibri" panose="020F0502020204030204"/>
                <a:cs typeface="Calibri" panose="020F0502020204030204"/>
              </a:rPr>
              <a:t>print(pyDatalog.ask('son(adam,Y)'))</a:t>
            </a:r>
            <a:endParaRPr sz="2000">
              <a:latin typeface="Calibri" panose="020F0502020204030204"/>
              <a:cs typeface="Calibri" panose="020F0502020204030204"/>
            </a:endParaRPr>
          </a:p>
        </p:txBody>
      </p:sp>
      <p:sp>
        <p:nvSpPr>
          <p:cNvPr id="16" name="object 16"/>
          <p:cNvSpPr/>
          <p:nvPr/>
        </p:nvSpPr>
        <p:spPr>
          <a:xfrm>
            <a:off x="488319" y="2628900"/>
            <a:ext cx="1357630" cy="720725"/>
          </a:xfrm>
          <a:custGeom>
            <a:avLst/>
            <a:gdLst/>
            <a:ahLst/>
            <a:cxnLst/>
            <a:rect l="l" t="t" r="r" b="b"/>
            <a:pathLst>
              <a:path w="1357630" h="720725">
                <a:moveTo>
                  <a:pt x="678655" y="720201"/>
                </a:moveTo>
                <a:lnTo>
                  <a:pt x="616884" y="718729"/>
                </a:lnTo>
                <a:lnTo>
                  <a:pt x="556666" y="714399"/>
                </a:lnTo>
                <a:lnTo>
                  <a:pt x="498242" y="707338"/>
                </a:lnTo>
                <a:lnTo>
                  <a:pt x="441850" y="697672"/>
                </a:lnTo>
                <a:lnTo>
                  <a:pt x="387732" y="685529"/>
                </a:lnTo>
                <a:lnTo>
                  <a:pt x="336125" y="671036"/>
                </a:lnTo>
                <a:lnTo>
                  <a:pt x="287270" y="654321"/>
                </a:lnTo>
                <a:lnTo>
                  <a:pt x="241406" y="635510"/>
                </a:lnTo>
                <a:lnTo>
                  <a:pt x="198773" y="614730"/>
                </a:lnTo>
                <a:lnTo>
                  <a:pt x="159611" y="592108"/>
                </a:lnTo>
                <a:lnTo>
                  <a:pt x="124159" y="567773"/>
                </a:lnTo>
                <a:lnTo>
                  <a:pt x="92656" y="541850"/>
                </a:lnTo>
                <a:lnTo>
                  <a:pt x="65343" y="514467"/>
                </a:lnTo>
                <a:lnTo>
                  <a:pt x="24242" y="455829"/>
                </a:lnTo>
                <a:lnTo>
                  <a:pt x="2773" y="392876"/>
                </a:lnTo>
                <a:lnTo>
                  <a:pt x="0" y="360100"/>
                </a:lnTo>
                <a:lnTo>
                  <a:pt x="10934" y="295371"/>
                </a:lnTo>
                <a:lnTo>
                  <a:pt x="42458" y="234449"/>
                </a:lnTo>
                <a:lnTo>
                  <a:pt x="92656" y="178350"/>
                </a:lnTo>
                <a:lnTo>
                  <a:pt x="124159" y="152428"/>
                </a:lnTo>
                <a:lnTo>
                  <a:pt x="159611" y="128092"/>
                </a:lnTo>
                <a:lnTo>
                  <a:pt x="198773" y="105470"/>
                </a:lnTo>
                <a:lnTo>
                  <a:pt x="241406" y="84691"/>
                </a:lnTo>
                <a:lnTo>
                  <a:pt x="287270" y="65879"/>
                </a:lnTo>
                <a:lnTo>
                  <a:pt x="336125" y="49164"/>
                </a:lnTo>
                <a:lnTo>
                  <a:pt x="387732" y="34671"/>
                </a:lnTo>
                <a:lnTo>
                  <a:pt x="441850" y="22528"/>
                </a:lnTo>
                <a:lnTo>
                  <a:pt x="498242" y="12863"/>
                </a:lnTo>
                <a:lnTo>
                  <a:pt x="556666" y="5801"/>
                </a:lnTo>
                <a:lnTo>
                  <a:pt x="616884" y="1471"/>
                </a:lnTo>
                <a:lnTo>
                  <a:pt x="678655" y="0"/>
                </a:lnTo>
                <a:lnTo>
                  <a:pt x="740427" y="1471"/>
                </a:lnTo>
                <a:lnTo>
                  <a:pt x="800645" y="5801"/>
                </a:lnTo>
                <a:lnTo>
                  <a:pt x="859069" y="12863"/>
                </a:lnTo>
                <a:lnTo>
                  <a:pt x="915461" y="22528"/>
                </a:lnTo>
                <a:lnTo>
                  <a:pt x="969579" y="34671"/>
                </a:lnTo>
                <a:lnTo>
                  <a:pt x="1021186" y="49164"/>
                </a:lnTo>
                <a:lnTo>
                  <a:pt x="1070041" y="65879"/>
                </a:lnTo>
                <a:lnTo>
                  <a:pt x="1115905" y="84691"/>
                </a:lnTo>
                <a:lnTo>
                  <a:pt x="1158538" y="105470"/>
                </a:lnTo>
                <a:lnTo>
                  <a:pt x="1197700" y="128092"/>
                </a:lnTo>
                <a:lnTo>
                  <a:pt x="1233152" y="152428"/>
                </a:lnTo>
                <a:lnTo>
                  <a:pt x="1264655" y="178350"/>
                </a:lnTo>
                <a:lnTo>
                  <a:pt x="1291968" y="205733"/>
                </a:lnTo>
                <a:lnTo>
                  <a:pt x="1333069" y="264371"/>
                </a:lnTo>
                <a:lnTo>
                  <a:pt x="1354538" y="327324"/>
                </a:lnTo>
                <a:lnTo>
                  <a:pt x="1357311" y="360100"/>
                </a:lnTo>
                <a:lnTo>
                  <a:pt x="1352980" y="400732"/>
                </a:lnTo>
                <a:lnTo>
                  <a:pt x="1340168" y="440533"/>
                </a:lnTo>
                <a:lnTo>
                  <a:pt x="1319151" y="479150"/>
                </a:lnTo>
                <a:lnTo>
                  <a:pt x="1290205" y="516231"/>
                </a:lnTo>
                <a:lnTo>
                  <a:pt x="1253603" y="551422"/>
                </a:lnTo>
                <a:lnTo>
                  <a:pt x="1209623" y="584373"/>
                </a:lnTo>
                <a:lnTo>
                  <a:pt x="1158538" y="614729"/>
                </a:lnTo>
                <a:lnTo>
                  <a:pt x="1357311" y="614729"/>
                </a:lnTo>
                <a:lnTo>
                  <a:pt x="1357311" y="720201"/>
                </a:lnTo>
                <a:lnTo>
                  <a:pt x="678655" y="720201"/>
                </a:lnTo>
                <a:close/>
              </a:path>
            </a:pathLst>
          </a:custGeom>
          <a:ln w="12699">
            <a:solidFill>
              <a:srgbClr val="000000"/>
            </a:solidFill>
          </a:ln>
        </p:spPr>
        <p:txBody>
          <a:bodyPr wrap="square" lIns="0" tIns="0" rIns="0" bIns="0" rtlCol="0"/>
          <a:lstStyle/>
          <a:p>
            <a:endParaRPr/>
          </a:p>
        </p:txBody>
      </p:sp>
      <p:sp>
        <p:nvSpPr>
          <p:cNvPr id="17" name="object 17"/>
          <p:cNvSpPr txBox="1"/>
          <p:nvPr/>
        </p:nvSpPr>
        <p:spPr>
          <a:xfrm>
            <a:off x="770857" y="2690931"/>
            <a:ext cx="791210" cy="575945"/>
          </a:xfrm>
          <a:prstGeom prst="rect">
            <a:avLst/>
          </a:prstGeom>
        </p:spPr>
        <p:txBody>
          <a:bodyPr vert="horz" wrap="square" lIns="0" tIns="10795" rIns="0" bIns="0" rtlCol="0">
            <a:spAutoFit/>
          </a:bodyPr>
          <a:lstStyle/>
          <a:p>
            <a:pPr marL="339090" marR="5080" indent="-327025">
              <a:lnSpc>
                <a:spcPct val="101000"/>
              </a:lnSpc>
              <a:spcBef>
                <a:spcPts val="85"/>
              </a:spcBef>
            </a:pPr>
            <a:r>
              <a:rPr sz="1800" spc="-5" dirty="0">
                <a:latin typeface="Calibri" panose="020F0502020204030204"/>
                <a:cs typeface="Calibri" panose="020F0502020204030204"/>
              </a:rPr>
              <a:t>Predicat  </a:t>
            </a:r>
            <a:r>
              <a:rPr sz="1800" dirty="0">
                <a:latin typeface="Calibri" panose="020F0502020204030204"/>
                <a:cs typeface="Calibri" panose="020F0502020204030204"/>
              </a:rPr>
              <a:t>e</a:t>
            </a:r>
            <a:endParaRPr sz="1800">
              <a:latin typeface="Calibri" panose="020F0502020204030204"/>
              <a:cs typeface="Calibri" panose="020F0502020204030204"/>
            </a:endParaRPr>
          </a:p>
        </p:txBody>
      </p:sp>
      <p:sp>
        <p:nvSpPr>
          <p:cNvPr id="18" name="Slide Number Placeholder 17"/>
          <p:cNvSpPr>
            <a:spLocks noGrp="1"/>
          </p:cNvSpPr>
          <p:nvPr>
            <p:ph type="sldNum" sz="quarter" idx="7"/>
          </p:nvPr>
        </p:nvSpPr>
        <p:spPr/>
        <p:txBody>
          <a:bodyPr/>
          <a:lstStyle/>
          <a:p>
            <a:fld id="{B6F15528-21DE-4FAA-801E-634DDDAF4B2B}" type="slidenum">
              <a:rPr/>
              <a:t>44</a:t>
            </a:fld>
            <a:endParaRPr/>
          </a:p>
        </p:txBody>
      </p:sp>
      <p:sp>
        <p:nvSpPr>
          <p:cNvPr id="19" name="Footer Placeholder 18"/>
          <p:cNvSpPr>
            <a:spLocks noGrp="1"/>
          </p:cNvSpPr>
          <p:nvPr>
            <p:ph type="ftr" sz="quarter" idx="5"/>
          </p:nvPr>
        </p:nvSpPr>
        <p:spPr/>
        <p:txBody>
          <a:bodyPr/>
          <a:lstStyle/>
          <a:p>
            <a:r>
              <a:t>UNIT IV : Pythonic Programming Paradigm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426173"/>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 dirty="0"/>
              <a:t>Logical</a:t>
            </a:r>
            <a:r>
              <a:rPr spc="-55" dirty="0"/>
              <a:t> </a:t>
            </a:r>
            <a:r>
              <a:rPr spc="-5" dirty="0"/>
              <a:t>Programming</a:t>
            </a:r>
            <a:r>
              <a:rPr spc="-50" dirty="0"/>
              <a:t> </a:t>
            </a:r>
            <a:r>
              <a:rPr spc="-5" dirty="0"/>
              <a:t>Paradigm</a:t>
            </a:r>
          </a:p>
        </p:txBody>
      </p:sp>
      <p:sp>
        <p:nvSpPr>
          <p:cNvPr id="4" name="object 4"/>
          <p:cNvSpPr/>
          <p:nvPr/>
        </p:nvSpPr>
        <p:spPr>
          <a:xfrm>
            <a:off x="0" y="6694114"/>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31953" y="490866"/>
            <a:ext cx="12105640" cy="6118860"/>
          </a:xfrm>
          <a:custGeom>
            <a:avLst/>
            <a:gdLst/>
            <a:ahLst/>
            <a:cxnLst/>
            <a:rect l="l" t="t" r="r" b="b"/>
            <a:pathLst>
              <a:path w="12105640" h="6118859">
                <a:moveTo>
                  <a:pt x="0" y="0"/>
                </a:moveTo>
                <a:lnTo>
                  <a:pt x="12105504" y="0"/>
                </a:lnTo>
                <a:lnTo>
                  <a:pt x="12105504" y="6118857"/>
                </a:lnTo>
                <a:lnTo>
                  <a:pt x="0" y="6118857"/>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540075" y="271775"/>
            <a:ext cx="11489690" cy="6178550"/>
          </a:xfrm>
          <a:prstGeom prst="rect">
            <a:avLst/>
          </a:prstGeom>
        </p:spPr>
        <p:txBody>
          <a:bodyPr vert="horz" wrap="square" lIns="0" tIns="12700" rIns="0" bIns="0" rtlCol="0">
            <a:spAutoFit/>
          </a:bodyPr>
          <a:lstStyle/>
          <a:p>
            <a:pPr marL="12700" marR="6003290">
              <a:lnSpc>
                <a:spcPct val="148000"/>
              </a:lnSpc>
              <a:spcBef>
                <a:spcPts val="100"/>
              </a:spcBef>
            </a:pPr>
            <a:r>
              <a:rPr sz="1600" spc="-5" dirty="0">
                <a:latin typeface="Calibri" panose="020F0502020204030204"/>
                <a:cs typeface="Calibri" panose="020F0502020204030204"/>
              </a:rPr>
              <a:t>from pyDatalog import pyDatalog </a:t>
            </a:r>
            <a:r>
              <a:rPr sz="1600" dirty="0">
                <a:latin typeface="Calibri" panose="020F0502020204030204"/>
                <a:cs typeface="Calibri" panose="020F0502020204030204"/>
              </a:rPr>
              <a:t> </a:t>
            </a:r>
            <a:r>
              <a:rPr sz="1600" spc="-5" dirty="0">
                <a:latin typeface="Calibri" panose="020F0502020204030204"/>
                <a:cs typeface="Calibri" panose="020F0502020204030204"/>
              </a:rPr>
              <a:t>pyDatalog.create_atoms('parent,male,female,son,daughter,X,Y,Z')</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+male('adam')</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+female('anne')</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+female('barney')</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+male('james')</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+parent('barney','adam')</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+parent('james','anne')</a:t>
            </a:r>
            <a:endParaRPr sz="1600">
              <a:latin typeface="Calibri" panose="020F0502020204030204"/>
              <a:cs typeface="Calibri" panose="020F0502020204030204"/>
            </a:endParaRPr>
          </a:p>
          <a:p>
            <a:pPr>
              <a:lnSpc>
                <a:spcPct val="100000"/>
              </a:lnSpc>
            </a:pPr>
            <a:endParaRPr sz="1600">
              <a:latin typeface="Calibri" panose="020F0502020204030204"/>
              <a:cs typeface="Calibri" panose="020F0502020204030204"/>
            </a:endParaRPr>
          </a:p>
          <a:p>
            <a:pPr>
              <a:lnSpc>
                <a:spcPct val="100000"/>
              </a:lnSpc>
              <a:spcBef>
                <a:spcPts val="55"/>
              </a:spcBef>
            </a:pPr>
            <a:endParaRPr sz="1450">
              <a:latin typeface="Calibri" panose="020F0502020204030204"/>
              <a:cs typeface="Calibri" panose="020F0502020204030204"/>
            </a:endParaRPr>
          </a:p>
          <a:p>
            <a:pPr marL="12700">
              <a:lnSpc>
                <a:spcPct val="100000"/>
              </a:lnSpc>
            </a:pPr>
            <a:r>
              <a:rPr sz="1600" spc="-5" dirty="0">
                <a:latin typeface="Calibri" panose="020F0502020204030204"/>
                <a:cs typeface="Calibri" panose="020F0502020204030204"/>
              </a:rPr>
              <a:t>#The first rule is read </a:t>
            </a:r>
            <a:r>
              <a:rPr sz="1600" dirty="0">
                <a:latin typeface="Calibri" panose="020F0502020204030204"/>
                <a:cs typeface="Calibri" panose="020F0502020204030204"/>
              </a:rPr>
              <a:t>as</a:t>
            </a:r>
            <a:r>
              <a:rPr sz="1600" spc="-5" dirty="0">
                <a:latin typeface="Calibri" panose="020F0502020204030204"/>
                <a:cs typeface="Calibri" panose="020F0502020204030204"/>
              </a:rPr>
              <a:t> follows: for </a:t>
            </a:r>
            <a:r>
              <a:rPr sz="1600" dirty="0">
                <a:latin typeface="Calibri" panose="020F0502020204030204"/>
                <a:cs typeface="Calibri" panose="020F0502020204030204"/>
              </a:rPr>
              <a:t>all</a:t>
            </a:r>
            <a:r>
              <a:rPr sz="1600" spc="-5" dirty="0">
                <a:latin typeface="Calibri" panose="020F0502020204030204"/>
                <a:cs typeface="Calibri" panose="020F0502020204030204"/>
              </a:rPr>
              <a:t> </a:t>
            </a:r>
            <a:r>
              <a:rPr sz="1600" dirty="0">
                <a:latin typeface="Calibri" panose="020F0502020204030204"/>
                <a:cs typeface="Calibri" panose="020F0502020204030204"/>
              </a:rPr>
              <a:t>X</a:t>
            </a:r>
            <a:r>
              <a:rPr sz="1600" spc="-5" dirty="0">
                <a:latin typeface="Calibri" panose="020F0502020204030204"/>
                <a:cs typeface="Calibri" panose="020F0502020204030204"/>
              </a:rPr>
              <a:t> </a:t>
            </a:r>
            <a:r>
              <a:rPr sz="1600" dirty="0">
                <a:latin typeface="Calibri" panose="020F0502020204030204"/>
                <a:cs typeface="Calibri" panose="020F0502020204030204"/>
              </a:rPr>
              <a:t>and</a:t>
            </a:r>
            <a:r>
              <a:rPr sz="1600" spc="-5" dirty="0">
                <a:latin typeface="Calibri" panose="020F0502020204030204"/>
                <a:cs typeface="Calibri" panose="020F0502020204030204"/>
              </a:rPr>
              <a:t> Y, </a:t>
            </a:r>
            <a:r>
              <a:rPr sz="1600" dirty="0">
                <a:latin typeface="Calibri" panose="020F0502020204030204"/>
                <a:cs typeface="Calibri" panose="020F0502020204030204"/>
              </a:rPr>
              <a:t>X</a:t>
            </a:r>
            <a:r>
              <a:rPr sz="1600" spc="-5" dirty="0">
                <a:latin typeface="Calibri" panose="020F0502020204030204"/>
                <a:cs typeface="Calibri" panose="020F0502020204030204"/>
              </a:rPr>
              <a:t> is the son of </a:t>
            </a:r>
            <a:r>
              <a:rPr sz="1600" dirty="0">
                <a:latin typeface="Calibri" panose="020F0502020204030204"/>
                <a:cs typeface="Calibri" panose="020F0502020204030204"/>
              </a:rPr>
              <a:t>Y</a:t>
            </a:r>
            <a:r>
              <a:rPr sz="1600" spc="-5" dirty="0">
                <a:latin typeface="Calibri" panose="020F0502020204030204"/>
                <a:cs typeface="Calibri" panose="020F0502020204030204"/>
              </a:rPr>
              <a:t> if</a:t>
            </a:r>
            <a:r>
              <a:rPr sz="1600" dirty="0">
                <a:latin typeface="Calibri" panose="020F0502020204030204"/>
                <a:cs typeface="Calibri" panose="020F0502020204030204"/>
              </a:rPr>
              <a:t> </a:t>
            </a:r>
            <a:r>
              <a:rPr sz="1600" spc="-5" dirty="0">
                <a:latin typeface="Calibri" panose="020F0502020204030204"/>
                <a:cs typeface="Calibri" panose="020F0502020204030204"/>
              </a:rPr>
              <a:t>there exists </a:t>
            </a:r>
            <a:r>
              <a:rPr sz="1600" dirty="0">
                <a:latin typeface="Calibri" panose="020F0502020204030204"/>
                <a:cs typeface="Calibri" panose="020F0502020204030204"/>
              </a:rPr>
              <a:t>X</a:t>
            </a:r>
            <a:r>
              <a:rPr sz="1600" spc="-5" dirty="0">
                <a:latin typeface="Calibri" panose="020F0502020204030204"/>
                <a:cs typeface="Calibri" panose="020F0502020204030204"/>
              </a:rPr>
              <a:t> </a:t>
            </a:r>
            <a:r>
              <a:rPr sz="1600" dirty="0">
                <a:latin typeface="Calibri" panose="020F0502020204030204"/>
                <a:cs typeface="Calibri" panose="020F0502020204030204"/>
              </a:rPr>
              <a:t>and</a:t>
            </a:r>
            <a:r>
              <a:rPr sz="1600" spc="-5" dirty="0">
                <a:latin typeface="Calibri" panose="020F0502020204030204"/>
                <a:cs typeface="Calibri" panose="020F0502020204030204"/>
              </a:rPr>
              <a:t> </a:t>
            </a:r>
            <a:r>
              <a:rPr sz="1600" dirty="0">
                <a:latin typeface="Calibri" panose="020F0502020204030204"/>
                <a:cs typeface="Calibri" panose="020F0502020204030204"/>
              </a:rPr>
              <a:t>Y</a:t>
            </a:r>
            <a:r>
              <a:rPr sz="1600" spc="-5" dirty="0">
                <a:latin typeface="Calibri" panose="020F0502020204030204"/>
                <a:cs typeface="Calibri" panose="020F0502020204030204"/>
              </a:rPr>
              <a:t> such that </a:t>
            </a:r>
            <a:r>
              <a:rPr sz="1600" dirty="0">
                <a:latin typeface="Calibri" panose="020F0502020204030204"/>
                <a:cs typeface="Calibri" panose="020F0502020204030204"/>
              </a:rPr>
              <a:t>Y</a:t>
            </a:r>
            <a:r>
              <a:rPr sz="1600" spc="-5" dirty="0">
                <a:latin typeface="Calibri" panose="020F0502020204030204"/>
                <a:cs typeface="Calibri" panose="020F0502020204030204"/>
              </a:rPr>
              <a:t> is the parent of </a:t>
            </a:r>
            <a:r>
              <a:rPr sz="1600" dirty="0">
                <a:latin typeface="Calibri" panose="020F0502020204030204"/>
                <a:cs typeface="Calibri" panose="020F0502020204030204"/>
              </a:rPr>
              <a:t>X</a:t>
            </a:r>
            <a:r>
              <a:rPr sz="1600" spc="-5" dirty="0">
                <a:latin typeface="Calibri" panose="020F0502020204030204"/>
                <a:cs typeface="Calibri" panose="020F0502020204030204"/>
              </a:rPr>
              <a:t> </a:t>
            </a:r>
            <a:r>
              <a:rPr sz="1600" dirty="0">
                <a:latin typeface="Calibri" panose="020F0502020204030204"/>
                <a:cs typeface="Calibri" panose="020F0502020204030204"/>
              </a:rPr>
              <a:t>and</a:t>
            </a:r>
            <a:r>
              <a:rPr sz="1600" spc="-5" dirty="0">
                <a:latin typeface="Calibri" panose="020F0502020204030204"/>
                <a:cs typeface="Calibri" panose="020F0502020204030204"/>
              </a:rPr>
              <a:t> </a:t>
            </a:r>
            <a:r>
              <a:rPr sz="1600" dirty="0">
                <a:latin typeface="Calibri" panose="020F0502020204030204"/>
                <a:cs typeface="Calibri" panose="020F0502020204030204"/>
              </a:rPr>
              <a:t>X</a:t>
            </a:r>
            <a:r>
              <a:rPr sz="1600" spc="-5" dirty="0">
                <a:latin typeface="Calibri" panose="020F0502020204030204"/>
                <a:cs typeface="Calibri" panose="020F0502020204030204"/>
              </a:rPr>
              <a:t> is male.</a:t>
            </a:r>
            <a:endParaRPr sz="1600">
              <a:latin typeface="Calibri" panose="020F0502020204030204"/>
              <a:cs typeface="Calibri" panose="020F0502020204030204"/>
            </a:endParaRPr>
          </a:p>
          <a:p>
            <a:pPr marL="12700" marR="5080">
              <a:lnSpc>
                <a:spcPct val="148000"/>
              </a:lnSpc>
            </a:pPr>
            <a:r>
              <a:rPr sz="1600" spc="-5" dirty="0">
                <a:latin typeface="Calibri" panose="020F0502020204030204"/>
                <a:cs typeface="Calibri" panose="020F0502020204030204"/>
              </a:rPr>
              <a:t>#The</a:t>
            </a:r>
            <a:r>
              <a:rPr sz="1600" spc="140" dirty="0">
                <a:latin typeface="Calibri" panose="020F0502020204030204"/>
                <a:cs typeface="Calibri" panose="020F0502020204030204"/>
              </a:rPr>
              <a:t> </a:t>
            </a:r>
            <a:r>
              <a:rPr sz="1600" spc="-5" dirty="0">
                <a:latin typeface="Calibri" panose="020F0502020204030204"/>
                <a:cs typeface="Calibri" panose="020F0502020204030204"/>
              </a:rPr>
              <a:t>second</a:t>
            </a:r>
            <a:r>
              <a:rPr sz="1600" spc="140" dirty="0">
                <a:latin typeface="Calibri" panose="020F0502020204030204"/>
                <a:cs typeface="Calibri" panose="020F0502020204030204"/>
              </a:rPr>
              <a:t> </a:t>
            </a:r>
            <a:r>
              <a:rPr sz="1600" spc="-5" dirty="0">
                <a:latin typeface="Calibri" panose="020F0502020204030204"/>
                <a:cs typeface="Calibri" panose="020F0502020204030204"/>
              </a:rPr>
              <a:t>rule</a:t>
            </a:r>
            <a:r>
              <a:rPr sz="1600" spc="140" dirty="0">
                <a:latin typeface="Calibri" panose="020F0502020204030204"/>
                <a:cs typeface="Calibri" panose="020F0502020204030204"/>
              </a:rPr>
              <a:t> </a:t>
            </a:r>
            <a:r>
              <a:rPr sz="1600" spc="-5" dirty="0">
                <a:latin typeface="Calibri" panose="020F0502020204030204"/>
                <a:cs typeface="Calibri" panose="020F0502020204030204"/>
              </a:rPr>
              <a:t>is</a:t>
            </a:r>
            <a:r>
              <a:rPr sz="1600" spc="140" dirty="0">
                <a:latin typeface="Calibri" panose="020F0502020204030204"/>
                <a:cs typeface="Calibri" panose="020F0502020204030204"/>
              </a:rPr>
              <a:t> </a:t>
            </a:r>
            <a:r>
              <a:rPr sz="1600" spc="-5" dirty="0">
                <a:latin typeface="Calibri" panose="020F0502020204030204"/>
                <a:cs typeface="Calibri" panose="020F0502020204030204"/>
              </a:rPr>
              <a:t>read</a:t>
            </a:r>
            <a:r>
              <a:rPr sz="1600" spc="140" dirty="0">
                <a:latin typeface="Calibri" panose="020F0502020204030204"/>
                <a:cs typeface="Calibri" panose="020F0502020204030204"/>
              </a:rPr>
              <a:t> </a:t>
            </a:r>
            <a:r>
              <a:rPr sz="1600" dirty="0">
                <a:latin typeface="Calibri" panose="020F0502020204030204"/>
                <a:cs typeface="Calibri" panose="020F0502020204030204"/>
              </a:rPr>
              <a:t>as</a:t>
            </a:r>
            <a:r>
              <a:rPr sz="1600" spc="140" dirty="0">
                <a:latin typeface="Calibri" panose="020F0502020204030204"/>
                <a:cs typeface="Calibri" panose="020F0502020204030204"/>
              </a:rPr>
              <a:t> </a:t>
            </a:r>
            <a:r>
              <a:rPr sz="1600" spc="-5" dirty="0">
                <a:latin typeface="Calibri" panose="020F0502020204030204"/>
                <a:cs typeface="Calibri" panose="020F0502020204030204"/>
              </a:rPr>
              <a:t>follows:</a:t>
            </a:r>
            <a:r>
              <a:rPr sz="1600" spc="140" dirty="0">
                <a:latin typeface="Calibri" panose="020F0502020204030204"/>
                <a:cs typeface="Calibri" panose="020F0502020204030204"/>
              </a:rPr>
              <a:t> </a:t>
            </a:r>
            <a:r>
              <a:rPr sz="1600" spc="-5" dirty="0">
                <a:latin typeface="Calibri" panose="020F0502020204030204"/>
                <a:cs typeface="Calibri" panose="020F0502020204030204"/>
              </a:rPr>
              <a:t>for</a:t>
            </a:r>
            <a:r>
              <a:rPr sz="1600" spc="140" dirty="0">
                <a:latin typeface="Calibri" panose="020F0502020204030204"/>
                <a:cs typeface="Calibri" panose="020F0502020204030204"/>
              </a:rPr>
              <a:t> </a:t>
            </a:r>
            <a:r>
              <a:rPr sz="1600" dirty="0">
                <a:latin typeface="Calibri" panose="020F0502020204030204"/>
                <a:cs typeface="Calibri" panose="020F0502020204030204"/>
              </a:rPr>
              <a:t>all</a:t>
            </a:r>
            <a:r>
              <a:rPr sz="1600" spc="140" dirty="0">
                <a:latin typeface="Calibri" panose="020F0502020204030204"/>
                <a:cs typeface="Calibri" panose="020F0502020204030204"/>
              </a:rPr>
              <a:t> </a:t>
            </a:r>
            <a:r>
              <a:rPr sz="1600" dirty="0">
                <a:latin typeface="Calibri" panose="020F0502020204030204"/>
                <a:cs typeface="Calibri" panose="020F0502020204030204"/>
              </a:rPr>
              <a:t>X</a:t>
            </a:r>
            <a:r>
              <a:rPr sz="1600" spc="140" dirty="0">
                <a:latin typeface="Calibri" panose="020F0502020204030204"/>
                <a:cs typeface="Calibri" panose="020F0502020204030204"/>
              </a:rPr>
              <a:t> </a:t>
            </a:r>
            <a:r>
              <a:rPr sz="1600" dirty="0">
                <a:latin typeface="Calibri" panose="020F0502020204030204"/>
                <a:cs typeface="Calibri" panose="020F0502020204030204"/>
              </a:rPr>
              <a:t>and</a:t>
            </a:r>
            <a:r>
              <a:rPr sz="1600" spc="140" dirty="0">
                <a:latin typeface="Calibri" panose="020F0502020204030204"/>
                <a:cs typeface="Calibri" panose="020F0502020204030204"/>
              </a:rPr>
              <a:t> </a:t>
            </a:r>
            <a:r>
              <a:rPr sz="1600" spc="-5" dirty="0">
                <a:latin typeface="Calibri" panose="020F0502020204030204"/>
                <a:cs typeface="Calibri" panose="020F0502020204030204"/>
              </a:rPr>
              <a:t>Y,</a:t>
            </a:r>
            <a:r>
              <a:rPr sz="1600" spc="140" dirty="0">
                <a:latin typeface="Calibri" panose="020F0502020204030204"/>
                <a:cs typeface="Calibri" panose="020F0502020204030204"/>
              </a:rPr>
              <a:t> </a:t>
            </a:r>
            <a:r>
              <a:rPr sz="1600" dirty="0">
                <a:latin typeface="Calibri" panose="020F0502020204030204"/>
                <a:cs typeface="Calibri" panose="020F0502020204030204"/>
              </a:rPr>
              <a:t>X</a:t>
            </a:r>
            <a:r>
              <a:rPr sz="1600" spc="140" dirty="0">
                <a:latin typeface="Calibri" panose="020F0502020204030204"/>
                <a:cs typeface="Calibri" panose="020F0502020204030204"/>
              </a:rPr>
              <a:t> </a:t>
            </a:r>
            <a:r>
              <a:rPr sz="1600" spc="-5" dirty="0">
                <a:latin typeface="Calibri" panose="020F0502020204030204"/>
                <a:cs typeface="Calibri" panose="020F0502020204030204"/>
              </a:rPr>
              <a:t>is</a:t>
            </a:r>
            <a:r>
              <a:rPr sz="1600" spc="140" dirty="0">
                <a:latin typeface="Calibri" panose="020F0502020204030204"/>
                <a:cs typeface="Calibri" panose="020F0502020204030204"/>
              </a:rPr>
              <a:t> </a:t>
            </a:r>
            <a:r>
              <a:rPr sz="1600" spc="-5" dirty="0">
                <a:latin typeface="Calibri" panose="020F0502020204030204"/>
                <a:cs typeface="Calibri" panose="020F0502020204030204"/>
              </a:rPr>
              <a:t>the</a:t>
            </a:r>
            <a:r>
              <a:rPr sz="1600" spc="140" dirty="0">
                <a:latin typeface="Calibri" panose="020F0502020204030204"/>
                <a:cs typeface="Calibri" panose="020F0502020204030204"/>
              </a:rPr>
              <a:t> </a:t>
            </a:r>
            <a:r>
              <a:rPr sz="1600" spc="-5" dirty="0">
                <a:latin typeface="Calibri" panose="020F0502020204030204"/>
                <a:cs typeface="Calibri" panose="020F0502020204030204"/>
              </a:rPr>
              <a:t>daughter</a:t>
            </a:r>
            <a:r>
              <a:rPr sz="1600" spc="140" dirty="0">
                <a:latin typeface="Calibri" panose="020F0502020204030204"/>
                <a:cs typeface="Calibri" panose="020F0502020204030204"/>
              </a:rPr>
              <a:t> </a:t>
            </a:r>
            <a:r>
              <a:rPr sz="1600" spc="-5" dirty="0">
                <a:latin typeface="Calibri" panose="020F0502020204030204"/>
                <a:cs typeface="Calibri" panose="020F0502020204030204"/>
              </a:rPr>
              <a:t>of</a:t>
            </a:r>
            <a:r>
              <a:rPr sz="1600" spc="140" dirty="0">
                <a:latin typeface="Calibri" panose="020F0502020204030204"/>
                <a:cs typeface="Calibri" panose="020F0502020204030204"/>
              </a:rPr>
              <a:t> </a:t>
            </a:r>
            <a:r>
              <a:rPr sz="1600" dirty="0">
                <a:latin typeface="Calibri" panose="020F0502020204030204"/>
                <a:cs typeface="Calibri" panose="020F0502020204030204"/>
              </a:rPr>
              <a:t>Y</a:t>
            </a:r>
            <a:r>
              <a:rPr sz="1600" spc="140" dirty="0">
                <a:latin typeface="Calibri" panose="020F0502020204030204"/>
                <a:cs typeface="Calibri" panose="020F0502020204030204"/>
              </a:rPr>
              <a:t> </a:t>
            </a:r>
            <a:r>
              <a:rPr sz="1600" spc="-5" dirty="0">
                <a:latin typeface="Calibri" panose="020F0502020204030204"/>
                <a:cs typeface="Calibri" panose="020F0502020204030204"/>
              </a:rPr>
              <a:t>if</a:t>
            </a:r>
            <a:r>
              <a:rPr sz="1600" spc="140" dirty="0">
                <a:latin typeface="Calibri" panose="020F0502020204030204"/>
                <a:cs typeface="Calibri" panose="020F0502020204030204"/>
              </a:rPr>
              <a:t> </a:t>
            </a:r>
            <a:r>
              <a:rPr sz="1600" spc="-5" dirty="0">
                <a:latin typeface="Calibri" panose="020F0502020204030204"/>
                <a:cs typeface="Calibri" panose="020F0502020204030204"/>
              </a:rPr>
              <a:t>there</a:t>
            </a:r>
            <a:r>
              <a:rPr sz="1600" spc="140" dirty="0">
                <a:latin typeface="Calibri" panose="020F0502020204030204"/>
                <a:cs typeface="Calibri" panose="020F0502020204030204"/>
              </a:rPr>
              <a:t> </a:t>
            </a:r>
            <a:r>
              <a:rPr sz="1600" spc="-5" dirty="0">
                <a:latin typeface="Calibri" panose="020F0502020204030204"/>
                <a:cs typeface="Calibri" panose="020F0502020204030204"/>
              </a:rPr>
              <a:t>exists</a:t>
            </a:r>
            <a:r>
              <a:rPr sz="1600" spc="140" dirty="0">
                <a:latin typeface="Calibri" panose="020F0502020204030204"/>
                <a:cs typeface="Calibri" panose="020F0502020204030204"/>
              </a:rPr>
              <a:t> </a:t>
            </a:r>
            <a:r>
              <a:rPr sz="1600" dirty="0">
                <a:latin typeface="Calibri" panose="020F0502020204030204"/>
                <a:cs typeface="Calibri" panose="020F0502020204030204"/>
              </a:rPr>
              <a:t>X</a:t>
            </a:r>
            <a:r>
              <a:rPr sz="1600" spc="140" dirty="0">
                <a:latin typeface="Calibri" panose="020F0502020204030204"/>
                <a:cs typeface="Calibri" panose="020F0502020204030204"/>
              </a:rPr>
              <a:t> </a:t>
            </a:r>
            <a:r>
              <a:rPr sz="1600" dirty="0">
                <a:latin typeface="Calibri" panose="020F0502020204030204"/>
                <a:cs typeface="Calibri" panose="020F0502020204030204"/>
              </a:rPr>
              <a:t>and</a:t>
            </a:r>
            <a:r>
              <a:rPr sz="1600" spc="140" dirty="0">
                <a:latin typeface="Calibri" panose="020F0502020204030204"/>
                <a:cs typeface="Calibri" panose="020F0502020204030204"/>
              </a:rPr>
              <a:t> </a:t>
            </a:r>
            <a:r>
              <a:rPr sz="1600" dirty="0">
                <a:latin typeface="Calibri" panose="020F0502020204030204"/>
                <a:cs typeface="Calibri" panose="020F0502020204030204"/>
              </a:rPr>
              <a:t>Y</a:t>
            </a:r>
            <a:r>
              <a:rPr sz="1600" spc="140" dirty="0">
                <a:latin typeface="Calibri" panose="020F0502020204030204"/>
                <a:cs typeface="Calibri" panose="020F0502020204030204"/>
              </a:rPr>
              <a:t> </a:t>
            </a:r>
            <a:r>
              <a:rPr sz="1600" spc="-5" dirty="0">
                <a:latin typeface="Calibri" panose="020F0502020204030204"/>
                <a:cs typeface="Calibri" panose="020F0502020204030204"/>
              </a:rPr>
              <a:t>such</a:t>
            </a:r>
            <a:r>
              <a:rPr sz="1600" spc="140" dirty="0">
                <a:latin typeface="Calibri" panose="020F0502020204030204"/>
                <a:cs typeface="Calibri" panose="020F0502020204030204"/>
              </a:rPr>
              <a:t> </a:t>
            </a:r>
            <a:r>
              <a:rPr sz="1600" spc="-5" dirty="0">
                <a:latin typeface="Calibri" panose="020F0502020204030204"/>
                <a:cs typeface="Calibri" panose="020F0502020204030204"/>
              </a:rPr>
              <a:t>that</a:t>
            </a:r>
            <a:r>
              <a:rPr sz="1600" spc="140" dirty="0">
                <a:latin typeface="Calibri" panose="020F0502020204030204"/>
                <a:cs typeface="Calibri" panose="020F0502020204030204"/>
              </a:rPr>
              <a:t> </a:t>
            </a:r>
            <a:r>
              <a:rPr sz="1600" dirty="0">
                <a:latin typeface="Calibri" panose="020F0502020204030204"/>
                <a:cs typeface="Calibri" panose="020F0502020204030204"/>
              </a:rPr>
              <a:t>Y</a:t>
            </a:r>
            <a:r>
              <a:rPr sz="1600" spc="140" dirty="0">
                <a:latin typeface="Calibri" panose="020F0502020204030204"/>
                <a:cs typeface="Calibri" panose="020F0502020204030204"/>
              </a:rPr>
              <a:t> </a:t>
            </a:r>
            <a:r>
              <a:rPr sz="1600" spc="-5" dirty="0">
                <a:latin typeface="Calibri" panose="020F0502020204030204"/>
                <a:cs typeface="Calibri" panose="020F0502020204030204"/>
              </a:rPr>
              <a:t>is</a:t>
            </a:r>
            <a:r>
              <a:rPr sz="1600" spc="140" dirty="0">
                <a:latin typeface="Calibri" panose="020F0502020204030204"/>
                <a:cs typeface="Calibri" panose="020F0502020204030204"/>
              </a:rPr>
              <a:t> </a:t>
            </a:r>
            <a:r>
              <a:rPr sz="1600" spc="-5" dirty="0">
                <a:latin typeface="Calibri" panose="020F0502020204030204"/>
                <a:cs typeface="Calibri" panose="020F0502020204030204"/>
              </a:rPr>
              <a:t>the</a:t>
            </a:r>
            <a:r>
              <a:rPr sz="1600" spc="140" dirty="0">
                <a:latin typeface="Calibri" panose="020F0502020204030204"/>
                <a:cs typeface="Calibri" panose="020F0502020204030204"/>
              </a:rPr>
              <a:t> </a:t>
            </a:r>
            <a:r>
              <a:rPr sz="1600" spc="-5" dirty="0">
                <a:latin typeface="Calibri" panose="020F0502020204030204"/>
                <a:cs typeface="Calibri" panose="020F0502020204030204"/>
              </a:rPr>
              <a:t>parent</a:t>
            </a:r>
            <a:r>
              <a:rPr sz="1600" spc="140" dirty="0">
                <a:latin typeface="Calibri" panose="020F0502020204030204"/>
                <a:cs typeface="Calibri" panose="020F0502020204030204"/>
              </a:rPr>
              <a:t> </a:t>
            </a:r>
            <a:r>
              <a:rPr sz="1600" spc="-5" dirty="0">
                <a:latin typeface="Calibri" panose="020F0502020204030204"/>
                <a:cs typeface="Calibri" panose="020F0502020204030204"/>
              </a:rPr>
              <a:t>of</a:t>
            </a:r>
            <a:r>
              <a:rPr sz="1600" spc="140" dirty="0">
                <a:latin typeface="Calibri" panose="020F0502020204030204"/>
                <a:cs typeface="Calibri" panose="020F0502020204030204"/>
              </a:rPr>
              <a:t> </a:t>
            </a:r>
            <a:r>
              <a:rPr sz="1600" dirty="0">
                <a:latin typeface="Calibri" panose="020F0502020204030204"/>
                <a:cs typeface="Calibri" panose="020F0502020204030204"/>
              </a:rPr>
              <a:t>X</a:t>
            </a:r>
            <a:r>
              <a:rPr sz="1600" spc="140" dirty="0">
                <a:latin typeface="Calibri" panose="020F0502020204030204"/>
                <a:cs typeface="Calibri" panose="020F0502020204030204"/>
              </a:rPr>
              <a:t> </a:t>
            </a:r>
            <a:r>
              <a:rPr sz="1600" dirty="0">
                <a:latin typeface="Calibri" panose="020F0502020204030204"/>
                <a:cs typeface="Calibri" panose="020F0502020204030204"/>
              </a:rPr>
              <a:t>and</a:t>
            </a:r>
            <a:r>
              <a:rPr sz="1600" spc="140" dirty="0">
                <a:latin typeface="Calibri" panose="020F0502020204030204"/>
                <a:cs typeface="Calibri" panose="020F0502020204030204"/>
              </a:rPr>
              <a:t> </a:t>
            </a:r>
            <a:r>
              <a:rPr sz="1600" dirty="0">
                <a:latin typeface="Calibri" panose="020F0502020204030204"/>
                <a:cs typeface="Calibri" panose="020F0502020204030204"/>
              </a:rPr>
              <a:t>X</a:t>
            </a:r>
            <a:r>
              <a:rPr sz="1600" spc="140" dirty="0">
                <a:latin typeface="Calibri" panose="020F0502020204030204"/>
                <a:cs typeface="Calibri" panose="020F0502020204030204"/>
              </a:rPr>
              <a:t> </a:t>
            </a:r>
            <a:r>
              <a:rPr sz="1600" spc="-5" dirty="0">
                <a:latin typeface="Calibri" panose="020F0502020204030204"/>
                <a:cs typeface="Calibri" panose="020F0502020204030204"/>
              </a:rPr>
              <a:t>is </a:t>
            </a:r>
            <a:r>
              <a:rPr sz="1600" spc="-345" dirty="0">
                <a:latin typeface="Calibri" panose="020F0502020204030204"/>
                <a:cs typeface="Calibri" panose="020F0502020204030204"/>
              </a:rPr>
              <a:t> </a:t>
            </a:r>
            <a:r>
              <a:rPr sz="1600" spc="-5" dirty="0">
                <a:latin typeface="Calibri" panose="020F0502020204030204"/>
                <a:cs typeface="Calibri" panose="020F0502020204030204"/>
              </a:rPr>
              <a:t>female.</a:t>
            </a:r>
            <a:endParaRPr sz="1600">
              <a:latin typeface="Calibri" panose="020F0502020204030204"/>
              <a:cs typeface="Calibri" panose="020F0502020204030204"/>
            </a:endParaRPr>
          </a:p>
          <a:p>
            <a:pPr marL="12700" marR="8133715">
              <a:lnSpc>
                <a:spcPct val="148000"/>
              </a:lnSpc>
              <a:spcBef>
                <a:spcPts val="5"/>
              </a:spcBef>
            </a:pPr>
            <a:r>
              <a:rPr sz="1600" spc="-5" dirty="0">
                <a:latin typeface="Calibri" panose="020F0502020204030204"/>
                <a:cs typeface="Calibri" panose="020F0502020204030204"/>
              </a:rPr>
              <a:t>son(X,Y)&lt;= male(X) </a:t>
            </a:r>
            <a:r>
              <a:rPr sz="1600" dirty="0">
                <a:latin typeface="Calibri" panose="020F0502020204030204"/>
                <a:cs typeface="Calibri" panose="020F0502020204030204"/>
              </a:rPr>
              <a:t>&amp; </a:t>
            </a:r>
            <a:r>
              <a:rPr sz="1600" spc="-5" dirty="0">
                <a:latin typeface="Calibri" panose="020F0502020204030204"/>
                <a:cs typeface="Calibri" panose="020F0502020204030204"/>
              </a:rPr>
              <a:t>parent(Y,X) </a:t>
            </a:r>
            <a:r>
              <a:rPr sz="1600" dirty="0">
                <a:latin typeface="Calibri" panose="020F0502020204030204"/>
                <a:cs typeface="Calibri" panose="020F0502020204030204"/>
              </a:rPr>
              <a:t> </a:t>
            </a:r>
            <a:r>
              <a:rPr sz="1600" spc="-5" dirty="0">
                <a:latin typeface="Calibri" panose="020F0502020204030204"/>
                <a:cs typeface="Calibri" panose="020F0502020204030204"/>
              </a:rPr>
              <a:t>daughter(X,Y)&lt;= parent(Y,X) </a:t>
            </a:r>
            <a:r>
              <a:rPr sz="1600" dirty="0">
                <a:latin typeface="Calibri" panose="020F0502020204030204"/>
                <a:cs typeface="Calibri" panose="020F0502020204030204"/>
              </a:rPr>
              <a:t>&amp; </a:t>
            </a:r>
            <a:r>
              <a:rPr sz="1600" spc="-5" dirty="0">
                <a:latin typeface="Calibri" panose="020F0502020204030204"/>
                <a:cs typeface="Calibri" panose="020F0502020204030204"/>
              </a:rPr>
              <a:t>female(X) </a:t>
            </a:r>
            <a:r>
              <a:rPr sz="1600" spc="-350" dirty="0">
                <a:latin typeface="Calibri" panose="020F0502020204030204"/>
                <a:cs typeface="Calibri" panose="020F0502020204030204"/>
              </a:rPr>
              <a:t> </a:t>
            </a:r>
            <a:r>
              <a:rPr sz="1600" spc="-5" dirty="0">
                <a:latin typeface="Calibri" panose="020F0502020204030204"/>
                <a:cs typeface="Calibri" panose="020F0502020204030204"/>
              </a:rPr>
              <a:t>print(pyDatalog.ask('son(adam,Y)')) </a:t>
            </a:r>
            <a:r>
              <a:rPr sz="1600" dirty="0">
                <a:latin typeface="Calibri" panose="020F0502020204030204"/>
                <a:cs typeface="Calibri" panose="020F0502020204030204"/>
              </a:rPr>
              <a:t> </a:t>
            </a:r>
            <a:r>
              <a:rPr sz="1600" spc="-5" dirty="0">
                <a:latin typeface="Calibri" panose="020F0502020204030204"/>
                <a:cs typeface="Calibri" panose="020F0502020204030204"/>
              </a:rPr>
              <a:t>print(pyDatalog.ask('daughter(anne,Y)')) </a:t>
            </a:r>
            <a:r>
              <a:rPr sz="1600" spc="-350" dirty="0">
                <a:latin typeface="Calibri" panose="020F0502020204030204"/>
                <a:cs typeface="Calibri" panose="020F0502020204030204"/>
              </a:rPr>
              <a:t> </a:t>
            </a:r>
            <a:r>
              <a:rPr sz="1600" spc="-5" dirty="0">
                <a:latin typeface="Calibri" panose="020F0502020204030204"/>
                <a:cs typeface="Calibri" panose="020F0502020204030204"/>
              </a:rPr>
              <a:t>print(son('adam',X))</a:t>
            </a:r>
            <a:endParaRPr sz="1600">
              <a:latin typeface="Calibri" panose="020F0502020204030204"/>
              <a:cs typeface="Calibri" panose="020F0502020204030204"/>
            </a:endParaRPr>
          </a:p>
        </p:txBody>
      </p:sp>
      <p:sp>
        <p:nvSpPr>
          <p:cNvPr id="7" name="Slide Number Placeholder 6"/>
          <p:cNvSpPr>
            <a:spLocks noGrp="1"/>
          </p:cNvSpPr>
          <p:nvPr>
            <p:ph type="sldNum" sz="quarter" idx="7"/>
          </p:nvPr>
        </p:nvSpPr>
        <p:spPr/>
        <p:txBody>
          <a:bodyPr/>
          <a:lstStyle/>
          <a:p>
            <a:fld id="{B6F15528-21DE-4FAA-801E-634DDDAF4B2B}" type="slidenum">
              <a:rPr/>
              <a:t>45</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426173"/>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 dirty="0"/>
              <a:t>Logical</a:t>
            </a:r>
            <a:r>
              <a:rPr spc="-55" dirty="0"/>
              <a:t> </a:t>
            </a:r>
            <a:r>
              <a:rPr spc="-5" dirty="0"/>
              <a:t>Programming</a:t>
            </a:r>
            <a:r>
              <a:rPr spc="-50" dirty="0"/>
              <a:t> </a:t>
            </a:r>
            <a:r>
              <a:rPr spc="-5" dirty="0"/>
              <a:t>Paradigm</a:t>
            </a:r>
          </a:p>
        </p:txBody>
      </p:sp>
      <p:sp>
        <p:nvSpPr>
          <p:cNvPr id="4" name="object 4"/>
          <p:cNvSpPr/>
          <p:nvPr/>
        </p:nvSpPr>
        <p:spPr>
          <a:xfrm>
            <a:off x="0" y="6694114"/>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31953" y="490866"/>
            <a:ext cx="12105640" cy="6118860"/>
          </a:xfrm>
          <a:custGeom>
            <a:avLst/>
            <a:gdLst/>
            <a:ahLst/>
            <a:cxnLst/>
            <a:rect l="l" t="t" r="r" b="b"/>
            <a:pathLst>
              <a:path w="12105640" h="6118859">
                <a:moveTo>
                  <a:pt x="0" y="0"/>
                </a:moveTo>
                <a:lnTo>
                  <a:pt x="12105504" y="0"/>
                </a:lnTo>
                <a:lnTo>
                  <a:pt x="12105504" y="6118857"/>
                </a:lnTo>
                <a:lnTo>
                  <a:pt x="0" y="6118857"/>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540075" y="271775"/>
            <a:ext cx="3137535" cy="1473200"/>
          </a:xfrm>
          <a:prstGeom prst="rect">
            <a:avLst/>
          </a:prstGeom>
        </p:spPr>
        <p:txBody>
          <a:bodyPr vert="horz" wrap="square" lIns="0" tIns="12700" rIns="0" bIns="0" rtlCol="0">
            <a:spAutoFit/>
          </a:bodyPr>
          <a:lstStyle/>
          <a:p>
            <a:pPr marL="12700" marR="5080">
              <a:lnSpc>
                <a:spcPct val="148000"/>
              </a:lnSpc>
              <a:spcBef>
                <a:spcPts val="100"/>
              </a:spcBef>
            </a:pPr>
            <a:r>
              <a:rPr sz="1600" spc="-5" dirty="0">
                <a:latin typeface="Calibri" panose="020F0502020204030204"/>
                <a:cs typeface="Calibri" panose="020F0502020204030204"/>
              </a:rPr>
              <a:t>pyDatalog.create_terms('factorial, N') </a:t>
            </a:r>
            <a:r>
              <a:rPr sz="1600" spc="-350" dirty="0">
                <a:latin typeface="Calibri" panose="020F0502020204030204"/>
                <a:cs typeface="Calibri" panose="020F0502020204030204"/>
              </a:rPr>
              <a:t> </a:t>
            </a:r>
            <a:r>
              <a:rPr sz="1600" spc="-5" dirty="0">
                <a:latin typeface="Calibri" panose="020F0502020204030204"/>
                <a:cs typeface="Calibri" panose="020F0502020204030204"/>
              </a:rPr>
              <a:t>factorial[N] </a:t>
            </a:r>
            <a:r>
              <a:rPr sz="1600" dirty="0">
                <a:latin typeface="Calibri" panose="020F0502020204030204"/>
                <a:cs typeface="Calibri" panose="020F0502020204030204"/>
              </a:rPr>
              <a:t>= </a:t>
            </a:r>
            <a:r>
              <a:rPr sz="1600" spc="-5" dirty="0">
                <a:latin typeface="Calibri" panose="020F0502020204030204"/>
                <a:cs typeface="Calibri" panose="020F0502020204030204"/>
              </a:rPr>
              <a:t>N*factorial[N-1] </a:t>
            </a:r>
            <a:r>
              <a:rPr sz="1600" dirty="0">
                <a:latin typeface="Calibri" panose="020F0502020204030204"/>
                <a:cs typeface="Calibri" panose="020F0502020204030204"/>
              </a:rPr>
              <a:t> </a:t>
            </a:r>
            <a:r>
              <a:rPr sz="1600" spc="-5" dirty="0">
                <a:latin typeface="Calibri" panose="020F0502020204030204"/>
                <a:cs typeface="Calibri" panose="020F0502020204030204"/>
              </a:rPr>
              <a:t>factorial[1]</a:t>
            </a:r>
            <a:r>
              <a:rPr sz="1600" spc="-10" dirty="0">
                <a:latin typeface="Calibri" panose="020F0502020204030204"/>
                <a:cs typeface="Calibri" panose="020F0502020204030204"/>
              </a:rPr>
              <a:t> </a:t>
            </a:r>
            <a:r>
              <a:rPr sz="1600" dirty="0">
                <a:latin typeface="Calibri" panose="020F0502020204030204"/>
                <a:cs typeface="Calibri" panose="020F0502020204030204"/>
              </a:rPr>
              <a:t>=</a:t>
            </a:r>
            <a:r>
              <a:rPr sz="1600" spc="-5" dirty="0">
                <a:latin typeface="Calibri" panose="020F0502020204030204"/>
                <a:cs typeface="Calibri" panose="020F0502020204030204"/>
              </a:rPr>
              <a:t> </a:t>
            </a:r>
            <a:r>
              <a:rPr sz="1600" dirty="0">
                <a:latin typeface="Calibri" panose="020F0502020204030204"/>
                <a:cs typeface="Calibri" panose="020F0502020204030204"/>
              </a:rPr>
              <a:t>1</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print(factorial[3]==N)</a:t>
            </a:r>
            <a:endParaRPr sz="1600">
              <a:latin typeface="Calibri" panose="020F0502020204030204"/>
              <a:cs typeface="Calibri" panose="020F0502020204030204"/>
            </a:endParaRPr>
          </a:p>
        </p:txBody>
      </p:sp>
      <p:sp>
        <p:nvSpPr>
          <p:cNvPr id="7" name="Slide Number Placeholder 6"/>
          <p:cNvSpPr>
            <a:spLocks noGrp="1"/>
          </p:cNvSpPr>
          <p:nvPr>
            <p:ph type="sldNum" sz="quarter" idx="7"/>
          </p:nvPr>
        </p:nvSpPr>
        <p:spPr/>
        <p:txBody>
          <a:bodyPr/>
          <a:lstStyle/>
          <a:p>
            <a:fld id="{B6F15528-21DE-4FAA-801E-634DDDAF4B2B}" type="slidenum">
              <a:rPr/>
              <a:t>46</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740" y="34162"/>
            <a:ext cx="12113260" cy="391160"/>
          </a:xfrm>
          <a:prstGeom prst="rect">
            <a:avLst/>
          </a:prstGeom>
        </p:spPr>
        <p:txBody>
          <a:bodyPr vert="horz" wrap="square" lIns="0" tIns="12700" rIns="0" bIns="0" rtlCol="0">
            <a:spAutoFit/>
          </a:bodyPr>
          <a:lstStyle/>
          <a:p>
            <a:pPr marL="12700">
              <a:lnSpc>
                <a:spcPct val="100000"/>
              </a:lnSpc>
              <a:spcBef>
                <a:spcPts val="100"/>
              </a:spcBef>
              <a:tabLst>
                <a:tab pos="12099925" algn="l"/>
              </a:tabLst>
            </a:pPr>
            <a:r>
              <a:rPr u="heavy" spc="-5" dirty="0">
                <a:uFill>
                  <a:solidFill>
                    <a:srgbClr val="1F97C8"/>
                  </a:solidFill>
                </a:uFill>
              </a:rPr>
              <a:t>Logical</a:t>
            </a:r>
            <a:r>
              <a:rPr u="heavy" spc="-40" dirty="0">
                <a:uFill>
                  <a:solidFill>
                    <a:srgbClr val="1F97C8"/>
                  </a:solidFill>
                </a:uFill>
              </a:rPr>
              <a:t> </a:t>
            </a:r>
            <a:r>
              <a:rPr u="heavy" spc="-5" dirty="0">
                <a:uFill>
                  <a:solidFill>
                    <a:srgbClr val="1F97C8"/>
                  </a:solidFill>
                </a:uFill>
              </a:rPr>
              <a:t>Programming</a:t>
            </a:r>
            <a:r>
              <a:rPr u="heavy" spc="-35" dirty="0">
                <a:uFill>
                  <a:solidFill>
                    <a:srgbClr val="1F97C8"/>
                  </a:solidFill>
                </a:uFill>
              </a:rPr>
              <a:t> </a:t>
            </a:r>
            <a:r>
              <a:rPr u="heavy" spc="-5" dirty="0">
                <a:uFill>
                  <a:solidFill>
                    <a:srgbClr val="1F97C8"/>
                  </a:solidFill>
                </a:uFill>
              </a:rPr>
              <a:t>Paradigm	</a:t>
            </a:r>
          </a:p>
        </p:txBody>
      </p:sp>
      <p:sp>
        <p:nvSpPr>
          <p:cNvPr id="3" name="object 3"/>
          <p:cNvSpPr/>
          <p:nvPr/>
        </p:nvSpPr>
        <p:spPr>
          <a:xfrm>
            <a:off x="0" y="6694114"/>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grpSp>
        <p:nvGrpSpPr>
          <p:cNvPr id="4" name="object 4"/>
          <p:cNvGrpSpPr/>
          <p:nvPr/>
        </p:nvGrpSpPr>
        <p:grpSpPr>
          <a:xfrm>
            <a:off x="25603" y="484516"/>
            <a:ext cx="12118340" cy="6131560"/>
            <a:chOff x="25603" y="484516"/>
            <a:chExt cx="12118340" cy="6131560"/>
          </a:xfrm>
        </p:grpSpPr>
        <p:sp>
          <p:nvSpPr>
            <p:cNvPr id="5" name="object 5"/>
            <p:cNvSpPr/>
            <p:nvPr/>
          </p:nvSpPr>
          <p:spPr>
            <a:xfrm>
              <a:off x="31953" y="490866"/>
              <a:ext cx="12105640" cy="6118860"/>
            </a:xfrm>
            <a:custGeom>
              <a:avLst/>
              <a:gdLst/>
              <a:ahLst/>
              <a:cxnLst/>
              <a:rect l="l" t="t" r="r" b="b"/>
              <a:pathLst>
                <a:path w="12105640" h="6118859">
                  <a:moveTo>
                    <a:pt x="0" y="0"/>
                  </a:moveTo>
                  <a:lnTo>
                    <a:pt x="12105504" y="0"/>
                  </a:lnTo>
                  <a:lnTo>
                    <a:pt x="12105504" y="6118857"/>
                  </a:lnTo>
                  <a:lnTo>
                    <a:pt x="0" y="6118857"/>
                  </a:lnTo>
                  <a:lnTo>
                    <a:pt x="0" y="0"/>
                  </a:lnTo>
                  <a:close/>
                </a:path>
              </a:pathLst>
            </a:custGeom>
            <a:ln w="12699">
              <a:solidFill>
                <a:srgbClr val="00B0F0"/>
              </a:solidFill>
            </a:ln>
          </p:spPr>
          <p:txBody>
            <a:bodyPr wrap="square" lIns="0" tIns="0" rIns="0" bIns="0" rtlCol="0"/>
            <a:lstStyle/>
            <a:p>
              <a:endParaRPr/>
            </a:p>
          </p:txBody>
        </p:sp>
        <p:pic>
          <p:nvPicPr>
            <p:cNvPr id="6" name="object 6"/>
            <p:cNvPicPr/>
            <p:nvPr/>
          </p:nvPicPr>
          <p:blipFill>
            <a:blip r:embed="rId3" cstate="print"/>
            <a:stretch>
              <a:fillRect/>
            </a:stretch>
          </p:blipFill>
          <p:spPr>
            <a:xfrm>
              <a:off x="1529333" y="1274102"/>
              <a:ext cx="7589869" cy="4312858"/>
            </a:xfrm>
            <a:prstGeom prst="rect">
              <a:avLst/>
            </a:prstGeom>
          </p:spPr>
        </p:pic>
      </p:grpSp>
      <p:sp>
        <p:nvSpPr>
          <p:cNvPr id="7" name="Slide Number Placeholder 6"/>
          <p:cNvSpPr>
            <a:spLocks noGrp="1"/>
          </p:cNvSpPr>
          <p:nvPr>
            <p:ph type="sldNum" sz="quarter" idx="7"/>
          </p:nvPr>
        </p:nvSpPr>
        <p:spPr/>
        <p:txBody>
          <a:bodyPr/>
          <a:lstStyle/>
          <a:p>
            <a:fld id="{B6F15528-21DE-4FAA-801E-634DDDAF4B2B}" type="slidenum">
              <a:rPr/>
              <a:t>47</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426173"/>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 dirty="0"/>
              <a:t>Logical</a:t>
            </a:r>
            <a:r>
              <a:rPr spc="-55" dirty="0"/>
              <a:t> </a:t>
            </a:r>
            <a:r>
              <a:rPr spc="-5" dirty="0"/>
              <a:t>Programming</a:t>
            </a:r>
            <a:r>
              <a:rPr spc="-50" dirty="0"/>
              <a:t> </a:t>
            </a:r>
            <a:r>
              <a:rPr spc="-5" dirty="0"/>
              <a:t>Paradigm</a:t>
            </a:r>
          </a:p>
        </p:txBody>
      </p:sp>
      <p:sp>
        <p:nvSpPr>
          <p:cNvPr id="4" name="object 4"/>
          <p:cNvSpPr/>
          <p:nvPr/>
        </p:nvSpPr>
        <p:spPr>
          <a:xfrm>
            <a:off x="0" y="6694114"/>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31953" y="490866"/>
            <a:ext cx="12105640" cy="6118860"/>
          </a:xfrm>
          <a:custGeom>
            <a:avLst/>
            <a:gdLst/>
            <a:ahLst/>
            <a:cxnLst/>
            <a:rect l="l" t="t" r="r" b="b"/>
            <a:pathLst>
              <a:path w="12105640" h="6118859">
                <a:moveTo>
                  <a:pt x="0" y="0"/>
                </a:moveTo>
                <a:lnTo>
                  <a:pt x="12105504" y="0"/>
                </a:lnTo>
                <a:lnTo>
                  <a:pt x="12105504" y="6118857"/>
                </a:lnTo>
                <a:lnTo>
                  <a:pt x="0" y="6118857"/>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540075" y="271775"/>
            <a:ext cx="9624695" cy="5454650"/>
          </a:xfrm>
          <a:prstGeom prst="rect">
            <a:avLst/>
          </a:prstGeom>
        </p:spPr>
        <p:txBody>
          <a:bodyPr vert="horz" wrap="square" lIns="0" tIns="130810" rIns="0" bIns="0" rtlCol="0">
            <a:spAutoFit/>
          </a:bodyPr>
          <a:lstStyle/>
          <a:p>
            <a:pPr marL="12700">
              <a:lnSpc>
                <a:spcPct val="100000"/>
              </a:lnSpc>
              <a:spcBef>
                <a:spcPts val="1030"/>
              </a:spcBef>
            </a:pPr>
            <a:r>
              <a:rPr sz="1600" spc="-5" dirty="0">
                <a:latin typeface="Calibri" panose="020F0502020204030204"/>
                <a:cs typeface="Calibri" panose="020F0502020204030204"/>
              </a:rPr>
              <a:t>from</a:t>
            </a:r>
            <a:r>
              <a:rPr sz="1600" spc="-25" dirty="0">
                <a:latin typeface="Calibri" panose="020F0502020204030204"/>
                <a:cs typeface="Calibri" panose="020F0502020204030204"/>
              </a:rPr>
              <a:t> </a:t>
            </a:r>
            <a:r>
              <a:rPr sz="1600" spc="-5" dirty="0">
                <a:latin typeface="Calibri" panose="020F0502020204030204"/>
                <a:cs typeface="Calibri" panose="020F0502020204030204"/>
              </a:rPr>
              <a:t>pyDatalog</a:t>
            </a:r>
            <a:r>
              <a:rPr sz="1600" spc="-25" dirty="0">
                <a:latin typeface="Calibri" panose="020F0502020204030204"/>
                <a:cs typeface="Calibri" panose="020F0502020204030204"/>
              </a:rPr>
              <a:t> </a:t>
            </a:r>
            <a:r>
              <a:rPr sz="1600" spc="-5" dirty="0">
                <a:latin typeface="Calibri" panose="020F0502020204030204"/>
                <a:cs typeface="Calibri" panose="020F0502020204030204"/>
              </a:rPr>
              <a:t>import</a:t>
            </a:r>
            <a:r>
              <a:rPr sz="1600" spc="-25" dirty="0">
                <a:latin typeface="Calibri" panose="020F0502020204030204"/>
                <a:cs typeface="Calibri" panose="020F0502020204030204"/>
              </a:rPr>
              <a:t> </a:t>
            </a:r>
            <a:r>
              <a:rPr sz="1600" spc="-5" dirty="0">
                <a:latin typeface="Calibri" panose="020F0502020204030204"/>
                <a:cs typeface="Calibri" panose="020F0502020204030204"/>
              </a:rPr>
              <a:t>pyDatalog</a:t>
            </a:r>
            <a:endParaRPr sz="1600">
              <a:latin typeface="Calibri" panose="020F0502020204030204"/>
              <a:cs typeface="Calibri" panose="020F0502020204030204"/>
            </a:endParaRPr>
          </a:p>
          <a:p>
            <a:pPr marL="12700" marR="5080">
              <a:lnSpc>
                <a:spcPct val="148000"/>
              </a:lnSpc>
            </a:pPr>
            <a:r>
              <a:rPr sz="1600" spc="-5" dirty="0">
                <a:latin typeface="Calibri" panose="020F0502020204030204"/>
                <a:cs typeface="Calibri" panose="020F0502020204030204"/>
              </a:rPr>
              <a:t>pyDatalog.create_terms('X,Y,Z, works_in, department_size, manager, indirect_manager, count_of_indirect_reports') </a:t>
            </a:r>
            <a:r>
              <a:rPr sz="1600" spc="-350" dirty="0">
                <a:latin typeface="Calibri" panose="020F0502020204030204"/>
                <a:cs typeface="Calibri" panose="020F0502020204030204"/>
              </a:rPr>
              <a:t> </a:t>
            </a:r>
            <a:r>
              <a:rPr sz="1600" dirty="0">
                <a:latin typeface="Calibri" panose="020F0502020204030204"/>
                <a:cs typeface="Calibri" panose="020F0502020204030204"/>
              </a:rPr>
              <a:t>#</a:t>
            </a:r>
            <a:r>
              <a:rPr sz="1600" spc="-10" dirty="0">
                <a:latin typeface="Calibri" panose="020F0502020204030204"/>
                <a:cs typeface="Calibri" panose="020F0502020204030204"/>
              </a:rPr>
              <a:t> </a:t>
            </a:r>
            <a:r>
              <a:rPr sz="1600" spc="-5" dirty="0">
                <a:latin typeface="Calibri" panose="020F0502020204030204"/>
                <a:cs typeface="Calibri" panose="020F0502020204030204"/>
              </a:rPr>
              <a:t>Mary works in Production</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+works_in('Mary',</a:t>
            </a:r>
            <a:r>
              <a:rPr sz="1600" spc="-45" dirty="0">
                <a:latin typeface="Calibri" panose="020F0502020204030204"/>
                <a:cs typeface="Calibri" panose="020F0502020204030204"/>
              </a:rPr>
              <a:t> </a:t>
            </a:r>
            <a:r>
              <a:rPr sz="1600" spc="-5" dirty="0">
                <a:latin typeface="Calibri" panose="020F0502020204030204"/>
                <a:cs typeface="Calibri" panose="020F0502020204030204"/>
              </a:rPr>
              <a:t>'Production')</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+works_in('Sam',</a:t>
            </a:r>
            <a:r>
              <a:rPr sz="1600" spc="300" dirty="0">
                <a:latin typeface="Calibri" panose="020F0502020204030204"/>
                <a:cs typeface="Calibri" panose="020F0502020204030204"/>
              </a:rPr>
              <a:t> </a:t>
            </a:r>
            <a:r>
              <a:rPr sz="1600" spc="-5" dirty="0">
                <a:latin typeface="Calibri" panose="020F0502020204030204"/>
                <a:cs typeface="Calibri" panose="020F0502020204030204"/>
              </a:rPr>
              <a:t>'Marketing')</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+works_in('John',</a:t>
            </a:r>
            <a:r>
              <a:rPr sz="1600" spc="-45" dirty="0">
                <a:latin typeface="Calibri" panose="020F0502020204030204"/>
                <a:cs typeface="Calibri" panose="020F0502020204030204"/>
              </a:rPr>
              <a:t> </a:t>
            </a:r>
            <a:r>
              <a:rPr sz="1600" spc="-5" dirty="0">
                <a:latin typeface="Calibri" panose="020F0502020204030204"/>
                <a:cs typeface="Calibri" panose="020F0502020204030204"/>
              </a:rPr>
              <a:t>'Production')</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+works_in('John',</a:t>
            </a:r>
            <a:r>
              <a:rPr sz="1600" spc="-45" dirty="0">
                <a:latin typeface="Calibri" panose="020F0502020204030204"/>
                <a:cs typeface="Calibri" panose="020F0502020204030204"/>
              </a:rPr>
              <a:t> </a:t>
            </a:r>
            <a:r>
              <a:rPr sz="1600" spc="-5" dirty="0">
                <a:latin typeface="Calibri" panose="020F0502020204030204"/>
                <a:cs typeface="Calibri" panose="020F0502020204030204"/>
              </a:rPr>
              <a:t>'Marketing')</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+(manager['Mary']</a:t>
            </a:r>
            <a:r>
              <a:rPr sz="1600" spc="-50" dirty="0">
                <a:latin typeface="Calibri" panose="020F0502020204030204"/>
                <a:cs typeface="Calibri" panose="020F0502020204030204"/>
              </a:rPr>
              <a:t> </a:t>
            </a:r>
            <a:r>
              <a:rPr sz="1600" spc="-5" dirty="0">
                <a:latin typeface="Calibri" panose="020F0502020204030204"/>
                <a:cs typeface="Calibri" panose="020F0502020204030204"/>
              </a:rPr>
              <a:t>==</a:t>
            </a:r>
            <a:r>
              <a:rPr sz="1600" spc="-50" dirty="0">
                <a:latin typeface="Calibri" panose="020F0502020204030204"/>
                <a:cs typeface="Calibri" panose="020F0502020204030204"/>
              </a:rPr>
              <a:t> </a:t>
            </a:r>
            <a:r>
              <a:rPr sz="1600" spc="-5" dirty="0">
                <a:latin typeface="Calibri" panose="020F0502020204030204"/>
                <a:cs typeface="Calibri" panose="020F0502020204030204"/>
              </a:rPr>
              <a:t>'John')</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+(manager['Sam']</a:t>
            </a:r>
            <a:r>
              <a:rPr sz="1600" spc="295" dirty="0">
                <a:latin typeface="Calibri" panose="020F0502020204030204"/>
                <a:cs typeface="Calibri" panose="020F0502020204030204"/>
              </a:rPr>
              <a:t> </a:t>
            </a:r>
            <a:r>
              <a:rPr sz="1600" spc="-5" dirty="0">
                <a:latin typeface="Calibri" panose="020F0502020204030204"/>
                <a:cs typeface="Calibri" panose="020F0502020204030204"/>
              </a:rPr>
              <a:t>==</a:t>
            </a:r>
            <a:r>
              <a:rPr sz="1600" spc="-35" dirty="0">
                <a:latin typeface="Calibri" panose="020F0502020204030204"/>
                <a:cs typeface="Calibri" panose="020F0502020204030204"/>
              </a:rPr>
              <a:t> </a:t>
            </a:r>
            <a:r>
              <a:rPr sz="1600" spc="-5" dirty="0">
                <a:latin typeface="Calibri" panose="020F0502020204030204"/>
                <a:cs typeface="Calibri" panose="020F0502020204030204"/>
              </a:rPr>
              <a:t>'Mary')</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+(manager['Tom']</a:t>
            </a:r>
            <a:r>
              <a:rPr sz="1600" spc="295" dirty="0">
                <a:latin typeface="Calibri" panose="020F0502020204030204"/>
                <a:cs typeface="Calibri" panose="020F0502020204030204"/>
              </a:rPr>
              <a:t> </a:t>
            </a:r>
            <a:r>
              <a:rPr sz="1600" spc="-5" dirty="0">
                <a:latin typeface="Calibri" panose="020F0502020204030204"/>
                <a:cs typeface="Calibri" panose="020F0502020204030204"/>
              </a:rPr>
              <a:t>==</a:t>
            </a:r>
            <a:r>
              <a:rPr sz="1600" spc="-35" dirty="0">
                <a:latin typeface="Calibri" panose="020F0502020204030204"/>
                <a:cs typeface="Calibri" panose="020F0502020204030204"/>
              </a:rPr>
              <a:t> </a:t>
            </a:r>
            <a:r>
              <a:rPr sz="1600" spc="-5" dirty="0">
                <a:latin typeface="Calibri" panose="020F0502020204030204"/>
                <a:cs typeface="Calibri" panose="020F0502020204030204"/>
              </a:rPr>
              <a:t>'Mary')</a:t>
            </a:r>
            <a:endParaRPr sz="1600">
              <a:latin typeface="Calibri" panose="020F0502020204030204"/>
              <a:cs typeface="Calibri" panose="020F0502020204030204"/>
            </a:endParaRPr>
          </a:p>
          <a:p>
            <a:pPr>
              <a:lnSpc>
                <a:spcPct val="100000"/>
              </a:lnSpc>
              <a:spcBef>
                <a:spcPts val="40"/>
              </a:spcBef>
            </a:pPr>
            <a:endParaRPr sz="2300">
              <a:latin typeface="Calibri" panose="020F0502020204030204"/>
              <a:cs typeface="Calibri" panose="020F0502020204030204"/>
            </a:endParaRPr>
          </a:p>
          <a:p>
            <a:pPr marL="12700" marR="5993130">
              <a:lnSpc>
                <a:spcPct val="148000"/>
              </a:lnSpc>
            </a:pPr>
            <a:r>
              <a:rPr sz="1600" spc="-5" dirty="0">
                <a:latin typeface="Calibri" panose="020F0502020204030204"/>
                <a:cs typeface="Calibri" panose="020F0502020204030204"/>
              </a:rPr>
              <a:t>indirect_manager(X,Y) &lt;= (manager[X] == Y) </a:t>
            </a:r>
            <a:r>
              <a:rPr sz="1600" spc="-350" dirty="0">
                <a:latin typeface="Calibri" panose="020F0502020204030204"/>
                <a:cs typeface="Calibri" panose="020F0502020204030204"/>
              </a:rPr>
              <a:t> </a:t>
            </a:r>
            <a:r>
              <a:rPr sz="1600" spc="-5" dirty="0">
                <a:latin typeface="Calibri" panose="020F0502020204030204"/>
                <a:cs typeface="Calibri" panose="020F0502020204030204"/>
              </a:rPr>
              <a:t>print(works_in(X,</a:t>
            </a:r>
            <a:r>
              <a:rPr sz="1600" spc="345" dirty="0">
                <a:latin typeface="Calibri" panose="020F0502020204030204"/>
                <a:cs typeface="Calibri" panose="020F0502020204030204"/>
              </a:rPr>
              <a:t> </a:t>
            </a:r>
            <a:r>
              <a:rPr sz="1600" spc="-5" dirty="0">
                <a:latin typeface="Calibri" panose="020F0502020204030204"/>
                <a:cs typeface="Calibri" panose="020F0502020204030204"/>
              </a:rPr>
              <a:t>'Marketing'))</a:t>
            </a:r>
            <a:endParaRPr sz="1600">
              <a:latin typeface="Calibri" panose="020F0502020204030204"/>
              <a:cs typeface="Calibri" panose="020F0502020204030204"/>
            </a:endParaRPr>
          </a:p>
          <a:p>
            <a:pPr marL="12700" marR="3935730">
              <a:lnSpc>
                <a:spcPct val="148000"/>
              </a:lnSpc>
              <a:spcBef>
                <a:spcPts val="5"/>
              </a:spcBef>
            </a:pPr>
            <a:r>
              <a:rPr sz="1600" spc="-5" dirty="0">
                <a:latin typeface="Calibri" panose="020F0502020204030204"/>
                <a:cs typeface="Calibri" panose="020F0502020204030204"/>
              </a:rPr>
              <a:t>indirect_manager(X,Y) &lt;= (manager[X] == Z) </a:t>
            </a:r>
            <a:r>
              <a:rPr sz="1600" dirty="0">
                <a:latin typeface="Calibri" panose="020F0502020204030204"/>
                <a:cs typeface="Calibri" panose="020F0502020204030204"/>
              </a:rPr>
              <a:t>&amp; </a:t>
            </a:r>
            <a:r>
              <a:rPr sz="1600" spc="-5" dirty="0">
                <a:latin typeface="Calibri" panose="020F0502020204030204"/>
                <a:cs typeface="Calibri" panose="020F0502020204030204"/>
              </a:rPr>
              <a:t>indirect_manager(Z,Y) </a:t>
            </a:r>
            <a:r>
              <a:rPr sz="1600" spc="-350" dirty="0">
                <a:latin typeface="Calibri" panose="020F0502020204030204"/>
                <a:cs typeface="Calibri" panose="020F0502020204030204"/>
              </a:rPr>
              <a:t> </a:t>
            </a:r>
            <a:r>
              <a:rPr sz="1600" spc="-5" dirty="0">
                <a:latin typeface="Calibri" panose="020F0502020204030204"/>
                <a:cs typeface="Calibri" panose="020F0502020204030204"/>
              </a:rPr>
              <a:t>print(indirect_manager('Sam',X))</a:t>
            </a:r>
            <a:endParaRPr sz="1600">
              <a:latin typeface="Calibri" panose="020F0502020204030204"/>
              <a:cs typeface="Calibri" panose="020F0502020204030204"/>
            </a:endParaRPr>
          </a:p>
        </p:txBody>
      </p:sp>
      <p:sp>
        <p:nvSpPr>
          <p:cNvPr id="7" name="Slide Number Placeholder 6"/>
          <p:cNvSpPr>
            <a:spLocks noGrp="1"/>
          </p:cNvSpPr>
          <p:nvPr>
            <p:ph type="sldNum" sz="quarter" idx="7"/>
          </p:nvPr>
        </p:nvSpPr>
        <p:spPr/>
        <p:txBody>
          <a:bodyPr/>
          <a:lstStyle/>
          <a:p>
            <a:fld id="{B6F15528-21DE-4FAA-801E-634DDDAF4B2B}" type="slidenum">
              <a:rPr/>
              <a:t>48</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426173"/>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 dirty="0"/>
              <a:t>Logical</a:t>
            </a:r>
            <a:r>
              <a:rPr spc="-55" dirty="0"/>
              <a:t> </a:t>
            </a:r>
            <a:r>
              <a:rPr spc="-5" dirty="0"/>
              <a:t>Programming</a:t>
            </a:r>
            <a:r>
              <a:rPr spc="-50" dirty="0"/>
              <a:t> </a:t>
            </a:r>
            <a:r>
              <a:rPr spc="-5" dirty="0"/>
              <a:t>Paradigm</a:t>
            </a:r>
          </a:p>
        </p:txBody>
      </p:sp>
      <p:sp>
        <p:nvSpPr>
          <p:cNvPr id="4" name="object 4"/>
          <p:cNvSpPr/>
          <p:nvPr/>
        </p:nvSpPr>
        <p:spPr>
          <a:xfrm>
            <a:off x="0" y="6694114"/>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31953" y="490866"/>
            <a:ext cx="12105640" cy="6118860"/>
          </a:xfrm>
          <a:custGeom>
            <a:avLst/>
            <a:gdLst/>
            <a:ahLst/>
            <a:cxnLst/>
            <a:rect l="l" t="t" r="r" b="b"/>
            <a:pathLst>
              <a:path w="12105640" h="6118859">
                <a:moveTo>
                  <a:pt x="0" y="0"/>
                </a:moveTo>
                <a:lnTo>
                  <a:pt x="12105504" y="0"/>
                </a:lnTo>
                <a:lnTo>
                  <a:pt x="12105504" y="6118857"/>
                </a:lnTo>
                <a:lnTo>
                  <a:pt x="0" y="6118857"/>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540075" y="271775"/>
            <a:ext cx="2969895" cy="1835150"/>
          </a:xfrm>
          <a:prstGeom prst="rect">
            <a:avLst/>
          </a:prstGeom>
        </p:spPr>
        <p:txBody>
          <a:bodyPr vert="horz" wrap="square" lIns="0" tIns="12700" rIns="0" bIns="0" rtlCol="0">
            <a:spAutoFit/>
          </a:bodyPr>
          <a:lstStyle/>
          <a:p>
            <a:pPr marL="12700" marR="1278890">
              <a:lnSpc>
                <a:spcPct val="148000"/>
              </a:lnSpc>
              <a:spcBef>
                <a:spcPts val="100"/>
              </a:spcBef>
            </a:pPr>
            <a:r>
              <a:rPr sz="1600" spc="-5" dirty="0">
                <a:latin typeface="Calibri" panose="020F0502020204030204"/>
                <a:cs typeface="Calibri" panose="020F0502020204030204"/>
              </a:rPr>
              <a:t>Lucy is </a:t>
            </a:r>
            <a:r>
              <a:rPr sz="1600" dirty="0">
                <a:latin typeface="Calibri" panose="020F0502020204030204"/>
                <a:cs typeface="Calibri" panose="020F0502020204030204"/>
              </a:rPr>
              <a:t>a </a:t>
            </a:r>
            <a:r>
              <a:rPr sz="1600" spc="-5" dirty="0">
                <a:latin typeface="Calibri" panose="020F0502020204030204"/>
                <a:cs typeface="Calibri" panose="020F0502020204030204"/>
              </a:rPr>
              <a:t>Professor </a:t>
            </a:r>
            <a:r>
              <a:rPr sz="1600" dirty="0">
                <a:latin typeface="Calibri" panose="020F0502020204030204"/>
                <a:cs typeface="Calibri" panose="020F0502020204030204"/>
              </a:rPr>
              <a:t> </a:t>
            </a:r>
            <a:r>
              <a:rPr sz="1600" spc="-5" dirty="0">
                <a:latin typeface="Calibri" panose="020F0502020204030204"/>
                <a:cs typeface="Calibri" panose="020F0502020204030204"/>
              </a:rPr>
              <a:t>Danny</a:t>
            </a:r>
            <a:r>
              <a:rPr sz="1600" spc="-35" dirty="0">
                <a:latin typeface="Calibri" panose="020F0502020204030204"/>
                <a:cs typeface="Calibri" panose="020F0502020204030204"/>
              </a:rPr>
              <a:t> </a:t>
            </a:r>
            <a:r>
              <a:rPr sz="1600" spc="-5" dirty="0">
                <a:latin typeface="Calibri" panose="020F0502020204030204"/>
                <a:cs typeface="Calibri" panose="020F0502020204030204"/>
              </a:rPr>
              <a:t>is</a:t>
            </a:r>
            <a:r>
              <a:rPr sz="1600" spc="-35" dirty="0">
                <a:latin typeface="Calibri" panose="020F0502020204030204"/>
                <a:cs typeface="Calibri" panose="020F0502020204030204"/>
              </a:rPr>
              <a:t> </a:t>
            </a:r>
            <a:r>
              <a:rPr sz="1600" dirty="0">
                <a:latin typeface="Calibri" panose="020F0502020204030204"/>
                <a:cs typeface="Calibri" panose="020F0502020204030204"/>
              </a:rPr>
              <a:t>a</a:t>
            </a:r>
            <a:r>
              <a:rPr sz="1600" spc="-30" dirty="0">
                <a:latin typeface="Calibri" panose="020F0502020204030204"/>
                <a:cs typeface="Calibri" panose="020F0502020204030204"/>
              </a:rPr>
              <a:t> </a:t>
            </a:r>
            <a:r>
              <a:rPr sz="1600" spc="-5" dirty="0">
                <a:latin typeface="Calibri" panose="020F0502020204030204"/>
                <a:cs typeface="Calibri" panose="020F0502020204030204"/>
              </a:rPr>
              <a:t>Professor </a:t>
            </a:r>
            <a:r>
              <a:rPr sz="1600" spc="-350" dirty="0">
                <a:latin typeface="Calibri" panose="020F0502020204030204"/>
                <a:cs typeface="Calibri" panose="020F0502020204030204"/>
              </a:rPr>
              <a:t> </a:t>
            </a:r>
            <a:r>
              <a:rPr sz="1600" spc="-5" dirty="0">
                <a:latin typeface="Calibri" panose="020F0502020204030204"/>
                <a:cs typeface="Calibri" panose="020F0502020204030204"/>
              </a:rPr>
              <a:t>James</a:t>
            </a:r>
            <a:r>
              <a:rPr sz="1600" spc="-25" dirty="0">
                <a:latin typeface="Calibri" panose="020F0502020204030204"/>
                <a:cs typeface="Calibri" panose="020F0502020204030204"/>
              </a:rPr>
              <a:t> </a:t>
            </a:r>
            <a:r>
              <a:rPr sz="1600" spc="-5" dirty="0">
                <a:latin typeface="Calibri" panose="020F0502020204030204"/>
                <a:cs typeface="Calibri" panose="020F0502020204030204"/>
              </a:rPr>
              <a:t>is</a:t>
            </a:r>
            <a:r>
              <a:rPr sz="1600" spc="-20" dirty="0">
                <a:latin typeface="Calibri" panose="020F0502020204030204"/>
                <a:cs typeface="Calibri" panose="020F0502020204030204"/>
              </a:rPr>
              <a:t> </a:t>
            </a:r>
            <a:r>
              <a:rPr sz="1600" dirty="0">
                <a:latin typeface="Calibri" panose="020F0502020204030204"/>
                <a:cs typeface="Calibri" panose="020F0502020204030204"/>
              </a:rPr>
              <a:t>a</a:t>
            </a:r>
            <a:r>
              <a:rPr sz="1600" spc="-20" dirty="0">
                <a:latin typeface="Calibri" panose="020F0502020204030204"/>
                <a:cs typeface="Calibri" panose="020F0502020204030204"/>
              </a:rPr>
              <a:t> </a:t>
            </a:r>
            <a:r>
              <a:rPr sz="1600" spc="-5" dirty="0">
                <a:latin typeface="Calibri" panose="020F0502020204030204"/>
                <a:cs typeface="Calibri" panose="020F0502020204030204"/>
              </a:rPr>
              <a:t>Lecturer</a:t>
            </a:r>
            <a:endParaRPr sz="1600" dirty="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All</a:t>
            </a:r>
            <a:r>
              <a:rPr sz="1600" spc="-25" dirty="0">
                <a:latin typeface="Calibri" panose="020F0502020204030204"/>
                <a:cs typeface="Calibri" panose="020F0502020204030204"/>
              </a:rPr>
              <a:t> </a:t>
            </a:r>
            <a:r>
              <a:rPr sz="1600" spc="-5" dirty="0">
                <a:latin typeface="Calibri" panose="020F0502020204030204"/>
                <a:cs typeface="Calibri" panose="020F0502020204030204"/>
              </a:rPr>
              <a:t>professors</a:t>
            </a:r>
            <a:r>
              <a:rPr sz="1600" spc="-25" dirty="0">
                <a:latin typeface="Calibri" panose="020F0502020204030204"/>
                <a:cs typeface="Calibri" panose="020F0502020204030204"/>
              </a:rPr>
              <a:t> </a:t>
            </a:r>
            <a:r>
              <a:rPr sz="1600" dirty="0">
                <a:latin typeface="Calibri" panose="020F0502020204030204"/>
                <a:cs typeface="Calibri" panose="020F0502020204030204"/>
              </a:rPr>
              <a:t>are</a:t>
            </a:r>
            <a:r>
              <a:rPr sz="1600" spc="-30" dirty="0">
                <a:latin typeface="Calibri" panose="020F0502020204030204"/>
                <a:cs typeface="Calibri" panose="020F0502020204030204"/>
              </a:rPr>
              <a:t> </a:t>
            </a:r>
            <a:r>
              <a:rPr sz="1600" spc="-5" dirty="0">
                <a:latin typeface="Calibri" panose="020F0502020204030204"/>
                <a:cs typeface="Calibri" panose="020F0502020204030204"/>
              </a:rPr>
              <a:t>Dean</a:t>
            </a:r>
            <a:endParaRPr sz="1600" dirty="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Write</a:t>
            </a:r>
            <a:r>
              <a:rPr sz="1600" spc="-20" dirty="0">
                <a:latin typeface="Calibri" panose="020F0502020204030204"/>
                <a:cs typeface="Calibri" panose="020F0502020204030204"/>
              </a:rPr>
              <a:t> </a:t>
            </a:r>
            <a:r>
              <a:rPr sz="1600" dirty="0">
                <a:latin typeface="Calibri" panose="020F0502020204030204"/>
                <a:cs typeface="Calibri" panose="020F0502020204030204"/>
              </a:rPr>
              <a:t>a</a:t>
            </a:r>
            <a:r>
              <a:rPr sz="1600" spc="-15" dirty="0">
                <a:latin typeface="Calibri" panose="020F0502020204030204"/>
                <a:cs typeface="Calibri" panose="020F0502020204030204"/>
              </a:rPr>
              <a:t> </a:t>
            </a:r>
            <a:r>
              <a:rPr sz="1600" spc="-5" dirty="0">
                <a:latin typeface="Calibri" panose="020F0502020204030204"/>
                <a:cs typeface="Calibri" panose="020F0502020204030204"/>
              </a:rPr>
              <a:t>Query</a:t>
            </a:r>
            <a:r>
              <a:rPr sz="1600" spc="-20" dirty="0">
                <a:latin typeface="Calibri" panose="020F0502020204030204"/>
                <a:cs typeface="Calibri" panose="020F0502020204030204"/>
              </a:rPr>
              <a:t> </a:t>
            </a:r>
            <a:r>
              <a:rPr sz="1600" spc="-5" dirty="0">
                <a:latin typeface="Calibri" panose="020F0502020204030204"/>
                <a:cs typeface="Calibri" panose="020F0502020204030204"/>
              </a:rPr>
              <a:t>to</a:t>
            </a:r>
            <a:r>
              <a:rPr sz="1600" spc="-15" dirty="0">
                <a:latin typeface="Calibri" panose="020F0502020204030204"/>
                <a:cs typeface="Calibri" panose="020F0502020204030204"/>
              </a:rPr>
              <a:t> </a:t>
            </a:r>
            <a:r>
              <a:rPr sz="1600" spc="-5" dirty="0">
                <a:latin typeface="Calibri" panose="020F0502020204030204"/>
                <a:cs typeface="Calibri" panose="020F0502020204030204"/>
              </a:rPr>
              <a:t>reterive</a:t>
            </a:r>
            <a:r>
              <a:rPr sz="1600" spc="-20" dirty="0">
                <a:latin typeface="Calibri" panose="020F0502020204030204"/>
                <a:cs typeface="Calibri" panose="020F0502020204030204"/>
              </a:rPr>
              <a:t> </a:t>
            </a:r>
            <a:r>
              <a:rPr sz="1600" dirty="0">
                <a:latin typeface="Calibri" panose="020F0502020204030204"/>
                <a:cs typeface="Calibri" panose="020F0502020204030204"/>
              </a:rPr>
              <a:t>all</a:t>
            </a:r>
            <a:r>
              <a:rPr sz="1600" spc="-15" dirty="0">
                <a:latin typeface="Calibri" panose="020F0502020204030204"/>
                <a:cs typeface="Calibri" panose="020F0502020204030204"/>
              </a:rPr>
              <a:t> </a:t>
            </a:r>
            <a:r>
              <a:rPr sz="1600" spc="-5" dirty="0">
                <a:latin typeface="Calibri" panose="020F0502020204030204"/>
                <a:cs typeface="Calibri" panose="020F0502020204030204"/>
              </a:rPr>
              <a:t>deans?</a:t>
            </a:r>
            <a:endParaRPr sz="1600" dirty="0">
              <a:latin typeface="Calibri" panose="020F0502020204030204"/>
              <a:cs typeface="Calibri" panose="020F0502020204030204"/>
            </a:endParaRPr>
          </a:p>
        </p:txBody>
      </p:sp>
      <p:sp>
        <p:nvSpPr>
          <p:cNvPr id="7" name="object 7"/>
          <p:cNvSpPr txBox="1"/>
          <p:nvPr/>
        </p:nvSpPr>
        <p:spPr>
          <a:xfrm>
            <a:off x="540075" y="2805426"/>
            <a:ext cx="4672330" cy="2921000"/>
          </a:xfrm>
          <a:prstGeom prst="rect">
            <a:avLst/>
          </a:prstGeom>
        </p:spPr>
        <p:txBody>
          <a:bodyPr vert="horz" wrap="square" lIns="0" tIns="130810" rIns="0" bIns="0" rtlCol="0">
            <a:spAutoFit/>
          </a:bodyPr>
          <a:lstStyle/>
          <a:p>
            <a:pPr marL="12700">
              <a:lnSpc>
                <a:spcPct val="100000"/>
              </a:lnSpc>
              <a:spcBef>
                <a:spcPts val="1030"/>
              </a:spcBef>
            </a:pPr>
            <a:r>
              <a:rPr sz="1600" spc="-5" dirty="0">
                <a:latin typeface="Calibri" panose="020F0502020204030204"/>
                <a:cs typeface="Calibri" panose="020F0502020204030204"/>
              </a:rPr>
              <a:t>Soln</a:t>
            </a:r>
            <a:endParaRPr sz="1600">
              <a:latin typeface="Calibri" panose="020F0502020204030204"/>
              <a:cs typeface="Calibri" panose="020F0502020204030204"/>
            </a:endParaRPr>
          </a:p>
          <a:p>
            <a:pPr marL="12700" marR="5080">
              <a:lnSpc>
                <a:spcPct val="148000"/>
              </a:lnSpc>
            </a:pPr>
            <a:r>
              <a:rPr sz="1600" spc="-5" dirty="0">
                <a:latin typeface="Calibri" panose="020F0502020204030204"/>
                <a:cs typeface="Calibri" panose="020F0502020204030204"/>
              </a:rPr>
              <a:t>from pyDatalog import pyDatalog </a:t>
            </a:r>
            <a:r>
              <a:rPr sz="1600" dirty="0">
                <a:latin typeface="Calibri" panose="020F0502020204030204"/>
                <a:cs typeface="Calibri" panose="020F0502020204030204"/>
              </a:rPr>
              <a:t> </a:t>
            </a:r>
            <a:r>
              <a:rPr sz="1600" spc="-5" dirty="0">
                <a:latin typeface="Calibri" panose="020F0502020204030204"/>
                <a:cs typeface="Calibri" panose="020F0502020204030204"/>
              </a:rPr>
              <a:t>pyDatalog.create_terms('X,Y,Z,professor,lecturer,</a:t>
            </a:r>
            <a:r>
              <a:rPr sz="1600" spc="-65" dirty="0">
                <a:latin typeface="Calibri" panose="020F0502020204030204"/>
                <a:cs typeface="Calibri" panose="020F0502020204030204"/>
              </a:rPr>
              <a:t> </a:t>
            </a:r>
            <a:r>
              <a:rPr sz="1600" spc="-5" dirty="0">
                <a:latin typeface="Calibri" panose="020F0502020204030204"/>
                <a:cs typeface="Calibri" panose="020F0502020204030204"/>
              </a:rPr>
              <a:t>dean')</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+professor('lucy')</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+professor('danny')</a:t>
            </a:r>
            <a:endParaRPr sz="1600">
              <a:latin typeface="Calibri" panose="020F0502020204030204"/>
              <a:cs typeface="Calibri" panose="020F0502020204030204"/>
            </a:endParaRPr>
          </a:p>
          <a:p>
            <a:pPr marL="12700" marR="2796540">
              <a:lnSpc>
                <a:spcPct val="148000"/>
              </a:lnSpc>
            </a:pPr>
            <a:r>
              <a:rPr sz="1600" spc="-5" dirty="0">
                <a:latin typeface="Calibri" panose="020F0502020204030204"/>
                <a:cs typeface="Calibri" panose="020F0502020204030204"/>
              </a:rPr>
              <a:t>+lecturer('james') </a:t>
            </a:r>
            <a:r>
              <a:rPr sz="1600" dirty="0">
                <a:latin typeface="Calibri" panose="020F0502020204030204"/>
                <a:cs typeface="Calibri" panose="020F0502020204030204"/>
              </a:rPr>
              <a:t> </a:t>
            </a:r>
            <a:r>
              <a:rPr sz="1600" spc="-5" dirty="0">
                <a:latin typeface="Calibri" panose="020F0502020204030204"/>
                <a:cs typeface="Calibri" panose="020F0502020204030204"/>
              </a:rPr>
              <a:t>dean(X)&lt;=professor(X)  print(dean(X))</a:t>
            </a:r>
            <a:endParaRPr sz="1600">
              <a:latin typeface="Calibri" panose="020F0502020204030204"/>
              <a:cs typeface="Calibri" panose="020F0502020204030204"/>
            </a:endParaRPr>
          </a:p>
        </p:txBody>
      </p:sp>
      <p:sp>
        <p:nvSpPr>
          <p:cNvPr id="8" name="Slide Number Placeholder 7"/>
          <p:cNvSpPr>
            <a:spLocks noGrp="1"/>
          </p:cNvSpPr>
          <p:nvPr>
            <p:ph type="sldNum" sz="quarter" idx="7"/>
          </p:nvPr>
        </p:nvSpPr>
        <p:spPr/>
        <p:txBody>
          <a:bodyPr/>
          <a:lstStyle/>
          <a:p>
            <a:fld id="{B6F15528-21DE-4FAA-801E-634DDDAF4B2B}" type="slidenum">
              <a:rPr/>
              <a:t>49</a:t>
            </a:fld>
            <a:endParaRPr/>
          </a:p>
        </p:txBody>
      </p:sp>
      <p:sp>
        <p:nvSpPr>
          <p:cNvPr id="9" name="Footer Placeholder 8"/>
          <p:cNvSpPr>
            <a:spLocks noGrp="1"/>
          </p:cNvSpPr>
          <p:nvPr>
            <p:ph type="ftr" sz="quarter" idx="5"/>
          </p:nvPr>
        </p:nvSpPr>
        <p:spPr/>
        <p:txBody>
          <a:bodyPr/>
          <a:lstStyle/>
          <a:p>
            <a:r>
              <a:t>UNIT IV : Pythonic Programming Paradigm</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83" y="426173"/>
            <a:ext cx="12168505" cy="0"/>
          </a:xfrm>
          <a:custGeom>
            <a:avLst/>
            <a:gdLst/>
            <a:ahLst/>
            <a:cxnLst/>
            <a:rect l="l" t="t" r="r" b="b"/>
            <a:pathLst>
              <a:path w="12168505">
                <a:moveTo>
                  <a:pt x="0" y="0"/>
                </a:moveTo>
                <a:lnTo>
                  <a:pt x="12168233" y="0"/>
                </a:lnTo>
              </a:path>
            </a:pathLst>
          </a:custGeom>
          <a:ln w="28499">
            <a:solidFill>
              <a:srgbClr val="1F97C8"/>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 dirty="0"/>
              <a:t>Logical</a:t>
            </a:r>
            <a:r>
              <a:rPr spc="-55" dirty="0"/>
              <a:t> </a:t>
            </a:r>
            <a:r>
              <a:rPr spc="-5" dirty="0"/>
              <a:t>Programming</a:t>
            </a:r>
            <a:r>
              <a:rPr spc="-50" dirty="0"/>
              <a:t> </a:t>
            </a:r>
            <a:r>
              <a:rPr spc="-5" dirty="0"/>
              <a:t>Paradigm</a:t>
            </a:r>
          </a:p>
        </p:txBody>
      </p:sp>
      <p:sp>
        <p:nvSpPr>
          <p:cNvPr id="4" name="object 4"/>
          <p:cNvSpPr/>
          <p:nvPr/>
        </p:nvSpPr>
        <p:spPr>
          <a:xfrm>
            <a:off x="0" y="6694114"/>
            <a:ext cx="12190095" cy="57150"/>
          </a:xfrm>
          <a:custGeom>
            <a:avLst/>
            <a:gdLst/>
            <a:ahLst/>
            <a:cxnLst/>
            <a:rect l="l" t="t" r="r" b="b"/>
            <a:pathLst>
              <a:path w="12190095" h="57150">
                <a:moveTo>
                  <a:pt x="12189867" y="57066"/>
                </a:moveTo>
                <a:lnTo>
                  <a:pt x="0" y="57066"/>
                </a:lnTo>
                <a:lnTo>
                  <a:pt x="0" y="0"/>
                </a:lnTo>
                <a:lnTo>
                  <a:pt x="12189867" y="0"/>
                </a:lnTo>
                <a:lnTo>
                  <a:pt x="12189867" y="57066"/>
                </a:lnTo>
                <a:close/>
              </a:path>
            </a:pathLst>
          </a:custGeom>
          <a:solidFill>
            <a:srgbClr val="0693CE"/>
          </a:solidFill>
        </p:spPr>
        <p:txBody>
          <a:bodyPr wrap="square" lIns="0" tIns="0" rIns="0" bIns="0" rtlCol="0"/>
          <a:lstStyle/>
          <a:p>
            <a:endParaRPr/>
          </a:p>
        </p:txBody>
      </p:sp>
      <p:sp>
        <p:nvSpPr>
          <p:cNvPr id="5" name="object 5"/>
          <p:cNvSpPr/>
          <p:nvPr/>
        </p:nvSpPr>
        <p:spPr>
          <a:xfrm>
            <a:off x="31953" y="490866"/>
            <a:ext cx="12105640" cy="6118860"/>
          </a:xfrm>
          <a:custGeom>
            <a:avLst/>
            <a:gdLst/>
            <a:ahLst/>
            <a:cxnLst/>
            <a:rect l="l" t="t" r="r" b="b"/>
            <a:pathLst>
              <a:path w="12105640" h="6118859">
                <a:moveTo>
                  <a:pt x="0" y="0"/>
                </a:moveTo>
                <a:lnTo>
                  <a:pt x="12105504" y="0"/>
                </a:lnTo>
                <a:lnTo>
                  <a:pt x="12105504" y="6118857"/>
                </a:lnTo>
                <a:lnTo>
                  <a:pt x="0" y="6118857"/>
                </a:lnTo>
                <a:lnTo>
                  <a:pt x="0" y="0"/>
                </a:lnTo>
                <a:close/>
              </a:path>
            </a:pathLst>
          </a:custGeom>
          <a:ln w="12699">
            <a:solidFill>
              <a:srgbClr val="00B0F0"/>
            </a:solidFill>
          </a:ln>
        </p:spPr>
        <p:txBody>
          <a:bodyPr wrap="square" lIns="0" tIns="0" rIns="0" bIns="0" rtlCol="0"/>
          <a:lstStyle/>
          <a:p>
            <a:endParaRPr/>
          </a:p>
        </p:txBody>
      </p:sp>
      <p:sp>
        <p:nvSpPr>
          <p:cNvPr id="6" name="object 6"/>
          <p:cNvSpPr txBox="1"/>
          <p:nvPr/>
        </p:nvSpPr>
        <p:spPr>
          <a:xfrm>
            <a:off x="540075" y="271775"/>
            <a:ext cx="1443355" cy="1111250"/>
          </a:xfrm>
          <a:prstGeom prst="rect">
            <a:avLst/>
          </a:prstGeom>
        </p:spPr>
        <p:txBody>
          <a:bodyPr vert="horz" wrap="square" lIns="0" tIns="12700" rIns="0" bIns="0" rtlCol="0">
            <a:spAutoFit/>
          </a:bodyPr>
          <a:lstStyle/>
          <a:p>
            <a:pPr marL="12700" marR="5080">
              <a:lnSpc>
                <a:spcPct val="148000"/>
              </a:lnSpc>
              <a:spcBef>
                <a:spcPts val="100"/>
              </a:spcBef>
            </a:pPr>
            <a:r>
              <a:rPr sz="1600" spc="-5" dirty="0">
                <a:latin typeface="Calibri" panose="020F0502020204030204"/>
                <a:cs typeface="Calibri" panose="020F0502020204030204"/>
              </a:rPr>
              <a:t>likes(john,</a:t>
            </a:r>
            <a:r>
              <a:rPr sz="1600" spc="-85" dirty="0">
                <a:latin typeface="Calibri" panose="020F0502020204030204"/>
                <a:cs typeface="Calibri" panose="020F0502020204030204"/>
              </a:rPr>
              <a:t> </a:t>
            </a:r>
            <a:r>
              <a:rPr sz="1600" spc="-5" dirty="0">
                <a:latin typeface="Calibri" panose="020F0502020204030204"/>
                <a:cs typeface="Calibri" panose="020F0502020204030204"/>
              </a:rPr>
              <a:t>susie). </a:t>
            </a:r>
            <a:r>
              <a:rPr sz="1600" spc="-345" dirty="0">
                <a:latin typeface="Calibri" panose="020F0502020204030204"/>
                <a:cs typeface="Calibri" panose="020F0502020204030204"/>
              </a:rPr>
              <a:t> </a:t>
            </a:r>
            <a:r>
              <a:rPr sz="1600" spc="-5" dirty="0">
                <a:latin typeface="Calibri" panose="020F0502020204030204"/>
                <a:cs typeface="Calibri" panose="020F0502020204030204"/>
              </a:rPr>
              <a:t>likes(X, susie). </a:t>
            </a:r>
            <a:r>
              <a:rPr sz="1600" dirty="0">
                <a:latin typeface="Calibri" panose="020F0502020204030204"/>
                <a:cs typeface="Calibri" panose="020F0502020204030204"/>
              </a:rPr>
              <a:t> </a:t>
            </a:r>
            <a:r>
              <a:rPr sz="1600" spc="-5" dirty="0">
                <a:latin typeface="Calibri" panose="020F0502020204030204"/>
                <a:cs typeface="Calibri" panose="020F0502020204030204"/>
              </a:rPr>
              <a:t>likes(john,</a:t>
            </a:r>
            <a:r>
              <a:rPr sz="1600" spc="-20" dirty="0">
                <a:latin typeface="Calibri" panose="020F0502020204030204"/>
                <a:cs typeface="Calibri" panose="020F0502020204030204"/>
              </a:rPr>
              <a:t> </a:t>
            </a:r>
            <a:r>
              <a:rPr sz="1600" spc="-5" dirty="0">
                <a:latin typeface="Calibri" panose="020F0502020204030204"/>
                <a:cs typeface="Calibri" panose="020F0502020204030204"/>
              </a:rPr>
              <a:t>Y).</a:t>
            </a:r>
            <a:endParaRPr sz="1600">
              <a:latin typeface="Calibri" panose="020F0502020204030204"/>
              <a:cs typeface="Calibri" panose="020F0502020204030204"/>
            </a:endParaRPr>
          </a:p>
        </p:txBody>
      </p:sp>
      <p:sp>
        <p:nvSpPr>
          <p:cNvPr id="7" name="object 7"/>
          <p:cNvSpPr txBox="1"/>
          <p:nvPr/>
        </p:nvSpPr>
        <p:spPr>
          <a:xfrm>
            <a:off x="2699416" y="271775"/>
            <a:ext cx="2185035" cy="1111250"/>
          </a:xfrm>
          <a:prstGeom prst="rect">
            <a:avLst/>
          </a:prstGeom>
        </p:spPr>
        <p:txBody>
          <a:bodyPr vert="horz" wrap="square" lIns="0" tIns="130810" rIns="0" bIns="0" rtlCol="0">
            <a:spAutoFit/>
          </a:bodyPr>
          <a:lstStyle/>
          <a:p>
            <a:pPr marL="142875">
              <a:lnSpc>
                <a:spcPct val="100000"/>
              </a:lnSpc>
              <a:spcBef>
                <a:spcPts val="1030"/>
              </a:spcBef>
            </a:pPr>
            <a:r>
              <a:rPr sz="1600" spc="-5" dirty="0">
                <a:latin typeface="Calibri" panose="020F0502020204030204"/>
                <a:cs typeface="Calibri" panose="020F0502020204030204"/>
              </a:rPr>
              <a:t>/*</a:t>
            </a:r>
            <a:r>
              <a:rPr sz="1600" spc="-20" dirty="0">
                <a:latin typeface="Calibri" panose="020F0502020204030204"/>
                <a:cs typeface="Calibri" panose="020F0502020204030204"/>
              </a:rPr>
              <a:t> </a:t>
            </a:r>
            <a:r>
              <a:rPr sz="1600" spc="-5" dirty="0">
                <a:latin typeface="Calibri" panose="020F0502020204030204"/>
                <a:cs typeface="Calibri" panose="020F0502020204030204"/>
              </a:rPr>
              <a:t>John</a:t>
            </a:r>
            <a:r>
              <a:rPr sz="1600" spc="-20" dirty="0">
                <a:latin typeface="Calibri" panose="020F0502020204030204"/>
                <a:cs typeface="Calibri" panose="020F0502020204030204"/>
              </a:rPr>
              <a:t> </a:t>
            </a:r>
            <a:r>
              <a:rPr sz="1600" spc="-5" dirty="0">
                <a:latin typeface="Calibri" panose="020F0502020204030204"/>
                <a:cs typeface="Calibri" panose="020F0502020204030204"/>
              </a:rPr>
              <a:t>likes</a:t>
            </a:r>
            <a:r>
              <a:rPr sz="1600" spc="-20" dirty="0">
                <a:latin typeface="Calibri" panose="020F0502020204030204"/>
                <a:cs typeface="Calibri" panose="020F0502020204030204"/>
              </a:rPr>
              <a:t> </a:t>
            </a:r>
            <a:r>
              <a:rPr sz="1600" spc="-5" dirty="0">
                <a:latin typeface="Calibri" panose="020F0502020204030204"/>
                <a:cs typeface="Calibri" panose="020F0502020204030204"/>
              </a:rPr>
              <a:t>Susie</a:t>
            </a:r>
            <a:r>
              <a:rPr sz="1600" spc="-20" dirty="0">
                <a:latin typeface="Calibri" panose="020F0502020204030204"/>
                <a:cs typeface="Calibri" panose="020F0502020204030204"/>
              </a:rPr>
              <a:t> </a:t>
            </a:r>
            <a:r>
              <a:rPr sz="1600" spc="-5" dirty="0">
                <a:latin typeface="Calibri" panose="020F0502020204030204"/>
                <a:cs typeface="Calibri" panose="020F0502020204030204"/>
              </a:rPr>
              <a:t>*/</a:t>
            </a:r>
            <a:endParaRPr sz="1600">
              <a:latin typeface="Calibri" panose="020F0502020204030204"/>
              <a:cs typeface="Calibri" panose="020F0502020204030204"/>
            </a:endParaRPr>
          </a:p>
          <a:p>
            <a:pPr marL="17780">
              <a:lnSpc>
                <a:spcPct val="100000"/>
              </a:lnSpc>
              <a:spcBef>
                <a:spcPts val="930"/>
              </a:spcBef>
            </a:pPr>
            <a:r>
              <a:rPr sz="1600" spc="-5" dirty="0">
                <a:latin typeface="Calibri" panose="020F0502020204030204"/>
                <a:cs typeface="Calibri" panose="020F0502020204030204"/>
              </a:rPr>
              <a:t>/*</a:t>
            </a:r>
            <a:r>
              <a:rPr sz="1600" spc="-20" dirty="0">
                <a:latin typeface="Calibri" panose="020F0502020204030204"/>
                <a:cs typeface="Calibri" panose="020F0502020204030204"/>
              </a:rPr>
              <a:t> </a:t>
            </a:r>
            <a:r>
              <a:rPr sz="1600" spc="-5" dirty="0">
                <a:latin typeface="Calibri" panose="020F0502020204030204"/>
                <a:cs typeface="Calibri" panose="020F0502020204030204"/>
              </a:rPr>
              <a:t>Everyone</a:t>
            </a:r>
            <a:r>
              <a:rPr sz="1600" spc="-20" dirty="0">
                <a:latin typeface="Calibri" panose="020F0502020204030204"/>
                <a:cs typeface="Calibri" panose="020F0502020204030204"/>
              </a:rPr>
              <a:t> </a:t>
            </a:r>
            <a:r>
              <a:rPr sz="1600" spc="-5" dirty="0">
                <a:latin typeface="Calibri" panose="020F0502020204030204"/>
                <a:cs typeface="Calibri" panose="020F0502020204030204"/>
              </a:rPr>
              <a:t>likes</a:t>
            </a:r>
            <a:r>
              <a:rPr sz="1600" spc="-20" dirty="0">
                <a:latin typeface="Calibri" panose="020F0502020204030204"/>
                <a:cs typeface="Calibri" panose="020F0502020204030204"/>
              </a:rPr>
              <a:t> </a:t>
            </a:r>
            <a:r>
              <a:rPr sz="1600" spc="-5" dirty="0">
                <a:latin typeface="Calibri" panose="020F0502020204030204"/>
                <a:cs typeface="Calibri" panose="020F0502020204030204"/>
              </a:rPr>
              <a:t>Susie</a:t>
            </a:r>
            <a:r>
              <a:rPr sz="1600" spc="-20" dirty="0">
                <a:latin typeface="Calibri" panose="020F0502020204030204"/>
                <a:cs typeface="Calibri" panose="020F0502020204030204"/>
              </a:rPr>
              <a:t> </a:t>
            </a:r>
            <a:r>
              <a:rPr sz="1600" spc="-5" dirty="0">
                <a:latin typeface="Calibri" panose="020F0502020204030204"/>
                <a:cs typeface="Calibri" panose="020F0502020204030204"/>
              </a:rPr>
              <a:t>*/</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a:t>
            </a:r>
            <a:r>
              <a:rPr sz="1600" spc="-25" dirty="0">
                <a:latin typeface="Calibri" panose="020F0502020204030204"/>
                <a:cs typeface="Calibri" panose="020F0502020204030204"/>
              </a:rPr>
              <a:t> </a:t>
            </a:r>
            <a:r>
              <a:rPr sz="1600" spc="-5" dirty="0">
                <a:latin typeface="Calibri" panose="020F0502020204030204"/>
                <a:cs typeface="Calibri" panose="020F0502020204030204"/>
              </a:rPr>
              <a:t>John</a:t>
            </a:r>
            <a:r>
              <a:rPr sz="1600" spc="-25" dirty="0">
                <a:latin typeface="Calibri" panose="020F0502020204030204"/>
                <a:cs typeface="Calibri" panose="020F0502020204030204"/>
              </a:rPr>
              <a:t> </a:t>
            </a:r>
            <a:r>
              <a:rPr sz="1600" spc="-5" dirty="0">
                <a:latin typeface="Calibri" panose="020F0502020204030204"/>
                <a:cs typeface="Calibri" panose="020F0502020204030204"/>
              </a:rPr>
              <a:t>likes</a:t>
            </a:r>
            <a:r>
              <a:rPr sz="1600" spc="-20" dirty="0">
                <a:latin typeface="Calibri" panose="020F0502020204030204"/>
                <a:cs typeface="Calibri" panose="020F0502020204030204"/>
              </a:rPr>
              <a:t> </a:t>
            </a:r>
            <a:r>
              <a:rPr sz="1600" spc="-5" dirty="0">
                <a:latin typeface="Calibri" panose="020F0502020204030204"/>
                <a:cs typeface="Calibri" panose="020F0502020204030204"/>
              </a:rPr>
              <a:t>everybody</a:t>
            </a:r>
            <a:r>
              <a:rPr sz="1600" spc="-25" dirty="0">
                <a:latin typeface="Calibri" panose="020F0502020204030204"/>
                <a:cs typeface="Calibri" panose="020F0502020204030204"/>
              </a:rPr>
              <a:t> </a:t>
            </a:r>
            <a:r>
              <a:rPr sz="1600" spc="-5" dirty="0">
                <a:latin typeface="Calibri" panose="020F0502020204030204"/>
                <a:cs typeface="Calibri" panose="020F0502020204030204"/>
              </a:rPr>
              <a:t>*/</a:t>
            </a:r>
            <a:endParaRPr sz="1600">
              <a:latin typeface="Calibri" panose="020F0502020204030204"/>
              <a:cs typeface="Calibri" panose="020F0502020204030204"/>
            </a:endParaRPr>
          </a:p>
        </p:txBody>
      </p:sp>
      <p:sp>
        <p:nvSpPr>
          <p:cNvPr id="8" name="object 8"/>
          <p:cNvSpPr txBox="1"/>
          <p:nvPr/>
        </p:nvSpPr>
        <p:spPr>
          <a:xfrm>
            <a:off x="540075" y="1357625"/>
            <a:ext cx="6870065" cy="1473200"/>
          </a:xfrm>
          <a:prstGeom prst="rect">
            <a:avLst/>
          </a:prstGeom>
        </p:spPr>
        <p:txBody>
          <a:bodyPr vert="horz" wrap="square" lIns="0" tIns="12700" rIns="0" bIns="0" rtlCol="0">
            <a:spAutoFit/>
          </a:bodyPr>
          <a:lstStyle/>
          <a:p>
            <a:pPr marL="12700" marR="5080">
              <a:lnSpc>
                <a:spcPct val="148000"/>
              </a:lnSpc>
              <a:spcBef>
                <a:spcPts val="100"/>
              </a:spcBef>
              <a:tabLst>
                <a:tab pos="2474595" algn="l"/>
                <a:tab pos="2585720" algn="l"/>
              </a:tabLst>
            </a:pPr>
            <a:r>
              <a:rPr sz="1600" spc="-5" dirty="0">
                <a:latin typeface="Calibri" panose="020F0502020204030204"/>
                <a:cs typeface="Calibri" panose="020F0502020204030204"/>
              </a:rPr>
              <a:t>likes(john, Y),</a:t>
            </a:r>
            <a:r>
              <a:rPr sz="1600" dirty="0">
                <a:latin typeface="Calibri" panose="020F0502020204030204"/>
                <a:cs typeface="Calibri" panose="020F0502020204030204"/>
              </a:rPr>
              <a:t> </a:t>
            </a:r>
            <a:r>
              <a:rPr sz="1600" spc="-5" dirty="0">
                <a:latin typeface="Calibri" panose="020F0502020204030204"/>
                <a:cs typeface="Calibri" panose="020F0502020204030204"/>
              </a:rPr>
              <a:t>likes(Y,</a:t>
            </a:r>
            <a:r>
              <a:rPr sz="1600" dirty="0">
                <a:latin typeface="Calibri" panose="020F0502020204030204"/>
                <a:cs typeface="Calibri" panose="020F0502020204030204"/>
              </a:rPr>
              <a:t> </a:t>
            </a:r>
            <a:r>
              <a:rPr sz="1600" spc="-5" dirty="0">
                <a:latin typeface="Calibri" panose="020F0502020204030204"/>
                <a:cs typeface="Calibri" panose="020F0502020204030204"/>
              </a:rPr>
              <a:t>john).		/* John likes everybody </a:t>
            </a:r>
            <a:r>
              <a:rPr sz="1600" dirty="0">
                <a:latin typeface="Calibri" panose="020F0502020204030204"/>
                <a:cs typeface="Calibri" panose="020F0502020204030204"/>
              </a:rPr>
              <a:t>and </a:t>
            </a:r>
            <a:r>
              <a:rPr sz="1600" spc="-5" dirty="0">
                <a:latin typeface="Calibri" panose="020F0502020204030204"/>
                <a:cs typeface="Calibri" panose="020F0502020204030204"/>
              </a:rPr>
              <a:t>everybody likes John */ </a:t>
            </a:r>
            <a:r>
              <a:rPr sz="1600" spc="-350" dirty="0">
                <a:latin typeface="Calibri" panose="020F0502020204030204"/>
                <a:cs typeface="Calibri" panose="020F0502020204030204"/>
              </a:rPr>
              <a:t> </a:t>
            </a:r>
            <a:r>
              <a:rPr sz="1600" spc="-5" dirty="0">
                <a:latin typeface="Calibri" panose="020F0502020204030204"/>
                <a:cs typeface="Calibri" panose="020F0502020204030204"/>
              </a:rPr>
              <a:t>likes(john, susie); likes(john,mary). /* John likes Susie or John likes Mary */ </a:t>
            </a:r>
            <a:r>
              <a:rPr sz="1600" dirty="0">
                <a:latin typeface="Calibri" panose="020F0502020204030204"/>
                <a:cs typeface="Calibri" panose="020F0502020204030204"/>
              </a:rPr>
              <a:t> </a:t>
            </a:r>
            <a:r>
              <a:rPr sz="1600" spc="-5" dirty="0">
                <a:latin typeface="Calibri" panose="020F0502020204030204"/>
                <a:cs typeface="Calibri" panose="020F0502020204030204"/>
              </a:rPr>
              <a:t>not(likes(john,pizza)).	/*</a:t>
            </a:r>
            <a:r>
              <a:rPr sz="1600" spc="-10" dirty="0">
                <a:latin typeface="Calibri" panose="020F0502020204030204"/>
                <a:cs typeface="Calibri" panose="020F0502020204030204"/>
              </a:rPr>
              <a:t> </a:t>
            </a:r>
            <a:r>
              <a:rPr sz="1600" spc="-5" dirty="0">
                <a:latin typeface="Calibri" panose="020F0502020204030204"/>
                <a:cs typeface="Calibri" panose="020F0502020204030204"/>
              </a:rPr>
              <a:t>John does not</a:t>
            </a:r>
            <a:r>
              <a:rPr sz="1600" spc="-10" dirty="0">
                <a:latin typeface="Calibri" panose="020F0502020204030204"/>
                <a:cs typeface="Calibri" panose="020F0502020204030204"/>
              </a:rPr>
              <a:t> </a:t>
            </a:r>
            <a:r>
              <a:rPr sz="1600" spc="-5" dirty="0">
                <a:latin typeface="Calibri" panose="020F0502020204030204"/>
                <a:cs typeface="Calibri" panose="020F0502020204030204"/>
              </a:rPr>
              <a:t>like pizza */</a:t>
            </a:r>
            <a:endParaRPr sz="1600" dirty="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likes(john,susie)</a:t>
            </a:r>
            <a:r>
              <a:rPr sz="1600" spc="-15" dirty="0">
                <a:latin typeface="Calibri" panose="020F0502020204030204"/>
                <a:cs typeface="Calibri" panose="020F0502020204030204"/>
              </a:rPr>
              <a:t> </a:t>
            </a:r>
            <a:r>
              <a:rPr sz="1600" spc="-5" dirty="0">
                <a:latin typeface="Calibri" panose="020F0502020204030204"/>
                <a:cs typeface="Calibri" panose="020F0502020204030204"/>
              </a:rPr>
              <a:t>:-</a:t>
            </a:r>
            <a:r>
              <a:rPr sz="1600" spc="-10" dirty="0">
                <a:latin typeface="Calibri" panose="020F0502020204030204"/>
                <a:cs typeface="Calibri" panose="020F0502020204030204"/>
              </a:rPr>
              <a:t> </a:t>
            </a:r>
            <a:r>
              <a:rPr sz="1600" spc="-5" dirty="0">
                <a:latin typeface="Calibri" panose="020F0502020204030204"/>
                <a:cs typeface="Calibri" panose="020F0502020204030204"/>
              </a:rPr>
              <a:t>likes(john,mary)./*</a:t>
            </a:r>
            <a:r>
              <a:rPr sz="1600" spc="-10" dirty="0">
                <a:latin typeface="Calibri" panose="020F0502020204030204"/>
                <a:cs typeface="Calibri" panose="020F0502020204030204"/>
              </a:rPr>
              <a:t> </a:t>
            </a:r>
            <a:r>
              <a:rPr sz="1600" spc="-5" dirty="0">
                <a:latin typeface="Calibri" panose="020F0502020204030204"/>
                <a:cs typeface="Calibri" panose="020F0502020204030204"/>
              </a:rPr>
              <a:t>John</a:t>
            </a:r>
            <a:r>
              <a:rPr sz="1600" spc="-10" dirty="0">
                <a:latin typeface="Calibri" panose="020F0502020204030204"/>
                <a:cs typeface="Calibri" panose="020F0502020204030204"/>
              </a:rPr>
              <a:t> </a:t>
            </a:r>
            <a:r>
              <a:rPr sz="1600" spc="-5" dirty="0">
                <a:latin typeface="Calibri" panose="020F0502020204030204"/>
                <a:cs typeface="Calibri" panose="020F0502020204030204"/>
              </a:rPr>
              <a:t>likes</a:t>
            </a:r>
            <a:r>
              <a:rPr sz="1600" spc="-10" dirty="0">
                <a:latin typeface="Calibri" panose="020F0502020204030204"/>
                <a:cs typeface="Calibri" panose="020F0502020204030204"/>
              </a:rPr>
              <a:t> </a:t>
            </a:r>
            <a:r>
              <a:rPr sz="1600" spc="-5" dirty="0">
                <a:latin typeface="Calibri" panose="020F0502020204030204"/>
                <a:cs typeface="Calibri" panose="020F0502020204030204"/>
              </a:rPr>
              <a:t>Susie</a:t>
            </a:r>
            <a:r>
              <a:rPr sz="1600" spc="-10" dirty="0">
                <a:latin typeface="Calibri" panose="020F0502020204030204"/>
                <a:cs typeface="Calibri" panose="020F0502020204030204"/>
              </a:rPr>
              <a:t> </a:t>
            </a:r>
            <a:r>
              <a:rPr sz="1600" spc="-5" dirty="0">
                <a:latin typeface="Calibri" panose="020F0502020204030204"/>
                <a:cs typeface="Calibri" panose="020F0502020204030204"/>
              </a:rPr>
              <a:t>if</a:t>
            </a:r>
            <a:r>
              <a:rPr sz="1600" spc="-10" dirty="0">
                <a:latin typeface="Calibri" panose="020F0502020204030204"/>
                <a:cs typeface="Calibri" panose="020F0502020204030204"/>
              </a:rPr>
              <a:t> </a:t>
            </a:r>
            <a:r>
              <a:rPr sz="1600" spc="-5" dirty="0">
                <a:latin typeface="Calibri" panose="020F0502020204030204"/>
                <a:cs typeface="Calibri" panose="020F0502020204030204"/>
              </a:rPr>
              <a:t>John</a:t>
            </a:r>
            <a:r>
              <a:rPr sz="1600" spc="-10" dirty="0">
                <a:latin typeface="Calibri" panose="020F0502020204030204"/>
                <a:cs typeface="Calibri" panose="020F0502020204030204"/>
              </a:rPr>
              <a:t> </a:t>
            </a:r>
            <a:r>
              <a:rPr sz="1600" spc="-5" dirty="0">
                <a:latin typeface="Calibri" panose="020F0502020204030204"/>
                <a:cs typeface="Calibri" panose="020F0502020204030204"/>
              </a:rPr>
              <a:t>likes</a:t>
            </a:r>
            <a:r>
              <a:rPr sz="1600" spc="-10" dirty="0">
                <a:latin typeface="Calibri" panose="020F0502020204030204"/>
                <a:cs typeface="Calibri" panose="020F0502020204030204"/>
              </a:rPr>
              <a:t> </a:t>
            </a:r>
            <a:r>
              <a:rPr sz="1600" spc="-5" dirty="0">
                <a:latin typeface="Calibri" panose="020F0502020204030204"/>
                <a:cs typeface="Calibri" panose="020F0502020204030204"/>
              </a:rPr>
              <a:t>Mary.</a:t>
            </a:r>
            <a:endParaRPr sz="1600" dirty="0">
              <a:latin typeface="Calibri" panose="020F0502020204030204"/>
              <a:cs typeface="Calibri" panose="020F0502020204030204"/>
            </a:endParaRPr>
          </a:p>
        </p:txBody>
      </p:sp>
      <p:sp>
        <p:nvSpPr>
          <p:cNvPr id="9" name="object 9"/>
          <p:cNvSpPr txBox="1"/>
          <p:nvPr/>
        </p:nvSpPr>
        <p:spPr>
          <a:xfrm>
            <a:off x="540075" y="3167376"/>
            <a:ext cx="2771775" cy="1111250"/>
          </a:xfrm>
          <a:prstGeom prst="rect">
            <a:avLst/>
          </a:prstGeom>
        </p:spPr>
        <p:txBody>
          <a:bodyPr vert="horz" wrap="square" lIns="0" tIns="130810" rIns="0" bIns="0" rtlCol="0">
            <a:spAutoFit/>
          </a:bodyPr>
          <a:lstStyle/>
          <a:p>
            <a:pPr marL="12700">
              <a:lnSpc>
                <a:spcPct val="100000"/>
              </a:lnSpc>
              <a:spcBef>
                <a:spcPts val="1030"/>
              </a:spcBef>
            </a:pPr>
            <a:r>
              <a:rPr sz="1600" spc="-5" dirty="0">
                <a:latin typeface="Calibri" panose="020F0502020204030204"/>
                <a:cs typeface="Calibri" panose="020F0502020204030204"/>
              </a:rPr>
              <a:t>rules</a:t>
            </a:r>
            <a:endParaRPr sz="1600" dirty="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friends(X,Y)</a:t>
            </a:r>
            <a:r>
              <a:rPr sz="1600" spc="-40" dirty="0">
                <a:latin typeface="Calibri" panose="020F0502020204030204"/>
                <a:cs typeface="Calibri" panose="020F0502020204030204"/>
              </a:rPr>
              <a:t> </a:t>
            </a:r>
            <a:r>
              <a:rPr sz="1600" spc="-5" dirty="0">
                <a:latin typeface="Calibri" panose="020F0502020204030204"/>
                <a:cs typeface="Calibri" panose="020F0502020204030204"/>
              </a:rPr>
              <a:t>:-</a:t>
            </a:r>
            <a:r>
              <a:rPr sz="1600" spc="-40" dirty="0">
                <a:latin typeface="Calibri" panose="020F0502020204030204"/>
                <a:cs typeface="Calibri" panose="020F0502020204030204"/>
              </a:rPr>
              <a:t> </a:t>
            </a:r>
            <a:r>
              <a:rPr sz="1600" spc="-5" dirty="0">
                <a:latin typeface="Calibri" panose="020F0502020204030204"/>
                <a:cs typeface="Calibri" panose="020F0502020204030204"/>
              </a:rPr>
              <a:t>likes(X,Y),likes(Y,X).</a:t>
            </a:r>
            <a:endParaRPr sz="1600" dirty="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hates(X,Y)</a:t>
            </a:r>
            <a:r>
              <a:rPr sz="1600" spc="-35" dirty="0">
                <a:latin typeface="Calibri" panose="020F0502020204030204"/>
                <a:cs typeface="Calibri" panose="020F0502020204030204"/>
              </a:rPr>
              <a:t> </a:t>
            </a:r>
            <a:r>
              <a:rPr sz="1600" spc="-5" dirty="0">
                <a:latin typeface="Calibri" panose="020F0502020204030204"/>
                <a:cs typeface="Calibri" panose="020F0502020204030204"/>
              </a:rPr>
              <a:t>:-</a:t>
            </a:r>
            <a:r>
              <a:rPr sz="1600" spc="-30" dirty="0">
                <a:latin typeface="Calibri" panose="020F0502020204030204"/>
                <a:cs typeface="Calibri" panose="020F0502020204030204"/>
              </a:rPr>
              <a:t> </a:t>
            </a:r>
            <a:r>
              <a:rPr sz="1600" spc="-5" dirty="0">
                <a:latin typeface="Calibri" panose="020F0502020204030204"/>
                <a:cs typeface="Calibri" panose="020F0502020204030204"/>
              </a:rPr>
              <a:t>not(likes(X,Y)).</a:t>
            </a:r>
            <a:endParaRPr sz="1600" dirty="0">
              <a:latin typeface="Calibri" panose="020F0502020204030204"/>
              <a:cs typeface="Calibri" panose="020F0502020204030204"/>
            </a:endParaRPr>
          </a:p>
        </p:txBody>
      </p:sp>
      <p:sp>
        <p:nvSpPr>
          <p:cNvPr id="10" name="object 10"/>
          <p:cNvSpPr txBox="1"/>
          <p:nvPr/>
        </p:nvSpPr>
        <p:spPr>
          <a:xfrm>
            <a:off x="3694669" y="3529326"/>
            <a:ext cx="3994150" cy="749300"/>
          </a:xfrm>
          <a:prstGeom prst="rect">
            <a:avLst/>
          </a:prstGeom>
        </p:spPr>
        <p:txBody>
          <a:bodyPr vert="horz" wrap="square" lIns="0" tIns="130810" rIns="0" bIns="0" rtlCol="0">
            <a:spAutoFit/>
          </a:bodyPr>
          <a:lstStyle/>
          <a:p>
            <a:pPr marL="154940">
              <a:lnSpc>
                <a:spcPct val="100000"/>
              </a:lnSpc>
              <a:spcBef>
                <a:spcPts val="1030"/>
              </a:spcBef>
            </a:pPr>
            <a:r>
              <a:rPr sz="1600" spc="-5" dirty="0">
                <a:latin typeface="Calibri" panose="020F0502020204030204"/>
                <a:cs typeface="Calibri" panose="020F0502020204030204"/>
              </a:rPr>
              <a:t>/*</a:t>
            </a:r>
            <a:r>
              <a:rPr sz="1600" spc="-15" dirty="0">
                <a:latin typeface="Calibri" panose="020F0502020204030204"/>
                <a:cs typeface="Calibri" panose="020F0502020204030204"/>
              </a:rPr>
              <a:t> </a:t>
            </a:r>
            <a:r>
              <a:rPr sz="1600" dirty="0">
                <a:latin typeface="Calibri" panose="020F0502020204030204"/>
                <a:cs typeface="Calibri" panose="020F0502020204030204"/>
              </a:rPr>
              <a:t>X</a:t>
            </a:r>
            <a:r>
              <a:rPr sz="1600" spc="-10" dirty="0">
                <a:latin typeface="Calibri" panose="020F0502020204030204"/>
                <a:cs typeface="Calibri" panose="020F0502020204030204"/>
              </a:rPr>
              <a:t> </a:t>
            </a:r>
            <a:r>
              <a:rPr sz="1600" dirty="0">
                <a:latin typeface="Calibri" panose="020F0502020204030204"/>
                <a:cs typeface="Calibri" panose="020F0502020204030204"/>
              </a:rPr>
              <a:t>and</a:t>
            </a:r>
            <a:r>
              <a:rPr sz="1600" spc="-10" dirty="0">
                <a:latin typeface="Calibri" panose="020F0502020204030204"/>
                <a:cs typeface="Calibri" panose="020F0502020204030204"/>
              </a:rPr>
              <a:t> </a:t>
            </a:r>
            <a:r>
              <a:rPr sz="1600" dirty="0">
                <a:latin typeface="Calibri" panose="020F0502020204030204"/>
                <a:cs typeface="Calibri" panose="020F0502020204030204"/>
              </a:rPr>
              <a:t>Y</a:t>
            </a:r>
            <a:r>
              <a:rPr sz="1600" spc="-10" dirty="0">
                <a:latin typeface="Calibri" panose="020F0502020204030204"/>
                <a:cs typeface="Calibri" panose="020F0502020204030204"/>
              </a:rPr>
              <a:t> </a:t>
            </a:r>
            <a:r>
              <a:rPr sz="1600" dirty="0">
                <a:latin typeface="Calibri" panose="020F0502020204030204"/>
                <a:cs typeface="Calibri" panose="020F0502020204030204"/>
              </a:rPr>
              <a:t>are</a:t>
            </a:r>
            <a:r>
              <a:rPr sz="1600" spc="-10" dirty="0">
                <a:latin typeface="Calibri" panose="020F0502020204030204"/>
                <a:cs typeface="Calibri" panose="020F0502020204030204"/>
              </a:rPr>
              <a:t> </a:t>
            </a:r>
            <a:r>
              <a:rPr sz="1600" spc="-5" dirty="0">
                <a:latin typeface="Calibri" panose="020F0502020204030204"/>
                <a:cs typeface="Calibri" panose="020F0502020204030204"/>
              </a:rPr>
              <a:t>friends</a:t>
            </a:r>
            <a:r>
              <a:rPr sz="1600" spc="-10" dirty="0">
                <a:latin typeface="Calibri" panose="020F0502020204030204"/>
                <a:cs typeface="Calibri" panose="020F0502020204030204"/>
              </a:rPr>
              <a:t> </a:t>
            </a:r>
            <a:r>
              <a:rPr sz="1600" spc="-5" dirty="0">
                <a:latin typeface="Calibri" panose="020F0502020204030204"/>
                <a:cs typeface="Calibri" panose="020F0502020204030204"/>
              </a:rPr>
              <a:t>if</a:t>
            </a:r>
            <a:r>
              <a:rPr sz="1600" spc="-10" dirty="0">
                <a:latin typeface="Calibri" panose="020F0502020204030204"/>
                <a:cs typeface="Calibri" panose="020F0502020204030204"/>
              </a:rPr>
              <a:t> </a:t>
            </a:r>
            <a:r>
              <a:rPr sz="1600" spc="-5" dirty="0">
                <a:latin typeface="Calibri" panose="020F0502020204030204"/>
                <a:cs typeface="Calibri" panose="020F0502020204030204"/>
              </a:rPr>
              <a:t>they</a:t>
            </a:r>
            <a:r>
              <a:rPr sz="1600" spc="-10" dirty="0">
                <a:latin typeface="Calibri" panose="020F0502020204030204"/>
                <a:cs typeface="Calibri" panose="020F0502020204030204"/>
              </a:rPr>
              <a:t> </a:t>
            </a:r>
            <a:r>
              <a:rPr sz="1600" spc="-5" dirty="0">
                <a:latin typeface="Calibri" panose="020F0502020204030204"/>
                <a:cs typeface="Calibri" panose="020F0502020204030204"/>
              </a:rPr>
              <a:t>like</a:t>
            </a:r>
            <a:r>
              <a:rPr sz="1600" spc="-15" dirty="0">
                <a:latin typeface="Calibri" panose="020F0502020204030204"/>
                <a:cs typeface="Calibri" panose="020F0502020204030204"/>
              </a:rPr>
              <a:t> </a:t>
            </a:r>
            <a:r>
              <a:rPr sz="1600" spc="-5" dirty="0">
                <a:latin typeface="Calibri" panose="020F0502020204030204"/>
                <a:cs typeface="Calibri" panose="020F0502020204030204"/>
              </a:rPr>
              <a:t>each</a:t>
            </a:r>
            <a:r>
              <a:rPr sz="1600" spc="-10" dirty="0">
                <a:latin typeface="Calibri" panose="020F0502020204030204"/>
                <a:cs typeface="Calibri" panose="020F0502020204030204"/>
              </a:rPr>
              <a:t> </a:t>
            </a:r>
            <a:r>
              <a:rPr sz="1600" spc="-5" dirty="0">
                <a:latin typeface="Calibri" panose="020F0502020204030204"/>
                <a:cs typeface="Calibri" panose="020F0502020204030204"/>
              </a:rPr>
              <a:t>other</a:t>
            </a:r>
            <a:r>
              <a:rPr sz="1600" spc="-10" dirty="0">
                <a:latin typeface="Calibri" panose="020F0502020204030204"/>
                <a:cs typeface="Calibri" panose="020F0502020204030204"/>
              </a:rPr>
              <a:t> </a:t>
            </a:r>
            <a:r>
              <a:rPr sz="1600" spc="-5" dirty="0">
                <a:latin typeface="Calibri" panose="020F0502020204030204"/>
                <a:cs typeface="Calibri" panose="020F0502020204030204"/>
              </a:rPr>
              <a:t>*/</a:t>
            </a:r>
            <a:endParaRPr sz="1600">
              <a:latin typeface="Calibri" panose="020F0502020204030204"/>
              <a:cs typeface="Calibri" panose="020F0502020204030204"/>
            </a:endParaRPr>
          </a:p>
          <a:p>
            <a:pPr marL="12700">
              <a:lnSpc>
                <a:spcPct val="100000"/>
              </a:lnSpc>
              <a:spcBef>
                <a:spcPts val="930"/>
              </a:spcBef>
            </a:pPr>
            <a:r>
              <a:rPr sz="1600" spc="-5" dirty="0">
                <a:latin typeface="Calibri" panose="020F0502020204030204"/>
                <a:cs typeface="Calibri" panose="020F0502020204030204"/>
              </a:rPr>
              <a:t>/*</a:t>
            </a:r>
            <a:r>
              <a:rPr sz="1600" spc="-15" dirty="0">
                <a:latin typeface="Calibri" panose="020F0502020204030204"/>
                <a:cs typeface="Calibri" panose="020F0502020204030204"/>
              </a:rPr>
              <a:t> </a:t>
            </a:r>
            <a:r>
              <a:rPr sz="1600" dirty="0">
                <a:latin typeface="Calibri" panose="020F0502020204030204"/>
                <a:cs typeface="Calibri" panose="020F0502020204030204"/>
              </a:rPr>
              <a:t>X</a:t>
            </a:r>
            <a:r>
              <a:rPr sz="1600" spc="-10" dirty="0">
                <a:latin typeface="Calibri" panose="020F0502020204030204"/>
                <a:cs typeface="Calibri" panose="020F0502020204030204"/>
              </a:rPr>
              <a:t> </a:t>
            </a:r>
            <a:r>
              <a:rPr sz="1600" spc="-5" dirty="0">
                <a:latin typeface="Calibri" panose="020F0502020204030204"/>
                <a:cs typeface="Calibri" panose="020F0502020204030204"/>
              </a:rPr>
              <a:t>hates</a:t>
            </a:r>
            <a:r>
              <a:rPr sz="1600" spc="-10" dirty="0">
                <a:latin typeface="Calibri" panose="020F0502020204030204"/>
                <a:cs typeface="Calibri" panose="020F0502020204030204"/>
              </a:rPr>
              <a:t> </a:t>
            </a:r>
            <a:r>
              <a:rPr sz="1600" dirty="0">
                <a:latin typeface="Calibri" panose="020F0502020204030204"/>
                <a:cs typeface="Calibri" panose="020F0502020204030204"/>
              </a:rPr>
              <a:t>Y</a:t>
            </a:r>
            <a:r>
              <a:rPr sz="1600" spc="-10" dirty="0">
                <a:latin typeface="Calibri" panose="020F0502020204030204"/>
                <a:cs typeface="Calibri" panose="020F0502020204030204"/>
              </a:rPr>
              <a:t> </a:t>
            </a:r>
            <a:r>
              <a:rPr sz="1600" spc="-5" dirty="0">
                <a:latin typeface="Calibri" panose="020F0502020204030204"/>
                <a:cs typeface="Calibri" panose="020F0502020204030204"/>
              </a:rPr>
              <a:t>if</a:t>
            </a:r>
            <a:r>
              <a:rPr sz="1600" spc="-10" dirty="0">
                <a:latin typeface="Calibri" panose="020F0502020204030204"/>
                <a:cs typeface="Calibri" panose="020F0502020204030204"/>
              </a:rPr>
              <a:t> </a:t>
            </a:r>
            <a:r>
              <a:rPr sz="1600" dirty="0">
                <a:latin typeface="Calibri" panose="020F0502020204030204"/>
                <a:cs typeface="Calibri" panose="020F0502020204030204"/>
              </a:rPr>
              <a:t>X</a:t>
            </a:r>
            <a:r>
              <a:rPr sz="1600" spc="-10" dirty="0">
                <a:latin typeface="Calibri" panose="020F0502020204030204"/>
                <a:cs typeface="Calibri" panose="020F0502020204030204"/>
              </a:rPr>
              <a:t> </a:t>
            </a:r>
            <a:r>
              <a:rPr sz="1600" spc="-5" dirty="0">
                <a:latin typeface="Calibri" panose="020F0502020204030204"/>
                <a:cs typeface="Calibri" panose="020F0502020204030204"/>
              </a:rPr>
              <a:t>does</a:t>
            </a:r>
            <a:r>
              <a:rPr sz="1600" spc="-10" dirty="0">
                <a:latin typeface="Calibri" panose="020F0502020204030204"/>
                <a:cs typeface="Calibri" panose="020F0502020204030204"/>
              </a:rPr>
              <a:t> </a:t>
            </a:r>
            <a:r>
              <a:rPr sz="1600" spc="-5" dirty="0">
                <a:latin typeface="Calibri" panose="020F0502020204030204"/>
                <a:cs typeface="Calibri" panose="020F0502020204030204"/>
              </a:rPr>
              <a:t>not</a:t>
            </a:r>
            <a:r>
              <a:rPr sz="1600" spc="-15" dirty="0">
                <a:latin typeface="Calibri" panose="020F0502020204030204"/>
                <a:cs typeface="Calibri" panose="020F0502020204030204"/>
              </a:rPr>
              <a:t> </a:t>
            </a:r>
            <a:r>
              <a:rPr sz="1600" spc="-5" dirty="0">
                <a:latin typeface="Calibri" panose="020F0502020204030204"/>
                <a:cs typeface="Calibri" panose="020F0502020204030204"/>
              </a:rPr>
              <a:t>like</a:t>
            </a:r>
            <a:r>
              <a:rPr sz="1600" spc="-10" dirty="0">
                <a:latin typeface="Calibri" panose="020F0502020204030204"/>
                <a:cs typeface="Calibri" panose="020F0502020204030204"/>
              </a:rPr>
              <a:t> </a:t>
            </a:r>
            <a:r>
              <a:rPr sz="1600" spc="-5" dirty="0">
                <a:latin typeface="Calibri" panose="020F0502020204030204"/>
                <a:cs typeface="Calibri" panose="020F0502020204030204"/>
              </a:rPr>
              <a:t>Y.</a:t>
            </a:r>
            <a:r>
              <a:rPr sz="1600" spc="-10" dirty="0">
                <a:latin typeface="Calibri" panose="020F0502020204030204"/>
                <a:cs typeface="Calibri" panose="020F0502020204030204"/>
              </a:rPr>
              <a:t> </a:t>
            </a:r>
            <a:r>
              <a:rPr sz="1600" spc="-5" dirty="0">
                <a:latin typeface="Calibri" panose="020F0502020204030204"/>
                <a:cs typeface="Calibri" panose="020F0502020204030204"/>
              </a:rPr>
              <a:t>*/</a:t>
            </a:r>
            <a:endParaRPr sz="1600">
              <a:latin typeface="Calibri" panose="020F0502020204030204"/>
              <a:cs typeface="Calibri" panose="020F0502020204030204"/>
            </a:endParaRPr>
          </a:p>
        </p:txBody>
      </p:sp>
      <p:sp>
        <p:nvSpPr>
          <p:cNvPr id="11" name="object 11"/>
          <p:cNvSpPr txBox="1"/>
          <p:nvPr/>
        </p:nvSpPr>
        <p:spPr>
          <a:xfrm>
            <a:off x="540075" y="4371335"/>
            <a:ext cx="8224520" cy="269240"/>
          </a:xfrm>
          <a:prstGeom prst="rect">
            <a:avLst/>
          </a:prstGeom>
        </p:spPr>
        <p:txBody>
          <a:bodyPr vert="horz" wrap="square" lIns="0" tIns="12700" rIns="0" bIns="0" rtlCol="0">
            <a:spAutoFit/>
          </a:bodyPr>
          <a:lstStyle/>
          <a:p>
            <a:pPr marL="12700">
              <a:lnSpc>
                <a:spcPct val="100000"/>
              </a:lnSpc>
              <a:spcBef>
                <a:spcPts val="100"/>
              </a:spcBef>
            </a:pPr>
            <a:r>
              <a:rPr sz="1600" spc="-5" dirty="0">
                <a:latin typeface="Calibri" panose="020F0502020204030204"/>
                <a:cs typeface="Calibri" panose="020F0502020204030204"/>
              </a:rPr>
              <a:t>enemies(X,Y)</a:t>
            </a:r>
            <a:r>
              <a:rPr sz="1600" spc="-10" dirty="0">
                <a:latin typeface="Calibri" panose="020F0502020204030204"/>
                <a:cs typeface="Calibri" panose="020F0502020204030204"/>
              </a:rPr>
              <a:t> </a:t>
            </a:r>
            <a:r>
              <a:rPr sz="1600" spc="-5" dirty="0">
                <a:latin typeface="Calibri" panose="020F0502020204030204"/>
                <a:cs typeface="Calibri" panose="020F0502020204030204"/>
              </a:rPr>
              <a:t>:-</a:t>
            </a:r>
            <a:r>
              <a:rPr sz="1600" spc="-10" dirty="0">
                <a:latin typeface="Calibri" panose="020F0502020204030204"/>
                <a:cs typeface="Calibri" panose="020F0502020204030204"/>
              </a:rPr>
              <a:t> </a:t>
            </a:r>
            <a:r>
              <a:rPr sz="1600" spc="-5" dirty="0">
                <a:latin typeface="Calibri" panose="020F0502020204030204"/>
                <a:cs typeface="Calibri" panose="020F0502020204030204"/>
              </a:rPr>
              <a:t>not(likes(X,Y)),not(likes(Y,X)).</a:t>
            </a:r>
            <a:r>
              <a:rPr sz="1600" spc="355" dirty="0">
                <a:latin typeface="Calibri" panose="020F0502020204030204"/>
                <a:cs typeface="Calibri" panose="020F0502020204030204"/>
              </a:rPr>
              <a:t> </a:t>
            </a:r>
            <a:r>
              <a:rPr sz="1600" spc="-5" dirty="0">
                <a:latin typeface="Calibri" panose="020F0502020204030204"/>
                <a:cs typeface="Calibri" panose="020F0502020204030204"/>
              </a:rPr>
              <a:t>/*</a:t>
            </a:r>
            <a:r>
              <a:rPr sz="1600" spc="-10" dirty="0">
                <a:latin typeface="Calibri" panose="020F0502020204030204"/>
                <a:cs typeface="Calibri" panose="020F0502020204030204"/>
              </a:rPr>
              <a:t> </a:t>
            </a:r>
            <a:r>
              <a:rPr sz="1600" dirty="0">
                <a:latin typeface="Calibri" panose="020F0502020204030204"/>
                <a:cs typeface="Calibri" panose="020F0502020204030204"/>
              </a:rPr>
              <a:t>X</a:t>
            </a:r>
            <a:r>
              <a:rPr sz="1600" spc="-5" dirty="0">
                <a:latin typeface="Calibri" panose="020F0502020204030204"/>
                <a:cs typeface="Calibri" panose="020F0502020204030204"/>
              </a:rPr>
              <a:t> </a:t>
            </a:r>
            <a:r>
              <a:rPr sz="1600" dirty="0">
                <a:latin typeface="Calibri" panose="020F0502020204030204"/>
                <a:cs typeface="Calibri" panose="020F0502020204030204"/>
              </a:rPr>
              <a:t>and</a:t>
            </a:r>
            <a:r>
              <a:rPr sz="1600" spc="-10" dirty="0">
                <a:latin typeface="Calibri" panose="020F0502020204030204"/>
                <a:cs typeface="Calibri" panose="020F0502020204030204"/>
              </a:rPr>
              <a:t> </a:t>
            </a:r>
            <a:r>
              <a:rPr sz="1600" dirty="0">
                <a:latin typeface="Calibri" panose="020F0502020204030204"/>
                <a:cs typeface="Calibri" panose="020F0502020204030204"/>
              </a:rPr>
              <a:t>Y</a:t>
            </a:r>
            <a:r>
              <a:rPr sz="1600" spc="-5" dirty="0">
                <a:latin typeface="Calibri" panose="020F0502020204030204"/>
                <a:cs typeface="Calibri" panose="020F0502020204030204"/>
              </a:rPr>
              <a:t> </a:t>
            </a:r>
            <a:r>
              <a:rPr sz="1600" dirty="0">
                <a:latin typeface="Calibri" panose="020F0502020204030204"/>
                <a:cs typeface="Calibri" panose="020F0502020204030204"/>
              </a:rPr>
              <a:t>are</a:t>
            </a:r>
            <a:r>
              <a:rPr sz="1600" spc="-10" dirty="0">
                <a:latin typeface="Calibri" panose="020F0502020204030204"/>
                <a:cs typeface="Calibri" panose="020F0502020204030204"/>
              </a:rPr>
              <a:t> </a:t>
            </a:r>
            <a:r>
              <a:rPr sz="1600" spc="-5" dirty="0">
                <a:latin typeface="Calibri" panose="020F0502020204030204"/>
                <a:cs typeface="Calibri" panose="020F0502020204030204"/>
              </a:rPr>
              <a:t>enemies if</a:t>
            </a:r>
            <a:r>
              <a:rPr sz="1600" spc="-10" dirty="0">
                <a:latin typeface="Calibri" panose="020F0502020204030204"/>
                <a:cs typeface="Calibri" panose="020F0502020204030204"/>
              </a:rPr>
              <a:t> </a:t>
            </a:r>
            <a:r>
              <a:rPr sz="1600" spc="-5" dirty="0">
                <a:latin typeface="Calibri" panose="020F0502020204030204"/>
                <a:cs typeface="Calibri" panose="020F0502020204030204"/>
              </a:rPr>
              <a:t>they don't</a:t>
            </a:r>
            <a:r>
              <a:rPr sz="1600" spc="-10" dirty="0">
                <a:latin typeface="Calibri" panose="020F0502020204030204"/>
                <a:cs typeface="Calibri" panose="020F0502020204030204"/>
              </a:rPr>
              <a:t> </a:t>
            </a:r>
            <a:r>
              <a:rPr sz="1600" spc="-5" dirty="0">
                <a:latin typeface="Calibri" panose="020F0502020204030204"/>
                <a:cs typeface="Calibri" panose="020F0502020204030204"/>
              </a:rPr>
              <a:t>like</a:t>
            </a:r>
            <a:r>
              <a:rPr sz="1600" spc="-10" dirty="0">
                <a:latin typeface="Calibri" panose="020F0502020204030204"/>
                <a:cs typeface="Calibri" panose="020F0502020204030204"/>
              </a:rPr>
              <a:t> </a:t>
            </a:r>
            <a:r>
              <a:rPr sz="1600" spc="-5" dirty="0">
                <a:latin typeface="Calibri" panose="020F0502020204030204"/>
                <a:cs typeface="Calibri" panose="020F0502020204030204"/>
              </a:rPr>
              <a:t>each other</a:t>
            </a:r>
            <a:r>
              <a:rPr sz="1600" spc="-10" dirty="0">
                <a:latin typeface="Calibri" panose="020F0502020204030204"/>
                <a:cs typeface="Calibri" panose="020F0502020204030204"/>
              </a:rPr>
              <a:t> </a:t>
            </a:r>
            <a:r>
              <a:rPr sz="1600" spc="-5" dirty="0">
                <a:latin typeface="Calibri" panose="020F0502020204030204"/>
                <a:cs typeface="Calibri" panose="020F0502020204030204"/>
              </a:rPr>
              <a:t>*/</a:t>
            </a:r>
            <a:endParaRPr sz="1600">
              <a:latin typeface="Calibri" panose="020F0502020204030204"/>
              <a:cs typeface="Calibri" panose="020F0502020204030204"/>
            </a:endParaRPr>
          </a:p>
        </p:txBody>
      </p:sp>
      <p:sp>
        <p:nvSpPr>
          <p:cNvPr id="12" name="Slide Number Placeholder 11"/>
          <p:cNvSpPr>
            <a:spLocks noGrp="1"/>
          </p:cNvSpPr>
          <p:nvPr>
            <p:ph type="sldNum" sz="quarter" idx="7"/>
          </p:nvPr>
        </p:nvSpPr>
        <p:spPr/>
        <p:txBody>
          <a:bodyPr/>
          <a:lstStyle/>
          <a:p>
            <a:fld id="{B6F15528-21DE-4FAA-801E-634DDDAF4B2B}" type="slidenum">
              <a:rPr/>
              <a:t>50</a:t>
            </a:fld>
            <a:endParaRPr/>
          </a:p>
        </p:txBody>
      </p:sp>
      <p:sp>
        <p:nvSpPr>
          <p:cNvPr id="13" name="Footer Placeholder 12"/>
          <p:cNvSpPr>
            <a:spLocks noGrp="1"/>
          </p:cNvSpPr>
          <p:nvPr>
            <p:ph type="ftr" sz="quarter" idx="5"/>
          </p:nvPr>
        </p:nvSpPr>
        <p:spPr/>
        <p:txBody>
          <a:bodyPr/>
          <a:lstStyle/>
          <a:p>
            <a:r>
              <a:t>UNIT IV : Pythonic Programming Paradigm</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p:cNvSpPr txBox="1"/>
          <p:nvPr/>
        </p:nvSpPr>
        <p:spPr>
          <a:xfrm>
            <a:off x="3505200" y="2361939"/>
            <a:ext cx="4857750" cy="1168400"/>
          </a:xfrm>
          <a:prstGeom prst="rect">
            <a:avLst/>
          </a:prstGeom>
          <a:noFill/>
        </p:spPr>
        <p:txBody>
          <a:bodyPr wrap="square" rtlCol="0">
            <a:spAutoFit/>
          </a:bodyPr>
          <a:lstStyle/>
          <a:p>
            <a:pPr algn="ctr"/>
            <a:r>
              <a:rPr lang="en-US" sz="3500" b="1" dirty="0">
                <a:solidFill>
                  <a:schemeClr val="tx1"/>
                </a:solidFill>
                <a:latin typeface="Candara" panose="020E0502030303020204" pitchFamily="34" charset="0"/>
              </a:rPr>
              <a:t>Parallel  Programming Paradigm</a:t>
            </a:r>
          </a:p>
        </p:txBody>
      </p:sp>
      <p:sp>
        <p:nvSpPr>
          <p:cNvPr id="5" name="Slide Number Placeholder 4"/>
          <p:cNvSpPr>
            <a:spLocks noGrp="1"/>
          </p:cNvSpPr>
          <p:nvPr>
            <p:ph type="sldNum" sz="quarter" idx="7"/>
          </p:nvPr>
        </p:nvSpPr>
        <p:spPr/>
        <p:txBody>
          <a:bodyPr/>
          <a:lstStyle/>
          <a:p>
            <a:fld id="{B6F15528-21DE-4FAA-801E-634DDDAF4B2B}" type="slidenum">
              <a:rPr/>
              <a:t>51</a:t>
            </a:fld>
            <a:endParaRPr/>
          </a:p>
        </p:txBody>
      </p:sp>
      <p:sp>
        <p:nvSpPr>
          <p:cNvPr id="6" name="Footer Placeholder 5"/>
          <p:cNvSpPr>
            <a:spLocks noGrp="1"/>
          </p:cNvSpPr>
          <p:nvPr>
            <p:ph type="ftr" sz="quarter" idx="5"/>
          </p:nvPr>
        </p:nvSpPr>
        <p:spPr/>
        <p:txBody>
          <a:bodyPr/>
          <a:lstStyle/>
          <a:p>
            <a:r>
              <a:t>UNIT IV : Pythonic Programming Paradigm</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602636"/>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dirty="0"/>
          </a:p>
        </p:txBody>
      </p:sp>
      <p:sp>
        <p:nvSpPr>
          <p:cNvPr id="9" name="object 9"/>
          <p:cNvSpPr txBox="1"/>
          <p:nvPr/>
        </p:nvSpPr>
        <p:spPr>
          <a:xfrm>
            <a:off x="122557" y="71678"/>
            <a:ext cx="4695566"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Introduction</a:t>
            </a:r>
            <a:endParaRPr sz="2565" dirty="0">
              <a:latin typeface="Arial" panose="020B0604020202020204"/>
              <a:cs typeface="Arial" panose="020B0604020202020204"/>
            </a:endParaRPr>
          </a:p>
        </p:txBody>
      </p:sp>
      <p:sp>
        <p:nvSpPr>
          <p:cNvPr id="27" name="object 20"/>
          <p:cNvSpPr/>
          <p:nvPr/>
        </p:nvSpPr>
        <p:spPr>
          <a:xfrm flipV="1">
            <a:off x="0" y="6638365"/>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dirty="0"/>
          </a:p>
        </p:txBody>
      </p:sp>
      <p:grpSp>
        <p:nvGrpSpPr>
          <p:cNvPr id="2" name="Group 27"/>
          <p:cNvGrpSpPr/>
          <p:nvPr/>
        </p:nvGrpSpPr>
        <p:grpSpPr>
          <a:xfrm>
            <a:off x="31953" y="685411"/>
            <a:ext cx="12105504" cy="5885723"/>
            <a:chOff x="152400" y="1228244"/>
            <a:chExt cx="9296400" cy="869562"/>
          </a:xfrm>
        </p:grpSpPr>
        <p:sp>
          <p:nvSpPr>
            <p:cNvPr id="29" name="Rectangle 28"/>
            <p:cNvSpPr/>
            <p:nvPr/>
          </p:nvSpPr>
          <p:spPr>
            <a:xfrm>
              <a:off x="152400" y="1228244"/>
              <a:ext cx="9296400" cy="869562"/>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dirty="0"/>
            </a:p>
          </p:txBody>
        </p:sp>
        <p:sp>
          <p:nvSpPr>
            <p:cNvPr id="30" name="object 12"/>
            <p:cNvSpPr txBox="1"/>
            <p:nvPr/>
          </p:nvSpPr>
          <p:spPr>
            <a:xfrm>
              <a:off x="261541" y="1262536"/>
              <a:ext cx="9071457" cy="358086"/>
            </a:xfrm>
            <a:prstGeom prst="rect">
              <a:avLst/>
            </a:prstGeom>
          </p:spPr>
          <p:txBody>
            <a:bodyPr vert="horz" wrap="square" lIns="0" tIns="0" rIns="0" bIns="0" numCol="1" rtlCol="0">
              <a:spAutoFit/>
            </a:bodyPr>
            <a:lstStyle/>
            <a:p>
              <a:pPr marL="285750" indent="-285750" algn="just" fontAlgn="base">
                <a:lnSpc>
                  <a:spcPct val="150000"/>
                </a:lnSpc>
                <a:buFont typeface="Arial" panose="020B0604020202020204" pitchFamily="34" charset="0"/>
                <a:buChar char="•"/>
              </a:pPr>
              <a:r>
                <a:rPr lang="en-IN" sz="1750" dirty="0"/>
                <a:t>A system is said to be parallel if it can support two or more actions executing simultaneously i.e.,  multiple actions are simultaneously executed in parallel systems.</a:t>
              </a:r>
            </a:p>
            <a:p>
              <a:pPr marL="285750" indent="-285750" algn="just" fontAlgn="base">
                <a:lnSpc>
                  <a:spcPct val="150000"/>
                </a:lnSpc>
                <a:buFont typeface="Arial" panose="020B0604020202020204" pitchFamily="34" charset="0"/>
                <a:buChar char="•"/>
              </a:pPr>
              <a:r>
                <a:rPr lang="en-IN" sz="1750" dirty="0"/>
                <a:t>The evolution of parallel processing, even if slow, gave rise to a considerable variety of programming paradigms.</a:t>
              </a:r>
            </a:p>
            <a:p>
              <a:pPr marL="285750" lvl="1" indent="-285750" algn="just" fontAlgn="base">
                <a:lnSpc>
                  <a:spcPct val="150000"/>
                </a:lnSpc>
                <a:buFont typeface="Arial" panose="020B0604020202020204" pitchFamily="34" charset="0"/>
                <a:buChar char="•"/>
              </a:pPr>
              <a:r>
                <a:rPr lang="en-IN" sz="1750" dirty="0"/>
                <a:t>Parallelism Types:</a:t>
              </a:r>
            </a:p>
            <a:p>
              <a:pPr marL="742950" lvl="2" indent="-285750" algn="just" fontAlgn="base">
                <a:lnSpc>
                  <a:spcPct val="150000"/>
                </a:lnSpc>
                <a:buFont typeface="Arial" panose="020B0604020202020204" pitchFamily="34" charset="0"/>
                <a:buChar char="•"/>
              </a:pPr>
              <a:r>
                <a:rPr lang="en-IN" sz="1750" dirty="0"/>
                <a:t>Explicit Parallelism</a:t>
              </a:r>
            </a:p>
            <a:p>
              <a:pPr marL="742950" lvl="2" indent="-285750" algn="just" fontAlgn="base">
                <a:lnSpc>
                  <a:spcPct val="150000"/>
                </a:lnSpc>
                <a:buFont typeface="Arial" panose="020B0604020202020204" pitchFamily="34" charset="0"/>
                <a:buChar char="•"/>
              </a:pPr>
              <a:r>
                <a:rPr lang="en-IN" sz="1750" dirty="0"/>
                <a:t>Implicit Parallelism</a:t>
              </a:r>
              <a:endParaRPr lang="en-US" sz="1750" dirty="0"/>
            </a:p>
          </p:txBody>
        </p:sp>
      </p:grpSp>
      <p:pic>
        <p:nvPicPr>
          <p:cNvPr id="4" name="Picture 3"/>
          <p:cNvPicPr>
            <a:picLocks noChangeAspect="1"/>
          </p:cNvPicPr>
          <p:nvPr/>
        </p:nvPicPr>
        <p:blipFill>
          <a:blip r:embed="rId3"/>
          <a:stretch>
            <a:fillRect/>
          </a:stretch>
        </p:blipFill>
        <p:spPr>
          <a:xfrm>
            <a:off x="786657" y="4775106"/>
            <a:ext cx="3905250" cy="1514475"/>
          </a:xfrm>
          <a:prstGeom prst="rect">
            <a:avLst/>
          </a:prstGeom>
        </p:spPr>
      </p:pic>
      <p:pic>
        <p:nvPicPr>
          <p:cNvPr id="6" name="Picture 5"/>
          <p:cNvPicPr>
            <a:picLocks noChangeAspect="1"/>
          </p:cNvPicPr>
          <p:nvPr/>
        </p:nvPicPr>
        <p:blipFill>
          <a:blip r:embed="rId4"/>
          <a:stretch>
            <a:fillRect/>
          </a:stretch>
        </p:blipFill>
        <p:spPr>
          <a:xfrm>
            <a:off x="7156355" y="3084418"/>
            <a:ext cx="4333875" cy="3381375"/>
          </a:xfrm>
          <a:prstGeom prst="rect">
            <a:avLst/>
          </a:prstGeom>
        </p:spPr>
      </p:pic>
      <p:sp>
        <p:nvSpPr>
          <p:cNvPr id="7" name="TextBox 6"/>
          <p:cNvSpPr txBox="1"/>
          <p:nvPr/>
        </p:nvSpPr>
        <p:spPr>
          <a:xfrm>
            <a:off x="1210235" y="4061012"/>
            <a:ext cx="3361765" cy="369332"/>
          </a:xfrm>
          <a:prstGeom prst="rect">
            <a:avLst/>
          </a:prstGeom>
          <a:noFill/>
        </p:spPr>
        <p:txBody>
          <a:bodyPr wrap="square" rtlCol="0">
            <a:spAutoFit/>
          </a:bodyPr>
          <a:lstStyle/>
          <a:p>
            <a:r>
              <a:rPr lang="en-IN" b="1" dirty="0"/>
              <a:t>Shared memory Architecture</a:t>
            </a:r>
          </a:p>
        </p:txBody>
      </p:sp>
      <p:sp>
        <p:nvSpPr>
          <p:cNvPr id="12" name="TextBox 11"/>
          <p:cNvSpPr txBox="1"/>
          <p:nvPr/>
        </p:nvSpPr>
        <p:spPr>
          <a:xfrm>
            <a:off x="7749988" y="2489033"/>
            <a:ext cx="3361765" cy="369332"/>
          </a:xfrm>
          <a:prstGeom prst="rect">
            <a:avLst/>
          </a:prstGeom>
          <a:noFill/>
        </p:spPr>
        <p:txBody>
          <a:bodyPr wrap="square" rtlCol="0">
            <a:spAutoFit/>
          </a:bodyPr>
          <a:lstStyle/>
          <a:p>
            <a:r>
              <a:rPr lang="en-IN" b="1" dirty="0"/>
              <a:t>Message Passing Architecture</a:t>
            </a:r>
          </a:p>
        </p:txBody>
      </p:sp>
      <p:sp>
        <p:nvSpPr>
          <p:cNvPr id="5" name="Slide Number Placeholder 4"/>
          <p:cNvSpPr>
            <a:spLocks noGrp="1"/>
          </p:cNvSpPr>
          <p:nvPr>
            <p:ph type="sldNum" sz="quarter" idx="7"/>
          </p:nvPr>
        </p:nvSpPr>
        <p:spPr/>
        <p:txBody>
          <a:bodyPr/>
          <a:lstStyle/>
          <a:p>
            <a:fld id="{B6F15528-21DE-4FAA-801E-634DDDAF4B2B}" type="slidenum">
              <a:rPr/>
              <a:t>52</a:t>
            </a:fld>
            <a:endParaRPr/>
          </a:p>
        </p:txBody>
      </p:sp>
      <p:sp>
        <p:nvSpPr>
          <p:cNvPr id="8" name="Footer Placeholder 7"/>
          <p:cNvSpPr>
            <a:spLocks noGrp="1"/>
          </p:cNvSpPr>
          <p:nvPr>
            <p:ph type="ftr" sz="quarter" idx="5"/>
          </p:nvPr>
        </p:nvSpPr>
        <p:spPr/>
        <p:txBody>
          <a:bodyPr/>
          <a:lstStyle/>
          <a:p>
            <a:r>
              <a:t>UNIT IV : Pythonic Programming Paradigm</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426173"/>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76565" y="59054"/>
            <a:ext cx="7637880" cy="369332"/>
          </a:xfrm>
          <a:prstGeom prst="rect">
            <a:avLst/>
          </a:prstGeom>
        </p:spPr>
        <p:txBody>
          <a:bodyPr vert="horz" wrap="square" lIns="0" tIns="0" rIns="0" bIns="0" rtlCol="0">
            <a:spAutoFit/>
          </a:bodyPr>
          <a:lstStyle/>
          <a:p>
            <a:pPr marL="15875"/>
            <a:r>
              <a:rPr lang="en-US" sz="2400" b="1" spc="13" dirty="0">
                <a:solidFill>
                  <a:srgbClr val="010103"/>
                </a:solidFill>
                <a:latin typeface="Arial" panose="020B0604020202020204"/>
                <a:cs typeface="Arial" panose="020B0604020202020204"/>
              </a:rPr>
              <a:t>Explicit parallelism</a:t>
            </a:r>
            <a:endParaRPr sz="2400" b="1" dirty="0">
              <a:latin typeface="Arial" panose="020B0604020202020204"/>
              <a:cs typeface="Arial" panose="020B0604020202020204"/>
            </a:endParaRPr>
          </a:p>
        </p:txBody>
      </p:sp>
      <p:sp>
        <p:nvSpPr>
          <p:cNvPr id="27" name="object 20"/>
          <p:cNvSpPr/>
          <p:nvPr/>
        </p:nvSpPr>
        <p:spPr>
          <a:xfrm flipV="1">
            <a:off x="0" y="6694032"/>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sp>
        <p:nvSpPr>
          <p:cNvPr id="29" name="Rectangle 28"/>
          <p:cNvSpPr/>
          <p:nvPr/>
        </p:nvSpPr>
        <p:spPr>
          <a:xfrm>
            <a:off x="31953" y="490867"/>
            <a:ext cx="12105504" cy="6118858"/>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7" name="object 12"/>
          <p:cNvSpPr txBox="1"/>
          <p:nvPr/>
        </p:nvSpPr>
        <p:spPr>
          <a:xfrm>
            <a:off x="189705" y="625866"/>
            <a:ext cx="11812590" cy="2785955"/>
          </a:xfrm>
          <a:prstGeom prst="rect">
            <a:avLst/>
          </a:prstGeom>
        </p:spPr>
        <p:txBody>
          <a:bodyPr vert="horz" wrap="square" lIns="0" tIns="0" rIns="0" bIns="0" numCol="1" rtlCol="0">
            <a:spAutoFit/>
          </a:bodyPr>
          <a:lstStyle/>
          <a:p>
            <a:pPr marL="285750" indent="-285750" algn="just" fontAlgn="base">
              <a:lnSpc>
                <a:spcPct val="150000"/>
              </a:lnSpc>
              <a:buFont typeface="Arial" panose="020B0604020202020204" pitchFamily="34" charset="0"/>
              <a:buChar char="•"/>
            </a:pPr>
            <a:r>
              <a:rPr lang="en-IN" sz="1750" dirty="0"/>
              <a:t>Explicit Parallelism  is characterized by the presence of explicit constructs in the programming language, aimed at describing (to a certain degree of detail) the way in which the parallel computation will take place. </a:t>
            </a:r>
          </a:p>
          <a:p>
            <a:pPr marL="285750" indent="-285750" algn="just" fontAlgn="base">
              <a:lnSpc>
                <a:spcPct val="150000"/>
              </a:lnSpc>
              <a:buFont typeface="Arial" panose="020B0604020202020204" pitchFamily="34" charset="0"/>
              <a:buChar char="•"/>
            </a:pPr>
            <a:r>
              <a:rPr lang="en-IN" sz="1750" dirty="0"/>
              <a:t>A wide range of solutions exists within this framework. One extreme is represented by the ``ancient'' use of basic, low level mechanisms to deal with parallelism--like fork/join primitives, semaphores, </a:t>
            </a:r>
            <a:r>
              <a:rPr lang="en-IN" sz="1750" dirty="0" err="1"/>
              <a:t>etc</a:t>
            </a:r>
            <a:r>
              <a:rPr lang="en-IN" sz="1750" dirty="0"/>
              <a:t>--eventually added to existing programming languages. Although this allows the highest degree of flexibility (any form of parallel control can be implemented in terms of the basic low level primitives gif), it leaves the additional layer of complexity completely on the shoulders of the programmer, making his task extremely complicate.</a:t>
            </a:r>
          </a:p>
        </p:txBody>
      </p:sp>
      <p:sp>
        <p:nvSpPr>
          <p:cNvPr id="2" name="Slide Number Placeholder 1"/>
          <p:cNvSpPr>
            <a:spLocks noGrp="1"/>
          </p:cNvSpPr>
          <p:nvPr>
            <p:ph type="sldNum" sz="quarter" idx="7"/>
          </p:nvPr>
        </p:nvSpPr>
        <p:spPr/>
        <p:txBody>
          <a:bodyPr/>
          <a:lstStyle/>
          <a:p>
            <a:fld id="{B6F15528-21DE-4FAA-801E-634DDDAF4B2B}" type="slidenum">
              <a:rPr/>
              <a:t>53</a:t>
            </a:fld>
            <a:endParaRPr/>
          </a:p>
        </p:txBody>
      </p:sp>
      <p:sp>
        <p:nvSpPr>
          <p:cNvPr id="4" name="Footer Placeholder 3"/>
          <p:cNvSpPr>
            <a:spLocks noGrp="1"/>
          </p:cNvSpPr>
          <p:nvPr>
            <p:ph type="ftr" sz="quarter" idx="5"/>
          </p:nvPr>
        </p:nvSpPr>
        <p:spPr/>
        <p:txBody>
          <a:bodyPr/>
          <a:lstStyle/>
          <a:p>
            <a:r>
              <a:t>UNIT IV : Pythonic Programming Paradigm</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426173"/>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76564" y="59054"/>
            <a:ext cx="8274059" cy="369332"/>
          </a:xfrm>
          <a:prstGeom prst="rect">
            <a:avLst/>
          </a:prstGeom>
        </p:spPr>
        <p:txBody>
          <a:bodyPr vert="horz" wrap="square" lIns="0" tIns="0" rIns="0" bIns="0" rtlCol="0">
            <a:spAutoFit/>
          </a:bodyPr>
          <a:lstStyle/>
          <a:p>
            <a:pPr marL="15875"/>
            <a:r>
              <a:rPr lang="en-US" sz="2400" b="1" spc="13" dirty="0">
                <a:solidFill>
                  <a:srgbClr val="010103"/>
                </a:solidFill>
                <a:latin typeface="Arial" panose="020B0604020202020204"/>
                <a:cs typeface="Arial" panose="020B0604020202020204"/>
              </a:rPr>
              <a:t>Implicit Parallelism</a:t>
            </a:r>
            <a:endParaRPr sz="2400" b="1" dirty="0">
              <a:latin typeface="Arial" panose="020B0604020202020204"/>
              <a:cs typeface="Arial" panose="020B0604020202020204"/>
            </a:endParaRPr>
          </a:p>
        </p:txBody>
      </p:sp>
      <p:sp>
        <p:nvSpPr>
          <p:cNvPr id="27" name="object 20"/>
          <p:cNvSpPr/>
          <p:nvPr/>
        </p:nvSpPr>
        <p:spPr>
          <a:xfrm flipV="1">
            <a:off x="0" y="6694032"/>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sp>
        <p:nvSpPr>
          <p:cNvPr id="29" name="Rectangle 28"/>
          <p:cNvSpPr/>
          <p:nvPr/>
        </p:nvSpPr>
        <p:spPr>
          <a:xfrm>
            <a:off x="31953" y="490867"/>
            <a:ext cx="12105504" cy="6118858"/>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8" name="object 12"/>
          <p:cNvSpPr txBox="1"/>
          <p:nvPr/>
        </p:nvSpPr>
        <p:spPr>
          <a:xfrm>
            <a:off x="189705" y="625866"/>
            <a:ext cx="11812590" cy="5251438"/>
          </a:xfrm>
          <a:prstGeom prst="rect">
            <a:avLst/>
          </a:prstGeom>
        </p:spPr>
        <p:txBody>
          <a:bodyPr vert="horz" wrap="square" lIns="0" tIns="0" rIns="0" bIns="0" numCol="1" rtlCol="0">
            <a:spAutoFit/>
          </a:bodyPr>
          <a:lstStyle/>
          <a:p>
            <a:pPr marL="285750" indent="-285750" algn="just" fontAlgn="base">
              <a:lnSpc>
                <a:spcPct val="150000"/>
              </a:lnSpc>
              <a:buFont typeface="Arial" panose="020B0604020202020204" pitchFamily="34" charset="0"/>
              <a:buChar char="•"/>
            </a:pPr>
            <a:r>
              <a:rPr lang="en-IN" sz="1750" dirty="0"/>
              <a:t>Allows programmers to write their programs without any concern about the exploitation of parallelism. Exploitation of parallelism is instead automatically performed by the compiler and/or the runtime system. In this way the parallelism is transparent to the programmer maintaining the complexity of software development at the same level of standard sequential programming.</a:t>
            </a:r>
          </a:p>
          <a:p>
            <a:pPr marL="285750" indent="-285750" algn="just" fontAlgn="base">
              <a:lnSpc>
                <a:spcPct val="150000"/>
              </a:lnSpc>
              <a:buFont typeface="Arial" panose="020B0604020202020204" pitchFamily="34" charset="0"/>
              <a:buChar char="•"/>
            </a:pPr>
            <a:r>
              <a:rPr lang="en-IN" sz="1750" dirty="0"/>
              <a:t>Extracting parallelism implicitly is not an easy task. For imperative programming languages, the complexity of the problem is almost prohibitively and allows positive results only for restricted sets of applications (e.g., applications which perform intensive operations on arrays.</a:t>
            </a:r>
          </a:p>
          <a:p>
            <a:pPr marL="285750" indent="-285750" algn="just" fontAlgn="base">
              <a:lnSpc>
                <a:spcPct val="150000"/>
              </a:lnSpc>
              <a:buFont typeface="Arial" panose="020B0604020202020204" pitchFamily="34" charset="0"/>
              <a:buChar char="•"/>
            </a:pPr>
            <a:r>
              <a:rPr lang="en-IN" sz="1750" dirty="0"/>
              <a:t>Declarative Programming languages, and in particular Functional and Logic languages, are characterized by a very high level of abstraction, allowing the programmer to focus on what the problem is and leaving implicit many details of how the problem should be solved. </a:t>
            </a:r>
          </a:p>
          <a:p>
            <a:pPr marL="285750" indent="-285750" algn="just" fontAlgn="base">
              <a:lnSpc>
                <a:spcPct val="150000"/>
              </a:lnSpc>
              <a:buFont typeface="Arial" panose="020B0604020202020204" pitchFamily="34" charset="0"/>
              <a:buChar char="•"/>
            </a:pPr>
            <a:r>
              <a:rPr lang="en-IN" sz="1750" dirty="0"/>
              <a:t>Declarative languages have opened new doors to automatic exploitation of parallelism. Their focusing on a high level description of the problem and their mathematical nature turned into positive properties for implicit exploitation of parallelism.</a:t>
            </a:r>
          </a:p>
        </p:txBody>
      </p:sp>
      <p:sp>
        <p:nvSpPr>
          <p:cNvPr id="2" name="Slide Number Placeholder 1"/>
          <p:cNvSpPr>
            <a:spLocks noGrp="1"/>
          </p:cNvSpPr>
          <p:nvPr>
            <p:ph type="sldNum" sz="quarter" idx="7"/>
          </p:nvPr>
        </p:nvSpPr>
        <p:spPr/>
        <p:txBody>
          <a:bodyPr/>
          <a:lstStyle/>
          <a:p>
            <a:fld id="{B6F15528-21DE-4FAA-801E-634DDDAF4B2B}" type="slidenum">
              <a:rPr/>
              <a:t>54</a:t>
            </a:fld>
            <a:endParaRPr/>
          </a:p>
        </p:txBody>
      </p:sp>
      <p:sp>
        <p:nvSpPr>
          <p:cNvPr id="4" name="Footer Placeholder 3"/>
          <p:cNvSpPr>
            <a:spLocks noGrp="1"/>
          </p:cNvSpPr>
          <p:nvPr>
            <p:ph type="ftr" sz="quarter" idx="5"/>
          </p:nvPr>
        </p:nvSpPr>
        <p:spPr/>
        <p:txBody>
          <a:bodyPr/>
          <a:lstStyle/>
          <a:p>
            <a:r>
              <a:t>UNIT IV : Pythonic Programming Paradigm</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426173"/>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76565" y="59054"/>
            <a:ext cx="7637880" cy="369332"/>
          </a:xfrm>
          <a:prstGeom prst="rect">
            <a:avLst/>
          </a:prstGeom>
        </p:spPr>
        <p:txBody>
          <a:bodyPr vert="horz" wrap="square" lIns="0" tIns="0" rIns="0" bIns="0" rtlCol="0">
            <a:spAutoFit/>
          </a:bodyPr>
          <a:lstStyle/>
          <a:p>
            <a:pPr marL="15875"/>
            <a:r>
              <a:rPr lang="en-US" sz="2400" b="1" spc="13" dirty="0">
                <a:solidFill>
                  <a:srgbClr val="010103"/>
                </a:solidFill>
                <a:latin typeface="Arial" panose="020B0604020202020204"/>
                <a:cs typeface="Arial" panose="020B0604020202020204"/>
              </a:rPr>
              <a:t>Methods for parallelism</a:t>
            </a:r>
            <a:endParaRPr sz="2400" b="1" dirty="0">
              <a:latin typeface="Arial" panose="020B0604020202020204"/>
              <a:cs typeface="Arial" panose="020B0604020202020204"/>
            </a:endParaRPr>
          </a:p>
        </p:txBody>
      </p:sp>
      <p:sp>
        <p:nvSpPr>
          <p:cNvPr id="27" name="object 20"/>
          <p:cNvSpPr/>
          <p:nvPr/>
        </p:nvSpPr>
        <p:spPr>
          <a:xfrm flipV="1">
            <a:off x="0" y="6694032"/>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sp>
        <p:nvSpPr>
          <p:cNvPr id="29" name="Rectangle 28"/>
          <p:cNvSpPr/>
          <p:nvPr/>
        </p:nvSpPr>
        <p:spPr>
          <a:xfrm>
            <a:off x="31953" y="490867"/>
            <a:ext cx="12105504" cy="6118858"/>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7" name="object 12"/>
          <p:cNvSpPr txBox="1"/>
          <p:nvPr/>
        </p:nvSpPr>
        <p:spPr>
          <a:xfrm>
            <a:off x="189705" y="625866"/>
            <a:ext cx="11697495" cy="3635611"/>
          </a:xfrm>
          <a:prstGeom prst="rect">
            <a:avLst/>
          </a:prstGeom>
        </p:spPr>
        <p:txBody>
          <a:bodyPr vert="horz" wrap="square" lIns="0" tIns="0" rIns="0" bIns="0" numCol="1" rtlCol="0">
            <a:spAutoFit/>
          </a:bodyPr>
          <a:lstStyle/>
          <a:p>
            <a:pPr algn="just" fontAlgn="base">
              <a:lnSpc>
                <a:spcPct val="150000"/>
              </a:lnSpc>
            </a:pPr>
            <a:r>
              <a:rPr lang="en-IN" sz="1750" dirty="0"/>
              <a:t>There are many methods of programming parallel computers. Two of the most common are message passing and data parallel. </a:t>
            </a:r>
          </a:p>
          <a:p>
            <a:pPr marL="342900" indent="-342900" algn="just" fontAlgn="base">
              <a:lnSpc>
                <a:spcPct val="150000"/>
              </a:lnSpc>
              <a:buFont typeface="+mj-lt"/>
              <a:buAutoNum type="arabicPeriod"/>
            </a:pPr>
            <a:r>
              <a:rPr lang="en-IN" sz="1750" dirty="0"/>
              <a:t>Message Passing - the user makes calls to libraries to explicitly share information between processors. </a:t>
            </a:r>
          </a:p>
          <a:p>
            <a:pPr marL="342900" indent="-342900" algn="just" fontAlgn="base">
              <a:lnSpc>
                <a:spcPct val="150000"/>
              </a:lnSpc>
              <a:buFont typeface="+mj-lt"/>
              <a:buAutoNum type="arabicPeriod"/>
            </a:pPr>
            <a:r>
              <a:rPr lang="en-IN" sz="1750" dirty="0"/>
              <a:t>Data Parallel - data partitioning determines parallelism </a:t>
            </a:r>
          </a:p>
          <a:p>
            <a:pPr marL="342900" indent="-342900" algn="just" fontAlgn="base">
              <a:lnSpc>
                <a:spcPct val="150000"/>
              </a:lnSpc>
              <a:buFont typeface="+mj-lt"/>
              <a:buAutoNum type="arabicPeriod"/>
            </a:pPr>
            <a:r>
              <a:rPr lang="en-IN" sz="1750" dirty="0"/>
              <a:t>Shared Memory - multiple processes sharing common memory space </a:t>
            </a:r>
          </a:p>
          <a:p>
            <a:pPr marL="342900" indent="-342900" algn="just" fontAlgn="base">
              <a:lnSpc>
                <a:spcPct val="150000"/>
              </a:lnSpc>
              <a:buFont typeface="+mj-lt"/>
              <a:buAutoNum type="arabicPeriod"/>
            </a:pPr>
            <a:r>
              <a:rPr lang="en-IN" sz="1750" dirty="0"/>
              <a:t>Remote Memory Operation - set of processes in which a process can access the memory of another process without its participation </a:t>
            </a:r>
          </a:p>
          <a:p>
            <a:pPr marL="342900" indent="-342900" algn="just" fontAlgn="base">
              <a:lnSpc>
                <a:spcPct val="150000"/>
              </a:lnSpc>
              <a:buFont typeface="+mj-lt"/>
              <a:buAutoNum type="arabicPeriod"/>
            </a:pPr>
            <a:r>
              <a:rPr lang="en-IN" sz="1750" dirty="0"/>
              <a:t>Threads - a single process having multiple (concurrent) execution paths </a:t>
            </a:r>
          </a:p>
          <a:p>
            <a:pPr marL="342900" indent="-342900" algn="just" fontAlgn="base">
              <a:lnSpc>
                <a:spcPct val="150000"/>
              </a:lnSpc>
              <a:buFont typeface="+mj-lt"/>
              <a:buAutoNum type="arabicPeriod"/>
            </a:pPr>
            <a:r>
              <a:rPr lang="en-IN" sz="1750" dirty="0"/>
              <a:t>Combined Models - composed of two or more of the above. </a:t>
            </a:r>
          </a:p>
          <a:p>
            <a:pPr algn="just" fontAlgn="base">
              <a:lnSpc>
                <a:spcPct val="150000"/>
              </a:lnSpc>
            </a:pPr>
            <a:endParaRPr lang="en-IN" sz="1750" b="1" dirty="0"/>
          </a:p>
        </p:txBody>
      </p:sp>
      <p:sp>
        <p:nvSpPr>
          <p:cNvPr id="2" name="Slide Number Placeholder 1"/>
          <p:cNvSpPr>
            <a:spLocks noGrp="1"/>
          </p:cNvSpPr>
          <p:nvPr>
            <p:ph type="sldNum" sz="quarter" idx="7"/>
          </p:nvPr>
        </p:nvSpPr>
        <p:spPr/>
        <p:txBody>
          <a:bodyPr/>
          <a:lstStyle/>
          <a:p>
            <a:fld id="{B6F15528-21DE-4FAA-801E-634DDDAF4B2B}" type="slidenum">
              <a:rPr/>
              <a:t>55</a:t>
            </a:fld>
            <a:endParaRPr/>
          </a:p>
        </p:txBody>
      </p:sp>
      <p:sp>
        <p:nvSpPr>
          <p:cNvPr id="4" name="Footer Placeholder 3"/>
          <p:cNvSpPr>
            <a:spLocks noGrp="1"/>
          </p:cNvSpPr>
          <p:nvPr>
            <p:ph type="ftr" sz="quarter" idx="5"/>
          </p:nvPr>
        </p:nvSpPr>
        <p:spPr/>
        <p:txBody>
          <a:bodyPr/>
          <a:lstStyle/>
          <a:p>
            <a:r>
              <a:t>UNIT IV : Pythonic Programming Paradigm</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426173"/>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76565" y="59054"/>
            <a:ext cx="7637880" cy="369332"/>
          </a:xfrm>
          <a:prstGeom prst="rect">
            <a:avLst/>
          </a:prstGeom>
        </p:spPr>
        <p:txBody>
          <a:bodyPr vert="horz" wrap="square" lIns="0" tIns="0" rIns="0" bIns="0" rtlCol="0">
            <a:spAutoFit/>
          </a:bodyPr>
          <a:lstStyle/>
          <a:p>
            <a:pPr marL="15875"/>
            <a:r>
              <a:rPr lang="en-US" sz="2400" b="1" spc="13" dirty="0">
                <a:solidFill>
                  <a:srgbClr val="010103"/>
                </a:solidFill>
                <a:latin typeface="Arial" panose="020B0604020202020204"/>
                <a:cs typeface="Arial" panose="020B0604020202020204"/>
              </a:rPr>
              <a:t>Methods for parallelism</a:t>
            </a:r>
            <a:endParaRPr sz="2400" b="1" dirty="0">
              <a:latin typeface="Arial" panose="020B0604020202020204"/>
              <a:cs typeface="Arial" panose="020B0604020202020204"/>
            </a:endParaRPr>
          </a:p>
        </p:txBody>
      </p:sp>
      <p:sp>
        <p:nvSpPr>
          <p:cNvPr id="27" name="object 20"/>
          <p:cNvSpPr/>
          <p:nvPr/>
        </p:nvSpPr>
        <p:spPr>
          <a:xfrm flipV="1">
            <a:off x="0" y="6694032"/>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sp>
        <p:nvSpPr>
          <p:cNvPr id="29" name="Rectangle 28"/>
          <p:cNvSpPr/>
          <p:nvPr/>
        </p:nvSpPr>
        <p:spPr>
          <a:xfrm>
            <a:off x="31953" y="490867"/>
            <a:ext cx="12105504" cy="6118858"/>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7" name="object 12"/>
          <p:cNvSpPr txBox="1"/>
          <p:nvPr/>
        </p:nvSpPr>
        <p:spPr>
          <a:xfrm>
            <a:off x="76565" y="545184"/>
            <a:ext cx="12060892" cy="6059351"/>
          </a:xfrm>
          <a:prstGeom prst="rect">
            <a:avLst/>
          </a:prstGeom>
        </p:spPr>
        <p:txBody>
          <a:bodyPr vert="horz" wrap="square" lIns="0" tIns="0" rIns="0" bIns="0" numCol="1" rtlCol="0">
            <a:spAutoFit/>
          </a:bodyPr>
          <a:lstStyle/>
          <a:p>
            <a:pPr algn="just" fontAlgn="base">
              <a:lnSpc>
                <a:spcPct val="150000"/>
              </a:lnSpc>
            </a:pPr>
            <a:r>
              <a:rPr lang="en-IN" sz="1750" b="1" dirty="0"/>
              <a:t>Message Passing: </a:t>
            </a:r>
          </a:p>
          <a:p>
            <a:pPr marL="742950" lvl="1" indent="-285750" algn="just" fontAlgn="base">
              <a:lnSpc>
                <a:spcPct val="150000"/>
              </a:lnSpc>
              <a:buFont typeface="Arial" panose="020B0604020202020204" pitchFamily="34" charset="0"/>
              <a:buChar char="•"/>
            </a:pPr>
            <a:r>
              <a:rPr lang="en-IN" sz="1750" dirty="0"/>
              <a:t>Each Processor has direct access only to its local memory</a:t>
            </a:r>
          </a:p>
          <a:p>
            <a:pPr marL="742950" lvl="1" indent="-285750" algn="just" fontAlgn="base">
              <a:lnSpc>
                <a:spcPct val="150000"/>
              </a:lnSpc>
              <a:buFont typeface="Arial" panose="020B0604020202020204" pitchFamily="34" charset="0"/>
              <a:buChar char="•"/>
            </a:pPr>
            <a:r>
              <a:rPr lang="en-IN" sz="1750" dirty="0"/>
              <a:t>Processors are connected via high-speed interconnect</a:t>
            </a:r>
          </a:p>
          <a:p>
            <a:pPr marL="742950" lvl="1" indent="-285750" algn="just" fontAlgn="base">
              <a:lnSpc>
                <a:spcPct val="150000"/>
              </a:lnSpc>
              <a:buFont typeface="Arial" panose="020B0604020202020204" pitchFamily="34" charset="0"/>
              <a:buChar char="•"/>
            </a:pPr>
            <a:r>
              <a:rPr lang="en-IN" sz="1750" dirty="0"/>
              <a:t>Data exchange is done via explicit processor-to-processor communication </a:t>
            </a:r>
            <a:r>
              <a:rPr lang="en-IN" sz="1750" dirty="0" err="1"/>
              <a:t>i.e</a:t>
            </a:r>
            <a:r>
              <a:rPr lang="en-IN" sz="1750" dirty="0"/>
              <a:t> processes communicate by sending and receiving messages  : send/receive messages</a:t>
            </a:r>
          </a:p>
          <a:p>
            <a:pPr marL="800100" lvl="1" indent="-342900" algn="just" fontAlgn="base">
              <a:lnSpc>
                <a:spcPct val="150000"/>
              </a:lnSpc>
              <a:buFont typeface="Arial" panose="020B0604020202020204" pitchFamily="34" charset="0"/>
              <a:buChar char="•"/>
            </a:pPr>
            <a:r>
              <a:rPr lang="en-IN" sz="1750" dirty="0"/>
              <a:t>Data transfer requires cooperative operations to be performed by each process (a send operation must have matching receive)</a:t>
            </a:r>
          </a:p>
          <a:p>
            <a:pPr algn="just" fontAlgn="base">
              <a:lnSpc>
                <a:spcPct val="150000"/>
              </a:lnSpc>
            </a:pPr>
            <a:r>
              <a:rPr lang="en-IN" sz="1750" b="1" dirty="0"/>
              <a:t>Data Parallel: </a:t>
            </a:r>
          </a:p>
          <a:p>
            <a:pPr marL="800100" lvl="1" indent="-342900" algn="just" fontAlgn="base">
              <a:lnSpc>
                <a:spcPct val="150000"/>
              </a:lnSpc>
              <a:buFont typeface="Arial" panose="020B0604020202020204" pitchFamily="34" charset="0"/>
              <a:buChar char="•"/>
            </a:pPr>
            <a:r>
              <a:rPr lang="en-IN" sz="1750" dirty="0"/>
              <a:t>Each process works on a different part of the same data structure </a:t>
            </a:r>
          </a:p>
          <a:p>
            <a:pPr marL="800100" lvl="1" indent="-342900" algn="just" fontAlgn="base">
              <a:lnSpc>
                <a:spcPct val="150000"/>
              </a:lnSpc>
              <a:buFont typeface="Arial" panose="020B0604020202020204" pitchFamily="34" charset="0"/>
              <a:buChar char="•"/>
            </a:pPr>
            <a:r>
              <a:rPr lang="en-IN" sz="1750" dirty="0"/>
              <a:t>Processors have direct access to global memory and I/O  through bus or fast switching network</a:t>
            </a:r>
          </a:p>
          <a:p>
            <a:pPr marL="800100" lvl="1" indent="-342900" algn="just" fontAlgn="base">
              <a:lnSpc>
                <a:spcPct val="150000"/>
              </a:lnSpc>
              <a:buFont typeface="Arial" panose="020B0604020202020204" pitchFamily="34" charset="0"/>
              <a:buChar char="•"/>
            </a:pPr>
            <a:r>
              <a:rPr lang="en-IN" sz="1750" dirty="0"/>
              <a:t>Each processor also has its own memory (cache)</a:t>
            </a:r>
          </a:p>
          <a:p>
            <a:pPr marL="800100" lvl="1" indent="-342900" algn="just" fontAlgn="base">
              <a:lnSpc>
                <a:spcPct val="150000"/>
              </a:lnSpc>
              <a:buFont typeface="Arial" panose="020B0604020202020204" pitchFamily="34" charset="0"/>
              <a:buChar char="•"/>
            </a:pPr>
            <a:r>
              <a:rPr lang="en-IN" sz="1750" dirty="0"/>
              <a:t>Data structures are shared in global address space</a:t>
            </a:r>
          </a:p>
          <a:p>
            <a:pPr marL="800100" lvl="1" indent="-342900" algn="just" fontAlgn="base">
              <a:lnSpc>
                <a:spcPct val="150000"/>
              </a:lnSpc>
              <a:buFont typeface="Arial" panose="020B0604020202020204" pitchFamily="34" charset="0"/>
              <a:buChar char="•"/>
            </a:pPr>
            <a:r>
              <a:rPr lang="en-IN" sz="1750" dirty="0"/>
              <a:t>Concurrent access to shared memory must be coordinate</a:t>
            </a:r>
          </a:p>
          <a:p>
            <a:pPr marL="800100" lvl="1" indent="-342900" algn="just" fontAlgn="base">
              <a:lnSpc>
                <a:spcPct val="150000"/>
              </a:lnSpc>
              <a:buFont typeface="Arial" panose="020B0604020202020204" pitchFamily="34" charset="0"/>
              <a:buChar char="•"/>
            </a:pPr>
            <a:r>
              <a:rPr lang="en-IN" sz="1750" dirty="0"/>
              <a:t>All message passing is done invisibly to the programmer </a:t>
            </a:r>
          </a:p>
          <a:p>
            <a:pPr algn="just" fontAlgn="base">
              <a:lnSpc>
                <a:spcPct val="150000"/>
              </a:lnSpc>
            </a:pPr>
            <a:endParaRPr lang="en-IN" sz="1750" b="1" dirty="0"/>
          </a:p>
        </p:txBody>
      </p:sp>
      <p:sp>
        <p:nvSpPr>
          <p:cNvPr id="2" name="Slide Number Placeholder 1"/>
          <p:cNvSpPr>
            <a:spLocks noGrp="1"/>
          </p:cNvSpPr>
          <p:nvPr>
            <p:ph type="sldNum" sz="quarter" idx="7"/>
          </p:nvPr>
        </p:nvSpPr>
        <p:spPr/>
        <p:txBody>
          <a:bodyPr/>
          <a:lstStyle/>
          <a:p>
            <a:fld id="{B6F15528-21DE-4FAA-801E-634DDDAF4B2B}" type="slidenum">
              <a:rPr/>
              <a:t>56</a:t>
            </a:fld>
            <a:endParaRPr/>
          </a:p>
        </p:txBody>
      </p:sp>
      <p:sp>
        <p:nvSpPr>
          <p:cNvPr id="4" name="Footer Placeholder 3"/>
          <p:cNvSpPr>
            <a:spLocks noGrp="1"/>
          </p:cNvSpPr>
          <p:nvPr>
            <p:ph type="ftr" sz="quarter" idx="5"/>
          </p:nvPr>
        </p:nvSpPr>
        <p:spPr/>
        <p:txBody>
          <a:bodyPr/>
          <a:lstStyle/>
          <a:p>
            <a:r>
              <a:t>UNIT IV : Pythonic Programming Paradigm</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426173"/>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76565" y="59054"/>
            <a:ext cx="7637880" cy="369332"/>
          </a:xfrm>
          <a:prstGeom prst="rect">
            <a:avLst/>
          </a:prstGeom>
        </p:spPr>
        <p:txBody>
          <a:bodyPr vert="horz" wrap="square" lIns="0" tIns="0" rIns="0" bIns="0" rtlCol="0">
            <a:spAutoFit/>
          </a:bodyPr>
          <a:lstStyle/>
          <a:p>
            <a:pPr marL="15875"/>
            <a:r>
              <a:rPr lang="en-US" sz="2400" b="1" spc="13" dirty="0">
                <a:solidFill>
                  <a:srgbClr val="010103"/>
                </a:solidFill>
                <a:latin typeface="Arial" panose="020B0604020202020204"/>
                <a:cs typeface="Arial" panose="020B0604020202020204"/>
              </a:rPr>
              <a:t>Steps in Parallelism</a:t>
            </a:r>
            <a:endParaRPr sz="2400" b="1" dirty="0">
              <a:latin typeface="Arial" panose="020B0604020202020204"/>
              <a:cs typeface="Arial" panose="020B0604020202020204"/>
            </a:endParaRPr>
          </a:p>
        </p:txBody>
      </p:sp>
      <p:sp>
        <p:nvSpPr>
          <p:cNvPr id="27" name="object 20"/>
          <p:cNvSpPr/>
          <p:nvPr/>
        </p:nvSpPr>
        <p:spPr>
          <a:xfrm flipV="1">
            <a:off x="0" y="6694032"/>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sp>
        <p:nvSpPr>
          <p:cNvPr id="29" name="Rectangle 28"/>
          <p:cNvSpPr/>
          <p:nvPr/>
        </p:nvSpPr>
        <p:spPr>
          <a:xfrm>
            <a:off x="31953" y="490867"/>
            <a:ext cx="12105504" cy="6118858"/>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7" name="object 12"/>
          <p:cNvSpPr txBox="1"/>
          <p:nvPr/>
        </p:nvSpPr>
        <p:spPr>
          <a:xfrm>
            <a:off x="189705" y="625866"/>
            <a:ext cx="11751283" cy="2423740"/>
          </a:xfrm>
          <a:prstGeom prst="rect">
            <a:avLst/>
          </a:prstGeom>
        </p:spPr>
        <p:txBody>
          <a:bodyPr vert="horz" wrap="square" lIns="0" tIns="0" rIns="0" bIns="0" numCol="1" rtlCol="0">
            <a:spAutoFit/>
          </a:bodyPr>
          <a:lstStyle/>
          <a:p>
            <a:pPr marL="285750" indent="-285750" algn="just" fontAlgn="base">
              <a:lnSpc>
                <a:spcPct val="150000"/>
              </a:lnSpc>
              <a:buFont typeface="Arial" panose="020B0604020202020204" pitchFamily="34" charset="0"/>
              <a:buChar char="•"/>
            </a:pPr>
            <a:r>
              <a:rPr lang="en-IN" sz="1750" dirty="0"/>
              <a:t>Independently from the specific paradigm considered, in order to execute a program which exploits parallelism, the programming language must supply the means to:</a:t>
            </a:r>
          </a:p>
          <a:p>
            <a:pPr marL="742950" lvl="1" indent="-285750" algn="just" fontAlgn="base">
              <a:lnSpc>
                <a:spcPct val="150000"/>
              </a:lnSpc>
              <a:buFont typeface="Arial" panose="020B0604020202020204" pitchFamily="34" charset="0"/>
              <a:buChar char="•"/>
            </a:pPr>
            <a:r>
              <a:rPr lang="en-IN" sz="1750" dirty="0"/>
              <a:t>Identify parallelism, by recognizing the components of the program execution that will be (potentially) performed by different processors;</a:t>
            </a:r>
          </a:p>
          <a:p>
            <a:pPr marL="742950" lvl="1" indent="-285750" algn="just" fontAlgn="base">
              <a:lnSpc>
                <a:spcPct val="150000"/>
              </a:lnSpc>
              <a:buFont typeface="Arial" panose="020B0604020202020204" pitchFamily="34" charset="0"/>
              <a:buChar char="•"/>
            </a:pPr>
            <a:r>
              <a:rPr lang="en-IN" sz="1750" dirty="0"/>
              <a:t>Start and stop parallel executions;</a:t>
            </a:r>
          </a:p>
          <a:p>
            <a:pPr marL="742950" lvl="1" indent="-285750" algn="just" fontAlgn="base">
              <a:lnSpc>
                <a:spcPct val="150000"/>
              </a:lnSpc>
              <a:buFont typeface="Arial" panose="020B0604020202020204" pitchFamily="34" charset="0"/>
              <a:buChar char="•"/>
            </a:pPr>
            <a:r>
              <a:rPr lang="en-IN" sz="1750" dirty="0"/>
              <a:t>Coordinate the parallel executions (e.g., specify and implement interactions between concurrent components).</a:t>
            </a:r>
          </a:p>
        </p:txBody>
      </p:sp>
      <p:sp>
        <p:nvSpPr>
          <p:cNvPr id="2" name="Slide Number Placeholder 1"/>
          <p:cNvSpPr>
            <a:spLocks noGrp="1"/>
          </p:cNvSpPr>
          <p:nvPr>
            <p:ph type="sldNum" sz="quarter" idx="7"/>
          </p:nvPr>
        </p:nvSpPr>
        <p:spPr/>
        <p:txBody>
          <a:bodyPr/>
          <a:lstStyle/>
          <a:p>
            <a:fld id="{B6F15528-21DE-4FAA-801E-634DDDAF4B2B}" type="slidenum">
              <a:rPr/>
              <a:t>57</a:t>
            </a:fld>
            <a:endParaRPr/>
          </a:p>
        </p:txBody>
      </p:sp>
      <p:sp>
        <p:nvSpPr>
          <p:cNvPr id="4" name="Footer Placeholder 3"/>
          <p:cNvSpPr>
            <a:spLocks noGrp="1"/>
          </p:cNvSpPr>
          <p:nvPr>
            <p:ph type="ftr" sz="quarter" idx="5"/>
          </p:nvPr>
        </p:nvSpPr>
        <p:spPr/>
        <p:txBody>
          <a:bodyPr/>
          <a:lstStyle/>
          <a:p>
            <a:r>
              <a:t>UNIT IV : Pythonic Programming Paradigm</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426173"/>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76565" y="59054"/>
            <a:ext cx="7637880" cy="369332"/>
          </a:xfrm>
          <a:prstGeom prst="rect">
            <a:avLst/>
          </a:prstGeom>
        </p:spPr>
        <p:txBody>
          <a:bodyPr vert="horz" wrap="square" lIns="0" tIns="0" rIns="0" bIns="0" rtlCol="0">
            <a:spAutoFit/>
          </a:bodyPr>
          <a:lstStyle/>
          <a:p>
            <a:pPr marL="15875"/>
            <a:r>
              <a:rPr lang="en-US" sz="2400" b="1" spc="13" dirty="0">
                <a:solidFill>
                  <a:srgbClr val="010103"/>
                </a:solidFill>
                <a:latin typeface="Arial" panose="020B0604020202020204"/>
                <a:cs typeface="Arial" panose="020B0604020202020204"/>
              </a:rPr>
              <a:t>Ways for Parallelism</a:t>
            </a:r>
            <a:endParaRPr sz="2400" b="1" dirty="0">
              <a:latin typeface="Arial" panose="020B0604020202020204"/>
              <a:cs typeface="Arial" panose="020B0604020202020204"/>
            </a:endParaRPr>
          </a:p>
        </p:txBody>
      </p:sp>
      <p:sp>
        <p:nvSpPr>
          <p:cNvPr id="27" name="object 20"/>
          <p:cNvSpPr/>
          <p:nvPr/>
        </p:nvSpPr>
        <p:spPr>
          <a:xfrm flipV="1">
            <a:off x="0" y="6694032"/>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sp>
        <p:nvSpPr>
          <p:cNvPr id="29" name="Rectangle 28"/>
          <p:cNvSpPr/>
          <p:nvPr/>
        </p:nvSpPr>
        <p:spPr>
          <a:xfrm>
            <a:off x="31953" y="490867"/>
            <a:ext cx="12105504" cy="6118858"/>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7" name="object 12"/>
          <p:cNvSpPr txBox="1"/>
          <p:nvPr/>
        </p:nvSpPr>
        <p:spPr>
          <a:xfrm>
            <a:off x="95576" y="504843"/>
            <a:ext cx="11991159" cy="3635611"/>
          </a:xfrm>
          <a:prstGeom prst="rect">
            <a:avLst/>
          </a:prstGeom>
        </p:spPr>
        <p:txBody>
          <a:bodyPr vert="horz" wrap="square" lIns="0" tIns="0" rIns="0" bIns="0" numCol="1" rtlCol="0">
            <a:spAutoFit/>
          </a:bodyPr>
          <a:lstStyle/>
          <a:p>
            <a:pPr algn="just" fontAlgn="base">
              <a:lnSpc>
                <a:spcPct val="150000"/>
              </a:lnSpc>
            </a:pPr>
            <a:r>
              <a:rPr lang="en-IN" sz="1750" b="1" dirty="0"/>
              <a:t>Functional Decomposition (Functional Parallelism) </a:t>
            </a:r>
          </a:p>
          <a:p>
            <a:pPr marL="742950" lvl="1" indent="-285750" algn="just" fontAlgn="base">
              <a:lnSpc>
                <a:spcPct val="150000"/>
              </a:lnSpc>
              <a:buFont typeface="Arial" panose="020B0604020202020204" pitchFamily="34" charset="0"/>
              <a:buChar char="•"/>
            </a:pPr>
            <a:r>
              <a:rPr lang="en-IN" sz="1750" dirty="0"/>
              <a:t>Decomposing the problem into different tasks which can be distributed to multiple processors for simultaneous execution </a:t>
            </a:r>
          </a:p>
          <a:p>
            <a:pPr marL="742950" lvl="1" indent="-285750" algn="just" fontAlgn="base">
              <a:lnSpc>
                <a:spcPct val="150000"/>
              </a:lnSpc>
              <a:buFont typeface="Arial" panose="020B0604020202020204" pitchFamily="34" charset="0"/>
              <a:buChar char="•"/>
            </a:pPr>
            <a:r>
              <a:rPr lang="en-IN" sz="1750" dirty="0"/>
              <a:t>Good to use when there is not static structure or fixed determination of number of calculations to be performed</a:t>
            </a:r>
          </a:p>
          <a:p>
            <a:pPr algn="just" fontAlgn="base">
              <a:lnSpc>
                <a:spcPct val="150000"/>
              </a:lnSpc>
            </a:pPr>
            <a:r>
              <a:rPr lang="en-IN" sz="1750" b="1" dirty="0"/>
              <a:t>Domain Decomposition (Data Parallelism) </a:t>
            </a:r>
          </a:p>
          <a:p>
            <a:pPr marL="742950" lvl="1" indent="-285750" algn="just" fontAlgn="base">
              <a:lnSpc>
                <a:spcPct val="150000"/>
              </a:lnSpc>
              <a:buFont typeface="Arial" panose="020B0604020202020204" pitchFamily="34" charset="0"/>
              <a:buChar char="•"/>
            </a:pPr>
            <a:r>
              <a:rPr lang="en-IN" sz="1750" dirty="0"/>
              <a:t>Partitioning the problem's data domain and distributing portions to multiple processors for simultaneous execution </a:t>
            </a:r>
          </a:p>
          <a:p>
            <a:pPr marL="742950" lvl="1" indent="-285750" algn="just" fontAlgn="base">
              <a:lnSpc>
                <a:spcPct val="150000"/>
              </a:lnSpc>
              <a:buFont typeface="Arial" panose="020B0604020202020204" pitchFamily="34" charset="0"/>
              <a:buChar char="•"/>
            </a:pPr>
            <a:r>
              <a:rPr lang="en-IN" sz="1750" dirty="0"/>
              <a:t>Good to use for problems where: </a:t>
            </a:r>
          </a:p>
          <a:p>
            <a:pPr marL="742950" lvl="1" indent="-285750" algn="just" fontAlgn="base">
              <a:lnSpc>
                <a:spcPct val="150000"/>
              </a:lnSpc>
              <a:buFont typeface="Arial" panose="020B0604020202020204" pitchFamily="34" charset="0"/>
              <a:buChar char="•"/>
            </a:pPr>
            <a:r>
              <a:rPr lang="en-IN" sz="1750" dirty="0"/>
              <a:t>data is static (factoring and solving large matrix or finite difference calculations) </a:t>
            </a:r>
          </a:p>
          <a:p>
            <a:pPr marL="742950" lvl="1" indent="-285750" algn="just" fontAlgn="base">
              <a:lnSpc>
                <a:spcPct val="150000"/>
              </a:lnSpc>
              <a:buFont typeface="Arial" panose="020B0604020202020204" pitchFamily="34" charset="0"/>
              <a:buChar char="•"/>
            </a:pPr>
            <a:r>
              <a:rPr lang="en-IN" sz="1750" dirty="0"/>
              <a:t>dynamic data structure tied to single entity where entity can be subsetted (large multi-body problems) </a:t>
            </a:r>
          </a:p>
          <a:p>
            <a:pPr marL="742950" lvl="1" indent="-285750" algn="just" fontAlgn="base">
              <a:lnSpc>
                <a:spcPct val="150000"/>
              </a:lnSpc>
              <a:buFont typeface="Arial" panose="020B0604020202020204" pitchFamily="34" charset="0"/>
              <a:buChar char="•"/>
            </a:pPr>
            <a:r>
              <a:rPr lang="en-IN" sz="1750" dirty="0"/>
              <a:t>domain is fixed but computation within various regions of the domain is dynamic (fluid vortices models) </a:t>
            </a:r>
          </a:p>
        </p:txBody>
      </p:sp>
      <p:pic>
        <p:nvPicPr>
          <p:cNvPr id="2" name="Picture 1"/>
          <p:cNvPicPr>
            <a:picLocks noChangeAspect="1"/>
          </p:cNvPicPr>
          <p:nvPr/>
        </p:nvPicPr>
        <p:blipFill>
          <a:blip r:embed="rId3"/>
          <a:stretch>
            <a:fillRect/>
          </a:stretch>
        </p:blipFill>
        <p:spPr>
          <a:xfrm>
            <a:off x="673703" y="4111305"/>
            <a:ext cx="3893597" cy="2582727"/>
          </a:xfrm>
          <a:prstGeom prst="rect">
            <a:avLst/>
          </a:prstGeom>
        </p:spPr>
      </p:pic>
      <p:pic>
        <p:nvPicPr>
          <p:cNvPr id="4" name="Picture 3"/>
          <p:cNvPicPr>
            <a:picLocks noChangeAspect="1"/>
          </p:cNvPicPr>
          <p:nvPr/>
        </p:nvPicPr>
        <p:blipFill>
          <a:blip r:embed="rId4"/>
          <a:stretch>
            <a:fillRect/>
          </a:stretch>
        </p:blipFill>
        <p:spPr>
          <a:xfrm>
            <a:off x="7048780" y="4111305"/>
            <a:ext cx="4136641" cy="2327581"/>
          </a:xfrm>
          <a:prstGeom prst="rect">
            <a:avLst/>
          </a:prstGeom>
        </p:spPr>
      </p:pic>
      <p:sp>
        <p:nvSpPr>
          <p:cNvPr id="5" name="Slide Number Placeholder 4"/>
          <p:cNvSpPr>
            <a:spLocks noGrp="1"/>
          </p:cNvSpPr>
          <p:nvPr>
            <p:ph type="sldNum" sz="quarter" idx="7"/>
          </p:nvPr>
        </p:nvSpPr>
        <p:spPr/>
        <p:txBody>
          <a:bodyPr/>
          <a:lstStyle/>
          <a:p>
            <a:fld id="{B6F15528-21DE-4FAA-801E-634DDDAF4B2B}" type="slidenum">
              <a:rPr/>
              <a:t>58</a:t>
            </a:fld>
            <a:endParaRPr/>
          </a:p>
        </p:txBody>
      </p:sp>
      <p:sp>
        <p:nvSpPr>
          <p:cNvPr id="6" name="Footer Placeholder 5"/>
          <p:cNvSpPr>
            <a:spLocks noGrp="1"/>
          </p:cNvSpPr>
          <p:nvPr>
            <p:ph type="ftr" sz="quarter" idx="5"/>
          </p:nvPr>
        </p:nvSpPr>
        <p:spPr/>
        <p:txBody>
          <a:bodyPr/>
          <a:lstStyle/>
          <a:p>
            <a:r>
              <a:t>UNIT IV : Pythonic Programming Paradigm</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410175"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Parallel Programming Paradigm</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64"/>
            <a:ext cx="12105504" cy="5979175"/>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457385"/>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r>
                <a:rPr lang="en-IN" sz="1750" dirty="0"/>
                <a:t>Phase parallel</a:t>
              </a:r>
            </a:p>
            <a:p>
              <a:pPr marL="357505" indent="-357505" algn="just" fontAlgn="base">
                <a:lnSpc>
                  <a:spcPct val="150000"/>
                </a:lnSpc>
                <a:buFont typeface="Arial" panose="020B0604020202020204" pitchFamily="34" charset="0"/>
                <a:buChar char="•"/>
              </a:pPr>
              <a:r>
                <a:rPr lang="en-IN" sz="1750" dirty="0"/>
                <a:t>Divide and conquer</a:t>
              </a:r>
            </a:p>
            <a:p>
              <a:pPr marL="357505" indent="-357505" algn="just" fontAlgn="base">
                <a:lnSpc>
                  <a:spcPct val="150000"/>
                </a:lnSpc>
                <a:buFont typeface="Arial" panose="020B0604020202020204" pitchFamily="34" charset="0"/>
                <a:buChar char="•"/>
              </a:pPr>
              <a:r>
                <a:rPr lang="en-IN" sz="1750" dirty="0"/>
                <a:t>Pipeline</a:t>
              </a:r>
            </a:p>
            <a:p>
              <a:pPr marL="357505" indent="-357505" algn="just" fontAlgn="base">
                <a:lnSpc>
                  <a:spcPct val="150000"/>
                </a:lnSpc>
                <a:buFont typeface="Arial" panose="020B0604020202020204" pitchFamily="34" charset="0"/>
                <a:buChar char="•"/>
              </a:pPr>
              <a:r>
                <a:rPr lang="en-IN" sz="1750" dirty="0"/>
                <a:t>Process farm</a:t>
              </a:r>
            </a:p>
            <a:p>
              <a:pPr marL="357505" indent="-357505" algn="just" fontAlgn="base">
                <a:lnSpc>
                  <a:spcPct val="150000"/>
                </a:lnSpc>
                <a:buFont typeface="Arial" panose="020B0604020202020204" pitchFamily="34" charset="0"/>
                <a:buChar char="•"/>
              </a:pPr>
              <a:r>
                <a:rPr lang="en-IN" sz="1750" dirty="0"/>
                <a:t>Work pool</a:t>
              </a:r>
            </a:p>
            <a:p>
              <a:pPr algn="just" fontAlgn="base">
                <a:lnSpc>
                  <a:spcPct val="150000"/>
                </a:lnSpc>
              </a:pPr>
              <a:r>
                <a:rPr lang="en-IN" sz="1750" b="1" dirty="0"/>
                <a:t>Note:</a:t>
              </a:r>
            </a:p>
            <a:p>
              <a:pPr marL="357505" indent="-357505" algn="just" fontAlgn="base">
                <a:lnSpc>
                  <a:spcPct val="150000"/>
                </a:lnSpc>
                <a:buFont typeface="Arial" panose="020B0604020202020204" pitchFamily="34" charset="0"/>
                <a:buChar char="•"/>
              </a:pPr>
              <a:r>
                <a:rPr lang="en-IN" sz="1750" dirty="0"/>
                <a:t>The parallel program consists of number of super steps, and each super step has two phases : computation phase and interaction phase </a:t>
              </a:r>
              <a:endParaRPr lang="en-US" sz="1750" dirty="0"/>
            </a:p>
          </p:txBody>
        </p:sp>
      </p:grpSp>
      <p:sp>
        <p:nvSpPr>
          <p:cNvPr id="4" name="Slide Number Placeholder 3"/>
          <p:cNvSpPr>
            <a:spLocks noGrp="1"/>
          </p:cNvSpPr>
          <p:nvPr>
            <p:ph type="sldNum" sz="quarter" idx="7"/>
          </p:nvPr>
        </p:nvSpPr>
        <p:spPr/>
        <p:txBody>
          <a:bodyPr/>
          <a:lstStyle/>
          <a:p>
            <a:fld id="{B6F15528-21DE-4FAA-801E-634DDDAF4B2B}" type="slidenum">
              <a:rPr/>
              <a:t>59</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510" y="507676"/>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39281" y="103044"/>
            <a:ext cx="4695566"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Phase Parallel Model</a:t>
            </a:r>
            <a:endParaRPr sz="2565" dirty="0">
              <a:latin typeface="Arial" panose="020B0604020202020204"/>
              <a:cs typeface="Arial" panose="020B0604020202020204"/>
            </a:endParaRPr>
          </a:p>
        </p:txBody>
      </p:sp>
      <p:sp>
        <p:nvSpPr>
          <p:cNvPr id="27" name="object 20"/>
          <p:cNvSpPr/>
          <p:nvPr/>
        </p:nvSpPr>
        <p:spPr>
          <a:xfrm flipV="1">
            <a:off x="0" y="673548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sp>
        <p:nvSpPr>
          <p:cNvPr id="30" name="object 12"/>
          <p:cNvSpPr txBox="1"/>
          <p:nvPr/>
        </p:nvSpPr>
        <p:spPr>
          <a:xfrm>
            <a:off x="174073" y="760876"/>
            <a:ext cx="11812590" cy="403957"/>
          </a:xfrm>
          <a:prstGeom prst="rect">
            <a:avLst/>
          </a:prstGeom>
        </p:spPr>
        <p:txBody>
          <a:bodyPr vert="horz" wrap="square" lIns="0" tIns="0" rIns="0" bIns="0" numCol="1" rtlCol="0">
            <a:spAutoFit/>
          </a:bodyPr>
          <a:lstStyle/>
          <a:p>
            <a:pPr fontAlgn="base">
              <a:lnSpc>
                <a:spcPct val="150000"/>
              </a:lnSpc>
            </a:pPr>
            <a:endParaRPr lang="en-US" sz="1750" dirty="0"/>
          </a:p>
        </p:txBody>
      </p:sp>
      <p:grpSp>
        <p:nvGrpSpPr>
          <p:cNvPr id="10" name="Group 27"/>
          <p:cNvGrpSpPr/>
          <p:nvPr/>
        </p:nvGrpSpPr>
        <p:grpSpPr>
          <a:xfrm>
            <a:off x="31953" y="558228"/>
            <a:ext cx="12105504" cy="6158960"/>
            <a:chOff x="152400" y="1253946"/>
            <a:chExt cx="9296400" cy="823265"/>
          </a:xfrm>
        </p:grpSpPr>
        <p:sp>
          <p:nvSpPr>
            <p:cNvPr id="11" name="Rectangle 10"/>
            <p:cNvSpPr/>
            <p:nvPr/>
          </p:nvSpPr>
          <p:spPr>
            <a:xfrm>
              <a:off x="152400" y="1253946"/>
              <a:ext cx="9296400" cy="823265"/>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12" name="object 12"/>
            <p:cNvSpPr txBox="1"/>
            <p:nvPr/>
          </p:nvSpPr>
          <p:spPr>
            <a:xfrm>
              <a:off x="201008" y="1264318"/>
              <a:ext cx="4842337" cy="539967"/>
            </a:xfrm>
            <a:prstGeom prst="rect">
              <a:avLst/>
            </a:prstGeom>
          </p:spPr>
          <p:txBody>
            <a:bodyPr vert="horz" wrap="square" lIns="0" tIns="0" rIns="0" bIns="0" numCol="1" rtlCol="0">
              <a:spAutoFit/>
            </a:bodyPr>
            <a:lstStyle/>
            <a:p>
              <a:pPr marL="285750" indent="-285750" algn="just" fontAlgn="base">
                <a:lnSpc>
                  <a:spcPct val="150000"/>
                </a:lnSpc>
                <a:buFont typeface="Arial" panose="020B0604020202020204" pitchFamily="34" charset="0"/>
                <a:buChar char="•"/>
              </a:pPr>
              <a:r>
                <a:rPr lang="en-IN" sz="1750" dirty="0"/>
                <a:t>The phase-parallel model offers a paradigm that is widely used in parallel programming.</a:t>
              </a:r>
            </a:p>
            <a:p>
              <a:pPr marL="285750" indent="-285750" algn="just" fontAlgn="base">
                <a:lnSpc>
                  <a:spcPct val="150000"/>
                </a:lnSpc>
                <a:buFont typeface="Arial" panose="020B0604020202020204" pitchFamily="34" charset="0"/>
                <a:buChar char="•"/>
              </a:pPr>
              <a:r>
                <a:rPr lang="en-IN" sz="1750" dirty="0"/>
                <a:t>The parallel program consists of a number of </a:t>
              </a:r>
              <a:r>
                <a:rPr lang="en-IN" sz="1750" dirty="0" err="1"/>
                <a:t>supersteps</a:t>
              </a:r>
              <a:r>
                <a:rPr lang="en-IN" sz="1750" dirty="0"/>
                <a:t>, and each has two phases.</a:t>
              </a:r>
            </a:p>
            <a:p>
              <a:pPr marL="742950" lvl="1" indent="-285750" algn="just" fontAlgn="base">
                <a:lnSpc>
                  <a:spcPct val="150000"/>
                </a:lnSpc>
                <a:buFont typeface="Arial" panose="020B0604020202020204" pitchFamily="34" charset="0"/>
                <a:buChar char="•"/>
              </a:pPr>
              <a:r>
                <a:rPr lang="en-IN" sz="1750" dirty="0"/>
                <a:t>In a computation phase, multiple processes each perform an independent computation C.</a:t>
              </a:r>
            </a:p>
            <a:p>
              <a:pPr marL="742950" lvl="1" indent="-285750" algn="just" fontAlgn="base">
                <a:lnSpc>
                  <a:spcPct val="150000"/>
                </a:lnSpc>
                <a:buFont typeface="Arial" panose="020B0604020202020204" pitchFamily="34" charset="0"/>
                <a:buChar char="•"/>
              </a:pPr>
              <a:r>
                <a:rPr lang="en-IN" sz="1750" dirty="0"/>
                <a:t>In the subsequent interaction phase, the processes perform one or more synchronous interaction operations, such as a barrier or a blocking communication.</a:t>
              </a:r>
            </a:p>
            <a:p>
              <a:pPr marL="742950" lvl="1" indent="-285750" algn="just" fontAlgn="base">
                <a:lnSpc>
                  <a:spcPct val="150000"/>
                </a:lnSpc>
                <a:buFont typeface="Arial" panose="020B0604020202020204" pitchFamily="34" charset="0"/>
                <a:buChar char="•"/>
              </a:pPr>
              <a:r>
                <a:rPr lang="en-IN" sz="1750" dirty="0"/>
                <a:t>Then next superstep is executed.</a:t>
              </a:r>
            </a:p>
          </p:txBody>
        </p:sp>
      </p:grpSp>
      <p:pic>
        <p:nvPicPr>
          <p:cNvPr id="4" name="Picture 3"/>
          <p:cNvPicPr>
            <a:picLocks noChangeAspect="1"/>
          </p:cNvPicPr>
          <p:nvPr/>
        </p:nvPicPr>
        <p:blipFill>
          <a:blip r:embed="rId3"/>
          <a:stretch>
            <a:fillRect/>
          </a:stretch>
        </p:blipFill>
        <p:spPr>
          <a:xfrm>
            <a:off x="7145054" y="760876"/>
            <a:ext cx="4248150" cy="3524250"/>
          </a:xfrm>
          <a:prstGeom prst="rect">
            <a:avLst/>
          </a:prstGeom>
        </p:spPr>
      </p:pic>
      <p:sp>
        <p:nvSpPr>
          <p:cNvPr id="2" name="Slide Number Placeholder 1"/>
          <p:cNvSpPr>
            <a:spLocks noGrp="1"/>
          </p:cNvSpPr>
          <p:nvPr>
            <p:ph type="sldNum" sz="quarter" idx="7"/>
          </p:nvPr>
        </p:nvSpPr>
        <p:spPr/>
        <p:txBody>
          <a:bodyPr/>
          <a:lstStyle/>
          <a:p>
            <a:fld id="{B6F15528-21DE-4FAA-801E-634DDDAF4B2B}" type="slidenum">
              <a:rPr/>
              <a:t>60</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510" y="507676"/>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39280" y="76150"/>
            <a:ext cx="7249025"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Divide and Conquer  &amp; Pipeline model</a:t>
            </a:r>
            <a:endParaRPr sz="2565" dirty="0">
              <a:latin typeface="Arial" panose="020B0604020202020204"/>
              <a:cs typeface="Arial" panose="020B0604020202020204"/>
            </a:endParaRPr>
          </a:p>
        </p:txBody>
      </p:sp>
      <p:sp>
        <p:nvSpPr>
          <p:cNvPr id="27" name="object 20"/>
          <p:cNvSpPr/>
          <p:nvPr/>
        </p:nvSpPr>
        <p:spPr>
          <a:xfrm flipV="1">
            <a:off x="0" y="673548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sp>
        <p:nvSpPr>
          <p:cNvPr id="30" name="object 12"/>
          <p:cNvSpPr txBox="1"/>
          <p:nvPr/>
        </p:nvSpPr>
        <p:spPr>
          <a:xfrm>
            <a:off x="174073" y="760876"/>
            <a:ext cx="11812590" cy="403957"/>
          </a:xfrm>
          <a:prstGeom prst="rect">
            <a:avLst/>
          </a:prstGeom>
        </p:spPr>
        <p:txBody>
          <a:bodyPr vert="horz" wrap="square" lIns="0" tIns="0" rIns="0" bIns="0" numCol="1" rtlCol="0">
            <a:spAutoFit/>
          </a:bodyPr>
          <a:lstStyle/>
          <a:p>
            <a:pPr fontAlgn="base">
              <a:lnSpc>
                <a:spcPct val="150000"/>
              </a:lnSpc>
            </a:pPr>
            <a:endParaRPr lang="en-US" sz="1750" dirty="0"/>
          </a:p>
        </p:txBody>
      </p:sp>
      <p:grpSp>
        <p:nvGrpSpPr>
          <p:cNvPr id="10" name="Group 27"/>
          <p:cNvGrpSpPr/>
          <p:nvPr/>
        </p:nvGrpSpPr>
        <p:grpSpPr>
          <a:xfrm>
            <a:off x="31953" y="558228"/>
            <a:ext cx="12105504" cy="6158960"/>
            <a:chOff x="152400" y="1253946"/>
            <a:chExt cx="9296400" cy="823265"/>
          </a:xfrm>
        </p:grpSpPr>
        <p:sp>
          <p:nvSpPr>
            <p:cNvPr id="11" name="Rectangle 10"/>
            <p:cNvSpPr/>
            <p:nvPr/>
          </p:nvSpPr>
          <p:spPr>
            <a:xfrm>
              <a:off x="152400" y="1253946"/>
              <a:ext cx="9296400" cy="823265"/>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12" name="object 12"/>
            <p:cNvSpPr txBox="1"/>
            <p:nvPr/>
          </p:nvSpPr>
          <p:spPr>
            <a:xfrm>
              <a:off x="201008" y="1264318"/>
              <a:ext cx="4842337" cy="755954"/>
            </a:xfrm>
            <a:prstGeom prst="rect">
              <a:avLst/>
            </a:prstGeom>
          </p:spPr>
          <p:txBody>
            <a:bodyPr vert="horz" wrap="square" lIns="0" tIns="0" rIns="0" bIns="0" numCol="1" rtlCol="0">
              <a:spAutoFit/>
            </a:bodyPr>
            <a:lstStyle/>
            <a:p>
              <a:pPr marL="285750" indent="-285750" algn="just" fontAlgn="base">
                <a:lnSpc>
                  <a:spcPct val="150000"/>
                </a:lnSpc>
                <a:buFont typeface="Arial" panose="020B0604020202020204" pitchFamily="34" charset="0"/>
                <a:buChar char="•"/>
              </a:pPr>
              <a:r>
                <a:rPr lang="en-IN" sz="1750" dirty="0"/>
                <a:t>A parent process divides its workload into several smaller pieces and assigns them to a number of child processes.</a:t>
              </a:r>
            </a:p>
            <a:p>
              <a:pPr marL="285750" indent="-285750" algn="just" fontAlgn="base">
                <a:lnSpc>
                  <a:spcPct val="150000"/>
                </a:lnSpc>
                <a:buFont typeface="Arial" panose="020B0604020202020204" pitchFamily="34" charset="0"/>
                <a:buChar char="•"/>
              </a:pPr>
              <a:r>
                <a:rPr lang="en-IN" sz="1750" dirty="0"/>
                <a:t>The child processes then compute their workload in parallel and the results are merged by the parent.</a:t>
              </a:r>
            </a:p>
            <a:p>
              <a:pPr marL="285750" indent="-285750" algn="just" fontAlgn="base">
                <a:lnSpc>
                  <a:spcPct val="150000"/>
                </a:lnSpc>
                <a:buFont typeface="Arial" panose="020B0604020202020204" pitchFamily="34" charset="0"/>
                <a:buChar char="•"/>
              </a:pPr>
              <a:r>
                <a:rPr lang="en-IN" sz="1750" dirty="0"/>
                <a:t>The dividing and the merging procedures are done recursively.</a:t>
              </a:r>
            </a:p>
            <a:p>
              <a:pPr marL="285750" indent="-285750" algn="just" fontAlgn="base">
                <a:lnSpc>
                  <a:spcPct val="150000"/>
                </a:lnSpc>
                <a:buFont typeface="Arial" panose="020B0604020202020204" pitchFamily="34" charset="0"/>
                <a:buChar char="•"/>
              </a:pPr>
              <a:r>
                <a:rPr lang="en-IN" sz="1750" dirty="0"/>
                <a:t>This paradigm is very natural for computations such as quick sort.</a:t>
              </a:r>
            </a:p>
            <a:p>
              <a:pPr marL="285750" indent="-285750" algn="just" fontAlgn="base">
                <a:lnSpc>
                  <a:spcPct val="150000"/>
                </a:lnSpc>
                <a:buFont typeface="Arial" panose="020B0604020202020204" pitchFamily="34" charset="0"/>
                <a:buChar char="•"/>
              </a:pPr>
              <a:endParaRPr lang="en-IN" sz="1750" dirty="0"/>
            </a:p>
            <a:p>
              <a:pPr algn="just" fontAlgn="base">
                <a:lnSpc>
                  <a:spcPct val="150000"/>
                </a:lnSpc>
              </a:pPr>
              <a:r>
                <a:rPr lang="en-IN" sz="1750" b="1" dirty="0"/>
                <a:t>Pipeline</a:t>
              </a:r>
            </a:p>
            <a:p>
              <a:pPr marL="285750" indent="-285750" algn="just" fontAlgn="base">
                <a:lnSpc>
                  <a:spcPct val="150000"/>
                </a:lnSpc>
                <a:buFont typeface="Arial" panose="020B0604020202020204" pitchFamily="34" charset="0"/>
                <a:buChar char="•"/>
              </a:pPr>
              <a:r>
                <a:rPr lang="en-IN" sz="1750" dirty="0"/>
                <a:t>In pipeline paradigm, a number of processes form a virtual pipeline.</a:t>
              </a:r>
            </a:p>
            <a:p>
              <a:pPr marL="285750" indent="-285750" algn="just" fontAlgn="base">
                <a:lnSpc>
                  <a:spcPct val="150000"/>
                </a:lnSpc>
                <a:buFont typeface="Arial" panose="020B0604020202020204" pitchFamily="34" charset="0"/>
                <a:buChar char="•"/>
              </a:pPr>
              <a:r>
                <a:rPr lang="en-IN" sz="1750" dirty="0"/>
                <a:t>A continuous data stream is fed into the pipeline, and the processes execute at different pipeline stages simultaneously in an overlapped fashion.</a:t>
              </a:r>
            </a:p>
            <a:p>
              <a:pPr marL="285750" indent="-285750" algn="just" fontAlgn="base">
                <a:lnSpc>
                  <a:spcPct val="150000"/>
                </a:lnSpc>
                <a:buFont typeface="Arial" panose="020B0604020202020204" pitchFamily="34" charset="0"/>
                <a:buChar char="•"/>
              </a:pPr>
              <a:endParaRPr lang="en-IN" sz="1750" dirty="0"/>
            </a:p>
          </p:txBody>
        </p:sp>
      </p:grpSp>
      <p:pic>
        <p:nvPicPr>
          <p:cNvPr id="2" name="Picture 1"/>
          <p:cNvPicPr>
            <a:picLocks noChangeAspect="1"/>
          </p:cNvPicPr>
          <p:nvPr/>
        </p:nvPicPr>
        <p:blipFill>
          <a:blip r:embed="rId3"/>
          <a:stretch>
            <a:fillRect/>
          </a:stretch>
        </p:blipFill>
        <p:spPr>
          <a:xfrm>
            <a:off x="8313364" y="558228"/>
            <a:ext cx="3304894" cy="2742359"/>
          </a:xfrm>
          <a:prstGeom prst="rect">
            <a:avLst/>
          </a:prstGeom>
        </p:spPr>
      </p:pic>
      <p:pic>
        <p:nvPicPr>
          <p:cNvPr id="5" name="Picture 4"/>
          <p:cNvPicPr>
            <a:picLocks noChangeAspect="1"/>
          </p:cNvPicPr>
          <p:nvPr/>
        </p:nvPicPr>
        <p:blipFill>
          <a:blip r:embed="rId4"/>
          <a:stretch>
            <a:fillRect/>
          </a:stretch>
        </p:blipFill>
        <p:spPr>
          <a:xfrm rot="16200000">
            <a:off x="8355569" y="3023169"/>
            <a:ext cx="1752600" cy="3438525"/>
          </a:xfrm>
          <a:prstGeom prst="rect">
            <a:avLst/>
          </a:prstGeom>
        </p:spPr>
      </p:pic>
      <p:sp>
        <p:nvSpPr>
          <p:cNvPr id="4" name="Slide Number Placeholder 3"/>
          <p:cNvSpPr>
            <a:spLocks noGrp="1"/>
          </p:cNvSpPr>
          <p:nvPr>
            <p:ph type="sldNum" sz="quarter" idx="7"/>
          </p:nvPr>
        </p:nvSpPr>
        <p:spPr/>
        <p:txBody>
          <a:bodyPr/>
          <a:lstStyle/>
          <a:p>
            <a:fld id="{B6F15528-21DE-4FAA-801E-634DDDAF4B2B}" type="slidenum">
              <a:rPr/>
              <a:t>61</a:t>
            </a:fld>
            <a:endParaRPr/>
          </a:p>
        </p:txBody>
      </p:sp>
      <p:sp>
        <p:nvSpPr>
          <p:cNvPr id="6" name="Footer Placeholder 5"/>
          <p:cNvSpPr>
            <a:spLocks noGrp="1"/>
          </p:cNvSpPr>
          <p:nvPr>
            <p:ph type="ftr" sz="quarter" idx="5"/>
          </p:nvPr>
        </p:nvSpPr>
        <p:spPr/>
        <p:txBody>
          <a:bodyPr/>
          <a:lstStyle/>
          <a:p>
            <a:r>
              <a:t>UNIT IV : Pythonic Programming Paradigm</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510" y="507676"/>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39280" y="103044"/>
            <a:ext cx="5729507"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Process Farm  &amp; Work Pool Model</a:t>
            </a:r>
            <a:endParaRPr sz="2565" dirty="0">
              <a:latin typeface="Arial" panose="020B0604020202020204"/>
              <a:cs typeface="Arial" panose="020B0604020202020204"/>
            </a:endParaRPr>
          </a:p>
        </p:txBody>
      </p:sp>
      <p:sp>
        <p:nvSpPr>
          <p:cNvPr id="27" name="object 20"/>
          <p:cNvSpPr/>
          <p:nvPr/>
        </p:nvSpPr>
        <p:spPr>
          <a:xfrm flipV="1">
            <a:off x="0" y="673548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sp>
        <p:nvSpPr>
          <p:cNvPr id="30" name="object 12"/>
          <p:cNvSpPr txBox="1"/>
          <p:nvPr/>
        </p:nvSpPr>
        <p:spPr>
          <a:xfrm>
            <a:off x="174073" y="760876"/>
            <a:ext cx="11812590" cy="403957"/>
          </a:xfrm>
          <a:prstGeom prst="rect">
            <a:avLst/>
          </a:prstGeom>
        </p:spPr>
        <p:txBody>
          <a:bodyPr vert="horz" wrap="square" lIns="0" tIns="0" rIns="0" bIns="0" numCol="1" rtlCol="0">
            <a:spAutoFit/>
          </a:bodyPr>
          <a:lstStyle/>
          <a:p>
            <a:pPr fontAlgn="base">
              <a:lnSpc>
                <a:spcPct val="150000"/>
              </a:lnSpc>
            </a:pPr>
            <a:endParaRPr lang="en-US" sz="1750" dirty="0"/>
          </a:p>
        </p:txBody>
      </p:sp>
      <p:grpSp>
        <p:nvGrpSpPr>
          <p:cNvPr id="10" name="Group 27"/>
          <p:cNvGrpSpPr/>
          <p:nvPr/>
        </p:nvGrpSpPr>
        <p:grpSpPr>
          <a:xfrm>
            <a:off x="31953" y="558227"/>
            <a:ext cx="12105504" cy="6158960"/>
            <a:chOff x="152400" y="1253946"/>
            <a:chExt cx="9296400" cy="823265"/>
          </a:xfrm>
        </p:grpSpPr>
        <p:sp>
          <p:nvSpPr>
            <p:cNvPr id="11" name="Rectangle 10"/>
            <p:cNvSpPr/>
            <p:nvPr/>
          </p:nvSpPr>
          <p:spPr>
            <a:xfrm>
              <a:off x="152400" y="1253946"/>
              <a:ext cx="9296400" cy="823265"/>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12" name="object 12"/>
            <p:cNvSpPr txBox="1"/>
            <p:nvPr/>
          </p:nvSpPr>
          <p:spPr>
            <a:xfrm>
              <a:off x="201007" y="1264318"/>
              <a:ext cx="5987518" cy="809950"/>
            </a:xfrm>
            <a:prstGeom prst="rect">
              <a:avLst/>
            </a:prstGeom>
          </p:spPr>
          <p:txBody>
            <a:bodyPr vert="horz" wrap="square" lIns="0" tIns="0" rIns="0" bIns="0" numCol="1" rtlCol="0">
              <a:spAutoFit/>
            </a:bodyPr>
            <a:lstStyle/>
            <a:p>
              <a:pPr marL="285750" indent="-285750" algn="just" fontAlgn="base">
                <a:lnSpc>
                  <a:spcPct val="150000"/>
                </a:lnSpc>
                <a:buFont typeface="Arial" panose="020B0604020202020204" pitchFamily="34" charset="0"/>
                <a:buChar char="•"/>
              </a:pPr>
              <a:r>
                <a:rPr lang="en-IN" sz="1750" dirty="0"/>
                <a:t>This paradigm is also known as the master-slave paradigm.</a:t>
              </a:r>
            </a:p>
            <a:p>
              <a:pPr marL="285750" indent="-285750" algn="just" fontAlgn="base">
                <a:lnSpc>
                  <a:spcPct val="150000"/>
                </a:lnSpc>
                <a:buFont typeface="Arial" panose="020B0604020202020204" pitchFamily="34" charset="0"/>
                <a:buChar char="•"/>
              </a:pPr>
              <a:r>
                <a:rPr lang="en-IN" sz="1750" dirty="0"/>
                <a:t>A master process executes the essentially sequential part of the parallel program and spawns a number of slave processes to execute the parallel workload.</a:t>
              </a:r>
            </a:p>
            <a:p>
              <a:pPr marL="285750" indent="-285750" algn="just" fontAlgn="base">
                <a:lnSpc>
                  <a:spcPct val="150000"/>
                </a:lnSpc>
                <a:buFont typeface="Arial" panose="020B0604020202020204" pitchFamily="34" charset="0"/>
                <a:buChar char="•"/>
              </a:pPr>
              <a:r>
                <a:rPr lang="en-IN" sz="1750" dirty="0"/>
                <a:t>When a slave finishes its workload, it informs the master which assigns a new workload to the slave.</a:t>
              </a:r>
            </a:p>
            <a:p>
              <a:pPr marL="285750" indent="-285750" algn="just" fontAlgn="base">
                <a:lnSpc>
                  <a:spcPct val="150000"/>
                </a:lnSpc>
                <a:buFont typeface="Arial" panose="020B0604020202020204" pitchFamily="34" charset="0"/>
                <a:buChar char="•"/>
              </a:pPr>
              <a:r>
                <a:rPr lang="en-IN" sz="1750" dirty="0"/>
                <a:t>This is a very simple paradigm, where the coordination is done by the master. </a:t>
              </a:r>
            </a:p>
            <a:p>
              <a:pPr marL="285750" indent="-285750" algn="just" fontAlgn="base">
                <a:lnSpc>
                  <a:spcPct val="150000"/>
                </a:lnSpc>
                <a:buFont typeface="Arial" panose="020B0604020202020204" pitchFamily="34" charset="0"/>
                <a:buChar char="•"/>
              </a:pPr>
              <a:r>
                <a:rPr lang="en-IN" sz="1750" dirty="0"/>
                <a:t>This paradigm is often used in a shared variable model.</a:t>
              </a:r>
            </a:p>
            <a:p>
              <a:pPr marL="285750" indent="-285750" algn="just" fontAlgn="base">
                <a:lnSpc>
                  <a:spcPct val="150000"/>
                </a:lnSpc>
                <a:buFont typeface="Arial" panose="020B0604020202020204" pitchFamily="34" charset="0"/>
                <a:buChar char="•"/>
              </a:pPr>
              <a:r>
                <a:rPr lang="en-IN" sz="1750" dirty="0"/>
                <a:t>A pool of works is realized in a global data structure.</a:t>
              </a:r>
            </a:p>
            <a:p>
              <a:pPr marL="285750" indent="-285750" algn="just" fontAlgn="base">
                <a:lnSpc>
                  <a:spcPct val="150000"/>
                </a:lnSpc>
                <a:buFont typeface="Arial" panose="020B0604020202020204" pitchFamily="34" charset="0"/>
                <a:buChar char="•"/>
              </a:pPr>
              <a:r>
                <a:rPr lang="en-IN" sz="1750" dirty="0"/>
                <a:t>A number of processes are created. Initially, there may be just one piece of work in the pool.</a:t>
              </a:r>
            </a:p>
            <a:p>
              <a:pPr marL="285750" indent="-285750" algn="just" fontAlgn="base">
                <a:lnSpc>
                  <a:spcPct val="150000"/>
                </a:lnSpc>
                <a:buFont typeface="Arial" panose="020B0604020202020204" pitchFamily="34" charset="0"/>
                <a:buChar char="•"/>
              </a:pPr>
              <a:r>
                <a:rPr lang="en-IN" sz="1750" dirty="0"/>
                <a:t>Any free process fetches a piece of work from the pool and executes it, producing zero, one, or more new work pieces put into the pool. The parallel program ends when the work pool becomes empty.</a:t>
              </a:r>
            </a:p>
            <a:p>
              <a:pPr marL="285750" indent="-285750" algn="just" fontAlgn="base">
                <a:lnSpc>
                  <a:spcPct val="150000"/>
                </a:lnSpc>
                <a:buFont typeface="Arial" panose="020B0604020202020204" pitchFamily="34" charset="0"/>
                <a:buChar char="•"/>
              </a:pPr>
              <a:r>
                <a:rPr lang="en-IN" sz="1750" dirty="0"/>
                <a:t>This paradigm facilitates load balancing, as the workload is dynamically allocated to free processes.</a:t>
              </a:r>
            </a:p>
          </p:txBody>
        </p:sp>
      </p:grpSp>
      <p:pic>
        <p:nvPicPr>
          <p:cNvPr id="2" name="Picture 1"/>
          <p:cNvPicPr>
            <a:picLocks noChangeAspect="1"/>
          </p:cNvPicPr>
          <p:nvPr/>
        </p:nvPicPr>
        <p:blipFill>
          <a:blip r:embed="rId3"/>
          <a:stretch>
            <a:fillRect/>
          </a:stretch>
        </p:blipFill>
        <p:spPr>
          <a:xfrm>
            <a:off x="8699384" y="707088"/>
            <a:ext cx="3400425" cy="2581275"/>
          </a:xfrm>
          <a:prstGeom prst="rect">
            <a:avLst/>
          </a:prstGeom>
        </p:spPr>
      </p:pic>
      <p:pic>
        <p:nvPicPr>
          <p:cNvPr id="5" name="Picture 4"/>
          <p:cNvPicPr>
            <a:picLocks noChangeAspect="1"/>
          </p:cNvPicPr>
          <p:nvPr/>
        </p:nvPicPr>
        <p:blipFill rotWithShape="1">
          <a:blip r:embed="rId4"/>
          <a:srcRect t="2366"/>
          <a:stretch>
            <a:fillRect/>
          </a:stretch>
        </p:blipFill>
        <p:spPr>
          <a:xfrm>
            <a:off x="9052391" y="3939987"/>
            <a:ext cx="2505075" cy="2417907"/>
          </a:xfrm>
          <a:prstGeom prst="rect">
            <a:avLst/>
          </a:prstGeom>
        </p:spPr>
      </p:pic>
      <p:sp>
        <p:nvSpPr>
          <p:cNvPr id="4" name="Slide Number Placeholder 3"/>
          <p:cNvSpPr>
            <a:spLocks noGrp="1"/>
          </p:cNvSpPr>
          <p:nvPr>
            <p:ph type="sldNum" sz="quarter" idx="7"/>
          </p:nvPr>
        </p:nvSpPr>
        <p:spPr/>
        <p:txBody>
          <a:bodyPr/>
          <a:lstStyle/>
          <a:p>
            <a:fld id="{B6F15528-21DE-4FAA-801E-634DDDAF4B2B}" type="slidenum">
              <a:rPr/>
              <a:t>62</a:t>
            </a:fld>
            <a:endParaRPr/>
          </a:p>
        </p:txBody>
      </p:sp>
      <p:sp>
        <p:nvSpPr>
          <p:cNvPr id="6" name="Footer Placeholder 5"/>
          <p:cNvSpPr>
            <a:spLocks noGrp="1"/>
          </p:cNvSpPr>
          <p:nvPr>
            <p:ph type="ftr" sz="quarter" idx="5"/>
          </p:nvPr>
        </p:nvSpPr>
        <p:spPr/>
        <p:txBody>
          <a:bodyPr/>
          <a:lstStyle/>
          <a:p>
            <a:r>
              <a:t>UNIT IV : Pythonic Programming Paradigm</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410175"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Parallel Program using Python</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64"/>
            <a:ext cx="12105504" cy="5979175"/>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686078"/>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r>
                <a:rPr lang="en-IN" sz="1750" dirty="0"/>
                <a:t>A thread is basically an independent flow of execution. A single process can consist of multiple threads. Each thread in a program performs a particular task. For Example, when you are playing a game say FIFA on your PC, the game as a whole is a single process, but it consists of several threads responsible for playing the music, taking input from the user, running the opponent synchronously, etc. </a:t>
              </a:r>
            </a:p>
            <a:p>
              <a:pPr marL="357505" indent="-357505" algn="just" fontAlgn="base">
                <a:lnSpc>
                  <a:spcPct val="150000"/>
                </a:lnSpc>
                <a:buFont typeface="Arial" panose="020B0604020202020204" pitchFamily="34" charset="0"/>
                <a:buChar char="•"/>
              </a:pPr>
              <a:r>
                <a:rPr lang="en-IN" sz="1750" dirty="0"/>
                <a:t>Threading is that it allows a user to run different parts of the program in a concurrent manner and make the design of the program simpler. </a:t>
              </a:r>
            </a:p>
            <a:p>
              <a:pPr marL="357505" indent="-357505" algn="just" fontAlgn="base">
                <a:lnSpc>
                  <a:spcPct val="150000"/>
                </a:lnSpc>
                <a:buFont typeface="Arial" panose="020B0604020202020204" pitchFamily="34" charset="0"/>
                <a:buChar char="•"/>
              </a:pPr>
              <a:r>
                <a:rPr lang="en-IN" sz="1750" dirty="0"/>
                <a:t>Multithreading in Python can be achieved by importing the threading module.</a:t>
              </a:r>
            </a:p>
            <a:p>
              <a:pPr algn="just" fontAlgn="base">
                <a:lnSpc>
                  <a:spcPct val="150000"/>
                </a:lnSpc>
              </a:pPr>
              <a:endParaRPr lang="en-IN" sz="1750" b="1" dirty="0"/>
            </a:p>
            <a:p>
              <a:pPr algn="just" fontAlgn="base">
                <a:lnSpc>
                  <a:spcPct val="150000"/>
                </a:lnSpc>
              </a:pPr>
              <a:r>
                <a:rPr lang="en-IN" sz="1750" b="1" dirty="0"/>
                <a:t>Example:</a:t>
              </a:r>
            </a:p>
            <a:p>
              <a:pPr algn="just" fontAlgn="base">
                <a:lnSpc>
                  <a:spcPct val="150000"/>
                </a:lnSpc>
              </a:pPr>
              <a:r>
                <a:rPr lang="en-IN" sz="1750" dirty="0"/>
                <a:t>	</a:t>
              </a:r>
              <a:r>
                <a:rPr lang="en-IN" sz="1750" i="1" dirty="0"/>
                <a:t>import threading</a:t>
              </a:r>
            </a:p>
            <a:p>
              <a:pPr algn="just" fontAlgn="base">
                <a:lnSpc>
                  <a:spcPct val="150000"/>
                </a:lnSpc>
              </a:pPr>
              <a:r>
                <a:rPr lang="en-IN" sz="1750" i="1" dirty="0"/>
                <a:t>	from threading import *</a:t>
              </a:r>
            </a:p>
            <a:p>
              <a:pPr algn="just" fontAlgn="base">
                <a:lnSpc>
                  <a:spcPct val="150000"/>
                </a:lnSpc>
              </a:pPr>
              <a:endParaRPr lang="en-IN" sz="1750" dirty="0"/>
            </a:p>
          </p:txBody>
        </p:sp>
      </p:grpSp>
      <p:sp>
        <p:nvSpPr>
          <p:cNvPr id="4" name="Slide Number Placeholder 3"/>
          <p:cNvSpPr>
            <a:spLocks noGrp="1"/>
          </p:cNvSpPr>
          <p:nvPr>
            <p:ph type="sldNum" sz="quarter" idx="7"/>
          </p:nvPr>
        </p:nvSpPr>
        <p:spPr/>
        <p:txBody>
          <a:bodyPr/>
          <a:lstStyle/>
          <a:p>
            <a:fld id="{B6F15528-21DE-4FAA-801E-634DDDAF4B2B}" type="slidenum">
              <a:rPr/>
              <a:t>63</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6996929"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Parallel program using Threads in Python</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64"/>
            <a:ext cx="12105504" cy="5979175"/>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96725" y="1268442"/>
              <a:ext cx="4454207" cy="784089"/>
            </a:xfrm>
            <a:prstGeom prst="rect">
              <a:avLst/>
            </a:prstGeom>
          </p:spPr>
          <p:txBody>
            <a:bodyPr vert="horz" wrap="square" lIns="0" tIns="0" rIns="0" bIns="0" numCol="1" rtlCol="0">
              <a:spAutoFit/>
            </a:bodyPr>
            <a:lstStyle/>
            <a:p>
              <a:pPr algn="just" fontAlgn="base">
                <a:lnSpc>
                  <a:spcPct val="150000"/>
                </a:lnSpc>
              </a:pPr>
              <a:r>
                <a:rPr lang="en-IN" sz="1600" dirty="0"/>
                <a:t># simplest way to use a Thread is to instantiate it with a target function and call start() to let it begin working.</a:t>
              </a:r>
            </a:p>
            <a:p>
              <a:pPr algn="just" fontAlgn="base">
                <a:lnSpc>
                  <a:spcPct val="150000"/>
                </a:lnSpc>
              </a:pPr>
              <a:r>
                <a:rPr lang="en-IN" sz="1600" dirty="0"/>
                <a:t>from threading import Thread,current_thread</a:t>
              </a:r>
            </a:p>
            <a:p>
              <a:pPr algn="just" fontAlgn="base">
                <a:lnSpc>
                  <a:spcPct val="150000"/>
                </a:lnSpc>
              </a:pPr>
              <a:r>
                <a:rPr lang="en-IN" sz="1600" dirty="0"/>
                <a:t>print(</a:t>
              </a:r>
              <a:r>
                <a:rPr lang="en-IN" sz="1600" dirty="0" err="1"/>
                <a:t>current_thread</a:t>
              </a:r>
              <a:r>
                <a:rPr lang="en-IN" sz="1600" dirty="0"/>
                <a:t>().getName())</a:t>
              </a:r>
            </a:p>
            <a:p>
              <a:pPr algn="just" fontAlgn="base">
                <a:lnSpc>
                  <a:spcPct val="150000"/>
                </a:lnSpc>
              </a:pPr>
              <a:r>
                <a:rPr lang="en-IN" sz="1600" dirty="0"/>
                <a:t>def </a:t>
              </a:r>
              <a:r>
                <a:rPr lang="en-IN" sz="1600" dirty="0" err="1"/>
                <a:t>mt</a:t>
              </a:r>
              <a:r>
                <a:rPr lang="en-IN" sz="1600" dirty="0"/>
                <a:t>():</a:t>
              </a:r>
            </a:p>
            <a:p>
              <a:pPr algn="just" fontAlgn="base">
                <a:lnSpc>
                  <a:spcPct val="150000"/>
                </a:lnSpc>
              </a:pPr>
              <a:r>
                <a:rPr lang="en-IN" sz="1600" dirty="0"/>
                <a:t>    print("Child Thread")</a:t>
              </a:r>
            </a:p>
            <a:p>
              <a:pPr algn="just" fontAlgn="base">
                <a:lnSpc>
                  <a:spcPct val="150000"/>
                </a:lnSpc>
              </a:pPr>
              <a:r>
                <a:rPr lang="en-IN" sz="1600" dirty="0"/>
                <a:t>    for </a:t>
              </a:r>
              <a:r>
                <a:rPr lang="en-IN" sz="1600" dirty="0" err="1"/>
                <a:t>i</a:t>
              </a:r>
              <a:r>
                <a:rPr lang="en-IN" sz="1600" dirty="0"/>
                <a:t> in range(11,20):</a:t>
              </a:r>
            </a:p>
            <a:p>
              <a:pPr algn="just" fontAlgn="base">
                <a:lnSpc>
                  <a:spcPct val="150000"/>
                </a:lnSpc>
              </a:pPr>
              <a:r>
                <a:rPr lang="en-IN" sz="1600" dirty="0"/>
                <a:t>            print(</a:t>
              </a:r>
              <a:r>
                <a:rPr lang="en-IN" sz="1600" dirty="0" err="1"/>
                <a:t>i</a:t>
              </a:r>
              <a:r>
                <a:rPr lang="en-IN" sz="1600" dirty="0"/>
                <a:t>*2)</a:t>
              </a:r>
            </a:p>
            <a:p>
              <a:pPr algn="just" fontAlgn="base">
                <a:lnSpc>
                  <a:spcPct val="150000"/>
                </a:lnSpc>
              </a:pPr>
              <a:r>
                <a:rPr lang="en-IN" sz="1600" dirty="0"/>
                <a:t>def </a:t>
              </a:r>
              <a:r>
                <a:rPr lang="en-IN" sz="1600" dirty="0" err="1"/>
                <a:t>disp</a:t>
              </a:r>
              <a:r>
                <a:rPr lang="en-IN" sz="1600" dirty="0"/>
                <a:t>():</a:t>
              </a:r>
            </a:p>
            <a:p>
              <a:pPr algn="just" fontAlgn="base">
                <a:lnSpc>
                  <a:spcPct val="150000"/>
                </a:lnSpc>
              </a:pPr>
              <a:r>
                <a:rPr lang="en-IN" sz="1600" dirty="0"/>
                <a:t>   for </a:t>
              </a:r>
              <a:r>
                <a:rPr lang="en-IN" sz="1600" dirty="0" err="1"/>
                <a:t>i</a:t>
              </a:r>
              <a:r>
                <a:rPr lang="en-IN" sz="1600" dirty="0"/>
                <a:t> in range(10):</a:t>
              </a:r>
            </a:p>
            <a:p>
              <a:pPr algn="just" fontAlgn="base">
                <a:lnSpc>
                  <a:spcPct val="150000"/>
                </a:lnSpc>
              </a:pPr>
              <a:r>
                <a:rPr lang="en-IN" sz="1600" dirty="0"/>
                <a:t>            print(</a:t>
              </a:r>
              <a:r>
                <a:rPr lang="en-IN" sz="1600" dirty="0" err="1"/>
                <a:t>i</a:t>
              </a:r>
              <a:r>
                <a:rPr lang="en-IN" sz="1600" dirty="0"/>
                <a:t>*2)	</a:t>
              </a:r>
            </a:p>
            <a:p>
              <a:pPr algn="just" fontAlgn="base">
                <a:lnSpc>
                  <a:spcPct val="150000"/>
                </a:lnSpc>
              </a:pPr>
              <a:r>
                <a:rPr lang="en-IN" sz="1600" dirty="0"/>
                <a:t>child=Thread(target=</a:t>
              </a:r>
              <a:r>
                <a:rPr lang="en-IN" sz="1600" dirty="0" err="1"/>
                <a:t>mt</a:t>
              </a:r>
              <a:r>
                <a:rPr lang="en-IN" sz="1600" dirty="0"/>
                <a:t>)</a:t>
              </a:r>
            </a:p>
            <a:p>
              <a:pPr algn="just" fontAlgn="base">
                <a:lnSpc>
                  <a:spcPct val="150000"/>
                </a:lnSpc>
              </a:pPr>
              <a:r>
                <a:rPr lang="en-IN" sz="1600" dirty="0" err="1"/>
                <a:t>child.start</a:t>
              </a:r>
              <a:r>
                <a:rPr lang="en-IN" sz="1600" dirty="0"/>
                <a:t>()</a:t>
              </a:r>
            </a:p>
            <a:p>
              <a:pPr algn="just" fontAlgn="base">
                <a:lnSpc>
                  <a:spcPct val="150000"/>
                </a:lnSpc>
              </a:pPr>
              <a:r>
                <a:rPr lang="en-IN" sz="1600" dirty="0" err="1"/>
                <a:t>disp</a:t>
              </a:r>
              <a:r>
                <a:rPr lang="en-IN" sz="1600" dirty="0"/>
                <a:t>()</a:t>
              </a:r>
            </a:p>
            <a:p>
              <a:pPr algn="just" fontAlgn="base">
                <a:lnSpc>
                  <a:spcPct val="150000"/>
                </a:lnSpc>
              </a:pPr>
              <a:r>
                <a:rPr lang="en-IN" sz="1600" dirty="0"/>
                <a:t>print("Executing thread name :",</a:t>
              </a:r>
              <a:r>
                <a:rPr lang="en-IN" sz="1600" dirty="0" err="1"/>
                <a:t>current_thread</a:t>
              </a:r>
              <a:r>
                <a:rPr lang="en-IN" sz="1600" dirty="0"/>
                <a:t>().getName())</a:t>
              </a:r>
            </a:p>
          </p:txBody>
        </p:sp>
      </p:grpSp>
      <p:sp>
        <p:nvSpPr>
          <p:cNvPr id="8" name="object 12"/>
          <p:cNvSpPr txBox="1"/>
          <p:nvPr/>
        </p:nvSpPr>
        <p:spPr>
          <a:xfrm>
            <a:off x="6657129" y="793153"/>
            <a:ext cx="5325773" cy="3593869"/>
          </a:xfrm>
          <a:prstGeom prst="rect">
            <a:avLst/>
          </a:prstGeom>
        </p:spPr>
        <p:txBody>
          <a:bodyPr vert="horz" wrap="square" lIns="0" tIns="0" rIns="0" bIns="0" numCol="1" rtlCol="0">
            <a:spAutoFit/>
          </a:bodyPr>
          <a:lstStyle/>
          <a:p>
            <a:pPr algn="just" fontAlgn="base">
              <a:lnSpc>
                <a:spcPct val="150000"/>
              </a:lnSpc>
            </a:pPr>
            <a:r>
              <a:rPr lang="en-IN" sz="1750" dirty="0"/>
              <a:t>from threading import Thread,current_thread</a:t>
            </a:r>
          </a:p>
          <a:p>
            <a:pPr algn="just" fontAlgn="base">
              <a:lnSpc>
                <a:spcPct val="150000"/>
              </a:lnSpc>
            </a:pPr>
            <a:r>
              <a:rPr lang="en-IN" sz="1750" dirty="0"/>
              <a:t>class </a:t>
            </a:r>
            <a:r>
              <a:rPr lang="en-IN" sz="1750" dirty="0" err="1"/>
              <a:t>mythread</a:t>
            </a:r>
            <a:r>
              <a:rPr lang="en-IN" sz="1750" dirty="0"/>
              <a:t>(Thread):</a:t>
            </a:r>
          </a:p>
          <a:p>
            <a:pPr algn="just" fontAlgn="base">
              <a:lnSpc>
                <a:spcPct val="150000"/>
              </a:lnSpc>
            </a:pPr>
            <a:r>
              <a:rPr lang="en-IN" sz="1750" dirty="0"/>
              <a:t>    def run(self):</a:t>
            </a:r>
          </a:p>
          <a:p>
            <a:pPr algn="just" fontAlgn="base">
              <a:lnSpc>
                <a:spcPct val="150000"/>
              </a:lnSpc>
            </a:pPr>
            <a:r>
              <a:rPr lang="en-IN" sz="1750" dirty="0"/>
              <a:t>        for x in range(7):</a:t>
            </a:r>
          </a:p>
          <a:p>
            <a:pPr algn="just" fontAlgn="base">
              <a:lnSpc>
                <a:spcPct val="150000"/>
              </a:lnSpc>
            </a:pPr>
            <a:r>
              <a:rPr lang="en-IN" sz="1750" dirty="0"/>
              <a:t>            print("Hi from child")</a:t>
            </a:r>
          </a:p>
          <a:p>
            <a:pPr algn="just" fontAlgn="base">
              <a:lnSpc>
                <a:spcPct val="150000"/>
              </a:lnSpc>
            </a:pPr>
            <a:r>
              <a:rPr lang="en-IN" sz="1750" dirty="0"/>
              <a:t>a = </a:t>
            </a:r>
            <a:r>
              <a:rPr lang="en-IN" sz="1750" dirty="0" err="1"/>
              <a:t>mythread</a:t>
            </a:r>
            <a:r>
              <a:rPr lang="en-IN" sz="1750" dirty="0"/>
              <a:t>()</a:t>
            </a:r>
          </a:p>
          <a:p>
            <a:pPr algn="just" fontAlgn="base">
              <a:lnSpc>
                <a:spcPct val="150000"/>
              </a:lnSpc>
            </a:pPr>
            <a:r>
              <a:rPr lang="en-IN" sz="1750" dirty="0" err="1"/>
              <a:t>a.start</a:t>
            </a:r>
            <a:r>
              <a:rPr lang="en-IN" sz="1750" dirty="0"/>
              <a:t>()</a:t>
            </a:r>
          </a:p>
          <a:p>
            <a:pPr algn="just" fontAlgn="base">
              <a:lnSpc>
                <a:spcPct val="150000"/>
              </a:lnSpc>
            </a:pPr>
            <a:r>
              <a:rPr lang="en-IN" sz="1750" dirty="0" err="1"/>
              <a:t>a.join</a:t>
            </a:r>
            <a:r>
              <a:rPr lang="en-IN" sz="1750" dirty="0"/>
              <a:t>()</a:t>
            </a:r>
          </a:p>
          <a:p>
            <a:pPr algn="just" fontAlgn="base">
              <a:lnSpc>
                <a:spcPct val="150000"/>
              </a:lnSpc>
            </a:pPr>
            <a:r>
              <a:rPr lang="en-IN" sz="1750" dirty="0"/>
              <a:t>print("Bye from",</a:t>
            </a:r>
            <a:r>
              <a:rPr lang="en-IN" sz="1750" dirty="0" err="1"/>
              <a:t>current_thread</a:t>
            </a:r>
            <a:r>
              <a:rPr lang="en-IN" sz="1750" dirty="0"/>
              <a:t>().getName())</a:t>
            </a:r>
          </a:p>
        </p:txBody>
      </p:sp>
      <p:sp>
        <p:nvSpPr>
          <p:cNvPr id="4" name="Slide Number Placeholder 3"/>
          <p:cNvSpPr>
            <a:spLocks noGrp="1"/>
          </p:cNvSpPr>
          <p:nvPr>
            <p:ph type="sldNum" sz="quarter" idx="7"/>
          </p:nvPr>
        </p:nvSpPr>
        <p:spPr/>
        <p:txBody>
          <a:bodyPr/>
          <a:lstStyle/>
          <a:p>
            <a:fld id="{B6F15528-21DE-4FAA-801E-634DDDAF4B2B}" type="slidenum">
              <a:rPr/>
              <a:t>64</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6996929"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Parallel program using Process in Python</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64"/>
            <a:ext cx="12105504" cy="5979175"/>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434237" y="1295087"/>
              <a:ext cx="4454207" cy="627271"/>
            </a:xfrm>
            <a:prstGeom prst="rect">
              <a:avLst/>
            </a:prstGeom>
          </p:spPr>
          <p:txBody>
            <a:bodyPr vert="horz" wrap="square" lIns="0" tIns="0" rIns="0" bIns="0" numCol="1" rtlCol="0">
              <a:spAutoFit/>
            </a:bodyPr>
            <a:lstStyle/>
            <a:p>
              <a:pPr algn="just" fontAlgn="base">
                <a:lnSpc>
                  <a:spcPct val="150000"/>
                </a:lnSpc>
              </a:pPr>
              <a:r>
                <a:rPr lang="en-IN" sz="1600" dirty="0"/>
                <a:t>import multiprocessing</a:t>
              </a:r>
            </a:p>
            <a:p>
              <a:pPr algn="just" fontAlgn="base">
                <a:lnSpc>
                  <a:spcPct val="150000"/>
                </a:lnSpc>
              </a:pPr>
              <a:r>
                <a:rPr lang="en-IN" sz="1600" dirty="0"/>
                <a:t>def worker(</a:t>
              </a:r>
              <a:r>
                <a:rPr lang="en-IN" sz="1600" dirty="0" err="1"/>
                <a:t>num</a:t>
              </a:r>
              <a:r>
                <a:rPr lang="en-IN" sz="1600" dirty="0"/>
                <a:t>):</a:t>
              </a:r>
            </a:p>
            <a:p>
              <a:pPr algn="just" fontAlgn="base">
                <a:lnSpc>
                  <a:spcPct val="150000"/>
                </a:lnSpc>
              </a:pPr>
              <a:r>
                <a:rPr lang="en-IN" sz="1600" dirty="0"/>
                <a:t>    print('Worker:', </a:t>
              </a:r>
              <a:r>
                <a:rPr lang="en-IN" sz="1600" dirty="0" err="1"/>
                <a:t>num</a:t>
              </a:r>
              <a:r>
                <a:rPr lang="en-IN" sz="1600" dirty="0"/>
                <a:t>)</a:t>
              </a:r>
            </a:p>
            <a:p>
              <a:pPr algn="just" fontAlgn="base">
                <a:lnSpc>
                  <a:spcPct val="150000"/>
                </a:lnSpc>
              </a:pPr>
              <a:r>
                <a:rPr lang="en-IN" sz="1600" dirty="0"/>
                <a:t>    for </a:t>
              </a:r>
              <a:r>
                <a:rPr lang="en-IN" sz="1600" dirty="0" err="1"/>
                <a:t>i</a:t>
              </a:r>
              <a:r>
                <a:rPr lang="en-IN" sz="1600" dirty="0"/>
                <a:t> in range(</a:t>
              </a:r>
              <a:r>
                <a:rPr lang="en-IN" sz="1600" dirty="0" err="1"/>
                <a:t>num</a:t>
              </a:r>
              <a:r>
                <a:rPr lang="en-IN" sz="1600" dirty="0"/>
                <a:t>):</a:t>
              </a:r>
            </a:p>
            <a:p>
              <a:pPr algn="just" fontAlgn="base">
                <a:lnSpc>
                  <a:spcPct val="150000"/>
                </a:lnSpc>
              </a:pPr>
              <a:r>
                <a:rPr lang="en-IN" sz="1600" dirty="0"/>
                <a:t>        print(</a:t>
              </a:r>
              <a:r>
                <a:rPr lang="en-IN" sz="1600" dirty="0" err="1"/>
                <a:t>i</a:t>
              </a:r>
              <a:r>
                <a:rPr lang="en-IN" sz="1600" dirty="0"/>
                <a:t>)</a:t>
              </a:r>
            </a:p>
            <a:p>
              <a:pPr algn="just" fontAlgn="base">
                <a:lnSpc>
                  <a:spcPct val="150000"/>
                </a:lnSpc>
              </a:pPr>
              <a:r>
                <a:rPr lang="en-IN" sz="1600" dirty="0"/>
                <a:t>    return</a:t>
              </a:r>
            </a:p>
            <a:p>
              <a:pPr algn="just" fontAlgn="base">
                <a:lnSpc>
                  <a:spcPct val="150000"/>
                </a:lnSpc>
              </a:pPr>
              <a:endParaRPr lang="en-IN" sz="1600" dirty="0"/>
            </a:p>
            <a:p>
              <a:pPr algn="just" fontAlgn="base">
                <a:lnSpc>
                  <a:spcPct val="150000"/>
                </a:lnSpc>
              </a:pPr>
              <a:r>
                <a:rPr lang="en-IN" sz="1600" dirty="0"/>
                <a:t>jobs = []</a:t>
              </a:r>
            </a:p>
            <a:p>
              <a:pPr algn="just" fontAlgn="base">
                <a:lnSpc>
                  <a:spcPct val="150000"/>
                </a:lnSpc>
              </a:pPr>
              <a:r>
                <a:rPr lang="en-IN" sz="1600" dirty="0"/>
                <a:t>for </a:t>
              </a:r>
              <a:r>
                <a:rPr lang="en-IN" sz="1600" dirty="0" err="1"/>
                <a:t>i</a:t>
              </a:r>
              <a:r>
                <a:rPr lang="en-IN" sz="1600" dirty="0"/>
                <a:t> in range(1,5):</a:t>
              </a:r>
            </a:p>
            <a:p>
              <a:pPr algn="just" fontAlgn="base">
                <a:lnSpc>
                  <a:spcPct val="150000"/>
                </a:lnSpc>
              </a:pPr>
              <a:r>
                <a:rPr lang="en-IN" sz="1600" dirty="0"/>
                <a:t>    p = </a:t>
              </a:r>
              <a:r>
                <a:rPr lang="en-IN" sz="1600" dirty="0" err="1"/>
                <a:t>multiprocessing.Process</a:t>
              </a:r>
              <a:r>
                <a:rPr lang="en-IN" sz="1600" dirty="0"/>
                <a:t>(target=worker, </a:t>
              </a:r>
              <a:r>
                <a:rPr lang="en-IN" sz="1600" dirty="0" err="1"/>
                <a:t>args</a:t>
              </a:r>
              <a:r>
                <a:rPr lang="en-IN" sz="1600" dirty="0"/>
                <a:t>=(i+10,))</a:t>
              </a:r>
            </a:p>
            <a:p>
              <a:pPr algn="just" fontAlgn="base">
                <a:lnSpc>
                  <a:spcPct val="150000"/>
                </a:lnSpc>
              </a:pPr>
              <a:r>
                <a:rPr lang="en-IN" sz="1600" dirty="0"/>
                <a:t>    </a:t>
              </a:r>
              <a:r>
                <a:rPr lang="en-IN" sz="1600" dirty="0" err="1"/>
                <a:t>jobs.append</a:t>
              </a:r>
              <a:r>
                <a:rPr lang="en-IN" sz="1600" dirty="0"/>
                <a:t>(p)</a:t>
              </a:r>
            </a:p>
            <a:p>
              <a:pPr algn="just" fontAlgn="base">
                <a:lnSpc>
                  <a:spcPct val="150000"/>
                </a:lnSpc>
              </a:pPr>
              <a:r>
                <a:rPr lang="en-IN" sz="1600" dirty="0"/>
                <a:t>    </a:t>
              </a:r>
              <a:r>
                <a:rPr lang="en-IN" sz="1600" dirty="0" err="1"/>
                <a:t>p.start</a:t>
              </a:r>
              <a:r>
                <a:rPr lang="en-IN" sz="1600" dirty="0"/>
                <a:t>()</a:t>
              </a:r>
            </a:p>
          </p:txBody>
        </p:sp>
      </p:grpSp>
      <p:sp>
        <p:nvSpPr>
          <p:cNvPr id="4" name="Slide Number Placeholder 3"/>
          <p:cNvSpPr>
            <a:spLocks noGrp="1"/>
          </p:cNvSpPr>
          <p:nvPr>
            <p:ph type="sldNum" sz="quarter" idx="7"/>
          </p:nvPr>
        </p:nvSpPr>
        <p:spPr/>
        <p:txBody>
          <a:bodyPr/>
          <a:lstStyle/>
          <a:p>
            <a:fld id="{B6F15528-21DE-4FAA-801E-634DDDAF4B2B}" type="slidenum">
              <a:rPr/>
              <a:t>65</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58404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Concurrent Programming Paradigm</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64"/>
            <a:ext cx="12105504" cy="5979175"/>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61541" y="1281925"/>
              <a:ext cx="9071457" cy="571732"/>
            </a:xfrm>
            <a:prstGeom prst="rect">
              <a:avLst/>
            </a:prstGeom>
          </p:spPr>
          <p:txBody>
            <a:bodyPr vert="horz" wrap="square" lIns="0" tIns="0" rIns="0" bIns="0" numCol="1" rtlCol="0">
              <a:spAutoFit/>
            </a:bodyPr>
            <a:lstStyle/>
            <a:p>
              <a:pPr marL="357505" indent="-357505" algn="just" fontAlgn="base">
                <a:lnSpc>
                  <a:spcPct val="150000"/>
                </a:lnSpc>
                <a:buFont typeface="Arial" panose="020B0604020202020204" pitchFamily="34" charset="0"/>
                <a:buChar char="•"/>
              </a:pPr>
              <a:r>
                <a:rPr lang="en-IN" sz="1750" dirty="0"/>
                <a:t>Computing systems model the world, and the world contains actors that execute independently of, but communicate with, each other. In modelling the world, many (possibly) parallel executions have to be composed and coordinated, and that's where the study of concurrency comes in.</a:t>
              </a:r>
            </a:p>
            <a:p>
              <a:pPr marL="357505" indent="-357505" algn="just" fontAlgn="base">
                <a:lnSpc>
                  <a:spcPct val="150000"/>
                </a:lnSpc>
                <a:buFont typeface="Arial" panose="020B0604020202020204" pitchFamily="34" charset="0"/>
                <a:buChar char="•"/>
              </a:pPr>
              <a:r>
                <a:rPr lang="en-IN" sz="1750" dirty="0"/>
                <a:t>There are two common models for concurrent programming: shared memory and message passing.</a:t>
              </a:r>
            </a:p>
            <a:p>
              <a:pPr marL="814705" lvl="1" indent="-357505" algn="just" fontAlgn="base">
                <a:lnSpc>
                  <a:spcPct val="150000"/>
                </a:lnSpc>
                <a:buFont typeface="Arial" panose="020B0604020202020204" pitchFamily="34" charset="0"/>
                <a:buChar char="•"/>
              </a:pPr>
              <a:r>
                <a:rPr lang="en-IN" sz="1750" b="1" dirty="0"/>
                <a:t>Shared memory. </a:t>
              </a:r>
              <a:r>
                <a:rPr lang="en-IN" sz="1750" dirty="0"/>
                <a:t>In the shared memory model of concurrency, concurrent modules interact by reading and writing shared objects in memory. </a:t>
              </a:r>
            </a:p>
            <a:p>
              <a:pPr marL="814705" lvl="1" indent="-357505" algn="just" fontAlgn="base">
                <a:lnSpc>
                  <a:spcPct val="150000"/>
                </a:lnSpc>
                <a:buFont typeface="Arial" panose="020B0604020202020204" pitchFamily="34" charset="0"/>
                <a:buChar char="•"/>
              </a:pPr>
              <a:r>
                <a:rPr lang="en-IN" sz="1750" b="1" dirty="0"/>
                <a:t>Message passing. </a:t>
              </a:r>
              <a:r>
                <a:rPr lang="en-IN" sz="1750" dirty="0"/>
                <a:t>In the message-passing model, concurrent modules interact by sending messages to each other through a communication channel. Modules send off messages, and incoming messages to each module are queued up for handling</a:t>
              </a:r>
            </a:p>
            <a:p>
              <a:pPr algn="just" fontAlgn="base">
                <a:lnSpc>
                  <a:spcPct val="150000"/>
                </a:lnSpc>
              </a:pPr>
              <a:endParaRPr lang="en-IN" sz="1750" dirty="0"/>
            </a:p>
          </p:txBody>
        </p:sp>
      </p:grpSp>
      <p:sp>
        <p:nvSpPr>
          <p:cNvPr id="4" name="Slide Number Placeholder 3"/>
          <p:cNvSpPr>
            <a:spLocks noGrp="1"/>
          </p:cNvSpPr>
          <p:nvPr>
            <p:ph type="sldNum" sz="quarter" idx="7"/>
          </p:nvPr>
        </p:nvSpPr>
        <p:spPr/>
        <p:txBody>
          <a:bodyPr/>
          <a:lstStyle/>
          <a:p>
            <a:fld id="{B6F15528-21DE-4FAA-801E-634DDDAF4B2B}" type="slidenum">
              <a:rPr/>
              <a:t>66</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Issues Concurrent Programming Paradigm</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59"/>
            <a:ext cx="12105504" cy="6100834"/>
            <a:chOff x="127862" y="1268442"/>
            <a:chExt cx="9296400" cy="863469"/>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09907" y="1274313"/>
              <a:ext cx="9071457" cy="857598"/>
            </a:xfrm>
            <a:prstGeom prst="rect">
              <a:avLst/>
            </a:prstGeom>
          </p:spPr>
          <p:txBody>
            <a:bodyPr vert="horz" wrap="square" lIns="0" tIns="0" rIns="0" bIns="0" numCol="1" rtlCol="0">
              <a:spAutoFit/>
            </a:bodyPr>
            <a:lstStyle/>
            <a:p>
              <a:pPr algn="just" fontAlgn="base">
                <a:lnSpc>
                  <a:spcPct val="150000"/>
                </a:lnSpc>
              </a:pPr>
              <a:r>
                <a:rPr lang="en-IN" sz="1750" dirty="0"/>
                <a:t>Concurrent programming is programming with multiple tasks. The major issues of concurrent programming are:</a:t>
              </a:r>
            </a:p>
            <a:p>
              <a:pPr marL="814705" lvl="1" indent="-357505" algn="just" fontAlgn="base">
                <a:lnSpc>
                  <a:spcPct val="150000"/>
                </a:lnSpc>
                <a:buFont typeface="Arial" panose="020B0604020202020204" pitchFamily="34" charset="0"/>
                <a:buChar char="•"/>
              </a:pPr>
              <a:r>
                <a:rPr lang="en-IN" sz="1750" dirty="0"/>
                <a:t>Sharing computational resources between the tasks;</a:t>
              </a:r>
            </a:p>
            <a:p>
              <a:pPr marL="814705" lvl="1" indent="-357505" algn="just" fontAlgn="base">
                <a:lnSpc>
                  <a:spcPct val="150000"/>
                </a:lnSpc>
                <a:buFont typeface="Arial" panose="020B0604020202020204" pitchFamily="34" charset="0"/>
                <a:buChar char="•"/>
              </a:pPr>
              <a:r>
                <a:rPr lang="en-IN" sz="1750" dirty="0"/>
                <a:t>Interaction of the tasks.</a:t>
              </a:r>
            </a:p>
            <a:p>
              <a:pPr algn="just" fontAlgn="base">
                <a:lnSpc>
                  <a:spcPct val="150000"/>
                </a:lnSpc>
              </a:pPr>
              <a:endParaRPr lang="en-IN" sz="1750" dirty="0"/>
            </a:p>
            <a:p>
              <a:pPr algn="just" fontAlgn="base">
                <a:lnSpc>
                  <a:spcPct val="150000"/>
                </a:lnSpc>
              </a:pPr>
              <a:r>
                <a:rPr lang="en-IN" sz="1750" dirty="0"/>
                <a:t>Objects shared by multiple tasks have to be safe for concurrent access. Such objects are called protected. Tasks accessing such an object interact with each other indirectly through the object.</a:t>
              </a:r>
            </a:p>
            <a:p>
              <a:pPr algn="just" fontAlgn="base">
                <a:lnSpc>
                  <a:spcPct val="150000"/>
                </a:lnSpc>
              </a:pPr>
              <a:r>
                <a:rPr lang="en-IN" sz="1750" dirty="0"/>
                <a:t>An access to the protected object can be:</a:t>
              </a:r>
            </a:p>
            <a:p>
              <a:pPr marL="814705" lvl="1" indent="-357505" algn="just" fontAlgn="base">
                <a:lnSpc>
                  <a:spcPct val="150000"/>
                </a:lnSpc>
                <a:buFont typeface="Arial" panose="020B0604020202020204" pitchFamily="34" charset="0"/>
                <a:buChar char="•"/>
              </a:pPr>
              <a:r>
                <a:rPr lang="en-IN" sz="1750" dirty="0"/>
                <a:t>Lock-free, when the task accessing the object is not blocked for a considerable time;</a:t>
              </a:r>
            </a:p>
            <a:p>
              <a:pPr marL="814705" lvl="1" indent="-357505" algn="just" fontAlgn="base">
                <a:lnSpc>
                  <a:spcPct val="150000"/>
                </a:lnSpc>
                <a:buFont typeface="Arial" panose="020B0604020202020204" pitchFamily="34" charset="0"/>
                <a:buChar char="•"/>
              </a:pPr>
              <a:r>
                <a:rPr lang="en-IN" sz="1750" dirty="0"/>
                <a:t>Blocking, otherwise.</a:t>
              </a:r>
            </a:p>
            <a:p>
              <a:pPr algn="just" fontAlgn="base">
                <a:lnSpc>
                  <a:spcPct val="150000"/>
                </a:lnSpc>
              </a:pPr>
              <a:endParaRPr lang="en-IN" sz="1750" dirty="0"/>
            </a:p>
            <a:p>
              <a:pPr algn="just" fontAlgn="base">
                <a:lnSpc>
                  <a:spcPct val="150000"/>
                </a:lnSpc>
              </a:pPr>
              <a:r>
                <a:rPr lang="en-IN" sz="1750" dirty="0"/>
                <a:t>Blocking objects can be used for task synchronization. To the examples of such objects belong:</a:t>
              </a:r>
            </a:p>
            <a:p>
              <a:pPr marL="814705" lvl="1" indent="-357505" algn="just" fontAlgn="base">
                <a:lnSpc>
                  <a:spcPct val="150000"/>
                </a:lnSpc>
                <a:buFont typeface="Arial" panose="020B0604020202020204" pitchFamily="34" charset="0"/>
                <a:buChar char="•"/>
              </a:pPr>
              <a:r>
                <a:rPr lang="en-IN" sz="1750" dirty="0"/>
                <a:t>Events;</a:t>
              </a:r>
            </a:p>
            <a:p>
              <a:pPr marL="814705" lvl="1" indent="-357505" algn="just" fontAlgn="base">
                <a:lnSpc>
                  <a:spcPct val="150000"/>
                </a:lnSpc>
                <a:buFont typeface="Arial" panose="020B0604020202020204" pitchFamily="34" charset="0"/>
                <a:buChar char="•"/>
              </a:pPr>
              <a:r>
                <a:rPr lang="en-IN" sz="1750" dirty="0"/>
                <a:t>Mutexes and semaphores;</a:t>
              </a:r>
            </a:p>
            <a:p>
              <a:pPr marL="814705" lvl="1" indent="-357505" algn="just" fontAlgn="base">
                <a:lnSpc>
                  <a:spcPct val="150000"/>
                </a:lnSpc>
                <a:buFont typeface="Arial" panose="020B0604020202020204" pitchFamily="34" charset="0"/>
                <a:buChar char="•"/>
              </a:pPr>
              <a:r>
                <a:rPr lang="en-IN" sz="1750" dirty="0"/>
                <a:t>Waitable timers;</a:t>
              </a:r>
            </a:p>
            <a:p>
              <a:pPr marL="814705" lvl="1" indent="-357505" algn="just" fontAlgn="base">
                <a:lnSpc>
                  <a:spcPct val="150000"/>
                </a:lnSpc>
                <a:buFont typeface="Arial" panose="020B0604020202020204" pitchFamily="34" charset="0"/>
                <a:buChar char="•"/>
              </a:pPr>
              <a:r>
                <a:rPr lang="en-IN" sz="1750" dirty="0"/>
                <a:t>Queues</a:t>
              </a:r>
            </a:p>
          </p:txBody>
        </p:sp>
      </p:grpSp>
      <p:sp>
        <p:nvSpPr>
          <p:cNvPr id="4" name="Slide Number Placeholder 3"/>
          <p:cNvSpPr>
            <a:spLocks noGrp="1"/>
          </p:cNvSpPr>
          <p:nvPr>
            <p:ph type="sldNum" sz="quarter" idx="7"/>
          </p:nvPr>
        </p:nvSpPr>
        <p:spPr/>
        <p:txBody>
          <a:bodyPr/>
          <a:lstStyle/>
          <a:p>
            <a:fld id="{B6F15528-21DE-4FAA-801E-634DDDAF4B2B}" type="slidenum">
              <a:rPr/>
              <a:t>67</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Issues Concurrent Programming Paradigm</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59"/>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209907" y="1274313"/>
              <a:ext cx="9071457" cy="51265"/>
            </a:xfrm>
            <a:prstGeom prst="rect">
              <a:avLst/>
            </a:prstGeom>
          </p:spPr>
          <p:txBody>
            <a:bodyPr vert="horz" wrap="square" lIns="0" tIns="0" rIns="0" bIns="0" numCol="1" rtlCol="0">
              <a:spAutoFit/>
            </a:bodyPr>
            <a:lstStyle/>
            <a:p>
              <a:pPr algn="just" fontAlgn="base">
                <a:lnSpc>
                  <a:spcPct val="150000"/>
                </a:lnSpc>
              </a:pPr>
              <a:endParaRPr lang="en-IN" sz="1750" dirty="0"/>
            </a:p>
          </p:txBody>
        </p:sp>
      </p:grpSp>
      <p:pic>
        <p:nvPicPr>
          <p:cNvPr id="4" name="Picture 3"/>
          <p:cNvPicPr>
            <a:picLocks noChangeAspect="1"/>
          </p:cNvPicPr>
          <p:nvPr/>
        </p:nvPicPr>
        <p:blipFill>
          <a:blip r:embed="rId3"/>
          <a:stretch>
            <a:fillRect/>
          </a:stretch>
        </p:blipFill>
        <p:spPr>
          <a:xfrm>
            <a:off x="5938890" y="2925523"/>
            <a:ext cx="5980537" cy="2854347"/>
          </a:xfrm>
          <a:prstGeom prst="rect">
            <a:avLst/>
          </a:prstGeom>
        </p:spPr>
      </p:pic>
      <p:pic>
        <p:nvPicPr>
          <p:cNvPr id="5" name="Picture 4"/>
          <p:cNvPicPr>
            <a:picLocks noChangeAspect="1"/>
          </p:cNvPicPr>
          <p:nvPr/>
        </p:nvPicPr>
        <p:blipFill rotWithShape="1">
          <a:blip r:embed="rId4"/>
          <a:srcRect l="15534" r="16025"/>
          <a:stretch>
            <a:fillRect/>
          </a:stretch>
        </p:blipFill>
        <p:spPr>
          <a:xfrm>
            <a:off x="106837" y="628441"/>
            <a:ext cx="5466522" cy="3724256"/>
          </a:xfrm>
          <a:prstGeom prst="rect">
            <a:avLst/>
          </a:prstGeom>
        </p:spPr>
      </p:pic>
      <p:sp>
        <p:nvSpPr>
          <p:cNvPr id="6" name="Slide Number Placeholder 5"/>
          <p:cNvSpPr>
            <a:spLocks noGrp="1"/>
          </p:cNvSpPr>
          <p:nvPr>
            <p:ph type="sldNum" sz="quarter" idx="7"/>
          </p:nvPr>
        </p:nvSpPr>
        <p:spPr/>
        <p:txBody>
          <a:bodyPr/>
          <a:lstStyle/>
          <a:p>
            <a:fld id="{B6F15528-21DE-4FAA-801E-634DDDAF4B2B}" type="slidenum">
              <a:rPr/>
              <a:t>68</a:t>
            </a:fld>
            <a:endParaRPr/>
          </a:p>
        </p:txBody>
      </p:sp>
      <p:sp>
        <p:nvSpPr>
          <p:cNvPr id="7" name="Footer Placeholder 6"/>
          <p:cNvSpPr>
            <a:spLocks noGrp="1"/>
          </p:cNvSpPr>
          <p:nvPr>
            <p:ph type="ftr" sz="quarter" idx="5"/>
          </p:nvPr>
        </p:nvSpPr>
        <p:spPr/>
        <p:txBody>
          <a:bodyPr/>
          <a:lstStyle/>
          <a:p>
            <a:r>
              <a:t>UNIT IV : Pythonic Programming Paradigm</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Race Condition</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59"/>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4519304" cy="571732"/>
            </a:xfrm>
            <a:prstGeom prst="rect">
              <a:avLst/>
            </a:prstGeom>
          </p:spPr>
          <p:txBody>
            <a:bodyPr vert="horz" wrap="square" lIns="0" tIns="0" rIns="0" bIns="0" numCol="1" rtlCol="0">
              <a:spAutoFit/>
            </a:bodyPr>
            <a:lstStyle/>
            <a:p>
              <a:pPr algn="just" fontAlgn="base"/>
              <a:r>
                <a:rPr lang="en-IN" sz="1750" dirty="0"/>
                <a:t>import threading</a:t>
              </a:r>
            </a:p>
            <a:p>
              <a:pPr algn="just" fontAlgn="base"/>
              <a:r>
                <a:rPr lang="en-IN" sz="1750" dirty="0"/>
                <a:t>x = 0     # A shared value</a:t>
              </a:r>
            </a:p>
            <a:p>
              <a:pPr algn="just" fontAlgn="base"/>
              <a:r>
                <a:rPr lang="en-IN" sz="1750" dirty="0"/>
                <a:t>COUNT = 100</a:t>
              </a:r>
            </a:p>
            <a:p>
              <a:pPr algn="just" fontAlgn="base"/>
              <a:endParaRPr lang="en-IN" sz="1750" dirty="0"/>
            </a:p>
            <a:p>
              <a:pPr algn="just" fontAlgn="base"/>
              <a:r>
                <a:rPr lang="en-IN" sz="1750" dirty="0"/>
                <a:t>def </a:t>
              </a:r>
              <a:r>
                <a:rPr lang="en-IN" sz="1750" dirty="0" err="1"/>
                <a:t>incr</a:t>
              </a:r>
              <a:r>
                <a:rPr lang="en-IN" sz="1750" dirty="0"/>
                <a:t>():</a:t>
              </a:r>
            </a:p>
            <a:p>
              <a:pPr algn="just" fontAlgn="base"/>
              <a:r>
                <a:rPr lang="en-IN" sz="1750" dirty="0"/>
                <a:t>    global x</a:t>
              </a:r>
            </a:p>
            <a:p>
              <a:pPr algn="just" fontAlgn="base"/>
              <a:r>
                <a:rPr lang="en-IN" sz="1750" dirty="0"/>
                <a:t>    for </a:t>
              </a:r>
              <a:r>
                <a:rPr lang="en-IN" sz="1750" dirty="0" err="1"/>
                <a:t>i</a:t>
              </a:r>
              <a:r>
                <a:rPr lang="en-IN" sz="1750" dirty="0"/>
                <a:t> in range(COUNT):</a:t>
              </a:r>
            </a:p>
            <a:p>
              <a:pPr algn="just" fontAlgn="base"/>
              <a:r>
                <a:rPr lang="en-IN" sz="1750" dirty="0"/>
                <a:t>        x += 1</a:t>
              </a:r>
            </a:p>
            <a:p>
              <a:pPr algn="just" fontAlgn="base"/>
              <a:r>
                <a:rPr lang="en-IN" sz="1750" dirty="0"/>
                <a:t>        print(x)</a:t>
              </a:r>
            </a:p>
            <a:p>
              <a:pPr algn="just" fontAlgn="base"/>
              <a:endParaRPr lang="en-IN" sz="1750" dirty="0"/>
            </a:p>
            <a:p>
              <a:pPr algn="just" fontAlgn="base"/>
              <a:r>
                <a:rPr lang="en-IN" sz="1750" dirty="0"/>
                <a:t>def </a:t>
              </a:r>
              <a:r>
                <a:rPr lang="en-IN" sz="1750" dirty="0" err="1"/>
                <a:t>decr</a:t>
              </a:r>
              <a:r>
                <a:rPr lang="en-IN" sz="1750" dirty="0"/>
                <a:t>():</a:t>
              </a:r>
            </a:p>
            <a:p>
              <a:pPr algn="just" fontAlgn="base"/>
              <a:r>
                <a:rPr lang="en-IN" sz="1750" dirty="0"/>
                <a:t>    global x</a:t>
              </a:r>
            </a:p>
            <a:p>
              <a:pPr algn="just" fontAlgn="base"/>
              <a:r>
                <a:rPr lang="en-IN" sz="1750" dirty="0"/>
                <a:t>    for </a:t>
              </a:r>
              <a:r>
                <a:rPr lang="en-IN" sz="1750" dirty="0" err="1"/>
                <a:t>i</a:t>
              </a:r>
              <a:r>
                <a:rPr lang="en-IN" sz="1750" dirty="0"/>
                <a:t> in range(COUNT):</a:t>
              </a:r>
            </a:p>
            <a:p>
              <a:pPr algn="just" fontAlgn="base"/>
              <a:r>
                <a:rPr lang="en-IN" sz="1750" dirty="0"/>
                <a:t>        x -= 1</a:t>
              </a:r>
            </a:p>
            <a:p>
              <a:pPr algn="just" fontAlgn="base"/>
              <a:r>
                <a:rPr lang="en-IN" sz="1750" dirty="0"/>
                <a:t>        print(x)</a:t>
              </a:r>
            </a:p>
          </p:txBody>
        </p:sp>
      </p:grpSp>
      <p:sp>
        <p:nvSpPr>
          <p:cNvPr id="8" name="object 12"/>
          <p:cNvSpPr txBox="1"/>
          <p:nvPr/>
        </p:nvSpPr>
        <p:spPr>
          <a:xfrm>
            <a:off x="5991003" y="628441"/>
            <a:ext cx="6031664" cy="2154436"/>
          </a:xfrm>
          <a:prstGeom prst="rect">
            <a:avLst/>
          </a:prstGeom>
        </p:spPr>
        <p:txBody>
          <a:bodyPr vert="horz" wrap="square" lIns="0" tIns="0" rIns="0" bIns="0" numCol="1" rtlCol="0">
            <a:spAutoFit/>
          </a:bodyPr>
          <a:lstStyle/>
          <a:p>
            <a:pPr algn="just" fontAlgn="base"/>
            <a:endParaRPr lang="en-IN" sz="1750" dirty="0"/>
          </a:p>
          <a:p>
            <a:pPr algn="just" fontAlgn="base"/>
            <a:r>
              <a:rPr lang="en-IN" sz="1750" dirty="0"/>
              <a:t>t1 = </a:t>
            </a:r>
            <a:r>
              <a:rPr lang="en-IN" sz="1750" dirty="0" err="1"/>
              <a:t>threading.Thread</a:t>
            </a:r>
            <a:r>
              <a:rPr lang="en-IN" sz="1750" dirty="0"/>
              <a:t>(target=</a:t>
            </a:r>
            <a:r>
              <a:rPr lang="en-IN" sz="1750" dirty="0" err="1"/>
              <a:t>incr</a:t>
            </a:r>
            <a:r>
              <a:rPr lang="en-IN" sz="1750" dirty="0"/>
              <a:t>)</a:t>
            </a:r>
          </a:p>
          <a:p>
            <a:pPr algn="just" fontAlgn="base"/>
            <a:r>
              <a:rPr lang="en-IN" sz="1750" dirty="0"/>
              <a:t>t2 = </a:t>
            </a:r>
            <a:r>
              <a:rPr lang="en-IN" sz="1750" dirty="0" err="1"/>
              <a:t>threading.Thread</a:t>
            </a:r>
            <a:r>
              <a:rPr lang="en-IN" sz="1750" dirty="0"/>
              <a:t>(target=</a:t>
            </a:r>
            <a:r>
              <a:rPr lang="en-IN" sz="1750" dirty="0" err="1"/>
              <a:t>decr</a:t>
            </a:r>
            <a:r>
              <a:rPr lang="en-IN" sz="1750" dirty="0"/>
              <a:t>)</a:t>
            </a:r>
          </a:p>
          <a:p>
            <a:pPr algn="just" fontAlgn="base"/>
            <a:r>
              <a:rPr lang="en-IN" sz="1750" dirty="0"/>
              <a:t>t1.start()</a:t>
            </a:r>
          </a:p>
          <a:p>
            <a:pPr algn="just" fontAlgn="base"/>
            <a:r>
              <a:rPr lang="en-IN" sz="1750" dirty="0"/>
              <a:t>t2.start()</a:t>
            </a:r>
          </a:p>
          <a:p>
            <a:pPr algn="just" fontAlgn="base"/>
            <a:r>
              <a:rPr lang="en-IN" sz="1750" dirty="0"/>
              <a:t>t1.join()</a:t>
            </a:r>
          </a:p>
          <a:p>
            <a:pPr algn="just" fontAlgn="base"/>
            <a:r>
              <a:rPr lang="en-IN" sz="1750" dirty="0"/>
              <a:t>t2.join()</a:t>
            </a:r>
          </a:p>
          <a:p>
            <a:pPr algn="just" fontAlgn="base"/>
            <a:r>
              <a:rPr lang="en-IN" sz="1750" dirty="0"/>
              <a:t>print(x)</a:t>
            </a:r>
          </a:p>
        </p:txBody>
      </p:sp>
      <p:sp>
        <p:nvSpPr>
          <p:cNvPr id="4" name="Slide Number Placeholder 3"/>
          <p:cNvSpPr>
            <a:spLocks noGrp="1"/>
          </p:cNvSpPr>
          <p:nvPr>
            <p:ph type="sldNum" sz="quarter" idx="7"/>
          </p:nvPr>
        </p:nvSpPr>
        <p:spPr/>
        <p:txBody>
          <a:bodyPr/>
          <a:lstStyle/>
          <a:p>
            <a:fld id="{B6F15528-21DE-4FAA-801E-634DDDAF4B2B}" type="slidenum">
              <a:rPr/>
              <a:t>69</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Synchronization in Python</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59"/>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9214355" cy="800425"/>
            </a:xfrm>
            <a:prstGeom prst="rect">
              <a:avLst/>
            </a:prstGeom>
          </p:spPr>
          <p:txBody>
            <a:bodyPr vert="horz" wrap="square" lIns="0" tIns="0" rIns="0" bIns="0" numCol="1" rtlCol="0">
              <a:spAutoFit/>
            </a:bodyPr>
            <a:lstStyle/>
            <a:p>
              <a:pPr algn="just" fontAlgn="base">
                <a:lnSpc>
                  <a:spcPct val="150000"/>
                </a:lnSpc>
              </a:pPr>
              <a:r>
                <a:rPr lang="en-IN" sz="1750" b="1" dirty="0"/>
                <a:t>Locks:</a:t>
              </a:r>
            </a:p>
            <a:p>
              <a:pPr algn="just" fontAlgn="base">
                <a:lnSpc>
                  <a:spcPct val="150000"/>
                </a:lnSpc>
              </a:pPr>
              <a:r>
                <a:rPr lang="en-IN" sz="1750" dirty="0"/>
                <a:t>	Locks are perhaps the simplest synchronization primitives in Python. A Lock has only two states — locked and unlocked (surprise). It is created in the unlocked state and has two principal methods — acquire() and release(). The acquire() method locks the Lock and blocks execution until the release() method in some other co-routine sets it to unlocked.</a:t>
              </a:r>
            </a:p>
            <a:p>
              <a:pPr algn="just" fontAlgn="base">
                <a:lnSpc>
                  <a:spcPct val="150000"/>
                </a:lnSpc>
              </a:pPr>
              <a:endParaRPr lang="en-IN" sz="1750" dirty="0"/>
            </a:p>
            <a:p>
              <a:pPr algn="just" fontAlgn="base">
                <a:lnSpc>
                  <a:spcPct val="150000"/>
                </a:lnSpc>
              </a:pPr>
              <a:r>
                <a:rPr lang="en-IN" sz="1750" b="1" dirty="0"/>
                <a:t>R-Locks:</a:t>
              </a:r>
            </a:p>
            <a:p>
              <a:pPr algn="just" fontAlgn="base">
                <a:lnSpc>
                  <a:spcPct val="150000"/>
                </a:lnSpc>
              </a:pPr>
              <a:r>
                <a:rPr lang="en-IN" sz="1750" dirty="0"/>
                <a:t>	R-Lock class is a version of simple locking that only blocks if the lock is held by another thread. While simple locks will block if the same thread attempts to acquire the same lock twice, a re-entrant lock only blocks if another thread currently holds the lock. </a:t>
              </a:r>
            </a:p>
            <a:p>
              <a:pPr algn="just" fontAlgn="base">
                <a:lnSpc>
                  <a:spcPct val="150000"/>
                </a:lnSpc>
              </a:pPr>
              <a:endParaRPr lang="en-IN" sz="1750" dirty="0"/>
            </a:p>
            <a:p>
              <a:pPr algn="just" fontAlgn="base">
                <a:lnSpc>
                  <a:spcPct val="150000"/>
                </a:lnSpc>
              </a:pPr>
              <a:r>
                <a:rPr lang="en-IN" sz="1750" b="1" dirty="0"/>
                <a:t>Semaphore:</a:t>
              </a:r>
            </a:p>
            <a:p>
              <a:pPr algn="just" fontAlgn="base">
                <a:lnSpc>
                  <a:spcPct val="150000"/>
                </a:lnSpc>
              </a:pPr>
              <a:r>
                <a:rPr lang="en-IN" sz="1750" dirty="0"/>
                <a:t>	A semaphore has an internal counter rather than a lock flag, and it only blocks if more than a given number of threads have attempted to hold the semaphore. Depending on how the semaphore is initialized, this allows multiple threads to access the same code section simultaneously.</a:t>
              </a:r>
            </a:p>
          </p:txBody>
        </p:sp>
      </p:grpSp>
      <p:sp>
        <p:nvSpPr>
          <p:cNvPr id="4" name="Slide Number Placeholder 3"/>
          <p:cNvSpPr>
            <a:spLocks noGrp="1"/>
          </p:cNvSpPr>
          <p:nvPr>
            <p:ph type="sldNum" sz="quarter" idx="7"/>
          </p:nvPr>
        </p:nvSpPr>
        <p:spPr/>
        <p:txBody>
          <a:bodyPr/>
          <a:lstStyle/>
          <a:p>
            <a:fld id="{B6F15528-21DE-4FAA-801E-634DDDAF4B2B}" type="slidenum">
              <a:rPr/>
              <a:t>70</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LOCK in python</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59"/>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9214355" cy="457386"/>
            </a:xfrm>
            <a:prstGeom prst="rect">
              <a:avLst/>
            </a:prstGeom>
          </p:spPr>
          <p:txBody>
            <a:bodyPr vert="horz" wrap="square" lIns="0" tIns="0" rIns="0" bIns="0" numCol="1" rtlCol="0">
              <a:spAutoFit/>
            </a:bodyPr>
            <a:lstStyle/>
            <a:p>
              <a:pPr algn="just" fontAlgn="base">
                <a:lnSpc>
                  <a:spcPct val="150000"/>
                </a:lnSpc>
              </a:pPr>
              <a:r>
                <a:rPr lang="en-IN" sz="1750" b="1" dirty="0"/>
                <a:t>Synchronization using LOCK</a:t>
              </a:r>
            </a:p>
            <a:p>
              <a:pPr algn="just" fontAlgn="base">
                <a:lnSpc>
                  <a:spcPct val="150000"/>
                </a:lnSpc>
              </a:pPr>
              <a:r>
                <a:rPr lang="en-IN" sz="1750" dirty="0"/>
                <a:t> Locks have 2 states: locked and unlocked. 2 methods are used to manipulate them: acquire() and release(). Those are the rules:</a:t>
              </a:r>
            </a:p>
            <a:p>
              <a:pPr marL="342900" indent="-342900" algn="just" fontAlgn="base">
                <a:lnSpc>
                  <a:spcPct val="150000"/>
                </a:lnSpc>
                <a:buFont typeface="+mj-lt"/>
                <a:buAutoNum type="arabicPeriod"/>
              </a:pPr>
              <a:r>
                <a:rPr lang="en-IN" sz="1750" dirty="0"/>
                <a:t>if the state is unlocked: a call to acquire() changes the state to locked.</a:t>
              </a:r>
            </a:p>
            <a:p>
              <a:pPr marL="342900" indent="-342900" algn="just" fontAlgn="base">
                <a:lnSpc>
                  <a:spcPct val="150000"/>
                </a:lnSpc>
                <a:buFont typeface="+mj-lt"/>
                <a:buAutoNum type="arabicPeriod"/>
              </a:pPr>
              <a:r>
                <a:rPr lang="en-IN" sz="1750" dirty="0"/>
                <a:t>if the state is locked: a call to acquire() blocks until another thread calls release().</a:t>
              </a:r>
            </a:p>
            <a:p>
              <a:pPr marL="342900" indent="-342900" algn="just" fontAlgn="base">
                <a:lnSpc>
                  <a:spcPct val="150000"/>
                </a:lnSpc>
                <a:buFont typeface="+mj-lt"/>
                <a:buAutoNum type="arabicPeriod"/>
              </a:pPr>
              <a:r>
                <a:rPr lang="en-IN" sz="1750" dirty="0"/>
                <a:t>if the state is unlocked: a call to release() raises a RuntimeError exception.</a:t>
              </a:r>
            </a:p>
            <a:p>
              <a:pPr marL="342900" indent="-342900" algn="just" fontAlgn="base">
                <a:lnSpc>
                  <a:spcPct val="150000"/>
                </a:lnSpc>
                <a:buFont typeface="+mj-lt"/>
                <a:buAutoNum type="arabicPeriod"/>
              </a:pPr>
              <a:r>
                <a:rPr lang="en-IN" sz="1750" dirty="0"/>
                <a:t>if the state is locked: a call to release() changes the state to unlocked().</a:t>
              </a:r>
            </a:p>
            <a:p>
              <a:pPr algn="just" fontAlgn="base">
                <a:lnSpc>
                  <a:spcPct val="150000"/>
                </a:lnSpc>
              </a:pPr>
              <a:endParaRPr lang="en-IN" sz="1750" dirty="0"/>
            </a:p>
            <a:p>
              <a:pPr algn="just" fontAlgn="base">
                <a:lnSpc>
                  <a:spcPct val="150000"/>
                </a:lnSpc>
              </a:pPr>
              <a:endParaRPr lang="en-IN" sz="1750" dirty="0"/>
            </a:p>
          </p:txBody>
        </p:sp>
      </p:gr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8826" y="3186954"/>
            <a:ext cx="7626106" cy="3273470"/>
          </a:xfrm>
          <a:prstGeom prst="rect">
            <a:avLst/>
          </a:prstGeom>
        </p:spPr>
      </p:pic>
      <p:sp>
        <p:nvSpPr>
          <p:cNvPr id="5" name="Slide Number Placeholder 4"/>
          <p:cNvSpPr>
            <a:spLocks noGrp="1"/>
          </p:cNvSpPr>
          <p:nvPr>
            <p:ph type="sldNum" sz="quarter" idx="7"/>
          </p:nvPr>
        </p:nvSpPr>
        <p:spPr/>
        <p:txBody>
          <a:bodyPr/>
          <a:lstStyle/>
          <a:p>
            <a:fld id="{B6F15528-21DE-4FAA-801E-634DDDAF4B2B}" type="slidenum">
              <a:rPr/>
              <a:t>71</a:t>
            </a:fld>
            <a:endParaRPr/>
          </a:p>
        </p:txBody>
      </p:sp>
      <p:sp>
        <p:nvSpPr>
          <p:cNvPr id="6" name="Footer Placeholder 5"/>
          <p:cNvSpPr>
            <a:spLocks noGrp="1"/>
          </p:cNvSpPr>
          <p:nvPr>
            <p:ph type="ftr" sz="quarter" idx="5"/>
          </p:nvPr>
        </p:nvSpPr>
        <p:spPr/>
        <p:txBody>
          <a:bodyPr/>
          <a:lstStyle/>
          <a:p>
            <a:r>
              <a:t>UNIT IV : Pythonic Programming Paradigm</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Synchronization in Python using Lock</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60"/>
            <a:ext cx="12105504" cy="6100834"/>
            <a:chOff x="127862" y="1268442"/>
            <a:chExt cx="9296400" cy="863469"/>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4519304" cy="857598"/>
            </a:xfrm>
            <a:prstGeom prst="rect">
              <a:avLst/>
            </a:prstGeom>
          </p:spPr>
          <p:txBody>
            <a:bodyPr vert="horz" wrap="square" lIns="0" tIns="0" rIns="0" bIns="0" numCol="1" rtlCol="0">
              <a:spAutoFit/>
            </a:bodyPr>
            <a:lstStyle/>
            <a:p>
              <a:pPr algn="just" fontAlgn="base">
                <a:lnSpc>
                  <a:spcPct val="150000"/>
                </a:lnSpc>
              </a:pPr>
              <a:r>
                <a:rPr lang="en-IN" sz="1750" dirty="0"/>
                <a:t>import threading</a:t>
              </a:r>
            </a:p>
            <a:p>
              <a:pPr algn="just" fontAlgn="base">
                <a:lnSpc>
                  <a:spcPct val="150000"/>
                </a:lnSpc>
              </a:pPr>
              <a:r>
                <a:rPr lang="en-IN" sz="1750" dirty="0"/>
                <a:t>x = 0     # A shared value</a:t>
              </a:r>
            </a:p>
            <a:p>
              <a:pPr algn="just" fontAlgn="base">
                <a:lnSpc>
                  <a:spcPct val="150000"/>
                </a:lnSpc>
              </a:pPr>
              <a:r>
                <a:rPr lang="en-IN" sz="1750" dirty="0"/>
                <a:t>COUNT = 100</a:t>
              </a:r>
            </a:p>
            <a:p>
              <a:pPr algn="just" fontAlgn="base">
                <a:lnSpc>
                  <a:spcPct val="150000"/>
                </a:lnSpc>
              </a:pPr>
              <a:r>
                <a:rPr lang="en-IN" sz="1750" dirty="0"/>
                <a:t>lock = </a:t>
              </a:r>
              <a:r>
                <a:rPr lang="en-IN" sz="1750" dirty="0" err="1"/>
                <a:t>threading.Lock</a:t>
              </a:r>
              <a:r>
                <a:rPr lang="en-IN" sz="1750" dirty="0"/>
                <a:t>()</a:t>
              </a:r>
            </a:p>
            <a:p>
              <a:pPr algn="just" fontAlgn="base">
                <a:lnSpc>
                  <a:spcPct val="150000"/>
                </a:lnSpc>
              </a:pPr>
              <a:endParaRPr lang="en-IN" sz="1750" dirty="0"/>
            </a:p>
            <a:p>
              <a:pPr algn="just" fontAlgn="base">
                <a:lnSpc>
                  <a:spcPct val="150000"/>
                </a:lnSpc>
              </a:pPr>
              <a:r>
                <a:rPr lang="en-IN" sz="1750" dirty="0"/>
                <a:t>def </a:t>
              </a:r>
              <a:r>
                <a:rPr lang="en-IN" sz="1750" dirty="0" err="1"/>
                <a:t>incr</a:t>
              </a:r>
              <a:r>
                <a:rPr lang="en-IN" sz="1750" dirty="0"/>
                <a:t>():</a:t>
              </a:r>
            </a:p>
            <a:p>
              <a:pPr algn="just" fontAlgn="base">
                <a:lnSpc>
                  <a:spcPct val="150000"/>
                </a:lnSpc>
              </a:pPr>
              <a:r>
                <a:rPr lang="en-IN" sz="1750" dirty="0"/>
                <a:t>    global x</a:t>
              </a:r>
            </a:p>
            <a:p>
              <a:pPr algn="just" fontAlgn="base">
                <a:lnSpc>
                  <a:spcPct val="150000"/>
                </a:lnSpc>
              </a:pPr>
              <a:r>
                <a:rPr lang="en-IN" sz="1750" dirty="0"/>
                <a:t>    </a:t>
              </a:r>
              <a:r>
                <a:rPr lang="en-IN" sz="1750" dirty="0" err="1"/>
                <a:t>lock.acquire</a:t>
              </a:r>
              <a:r>
                <a:rPr lang="en-IN" sz="1750" dirty="0"/>
                <a:t>()</a:t>
              </a:r>
            </a:p>
            <a:p>
              <a:pPr algn="just" fontAlgn="base">
                <a:lnSpc>
                  <a:spcPct val="150000"/>
                </a:lnSpc>
              </a:pPr>
              <a:r>
                <a:rPr lang="en-IN" sz="1750" dirty="0"/>
                <a:t>    print("thread locked for increment cur x=",x)</a:t>
              </a:r>
            </a:p>
            <a:p>
              <a:pPr algn="just" fontAlgn="base">
                <a:lnSpc>
                  <a:spcPct val="150000"/>
                </a:lnSpc>
              </a:pPr>
              <a:r>
                <a:rPr lang="en-IN" sz="1750" dirty="0"/>
                <a:t>    for </a:t>
              </a:r>
              <a:r>
                <a:rPr lang="en-IN" sz="1750" dirty="0" err="1"/>
                <a:t>i</a:t>
              </a:r>
              <a:r>
                <a:rPr lang="en-IN" sz="1750" dirty="0"/>
                <a:t> in range(COUNT):</a:t>
              </a:r>
            </a:p>
            <a:p>
              <a:pPr algn="just" fontAlgn="base">
                <a:lnSpc>
                  <a:spcPct val="150000"/>
                </a:lnSpc>
              </a:pPr>
              <a:r>
                <a:rPr lang="en-IN" sz="1750" dirty="0"/>
                <a:t>        x += 1</a:t>
              </a:r>
            </a:p>
            <a:p>
              <a:pPr algn="just" fontAlgn="base">
                <a:lnSpc>
                  <a:spcPct val="150000"/>
                </a:lnSpc>
              </a:pPr>
              <a:r>
                <a:rPr lang="en-IN" sz="1750" dirty="0"/>
                <a:t>        print(x)</a:t>
              </a:r>
            </a:p>
            <a:p>
              <a:pPr algn="just" fontAlgn="base">
                <a:lnSpc>
                  <a:spcPct val="150000"/>
                </a:lnSpc>
              </a:pPr>
              <a:r>
                <a:rPr lang="en-IN" sz="1750" dirty="0"/>
                <a:t>    </a:t>
              </a:r>
              <a:r>
                <a:rPr lang="en-IN" sz="1750" dirty="0" err="1"/>
                <a:t>lock.release</a:t>
              </a:r>
              <a:r>
                <a:rPr lang="en-IN" sz="1750" dirty="0"/>
                <a:t>()</a:t>
              </a:r>
            </a:p>
            <a:p>
              <a:pPr algn="just" fontAlgn="base">
                <a:lnSpc>
                  <a:spcPct val="150000"/>
                </a:lnSpc>
              </a:pPr>
              <a:r>
                <a:rPr lang="en-IN" sz="1750" dirty="0"/>
                <a:t>    print("thread release from increment cur x=",x)</a:t>
              </a:r>
            </a:p>
            <a:p>
              <a:pPr algn="just" fontAlgn="base">
                <a:lnSpc>
                  <a:spcPct val="150000"/>
                </a:lnSpc>
              </a:pPr>
              <a:endParaRPr lang="en-IN" sz="1750" dirty="0"/>
            </a:p>
          </p:txBody>
        </p:sp>
      </p:grpSp>
      <p:sp>
        <p:nvSpPr>
          <p:cNvPr id="8" name="object 12"/>
          <p:cNvSpPr txBox="1"/>
          <p:nvPr/>
        </p:nvSpPr>
        <p:spPr>
          <a:xfrm>
            <a:off x="5991003" y="628441"/>
            <a:ext cx="6031664" cy="6059351"/>
          </a:xfrm>
          <a:prstGeom prst="rect">
            <a:avLst/>
          </a:prstGeom>
        </p:spPr>
        <p:txBody>
          <a:bodyPr vert="horz" wrap="square" lIns="0" tIns="0" rIns="0" bIns="0" numCol="1" rtlCol="0">
            <a:spAutoFit/>
          </a:bodyPr>
          <a:lstStyle/>
          <a:p>
            <a:pPr algn="just" fontAlgn="base">
              <a:lnSpc>
                <a:spcPct val="150000"/>
              </a:lnSpc>
            </a:pPr>
            <a:r>
              <a:rPr lang="en-IN" sz="1750" dirty="0"/>
              <a:t>def </a:t>
            </a:r>
            <a:r>
              <a:rPr lang="en-IN" sz="1750" dirty="0" err="1"/>
              <a:t>decr</a:t>
            </a:r>
            <a:r>
              <a:rPr lang="en-IN" sz="1750" dirty="0"/>
              <a:t>():</a:t>
            </a:r>
          </a:p>
          <a:p>
            <a:pPr algn="just" fontAlgn="base">
              <a:lnSpc>
                <a:spcPct val="150000"/>
              </a:lnSpc>
            </a:pPr>
            <a:r>
              <a:rPr lang="en-IN" sz="1750" dirty="0"/>
              <a:t>    global x</a:t>
            </a:r>
          </a:p>
          <a:p>
            <a:pPr algn="just" fontAlgn="base">
              <a:lnSpc>
                <a:spcPct val="150000"/>
              </a:lnSpc>
            </a:pPr>
            <a:r>
              <a:rPr lang="en-IN" sz="1750" dirty="0"/>
              <a:t>    </a:t>
            </a:r>
            <a:r>
              <a:rPr lang="en-IN" sz="1750" dirty="0" err="1"/>
              <a:t>lock.acquire</a:t>
            </a:r>
            <a:r>
              <a:rPr lang="en-IN" sz="1750" dirty="0"/>
              <a:t>()</a:t>
            </a:r>
          </a:p>
          <a:p>
            <a:pPr algn="just" fontAlgn="base">
              <a:lnSpc>
                <a:spcPct val="150000"/>
              </a:lnSpc>
            </a:pPr>
            <a:r>
              <a:rPr lang="en-IN" sz="1750" dirty="0"/>
              <a:t>    print("thread locked for decrement cur x=",x)</a:t>
            </a:r>
          </a:p>
          <a:p>
            <a:pPr algn="just" fontAlgn="base">
              <a:lnSpc>
                <a:spcPct val="150000"/>
              </a:lnSpc>
            </a:pPr>
            <a:r>
              <a:rPr lang="en-IN" sz="1750" dirty="0"/>
              <a:t>    for </a:t>
            </a:r>
            <a:r>
              <a:rPr lang="en-IN" sz="1750" dirty="0" err="1"/>
              <a:t>i</a:t>
            </a:r>
            <a:r>
              <a:rPr lang="en-IN" sz="1750" dirty="0"/>
              <a:t> in range(COUNT):</a:t>
            </a:r>
          </a:p>
          <a:p>
            <a:pPr algn="just" fontAlgn="base">
              <a:lnSpc>
                <a:spcPct val="150000"/>
              </a:lnSpc>
            </a:pPr>
            <a:r>
              <a:rPr lang="en-IN" sz="1750" dirty="0"/>
              <a:t>        x -= 1</a:t>
            </a:r>
          </a:p>
          <a:p>
            <a:pPr algn="just" fontAlgn="base">
              <a:lnSpc>
                <a:spcPct val="150000"/>
              </a:lnSpc>
            </a:pPr>
            <a:r>
              <a:rPr lang="en-IN" sz="1750" dirty="0"/>
              <a:t>        print(x)</a:t>
            </a:r>
          </a:p>
          <a:p>
            <a:pPr algn="just" fontAlgn="base">
              <a:lnSpc>
                <a:spcPct val="150000"/>
              </a:lnSpc>
            </a:pPr>
            <a:r>
              <a:rPr lang="en-IN" sz="1750" dirty="0"/>
              <a:t>    </a:t>
            </a:r>
            <a:r>
              <a:rPr lang="en-IN" sz="1750" dirty="0" err="1"/>
              <a:t>lock.release</a:t>
            </a:r>
            <a:r>
              <a:rPr lang="en-IN" sz="1750" dirty="0"/>
              <a:t>()</a:t>
            </a:r>
          </a:p>
          <a:p>
            <a:pPr algn="just" fontAlgn="base">
              <a:lnSpc>
                <a:spcPct val="150000"/>
              </a:lnSpc>
            </a:pPr>
            <a:r>
              <a:rPr lang="en-IN" sz="1750" dirty="0"/>
              <a:t>    print("thread release from decrement cur x=",x)</a:t>
            </a:r>
          </a:p>
          <a:p>
            <a:pPr algn="just" fontAlgn="base">
              <a:lnSpc>
                <a:spcPct val="150000"/>
              </a:lnSpc>
            </a:pPr>
            <a:r>
              <a:rPr lang="en-IN" sz="1750" dirty="0"/>
              <a:t>t1 = </a:t>
            </a:r>
            <a:r>
              <a:rPr lang="en-IN" sz="1750" dirty="0" err="1"/>
              <a:t>threading.Thread</a:t>
            </a:r>
            <a:r>
              <a:rPr lang="en-IN" sz="1750" dirty="0"/>
              <a:t>(target=</a:t>
            </a:r>
            <a:r>
              <a:rPr lang="en-IN" sz="1750" dirty="0" err="1"/>
              <a:t>incr</a:t>
            </a:r>
            <a:r>
              <a:rPr lang="en-IN" sz="1750" dirty="0"/>
              <a:t>)</a:t>
            </a:r>
          </a:p>
          <a:p>
            <a:pPr algn="just" fontAlgn="base">
              <a:lnSpc>
                <a:spcPct val="150000"/>
              </a:lnSpc>
            </a:pPr>
            <a:r>
              <a:rPr lang="en-IN" sz="1750" dirty="0"/>
              <a:t>t2 = </a:t>
            </a:r>
            <a:r>
              <a:rPr lang="en-IN" sz="1750" dirty="0" err="1"/>
              <a:t>threading.Thread</a:t>
            </a:r>
            <a:r>
              <a:rPr lang="en-IN" sz="1750" dirty="0"/>
              <a:t>(target=</a:t>
            </a:r>
            <a:r>
              <a:rPr lang="en-IN" sz="1750" dirty="0" err="1"/>
              <a:t>decr</a:t>
            </a:r>
            <a:r>
              <a:rPr lang="en-IN" sz="1750" dirty="0"/>
              <a:t>)</a:t>
            </a:r>
          </a:p>
          <a:p>
            <a:pPr algn="just" fontAlgn="base">
              <a:lnSpc>
                <a:spcPct val="150000"/>
              </a:lnSpc>
            </a:pPr>
            <a:r>
              <a:rPr lang="en-IN" sz="1750" dirty="0"/>
              <a:t>t1.start()</a:t>
            </a:r>
          </a:p>
          <a:p>
            <a:pPr algn="just" fontAlgn="base">
              <a:lnSpc>
                <a:spcPct val="150000"/>
              </a:lnSpc>
            </a:pPr>
            <a:r>
              <a:rPr lang="en-IN" sz="1750" dirty="0"/>
              <a:t>t2.start()</a:t>
            </a:r>
          </a:p>
          <a:p>
            <a:pPr algn="just" fontAlgn="base">
              <a:lnSpc>
                <a:spcPct val="150000"/>
              </a:lnSpc>
            </a:pPr>
            <a:r>
              <a:rPr lang="en-IN" sz="1750" dirty="0"/>
              <a:t>t1.join()</a:t>
            </a:r>
          </a:p>
          <a:p>
            <a:pPr algn="just" fontAlgn="base">
              <a:lnSpc>
                <a:spcPct val="150000"/>
              </a:lnSpc>
            </a:pPr>
            <a:r>
              <a:rPr lang="en-IN" sz="1750" dirty="0"/>
              <a:t>t2.join()</a:t>
            </a:r>
          </a:p>
        </p:txBody>
      </p:sp>
      <p:sp>
        <p:nvSpPr>
          <p:cNvPr id="4" name="Slide Number Placeholder 3"/>
          <p:cNvSpPr>
            <a:spLocks noGrp="1"/>
          </p:cNvSpPr>
          <p:nvPr>
            <p:ph type="sldNum" sz="quarter" idx="7"/>
          </p:nvPr>
        </p:nvSpPr>
        <p:spPr/>
        <p:txBody>
          <a:bodyPr/>
          <a:lstStyle/>
          <a:p>
            <a:fld id="{B6F15528-21DE-4FAA-801E-634DDDAF4B2B}" type="slidenum">
              <a:rPr/>
              <a:t>72</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Synchronization in Python using </a:t>
            </a:r>
            <a:r>
              <a:rPr lang="en-US" sz="2565" b="1" spc="13" dirty="0" err="1">
                <a:solidFill>
                  <a:srgbClr val="010103"/>
                </a:solidFill>
                <a:latin typeface="Arial" panose="020B0604020202020204"/>
                <a:cs typeface="Arial" panose="020B0604020202020204"/>
              </a:rPr>
              <a:t>RLock</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60"/>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4519304" cy="800425"/>
            </a:xfrm>
            <a:prstGeom prst="rect">
              <a:avLst/>
            </a:prstGeom>
          </p:spPr>
          <p:txBody>
            <a:bodyPr vert="horz" wrap="square" lIns="0" tIns="0" rIns="0" bIns="0" numCol="1" rtlCol="0">
              <a:spAutoFit/>
            </a:bodyPr>
            <a:lstStyle/>
            <a:p>
              <a:pPr algn="just" fontAlgn="base"/>
              <a:r>
                <a:rPr lang="en-IN" sz="1750" dirty="0"/>
                <a:t>import threading</a:t>
              </a:r>
            </a:p>
            <a:p>
              <a:pPr algn="just" fontAlgn="base"/>
              <a:endParaRPr lang="en-IN" sz="1750" dirty="0"/>
            </a:p>
            <a:p>
              <a:pPr algn="just" fontAlgn="base"/>
              <a:r>
                <a:rPr lang="en-IN" sz="1750" dirty="0"/>
                <a:t>class Foo(object):</a:t>
              </a:r>
            </a:p>
            <a:p>
              <a:pPr algn="just" fontAlgn="base"/>
              <a:r>
                <a:rPr lang="en-IN" sz="1750" dirty="0"/>
                <a:t>    lock = </a:t>
              </a:r>
              <a:r>
                <a:rPr lang="en-IN" sz="1750" dirty="0" err="1"/>
                <a:t>threading.RLock</a:t>
              </a:r>
              <a:r>
                <a:rPr lang="en-IN" sz="1750" dirty="0"/>
                <a:t>()</a:t>
              </a:r>
            </a:p>
            <a:p>
              <a:pPr algn="just" fontAlgn="base"/>
              <a:r>
                <a:rPr lang="en-IN" sz="1750" dirty="0"/>
                <a:t>    def __</a:t>
              </a:r>
              <a:r>
                <a:rPr lang="en-IN" sz="1750" dirty="0" err="1"/>
                <a:t>init</a:t>
              </a:r>
              <a:r>
                <a:rPr lang="en-IN" sz="1750" dirty="0"/>
                <a:t>__(self):</a:t>
              </a:r>
            </a:p>
            <a:p>
              <a:pPr algn="just" fontAlgn="base"/>
              <a:r>
                <a:rPr lang="en-IN" sz="1750" dirty="0"/>
                <a:t>        </a:t>
              </a:r>
              <a:r>
                <a:rPr lang="en-IN" sz="1750" dirty="0" err="1"/>
                <a:t>self.x</a:t>
              </a:r>
              <a:r>
                <a:rPr lang="en-IN" sz="1750" dirty="0"/>
                <a:t> = 0</a:t>
              </a:r>
            </a:p>
            <a:p>
              <a:pPr algn="just" fontAlgn="base"/>
              <a:r>
                <a:rPr lang="en-IN" sz="1750" dirty="0"/>
                <a:t>    def add(</a:t>
              </a:r>
              <a:r>
                <a:rPr lang="en-IN" sz="1750" dirty="0" err="1"/>
                <a:t>self,n</a:t>
              </a:r>
              <a:r>
                <a:rPr lang="en-IN" sz="1750" dirty="0"/>
                <a:t>):</a:t>
              </a:r>
            </a:p>
            <a:p>
              <a:pPr algn="just" fontAlgn="base"/>
              <a:r>
                <a:rPr lang="en-IN" sz="1750" dirty="0"/>
                <a:t>        with </a:t>
              </a:r>
              <a:r>
                <a:rPr lang="en-IN" sz="1750" dirty="0" err="1"/>
                <a:t>Foo.lock</a:t>
              </a:r>
              <a:r>
                <a:rPr lang="en-IN" sz="1750" dirty="0"/>
                <a:t>:</a:t>
              </a:r>
            </a:p>
            <a:p>
              <a:pPr algn="just" fontAlgn="base"/>
              <a:r>
                <a:rPr lang="en-IN" sz="1750" dirty="0"/>
                <a:t>            </a:t>
              </a:r>
              <a:r>
                <a:rPr lang="en-IN" sz="1750" dirty="0" err="1"/>
                <a:t>self.x</a:t>
              </a:r>
              <a:r>
                <a:rPr lang="en-IN" sz="1750" dirty="0"/>
                <a:t> += n</a:t>
              </a:r>
            </a:p>
            <a:p>
              <a:pPr algn="just" fontAlgn="base"/>
              <a:r>
                <a:rPr lang="en-IN" sz="1750" dirty="0"/>
                <a:t>    def </a:t>
              </a:r>
              <a:r>
                <a:rPr lang="en-IN" sz="1750" dirty="0" err="1"/>
                <a:t>incr</a:t>
              </a:r>
              <a:r>
                <a:rPr lang="en-IN" sz="1750" dirty="0"/>
                <a:t>(self):</a:t>
              </a:r>
            </a:p>
            <a:p>
              <a:pPr algn="just" fontAlgn="base"/>
              <a:r>
                <a:rPr lang="en-IN" sz="1750" dirty="0"/>
                <a:t>        with </a:t>
              </a:r>
              <a:r>
                <a:rPr lang="en-IN" sz="1750" dirty="0" err="1"/>
                <a:t>Foo.lock</a:t>
              </a:r>
              <a:r>
                <a:rPr lang="en-IN" sz="1750" dirty="0"/>
                <a:t>:</a:t>
              </a:r>
            </a:p>
            <a:p>
              <a:pPr algn="just" fontAlgn="base"/>
              <a:r>
                <a:rPr lang="en-IN" sz="1750" dirty="0"/>
                <a:t>            </a:t>
              </a:r>
              <a:r>
                <a:rPr lang="en-IN" sz="1750" dirty="0" err="1"/>
                <a:t>self.add</a:t>
              </a:r>
              <a:r>
                <a:rPr lang="en-IN" sz="1750" dirty="0"/>
                <a:t>(1)</a:t>
              </a:r>
            </a:p>
            <a:p>
              <a:pPr algn="just" fontAlgn="base"/>
              <a:r>
                <a:rPr lang="en-IN" sz="1750" dirty="0"/>
                <a:t>    def </a:t>
              </a:r>
              <a:r>
                <a:rPr lang="en-IN" sz="1750" dirty="0" err="1"/>
                <a:t>decr</a:t>
              </a:r>
              <a:r>
                <a:rPr lang="en-IN" sz="1750" dirty="0"/>
                <a:t>(self):</a:t>
              </a:r>
            </a:p>
            <a:p>
              <a:pPr algn="just" fontAlgn="base"/>
              <a:r>
                <a:rPr lang="en-IN" sz="1750" dirty="0"/>
                <a:t>        with </a:t>
              </a:r>
              <a:r>
                <a:rPr lang="en-IN" sz="1750" dirty="0" err="1"/>
                <a:t>Foo.lock</a:t>
              </a:r>
              <a:r>
                <a:rPr lang="en-IN" sz="1750" dirty="0"/>
                <a:t>:</a:t>
              </a:r>
            </a:p>
            <a:p>
              <a:pPr algn="just" fontAlgn="base"/>
              <a:r>
                <a:rPr lang="en-IN" sz="1750" dirty="0"/>
                <a:t>            </a:t>
              </a:r>
              <a:r>
                <a:rPr lang="en-IN" sz="1750" dirty="0" err="1"/>
                <a:t>self.add</a:t>
              </a:r>
              <a:r>
                <a:rPr lang="en-IN" sz="1750" dirty="0"/>
                <a:t>(-1)</a:t>
              </a:r>
            </a:p>
            <a:p>
              <a:pPr algn="just" fontAlgn="base"/>
              <a:endParaRPr lang="en-IN" sz="1750" dirty="0"/>
            </a:p>
            <a:p>
              <a:pPr algn="just" fontAlgn="base"/>
              <a:endParaRPr lang="en-IN" sz="1750" dirty="0"/>
            </a:p>
            <a:p>
              <a:pPr algn="just" fontAlgn="base"/>
              <a:r>
                <a:rPr lang="en-IN" sz="1750" dirty="0"/>
                <a:t>def adder(</a:t>
              </a:r>
              <a:r>
                <a:rPr lang="en-IN" sz="1750" dirty="0" err="1"/>
                <a:t>f,count</a:t>
              </a:r>
              <a:r>
                <a:rPr lang="en-IN" sz="1750" dirty="0"/>
                <a:t>):</a:t>
              </a:r>
            </a:p>
            <a:p>
              <a:pPr algn="just" fontAlgn="base"/>
              <a:r>
                <a:rPr lang="en-IN" sz="1750" dirty="0"/>
                <a:t>    while count &gt; 0:</a:t>
              </a:r>
            </a:p>
            <a:p>
              <a:pPr algn="just" fontAlgn="base"/>
              <a:r>
                <a:rPr lang="en-IN" sz="1750" dirty="0"/>
                <a:t>        </a:t>
              </a:r>
              <a:r>
                <a:rPr lang="en-IN" sz="1750" dirty="0" err="1"/>
                <a:t>f.incr</a:t>
              </a:r>
              <a:r>
                <a:rPr lang="en-IN" sz="1750" dirty="0"/>
                <a:t>()</a:t>
              </a:r>
            </a:p>
            <a:p>
              <a:pPr algn="just" fontAlgn="base"/>
              <a:r>
                <a:rPr lang="en-IN" sz="1750" dirty="0"/>
                <a:t>        count -= 1</a:t>
              </a:r>
            </a:p>
          </p:txBody>
        </p:sp>
      </p:grpSp>
      <p:sp>
        <p:nvSpPr>
          <p:cNvPr id="8" name="object 12"/>
          <p:cNvSpPr txBox="1"/>
          <p:nvPr/>
        </p:nvSpPr>
        <p:spPr>
          <a:xfrm>
            <a:off x="5991003" y="628441"/>
            <a:ext cx="6031664" cy="4308872"/>
          </a:xfrm>
          <a:prstGeom prst="rect">
            <a:avLst/>
          </a:prstGeom>
        </p:spPr>
        <p:txBody>
          <a:bodyPr vert="horz" wrap="square" lIns="0" tIns="0" rIns="0" bIns="0" numCol="1" rtlCol="0">
            <a:spAutoFit/>
          </a:bodyPr>
          <a:lstStyle/>
          <a:p>
            <a:pPr algn="just" fontAlgn="base"/>
            <a:endParaRPr lang="en-IN" sz="1750" dirty="0"/>
          </a:p>
          <a:p>
            <a:pPr algn="just" fontAlgn="base"/>
            <a:r>
              <a:rPr lang="en-IN" sz="1750" dirty="0"/>
              <a:t>def </a:t>
            </a:r>
            <a:r>
              <a:rPr lang="en-IN" sz="1750" dirty="0" err="1"/>
              <a:t>subber</a:t>
            </a:r>
            <a:r>
              <a:rPr lang="en-IN" sz="1750" dirty="0"/>
              <a:t>(</a:t>
            </a:r>
            <a:r>
              <a:rPr lang="en-IN" sz="1750" dirty="0" err="1"/>
              <a:t>f,count</a:t>
            </a:r>
            <a:r>
              <a:rPr lang="en-IN" sz="1750" dirty="0"/>
              <a:t>):</a:t>
            </a:r>
          </a:p>
          <a:p>
            <a:pPr algn="just" fontAlgn="base"/>
            <a:r>
              <a:rPr lang="en-IN" sz="1750" dirty="0"/>
              <a:t>    while count &gt; 0:</a:t>
            </a:r>
          </a:p>
          <a:p>
            <a:pPr algn="just" fontAlgn="base"/>
            <a:r>
              <a:rPr lang="en-IN" sz="1750" dirty="0"/>
              <a:t>        </a:t>
            </a:r>
            <a:r>
              <a:rPr lang="en-IN" sz="1750" dirty="0" err="1"/>
              <a:t>f.decr</a:t>
            </a:r>
            <a:r>
              <a:rPr lang="en-IN" sz="1750" dirty="0"/>
              <a:t>()</a:t>
            </a:r>
          </a:p>
          <a:p>
            <a:pPr algn="just" fontAlgn="base"/>
            <a:r>
              <a:rPr lang="en-IN" sz="1750" dirty="0"/>
              <a:t>        count -= 1</a:t>
            </a:r>
          </a:p>
          <a:p>
            <a:pPr algn="just" fontAlgn="base"/>
            <a:endParaRPr lang="en-IN" sz="1750" dirty="0"/>
          </a:p>
          <a:p>
            <a:pPr algn="just" fontAlgn="base"/>
            <a:r>
              <a:rPr lang="en-IN" sz="1750" dirty="0"/>
              <a:t># Create some threads and make sure it works</a:t>
            </a:r>
          </a:p>
          <a:p>
            <a:pPr algn="just" fontAlgn="base"/>
            <a:r>
              <a:rPr lang="en-IN" sz="1750" dirty="0"/>
              <a:t>COUNT = 10</a:t>
            </a:r>
          </a:p>
          <a:p>
            <a:pPr algn="just" fontAlgn="base"/>
            <a:r>
              <a:rPr lang="en-IN" sz="1750" dirty="0"/>
              <a:t>f = Foo()</a:t>
            </a:r>
          </a:p>
          <a:p>
            <a:pPr algn="just" fontAlgn="base"/>
            <a:r>
              <a:rPr lang="en-IN" sz="1750" dirty="0"/>
              <a:t>t1 = </a:t>
            </a:r>
            <a:r>
              <a:rPr lang="en-IN" sz="1750" dirty="0" err="1"/>
              <a:t>threading.Thread</a:t>
            </a:r>
            <a:r>
              <a:rPr lang="en-IN" sz="1750" dirty="0"/>
              <a:t>(target=</a:t>
            </a:r>
            <a:r>
              <a:rPr lang="en-IN" sz="1750" dirty="0" err="1"/>
              <a:t>adder,args</a:t>
            </a:r>
            <a:r>
              <a:rPr lang="en-IN" sz="1750" dirty="0"/>
              <a:t>=(</a:t>
            </a:r>
            <a:r>
              <a:rPr lang="en-IN" sz="1750" dirty="0" err="1"/>
              <a:t>f,COUNT</a:t>
            </a:r>
            <a:r>
              <a:rPr lang="en-IN" sz="1750" dirty="0"/>
              <a:t>))</a:t>
            </a:r>
          </a:p>
          <a:p>
            <a:pPr algn="just" fontAlgn="base"/>
            <a:r>
              <a:rPr lang="en-IN" sz="1750" dirty="0"/>
              <a:t>t2 = </a:t>
            </a:r>
            <a:r>
              <a:rPr lang="en-IN" sz="1750" dirty="0" err="1"/>
              <a:t>threading.Thread</a:t>
            </a:r>
            <a:r>
              <a:rPr lang="en-IN" sz="1750" dirty="0"/>
              <a:t>(target=</a:t>
            </a:r>
            <a:r>
              <a:rPr lang="en-IN" sz="1750" dirty="0" err="1"/>
              <a:t>subber,args</a:t>
            </a:r>
            <a:r>
              <a:rPr lang="en-IN" sz="1750" dirty="0"/>
              <a:t>=(</a:t>
            </a:r>
            <a:r>
              <a:rPr lang="en-IN" sz="1750" dirty="0" err="1"/>
              <a:t>f,COUNT</a:t>
            </a:r>
            <a:r>
              <a:rPr lang="en-IN" sz="1750" dirty="0"/>
              <a:t>))</a:t>
            </a:r>
          </a:p>
          <a:p>
            <a:pPr algn="just" fontAlgn="base"/>
            <a:r>
              <a:rPr lang="en-IN" sz="1750" dirty="0"/>
              <a:t>t1.start()</a:t>
            </a:r>
          </a:p>
          <a:p>
            <a:pPr algn="just" fontAlgn="base"/>
            <a:r>
              <a:rPr lang="en-IN" sz="1750" dirty="0"/>
              <a:t>t2.start()</a:t>
            </a:r>
          </a:p>
          <a:p>
            <a:pPr algn="just" fontAlgn="base"/>
            <a:r>
              <a:rPr lang="en-IN" sz="1750" dirty="0"/>
              <a:t>t1.join()</a:t>
            </a:r>
          </a:p>
          <a:p>
            <a:pPr algn="just" fontAlgn="base"/>
            <a:r>
              <a:rPr lang="en-IN" sz="1750" dirty="0"/>
              <a:t>t2.join()</a:t>
            </a:r>
          </a:p>
          <a:p>
            <a:pPr algn="just" fontAlgn="base"/>
            <a:r>
              <a:rPr lang="en-IN" sz="1750" dirty="0"/>
              <a:t>print(</a:t>
            </a:r>
            <a:r>
              <a:rPr lang="en-IN" sz="1750" dirty="0" err="1"/>
              <a:t>f.x</a:t>
            </a:r>
            <a:r>
              <a:rPr lang="en-IN" sz="1750" dirty="0"/>
              <a:t>)</a:t>
            </a:r>
          </a:p>
        </p:txBody>
      </p:sp>
      <p:sp>
        <p:nvSpPr>
          <p:cNvPr id="4" name="Slide Number Placeholder 3"/>
          <p:cNvSpPr>
            <a:spLocks noGrp="1"/>
          </p:cNvSpPr>
          <p:nvPr>
            <p:ph type="sldNum" sz="quarter" idx="7"/>
          </p:nvPr>
        </p:nvSpPr>
        <p:spPr/>
        <p:txBody>
          <a:bodyPr/>
          <a:lstStyle/>
          <a:p>
            <a:fld id="{B6F15528-21DE-4FAA-801E-634DDDAF4B2B}" type="slidenum">
              <a:rPr/>
              <a:t>73</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Synchronization in Python using Semaphore</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60"/>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4519304" cy="794517"/>
            </a:xfrm>
            <a:prstGeom prst="rect">
              <a:avLst/>
            </a:prstGeom>
          </p:spPr>
          <p:txBody>
            <a:bodyPr vert="horz" wrap="square" lIns="0" tIns="0" rIns="0" bIns="0" numCol="1" rtlCol="0">
              <a:spAutoFit/>
            </a:bodyPr>
            <a:lstStyle/>
            <a:p>
              <a:pPr algn="just" fontAlgn="base">
                <a:lnSpc>
                  <a:spcPct val="150000"/>
                </a:lnSpc>
              </a:pPr>
              <a:r>
                <a:rPr lang="en-IN" sz="1750" dirty="0"/>
                <a:t>import threading</a:t>
              </a:r>
            </a:p>
            <a:p>
              <a:pPr algn="just" fontAlgn="base">
                <a:lnSpc>
                  <a:spcPct val="150000"/>
                </a:lnSpc>
              </a:pPr>
              <a:r>
                <a:rPr lang="en-IN" sz="1750" dirty="0"/>
                <a:t>import time</a:t>
              </a:r>
            </a:p>
            <a:p>
              <a:pPr algn="just" fontAlgn="base">
                <a:lnSpc>
                  <a:spcPct val="150000"/>
                </a:lnSpc>
              </a:pPr>
              <a:endParaRPr lang="en-IN" sz="1750" dirty="0"/>
            </a:p>
            <a:p>
              <a:pPr algn="just" fontAlgn="base">
                <a:lnSpc>
                  <a:spcPct val="150000"/>
                </a:lnSpc>
              </a:pPr>
              <a:r>
                <a:rPr lang="en-IN" sz="1750" dirty="0"/>
                <a:t>done = </a:t>
              </a:r>
              <a:r>
                <a:rPr lang="en-IN" sz="1750" dirty="0" err="1"/>
                <a:t>threading.Semaphore</a:t>
              </a:r>
              <a:r>
                <a:rPr lang="en-IN" sz="1750" dirty="0"/>
                <a:t>(0)</a:t>
              </a:r>
            </a:p>
            <a:p>
              <a:pPr algn="just" fontAlgn="base">
                <a:lnSpc>
                  <a:spcPct val="150000"/>
                </a:lnSpc>
              </a:pPr>
              <a:r>
                <a:rPr lang="en-IN" sz="1750" dirty="0"/>
                <a:t>item = None</a:t>
              </a:r>
            </a:p>
            <a:p>
              <a:pPr algn="just" fontAlgn="base">
                <a:lnSpc>
                  <a:spcPct val="150000"/>
                </a:lnSpc>
              </a:pPr>
              <a:endParaRPr lang="en-IN" sz="1750" dirty="0"/>
            </a:p>
            <a:p>
              <a:pPr algn="just" fontAlgn="base">
                <a:lnSpc>
                  <a:spcPct val="150000"/>
                </a:lnSpc>
              </a:pPr>
              <a:r>
                <a:rPr lang="en-IN" sz="1750" dirty="0"/>
                <a:t>def producer():</a:t>
              </a:r>
            </a:p>
            <a:p>
              <a:pPr algn="just" fontAlgn="base">
                <a:lnSpc>
                  <a:spcPct val="150000"/>
                </a:lnSpc>
              </a:pPr>
              <a:r>
                <a:rPr lang="en-IN" sz="1750" dirty="0"/>
                <a:t>    global item</a:t>
              </a:r>
            </a:p>
            <a:p>
              <a:pPr algn="just" fontAlgn="base">
                <a:lnSpc>
                  <a:spcPct val="150000"/>
                </a:lnSpc>
              </a:pPr>
              <a:r>
                <a:rPr lang="en-IN" sz="1750" dirty="0"/>
                <a:t>    print "I'm the producer and I produce data."</a:t>
              </a:r>
            </a:p>
            <a:p>
              <a:pPr algn="just" fontAlgn="base">
                <a:lnSpc>
                  <a:spcPct val="150000"/>
                </a:lnSpc>
              </a:pPr>
              <a:r>
                <a:rPr lang="en-IN" sz="1750" dirty="0"/>
                <a:t>    print "Producer is going to sleep."</a:t>
              </a:r>
            </a:p>
            <a:p>
              <a:pPr algn="just" fontAlgn="base">
                <a:lnSpc>
                  <a:spcPct val="150000"/>
                </a:lnSpc>
              </a:pPr>
              <a:r>
                <a:rPr lang="en-IN" sz="1750" dirty="0"/>
                <a:t>    </a:t>
              </a:r>
              <a:r>
                <a:rPr lang="en-IN" sz="1750" dirty="0" err="1"/>
                <a:t>time.sleep</a:t>
              </a:r>
              <a:r>
                <a:rPr lang="en-IN" sz="1750" dirty="0"/>
                <a:t>(10)</a:t>
              </a:r>
            </a:p>
            <a:p>
              <a:pPr algn="just" fontAlgn="base">
                <a:lnSpc>
                  <a:spcPct val="150000"/>
                </a:lnSpc>
              </a:pPr>
              <a:r>
                <a:rPr lang="en-IN" sz="1750" dirty="0"/>
                <a:t>    item = "Hello"</a:t>
              </a:r>
            </a:p>
            <a:p>
              <a:pPr algn="just" fontAlgn="base">
                <a:lnSpc>
                  <a:spcPct val="150000"/>
                </a:lnSpc>
              </a:pPr>
              <a:r>
                <a:rPr lang="en-IN" sz="1750" dirty="0"/>
                <a:t>    print "Producer is alive. </a:t>
              </a:r>
              <a:r>
                <a:rPr lang="en-IN" sz="1750" dirty="0" err="1"/>
                <a:t>Signaling</a:t>
              </a:r>
              <a:r>
                <a:rPr lang="en-IN" sz="1750" dirty="0"/>
                <a:t> the consumer."</a:t>
              </a:r>
            </a:p>
            <a:p>
              <a:pPr algn="just" fontAlgn="base">
                <a:lnSpc>
                  <a:spcPct val="150000"/>
                </a:lnSpc>
              </a:pPr>
              <a:r>
                <a:rPr lang="en-IN" sz="1750" dirty="0"/>
                <a:t>    </a:t>
              </a:r>
              <a:r>
                <a:rPr lang="en-IN" sz="1750" dirty="0" err="1"/>
                <a:t>done.release</a:t>
              </a:r>
              <a:r>
                <a:rPr lang="en-IN" sz="1750" dirty="0"/>
                <a:t>()</a:t>
              </a:r>
            </a:p>
          </p:txBody>
        </p:sp>
      </p:grpSp>
      <p:sp>
        <p:nvSpPr>
          <p:cNvPr id="8" name="object 12"/>
          <p:cNvSpPr txBox="1"/>
          <p:nvPr/>
        </p:nvSpPr>
        <p:spPr>
          <a:xfrm>
            <a:off x="5991003" y="628441"/>
            <a:ext cx="6031664" cy="4401782"/>
          </a:xfrm>
          <a:prstGeom prst="rect">
            <a:avLst/>
          </a:prstGeom>
        </p:spPr>
        <p:txBody>
          <a:bodyPr vert="horz" wrap="square" lIns="0" tIns="0" rIns="0" bIns="0" numCol="1" rtlCol="0">
            <a:spAutoFit/>
          </a:bodyPr>
          <a:lstStyle/>
          <a:p>
            <a:pPr algn="just" fontAlgn="base">
              <a:lnSpc>
                <a:spcPct val="150000"/>
              </a:lnSpc>
            </a:pPr>
            <a:endParaRPr lang="en-IN" sz="1750" dirty="0"/>
          </a:p>
          <a:p>
            <a:pPr algn="just" fontAlgn="base">
              <a:lnSpc>
                <a:spcPct val="150000"/>
              </a:lnSpc>
            </a:pPr>
            <a:r>
              <a:rPr lang="en-IN" sz="1750" dirty="0"/>
              <a:t>def consumer():</a:t>
            </a:r>
          </a:p>
          <a:p>
            <a:pPr algn="just" fontAlgn="base">
              <a:lnSpc>
                <a:spcPct val="150000"/>
              </a:lnSpc>
            </a:pPr>
            <a:r>
              <a:rPr lang="en-IN" sz="1750" dirty="0"/>
              <a:t>    print "I'm a consumer and I wait for data."</a:t>
            </a:r>
          </a:p>
          <a:p>
            <a:pPr algn="just" fontAlgn="base">
              <a:lnSpc>
                <a:spcPct val="150000"/>
              </a:lnSpc>
            </a:pPr>
            <a:r>
              <a:rPr lang="en-IN" sz="1750" dirty="0"/>
              <a:t>    print "Consumer is waiting."</a:t>
            </a:r>
          </a:p>
          <a:p>
            <a:pPr algn="just" fontAlgn="base">
              <a:lnSpc>
                <a:spcPct val="150000"/>
              </a:lnSpc>
            </a:pPr>
            <a:r>
              <a:rPr lang="en-IN" sz="1750" dirty="0"/>
              <a:t>    </a:t>
            </a:r>
            <a:r>
              <a:rPr lang="en-IN" sz="1750" dirty="0" err="1"/>
              <a:t>done.acquire</a:t>
            </a:r>
            <a:r>
              <a:rPr lang="en-IN" sz="1750" dirty="0"/>
              <a:t>()</a:t>
            </a:r>
          </a:p>
          <a:p>
            <a:pPr algn="just" fontAlgn="base">
              <a:lnSpc>
                <a:spcPct val="150000"/>
              </a:lnSpc>
            </a:pPr>
            <a:r>
              <a:rPr lang="en-IN" sz="1750" dirty="0"/>
              <a:t>    print "Consumer got", item</a:t>
            </a:r>
          </a:p>
          <a:p>
            <a:pPr algn="just" fontAlgn="base">
              <a:lnSpc>
                <a:spcPct val="150000"/>
              </a:lnSpc>
            </a:pPr>
            <a:endParaRPr lang="en-IN" sz="1750" dirty="0"/>
          </a:p>
          <a:p>
            <a:pPr algn="just" fontAlgn="base">
              <a:lnSpc>
                <a:spcPct val="150000"/>
              </a:lnSpc>
            </a:pPr>
            <a:r>
              <a:rPr lang="en-IN" sz="1750" dirty="0"/>
              <a:t>t1 = </a:t>
            </a:r>
            <a:r>
              <a:rPr lang="en-IN" sz="1750" dirty="0" err="1"/>
              <a:t>threading.Thread</a:t>
            </a:r>
            <a:r>
              <a:rPr lang="en-IN" sz="1750" dirty="0"/>
              <a:t>(target=producer)</a:t>
            </a:r>
          </a:p>
          <a:p>
            <a:pPr algn="just" fontAlgn="base">
              <a:lnSpc>
                <a:spcPct val="150000"/>
              </a:lnSpc>
            </a:pPr>
            <a:r>
              <a:rPr lang="en-IN" sz="1750" dirty="0"/>
              <a:t>t2 = </a:t>
            </a:r>
            <a:r>
              <a:rPr lang="en-IN" sz="1750" dirty="0" err="1"/>
              <a:t>threading.Thread</a:t>
            </a:r>
            <a:r>
              <a:rPr lang="en-IN" sz="1750" dirty="0"/>
              <a:t>(target=consumer)</a:t>
            </a:r>
          </a:p>
          <a:p>
            <a:pPr algn="just" fontAlgn="base">
              <a:lnSpc>
                <a:spcPct val="150000"/>
              </a:lnSpc>
            </a:pPr>
            <a:r>
              <a:rPr lang="en-IN" sz="1750" dirty="0"/>
              <a:t>t1.start()</a:t>
            </a:r>
          </a:p>
          <a:p>
            <a:pPr algn="just" fontAlgn="base">
              <a:lnSpc>
                <a:spcPct val="150000"/>
              </a:lnSpc>
            </a:pPr>
            <a:r>
              <a:rPr lang="en-IN" sz="1750" dirty="0"/>
              <a:t>t2.start()</a:t>
            </a:r>
          </a:p>
        </p:txBody>
      </p:sp>
      <p:sp>
        <p:nvSpPr>
          <p:cNvPr id="4" name="Slide Number Placeholder 3"/>
          <p:cNvSpPr>
            <a:spLocks noGrp="1"/>
          </p:cNvSpPr>
          <p:nvPr>
            <p:ph type="sldNum" sz="quarter" idx="7"/>
          </p:nvPr>
        </p:nvSpPr>
        <p:spPr/>
        <p:txBody>
          <a:bodyPr/>
          <a:lstStyle/>
          <a:p>
            <a:fld id="{B6F15528-21DE-4FAA-801E-634DDDAF4B2B}" type="slidenum">
              <a:rPr/>
              <a:t>74</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Synchronization in Python using event</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60"/>
            <a:ext cx="12105504" cy="6504789"/>
            <a:chOff x="127862" y="1268442"/>
            <a:chExt cx="9296400" cy="920642"/>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4519304" cy="914771"/>
            </a:xfrm>
            <a:prstGeom prst="rect">
              <a:avLst/>
            </a:prstGeom>
          </p:spPr>
          <p:txBody>
            <a:bodyPr vert="horz" wrap="square" lIns="0" tIns="0" rIns="0" bIns="0" numCol="1" rtlCol="0">
              <a:spAutoFit/>
            </a:bodyPr>
            <a:lstStyle/>
            <a:p>
              <a:pPr algn="just" fontAlgn="base">
                <a:lnSpc>
                  <a:spcPct val="150000"/>
                </a:lnSpc>
              </a:pPr>
              <a:r>
                <a:rPr lang="en-IN" sz="1750" dirty="0"/>
                <a:t>import threading</a:t>
              </a:r>
            </a:p>
            <a:p>
              <a:pPr algn="just" fontAlgn="base">
                <a:lnSpc>
                  <a:spcPct val="150000"/>
                </a:lnSpc>
              </a:pPr>
              <a:r>
                <a:rPr lang="en-IN" sz="1750" dirty="0"/>
                <a:t>import time</a:t>
              </a:r>
            </a:p>
            <a:p>
              <a:pPr algn="just" fontAlgn="base">
                <a:lnSpc>
                  <a:spcPct val="150000"/>
                </a:lnSpc>
              </a:pPr>
              <a:r>
                <a:rPr lang="en-IN" sz="1750" dirty="0"/>
                <a:t>item = None</a:t>
              </a:r>
            </a:p>
            <a:p>
              <a:pPr algn="just" fontAlgn="base">
                <a:lnSpc>
                  <a:spcPct val="150000"/>
                </a:lnSpc>
              </a:pPr>
              <a:r>
                <a:rPr lang="en-IN" sz="1750" dirty="0"/>
                <a:t># A semaphore to indicate that an item is available</a:t>
              </a:r>
            </a:p>
            <a:p>
              <a:pPr algn="just" fontAlgn="base">
                <a:lnSpc>
                  <a:spcPct val="150000"/>
                </a:lnSpc>
              </a:pPr>
              <a:r>
                <a:rPr lang="en-IN" sz="1750" dirty="0"/>
                <a:t>available = </a:t>
              </a:r>
              <a:r>
                <a:rPr lang="en-IN" sz="1750" dirty="0" err="1"/>
                <a:t>threading.Semaphore</a:t>
              </a:r>
              <a:r>
                <a:rPr lang="en-IN" sz="1750" dirty="0"/>
                <a:t>(0)</a:t>
              </a:r>
            </a:p>
            <a:p>
              <a:pPr algn="just" fontAlgn="base">
                <a:lnSpc>
                  <a:spcPct val="150000"/>
                </a:lnSpc>
              </a:pPr>
              <a:r>
                <a:rPr lang="en-IN" sz="1750" dirty="0"/>
                <a:t># An event to indicate that processing is complete</a:t>
              </a:r>
            </a:p>
            <a:p>
              <a:pPr algn="just" fontAlgn="base">
                <a:lnSpc>
                  <a:spcPct val="150000"/>
                </a:lnSpc>
              </a:pPr>
              <a:r>
                <a:rPr lang="en-IN" sz="1750" dirty="0"/>
                <a:t>completed = </a:t>
              </a:r>
              <a:r>
                <a:rPr lang="en-IN" sz="1750" dirty="0" err="1"/>
                <a:t>threading.Event</a:t>
              </a:r>
              <a:r>
                <a:rPr lang="en-IN" sz="1750" dirty="0"/>
                <a:t>()</a:t>
              </a:r>
            </a:p>
            <a:p>
              <a:pPr algn="just" fontAlgn="base">
                <a:lnSpc>
                  <a:spcPct val="150000"/>
                </a:lnSpc>
              </a:pPr>
              <a:r>
                <a:rPr lang="en-IN" sz="1750" dirty="0"/>
                <a:t># A worker thread</a:t>
              </a:r>
            </a:p>
            <a:p>
              <a:pPr algn="just" fontAlgn="base">
                <a:lnSpc>
                  <a:spcPct val="150000"/>
                </a:lnSpc>
              </a:pPr>
              <a:r>
                <a:rPr lang="en-IN" sz="1750" dirty="0"/>
                <a:t>def worker():</a:t>
              </a:r>
            </a:p>
            <a:p>
              <a:pPr algn="just" fontAlgn="base">
                <a:lnSpc>
                  <a:spcPct val="150000"/>
                </a:lnSpc>
              </a:pPr>
              <a:r>
                <a:rPr lang="en-IN" sz="1750" dirty="0"/>
                <a:t>    while True:</a:t>
              </a:r>
            </a:p>
            <a:p>
              <a:pPr algn="just" fontAlgn="base">
                <a:lnSpc>
                  <a:spcPct val="150000"/>
                </a:lnSpc>
              </a:pPr>
              <a:r>
                <a:rPr lang="en-IN" sz="1750" dirty="0"/>
                <a:t>        </a:t>
              </a:r>
              <a:r>
                <a:rPr lang="en-IN" sz="1750" dirty="0" err="1"/>
                <a:t>available.acquire</a:t>
              </a:r>
              <a:r>
                <a:rPr lang="en-IN" sz="1750" dirty="0"/>
                <a:t>()</a:t>
              </a:r>
            </a:p>
            <a:p>
              <a:pPr algn="just" fontAlgn="base">
                <a:lnSpc>
                  <a:spcPct val="150000"/>
                </a:lnSpc>
              </a:pPr>
              <a:r>
                <a:rPr lang="en-IN" sz="1750" dirty="0"/>
                <a:t>        print "worker: processing", item</a:t>
              </a:r>
            </a:p>
            <a:p>
              <a:pPr algn="just" fontAlgn="base">
                <a:lnSpc>
                  <a:spcPct val="150000"/>
                </a:lnSpc>
              </a:pPr>
              <a:r>
                <a:rPr lang="en-IN" sz="1750" dirty="0"/>
                <a:t>        </a:t>
              </a:r>
              <a:r>
                <a:rPr lang="en-IN" sz="1750" dirty="0" err="1"/>
                <a:t>time.sleep</a:t>
              </a:r>
              <a:r>
                <a:rPr lang="en-IN" sz="1750" dirty="0"/>
                <a:t>(5)</a:t>
              </a:r>
            </a:p>
            <a:p>
              <a:pPr algn="just" fontAlgn="base">
                <a:lnSpc>
                  <a:spcPct val="150000"/>
                </a:lnSpc>
              </a:pPr>
              <a:r>
                <a:rPr lang="en-IN" sz="1750" dirty="0"/>
                <a:t>        print "worker: done"</a:t>
              </a:r>
            </a:p>
            <a:p>
              <a:pPr algn="just" fontAlgn="base">
                <a:lnSpc>
                  <a:spcPct val="150000"/>
                </a:lnSpc>
              </a:pPr>
              <a:r>
                <a:rPr lang="en-IN" sz="1750" dirty="0"/>
                <a:t>        </a:t>
              </a:r>
              <a:r>
                <a:rPr lang="en-IN" sz="1750" dirty="0" err="1"/>
                <a:t>completed.set</a:t>
              </a:r>
              <a:r>
                <a:rPr lang="en-IN" sz="1750" dirty="0"/>
                <a:t>()</a:t>
              </a:r>
            </a:p>
            <a:p>
              <a:pPr algn="just" fontAlgn="base">
                <a:lnSpc>
                  <a:spcPct val="150000"/>
                </a:lnSpc>
              </a:pPr>
              <a:r>
                <a:rPr lang="en-IN" sz="1750" dirty="0"/>
                <a:t>        </a:t>
              </a:r>
            </a:p>
          </p:txBody>
        </p:sp>
      </p:grpSp>
      <p:sp>
        <p:nvSpPr>
          <p:cNvPr id="8" name="object 12"/>
          <p:cNvSpPr txBox="1"/>
          <p:nvPr/>
        </p:nvSpPr>
        <p:spPr>
          <a:xfrm>
            <a:off x="5991003" y="628441"/>
            <a:ext cx="6031664" cy="6059351"/>
          </a:xfrm>
          <a:prstGeom prst="rect">
            <a:avLst/>
          </a:prstGeom>
        </p:spPr>
        <p:txBody>
          <a:bodyPr vert="horz" wrap="square" lIns="0" tIns="0" rIns="0" bIns="0" numCol="1" rtlCol="0">
            <a:spAutoFit/>
          </a:bodyPr>
          <a:lstStyle/>
          <a:p>
            <a:pPr algn="just" fontAlgn="base">
              <a:lnSpc>
                <a:spcPct val="150000"/>
              </a:lnSpc>
            </a:pPr>
            <a:r>
              <a:rPr lang="en-IN" sz="1750" dirty="0"/>
              <a:t># A producer thread</a:t>
            </a:r>
          </a:p>
          <a:p>
            <a:pPr algn="just" fontAlgn="base">
              <a:lnSpc>
                <a:spcPct val="150000"/>
              </a:lnSpc>
            </a:pPr>
            <a:r>
              <a:rPr lang="en-IN" sz="1750" dirty="0"/>
              <a:t>def producer():</a:t>
            </a:r>
          </a:p>
          <a:p>
            <a:pPr algn="just" fontAlgn="base">
              <a:lnSpc>
                <a:spcPct val="150000"/>
              </a:lnSpc>
            </a:pPr>
            <a:r>
              <a:rPr lang="en-IN" sz="1750" dirty="0"/>
              <a:t>    global item</a:t>
            </a:r>
          </a:p>
          <a:p>
            <a:pPr algn="just" fontAlgn="base">
              <a:lnSpc>
                <a:spcPct val="150000"/>
              </a:lnSpc>
            </a:pPr>
            <a:r>
              <a:rPr lang="en-IN" sz="1750" dirty="0"/>
              <a:t>    for x in range(5):</a:t>
            </a:r>
          </a:p>
          <a:p>
            <a:pPr algn="just" fontAlgn="base">
              <a:lnSpc>
                <a:spcPct val="150000"/>
              </a:lnSpc>
            </a:pPr>
            <a:r>
              <a:rPr lang="en-IN" sz="1750" dirty="0"/>
              <a:t>        </a:t>
            </a:r>
            <a:r>
              <a:rPr lang="en-IN" sz="1750" dirty="0" err="1"/>
              <a:t>completed.clear</a:t>
            </a:r>
            <a:r>
              <a:rPr lang="en-IN" sz="1750" dirty="0"/>
              <a:t>()       # Clear the event</a:t>
            </a:r>
          </a:p>
          <a:p>
            <a:pPr algn="just" fontAlgn="base">
              <a:lnSpc>
                <a:spcPct val="150000"/>
              </a:lnSpc>
            </a:pPr>
            <a:r>
              <a:rPr lang="en-IN" sz="1750" dirty="0"/>
              <a:t>        item = x                # Set the item</a:t>
            </a:r>
          </a:p>
          <a:p>
            <a:pPr algn="just" fontAlgn="base">
              <a:lnSpc>
                <a:spcPct val="150000"/>
              </a:lnSpc>
            </a:pPr>
            <a:r>
              <a:rPr lang="en-IN" sz="1750" dirty="0"/>
              <a:t>        print "producer: produced an item"</a:t>
            </a:r>
          </a:p>
          <a:p>
            <a:pPr algn="just" fontAlgn="base">
              <a:lnSpc>
                <a:spcPct val="150000"/>
              </a:lnSpc>
            </a:pPr>
            <a:r>
              <a:rPr lang="en-IN" sz="1750" dirty="0"/>
              <a:t>        </a:t>
            </a:r>
            <a:r>
              <a:rPr lang="en-IN" sz="1750" dirty="0" err="1"/>
              <a:t>available.release</a:t>
            </a:r>
            <a:r>
              <a:rPr lang="en-IN" sz="1750" dirty="0"/>
              <a:t>()     # Signal on the semaphore</a:t>
            </a:r>
          </a:p>
          <a:p>
            <a:pPr algn="just" fontAlgn="base">
              <a:lnSpc>
                <a:spcPct val="150000"/>
              </a:lnSpc>
            </a:pPr>
            <a:r>
              <a:rPr lang="en-IN" sz="1750" dirty="0"/>
              <a:t>        </a:t>
            </a:r>
            <a:r>
              <a:rPr lang="en-IN" sz="1750" dirty="0" err="1"/>
              <a:t>completed.wait</a:t>
            </a:r>
            <a:r>
              <a:rPr lang="en-IN" sz="1750" dirty="0"/>
              <a:t>()</a:t>
            </a:r>
          </a:p>
          <a:p>
            <a:pPr algn="just" fontAlgn="base">
              <a:lnSpc>
                <a:spcPct val="150000"/>
              </a:lnSpc>
            </a:pPr>
            <a:r>
              <a:rPr lang="en-IN" sz="1750" dirty="0"/>
              <a:t>        print "producer: item was processed"</a:t>
            </a:r>
          </a:p>
          <a:p>
            <a:pPr algn="just" fontAlgn="base">
              <a:lnSpc>
                <a:spcPct val="150000"/>
              </a:lnSpc>
            </a:pPr>
            <a:r>
              <a:rPr lang="en-IN" sz="1750" dirty="0"/>
              <a:t>t1 = </a:t>
            </a:r>
            <a:r>
              <a:rPr lang="en-IN" sz="1750" dirty="0" err="1"/>
              <a:t>threading.Thread</a:t>
            </a:r>
            <a:r>
              <a:rPr lang="en-IN" sz="1750" dirty="0"/>
              <a:t>(target=producer)</a:t>
            </a:r>
          </a:p>
          <a:p>
            <a:pPr algn="just" fontAlgn="base">
              <a:lnSpc>
                <a:spcPct val="150000"/>
              </a:lnSpc>
            </a:pPr>
            <a:r>
              <a:rPr lang="en-IN" sz="1750" dirty="0"/>
              <a:t>t1.start()</a:t>
            </a:r>
          </a:p>
          <a:p>
            <a:pPr algn="just" fontAlgn="base">
              <a:lnSpc>
                <a:spcPct val="150000"/>
              </a:lnSpc>
            </a:pPr>
            <a:r>
              <a:rPr lang="en-IN" sz="1750" dirty="0"/>
              <a:t>t2 = </a:t>
            </a:r>
            <a:r>
              <a:rPr lang="en-IN" sz="1750" dirty="0" err="1"/>
              <a:t>threading.Thread</a:t>
            </a:r>
            <a:r>
              <a:rPr lang="en-IN" sz="1750" dirty="0"/>
              <a:t>(target=worker)</a:t>
            </a:r>
          </a:p>
          <a:p>
            <a:pPr algn="just" fontAlgn="base">
              <a:lnSpc>
                <a:spcPct val="150000"/>
              </a:lnSpc>
            </a:pPr>
            <a:r>
              <a:rPr lang="en-IN" sz="1750" dirty="0"/>
              <a:t>t2.setDaemon(True)</a:t>
            </a:r>
          </a:p>
          <a:p>
            <a:pPr algn="just" fontAlgn="base">
              <a:lnSpc>
                <a:spcPct val="150000"/>
              </a:lnSpc>
            </a:pPr>
            <a:r>
              <a:rPr lang="en-IN" sz="1750" dirty="0"/>
              <a:t>t2.start()</a:t>
            </a:r>
          </a:p>
        </p:txBody>
      </p:sp>
      <p:sp>
        <p:nvSpPr>
          <p:cNvPr id="3" name="Slide Number Placeholder 2"/>
          <p:cNvSpPr>
            <a:spLocks noGrp="1"/>
          </p:cNvSpPr>
          <p:nvPr>
            <p:ph type="sldNum" sz="quarter" idx="7"/>
          </p:nvPr>
        </p:nvSpPr>
        <p:spPr/>
        <p:txBody>
          <a:bodyPr/>
          <a:lstStyle/>
          <a:p>
            <a:fld id="{B6F15528-21DE-4FAA-801E-634DDDAF4B2B}" type="slidenum">
              <a:rPr/>
              <a:t>75</a:t>
            </a:fld>
            <a:endParaRPr/>
          </a:p>
        </p:txBody>
      </p:sp>
      <p:sp>
        <p:nvSpPr>
          <p:cNvPr id="4" name="Footer Placeholder 3"/>
          <p:cNvSpPr>
            <a:spLocks noGrp="1"/>
          </p:cNvSpPr>
          <p:nvPr>
            <p:ph type="ftr" sz="quarter" idx="5"/>
          </p:nvPr>
        </p:nvSpPr>
        <p:spPr/>
        <p:txBody>
          <a:bodyPr/>
          <a:lstStyle/>
          <a:p>
            <a:r>
              <a:t>UNIT IV : Pythonic Programming Paradigm</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790305"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Producer and Consumer problem using thread</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62"/>
            <a:ext cx="12105504" cy="6100835"/>
            <a:chOff x="127862" y="1268442"/>
            <a:chExt cx="9296400" cy="863469"/>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4519304" cy="857598"/>
            </a:xfrm>
            <a:prstGeom prst="rect">
              <a:avLst/>
            </a:prstGeom>
          </p:spPr>
          <p:txBody>
            <a:bodyPr vert="horz" wrap="square" lIns="0" tIns="0" rIns="0" bIns="0" numCol="1" rtlCol="0">
              <a:spAutoFit/>
            </a:bodyPr>
            <a:lstStyle/>
            <a:p>
              <a:pPr algn="just" fontAlgn="base">
                <a:lnSpc>
                  <a:spcPct val="150000"/>
                </a:lnSpc>
              </a:pPr>
              <a:r>
                <a:rPr lang="en-IN" sz="1750" dirty="0"/>
                <a:t>import </a:t>
              </a:r>
              <a:r>
                <a:rPr lang="en-IN" sz="1750" dirty="0" err="1"/>
                <a:t>threading,time,Queue</a:t>
              </a:r>
              <a:endParaRPr lang="en-IN" sz="1750" dirty="0"/>
            </a:p>
            <a:p>
              <a:pPr algn="just" fontAlgn="base">
                <a:lnSpc>
                  <a:spcPct val="150000"/>
                </a:lnSpc>
              </a:pPr>
              <a:r>
                <a:rPr lang="en-IN" sz="1750" dirty="0"/>
                <a:t>items = </a:t>
              </a:r>
              <a:r>
                <a:rPr lang="en-IN" sz="1750" dirty="0" err="1"/>
                <a:t>Queue.Queue</a:t>
              </a:r>
              <a:r>
                <a:rPr lang="en-IN" sz="1750" dirty="0"/>
                <a:t>()</a:t>
              </a:r>
            </a:p>
            <a:p>
              <a:pPr algn="just" fontAlgn="base">
                <a:lnSpc>
                  <a:spcPct val="150000"/>
                </a:lnSpc>
              </a:pPr>
              <a:r>
                <a:rPr lang="en-IN" sz="1750" dirty="0"/>
                <a:t># A producer thread</a:t>
              </a:r>
            </a:p>
            <a:p>
              <a:pPr algn="just" fontAlgn="base">
                <a:lnSpc>
                  <a:spcPct val="150000"/>
                </a:lnSpc>
              </a:pPr>
              <a:r>
                <a:rPr lang="en-IN" sz="1750" dirty="0"/>
                <a:t>def producer():</a:t>
              </a:r>
            </a:p>
            <a:p>
              <a:pPr algn="just" fontAlgn="base">
                <a:lnSpc>
                  <a:spcPct val="150000"/>
                </a:lnSpc>
              </a:pPr>
              <a:r>
                <a:rPr lang="en-IN" sz="1750" dirty="0"/>
                <a:t>    print "I'm the producer"</a:t>
              </a:r>
            </a:p>
            <a:p>
              <a:pPr algn="just" fontAlgn="base">
                <a:lnSpc>
                  <a:spcPct val="150000"/>
                </a:lnSpc>
              </a:pPr>
              <a:r>
                <a:rPr lang="en-IN" sz="1750" dirty="0"/>
                <a:t>    for </a:t>
              </a:r>
              <a:r>
                <a:rPr lang="en-IN" sz="1750" dirty="0" err="1"/>
                <a:t>i</a:t>
              </a:r>
              <a:r>
                <a:rPr lang="en-IN" sz="1750" dirty="0"/>
                <a:t> in range(30):</a:t>
              </a:r>
            </a:p>
            <a:p>
              <a:pPr algn="just" fontAlgn="base">
                <a:lnSpc>
                  <a:spcPct val="150000"/>
                </a:lnSpc>
              </a:pPr>
              <a:r>
                <a:rPr lang="en-IN" sz="1750" dirty="0"/>
                <a:t>        </a:t>
              </a:r>
              <a:r>
                <a:rPr lang="en-IN" sz="1750" dirty="0" err="1"/>
                <a:t>items.put</a:t>
              </a:r>
              <a:r>
                <a:rPr lang="en-IN" sz="1750" dirty="0"/>
                <a:t>(</a:t>
              </a:r>
              <a:r>
                <a:rPr lang="en-IN" sz="1750" dirty="0" err="1"/>
                <a:t>i</a:t>
              </a:r>
              <a:r>
                <a:rPr lang="en-IN" sz="1750" dirty="0"/>
                <a:t>)</a:t>
              </a:r>
            </a:p>
            <a:p>
              <a:pPr algn="just" fontAlgn="base">
                <a:lnSpc>
                  <a:spcPct val="150000"/>
                </a:lnSpc>
              </a:pPr>
              <a:r>
                <a:rPr lang="en-IN" sz="1750" dirty="0"/>
                <a:t>        </a:t>
              </a:r>
              <a:r>
                <a:rPr lang="en-IN" sz="1750" dirty="0" err="1"/>
                <a:t>time.sleep</a:t>
              </a:r>
              <a:r>
                <a:rPr lang="en-IN" sz="1750" dirty="0"/>
                <a:t>(1)</a:t>
              </a:r>
            </a:p>
            <a:p>
              <a:pPr algn="just" fontAlgn="base">
                <a:lnSpc>
                  <a:spcPct val="150000"/>
                </a:lnSpc>
              </a:pPr>
              <a:r>
                <a:rPr lang="en-IN" sz="1750" dirty="0"/>
                <a:t># A consumer thread</a:t>
              </a:r>
            </a:p>
            <a:p>
              <a:pPr algn="just" fontAlgn="base">
                <a:lnSpc>
                  <a:spcPct val="150000"/>
                </a:lnSpc>
              </a:pPr>
              <a:r>
                <a:rPr lang="en-IN" sz="1750" dirty="0"/>
                <a:t>def consumer():</a:t>
              </a:r>
            </a:p>
            <a:p>
              <a:pPr algn="just" fontAlgn="base">
                <a:lnSpc>
                  <a:spcPct val="150000"/>
                </a:lnSpc>
              </a:pPr>
              <a:r>
                <a:rPr lang="en-IN" sz="1750" dirty="0"/>
                <a:t>    print "I'm a consumer", </a:t>
              </a:r>
              <a:r>
                <a:rPr lang="en-IN" sz="1750" dirty="0" err="1"/>
                <a:t>threading.currentThread</a:t>
              </a:r>
              <a:r>
                <a:rPr lang="en-IN" sz="1750" dirty="0"/>
                <a:t>().name</a:t>
              </a:r>
            </a:p>
            <a:p>
              <a:pPr algn="just" fontAlgn="base">
                <a:lnSpc>
                  <a:spcPct val="150000"/>
                </a:lnSpc>
              </a:pPr>
              <a:r>
                <a:rPr lang="en-IN" sz="1750" dirty="0"/>
                <a:t>    while True:</a:t>
              </a:r>
            </a:p>
            <a:p>
              <a:pPr algn="just" fontAlgn="base">
                <a:lnSpc>
                  <a:spcPct val="150000"/>
                </a:lnSpc>
              </a:pPr>
              <a:r>
                <a:rPr lang="en-IN" sz="1750" dirty="0"/>
                <a:t>        x = </a:t>
              </a:r>
              <a:r>
                <a:rPr lang="en-IN" sz="1750" dirty="0" err="1"/>
                <a:t>items.get</a:t>
              </a:r>
              <a:r>
                <a:rPr lang="en-IN" sz="1750" dirty="0"/>
                <a:t>() </a:t>
              </a:r>
            </a:p>
            <a:p>
              <a:pPr algn="just" fontAlgn="base">
                <a:lnSpc>
                  <a:spcPct val="150000"/>
                </a:lnSpc>
              </a:pPr>
              <a:r>
                <a:rPr lang="en-IN" sz="1750" dirty="0"/>
                <a:t>        print </a:t>
              </a:r>
              <a:r>
                <a:rPr lang="en-IN" sz="1750" dirty="0" err="1"/>
                <a:t>threading.currentThread</a:t>
              </a:r>
              <a:r>
                <a:rPr lang="en-IN" sz="1750" dirty="0"/>
                <a:t>().</a:t>
              </a:r>
              <a:r>
                <a:rPr lang="en-IN" sz="1750" dirty="0" err="1"/>
                <a:t>name,"got</a:t>
              </a:r>
              <a:r>
                <a:rPr lang="en-IN" sz="1750" dirty="0"/>
                <a:t>", x</a:t>
              </a:r>
            </a:p>
            <a:p>
              <a:pPr algn="just" fontAlgn="base">
                <a:lnSpc>
                  <a:spcPct val="150000"/>
                </a:lnSpc>
              </a:pPr>
              <a:r>
                <a:rPr lang="en-IN" sz="1750" dirty="0"/>
                <a:t>        </a:t>
              </a:r>
              <a:r>
                <a:rPr lang="en-IN" sz="1750" dirty="0" err="1"/>
                <a:t>time.sleep</a:t>
              </a:r>
              <a:r>
                <a:rPr lang="en-IN" sz="1750" dirty="0"/>
                <a:t>(5)       </a:t>
              </a:r>
            </a:p>
          </p:txBody>
        </p:sp>
      </p:grpSp>
      <p:sp>
        <p:nvSpPr>
          <p:cNvPr id="8" name="object 12"/>
          <p:cNvSpPr txBox="1"/>
          <p:nvPr/>
        </p:nvSpPr>
        <p:spPr>
          <a:xfrm>
            <a:off x="5991003" y="628441"/>
            <a:ext cx="6031664" cy="3231654"/>
          </a:xfrm>
          <a:prstGeom prst="rect">
            <a:avLst/>
          </a:prstGeom>
        </p:spPr>
        <p:txBody>
          <a:bodyPr vert="horz" wrap="square" lIns="0" tIns="0" rIns="0" bIns="0" numCol="1" rtlCol="0">
            <a:spAutoFit/>
          </a:bodyPr>
          <a:lstStyle/>
          <a:p>
            <a:pPr algn="just" fontAlgn="base">
              <a:lnSpc>
                <a:spcPct val="150000"/>
              </a:lnSpc>
            </a:pPr>
            <a:r>
              <a:rPr lang="en-IN" sz="1750" dirty="0"/>
              <a:t># Launch a bunch of consumers</a:t>
            </a:r>
          </a:p>
          <a:p>
            <a:pPr algn="just" fontAlgn="base">
              <a:lnSpc>
                <a:spcPct val="150000"/>
              </a:lnSpc>
            </a:pPr>
            <a:r>
              <a:rPr lang="en-IN" sz="1750" dirty="0"/>
              <a:t>cons = [</a:t>
            </a:r>
            <a:r>
              <a:rPr lang="en-IN" sz="1750" dirty="0" err="1"/>
              <a:t>threading.Thread</a:t>
            </a:r>
            <a:r>
              <a:rPr lang="en-IN" sz="1750" dirty="0"/>
              <a:t>(target=consumer)</a:t>
            </a:r>
          </a:p>
          <a:p>
            <a:pPr algn="just" fontAlgn="base">
              <a:lnSpc>
                <a:spcPct val="150000"/>
              </a:lnSpc>
            </a:pPr>
            <a:r>
              <a:rPr lang="en-IN" sz="1750" dirty="0"/>
              <a:t>        for </a:t>
            </a:r>
            <a:r>
              <a:rPr lang="en-IN" sz="1750" dirty="0" err="1"/>
              <a:t>i</a:t>
            </a:r>
            <a:r>
              <a:rPr lang="en-IN" sz="1750" dirty="0"/>
              <a:t> in range(10)]</a:t>
            </a:r>
          </a:p>
          <a:p>
            <a:pPr algn="just" fontAlgn="base">
              <a:lnSpc>
                <a:spcPct val="150000"/>
              </a:lnSpc>
            </a:pPr>
            <a:r>
              <a:rPr lang="en-IN" sz="1750" dirty="0"/>
              <a:t>for c in cons:</a:t>
            </a:r>
          </a:p>
          <a:p>
            <a:pPr algn="just" fontAlgn="base">
              <a:lnSpc>
                <a:spcPct val="150000"/>
              </a:lnSpc>
            </a:pPr>
            <a:r>
              <a:rPr lang="en-IN" sz="1750" dirty="0"/>
              <a:t>    </a:t>
            </a:r>
            <a:r>
              <a:rPr lang="en-IN" sz="1750" dirty="0" err="1"/>
              <a:t>c.setDaemon</a:t>
            </a:r>
            <a:r>
              <a:rPr lang="en-IN" sz="1750" dirty="0"/>
              <a:t>(True)</a:t>
            </a:r>
          </a:p>
          <a:p>
            <a:pPr algn="just" fontAlgn="base">
              <a:lnSpc>
                <a:spcPct val="150000"/>
              </a:lnSpc>
            </a:pPr>
            <a:r>
              <a:rPr lang="en-IN" sz="1750" dirty="0"/>
              <a:t>    </a:t>
            </a:r>
            <a:r>
              <a:rPr lang="en-IN" sz="1750" dirty="0" err="1"/>
              <a:t>c.start</a:t>
            </a:r>
            <a:r>
              <a:rPr lang="en-IN" sz="1750" dirty="0"/>
              <a:t>()</a:t>
            </a:r>
          </a:p>
          <a:p>
            <a:pPr algn="just" fontAlgn="base">
              <a:lnSpc>
                <a:spcPct val="150000"/>
              </a:lnSpc>
            </a:pPr>
            <a:r>
              <a:rPr lang="en-IN" sz="1750" dirty="0"/>
              <a:t># Run the producer</a:t>
            </a:r>
          </a:p>
          <a:p>
            <a:pPr algn="just" fontAlgn="base">
              <a:lnSpc>
                <a:spcPct val="150000"/>
              </a:lnSpc>
            </a:pPr>
            <a:r>
              <a:rPr lang="en-IN" sz="1750" dirty="0"/>
              <a:t>producer()</a:t>
            </a:r>
          </a:p>
        </p:txBody>
      </p:sp>
      <p:sp>
        <p:nvSpPr>
          <p:cNvPr id="4" name="Slide Number Placeholder 3"/>
          <p:cNvSpPr>
            <a:spLocks noGrp="1"/>
          </p:cNvSpPr>
          <p:nvPr>
            <p:ph type="sldNum" sz="quarter" idx="7"/>
          </p:nvPr>
        </p:nvSpPr>
        <p:spPr/>
        <p:txBody>
          <a:bodyPr/>
          <a:lstStyle/>
          <a:p>
            <a:fld id="{B6F15528-21DE-4FAA-801E-634DDDAF4B2B}" type="slidenum">
              <a:rPr/>
              <a:t>76</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790305"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Producer and Consumer problem using thread</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62"/>
            <a:ext cx="12105504" cy="5979174"/>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4519304" cy="800424"/>
            </a:xfrm>
            <a:prstGeom prst="rect">
              <a:avLst/>
            </a:prstGeom>
          </p:spPr>
          <p:txBody>
            <a:bodyPr vert="horz" wrap="square" lIns="0" tIns="0" rIns="0" bIns="0" numCol="1" rtlCol="0">
              <a:spAutoFit/>
            </a:bodyPr>
            <a:lstStyle/>
            <a:p>
              <a:pPr algn="just" fontAlgn="base">
                <a:lnSpc>
                  <a:spcPct val="150000"/>
                </a:lnSpc>
              </a:pPr>
              <a:r>
                <a:rPr lang="en-IN" sz="1750" dirty="0"/>
                <a:t>import threading</a:t>
              </a:r>
            </a:p>
            <a:p>
              <a:pPr algn="just" fontAlgn="base">
                <a:lnSpc>
                  <a:spcPct val="150000"/>
                </a:lnSpc>
              </a:pPr>
              <a:r>
                <a:rPr lang="en-IN" sz="1750" dirty="0"/>
                <a:t>import time</a:t>
              </a:r>
            </a:p>
            <a:p>
              <a:pPr algn="just" fontAlgn="base">
                <a:lnSpc>
                  <a:spcPct val="150000"/>
                </a:lnSpc>
              </a:pPr>
              <a:r>
                <a:rPr lang="en-IN" sz="1750" dirty="0"/>
                <a:t># A list of items that are being produced.  Note: it is actually</a:t>
              </a:r>
            </a:p>
            <a:p>
              <a:pPr algn="just" fontAlgn="base">
                <a:lnSpc>
                  <a:spcPct val="150000"/>
                </a:lnSpc>
              </a:pPr>
              <a:r>
                <a:rPr lang="en-IN" sz="1750" dirty="0"/>
                <a:t># more efficient to use a </a:t>
              </a:r>
              <a:r>
                <a:rPr lang="en-IN" sz="1750" dirty="0" err="1"/>
                <a:t>collections.deque</a:t>
              </a:r>
              <a:r>
                <a:rPr lang="en-IN" sz="1750" dirty="0"/>
                <a:t>() object for this.</a:t>
              </a:r>
            </a:p>
            <a:p>
              <a:pPr algn="just" fontAlgn="base">
                <a:lnSpc>
                  <a:spcPct val="150000"/>
                </a:lnSpc>
              </a:pPr>
              <a:r>
                <a:rPr lang="en-IN" sz="1750" dirty="0"/>
                <a:t>items = []</a:t>
              </a:r>
            </a:p>
            <a:p>
              <a:pPr algn="just" fontAlgn="base">
                <a:lnSpc>
                  <a:spcPct val="150000"/>
                </a:lnSpc>
              </a:pPr>
              <a:r>
                <a:rPr lang="en-IN" sz="1750" dirty="0"/>
                <a:t># A condition variable for items</a:t>
              </a:r>
            </a:p>
            <a:p>
              <a:pPr algn="just" fontAlgn="base">
                <a:lnSpc>
                  <a:spcPct val="150000"/>
                </a:lnSpc>
              </a:pPr>
              <a:r>
                <a:rPr lang="en-IN" sz="1750" dirty="0" err="1"/>
                <a:t>items_cv</a:t>
              </a:r>
              <a:r>
                <a:rPr lang="en-IN" sz="1750" dirty="0"/>
                <a:t> = </a:t>
              </a:r>
              <a:r>
                <a:rPr lang="en-IN" sz="1750" dirty="0" err="1"/>
                <a:t>threading.Condition</a:t>
              </a:r>
              <a:r>
                <a:rPr lang="en-IN" sz="1750" dirty="0"/>
                <a:t>()</a:t>
              </a:r>
            </a:p>
            <a:p>
              <a:pPr algn="just" fontAlgn="base">
                <a:lnSpc>
                  <a:spcPct val="150000"/>
                </a:lnSpc>
              </a:pPr>
              <a:r>
                <a:rPr lang="en-IN" sz="1750" dirty="0"/>
                <a:t>def producer():</a:t>
              </a:r>
            </a:p>
            <a:p>
              <a:pPr algn="just" fontAlgn="base">
                <a:lnSpc>
                  <a:spcPct val="150000"/>
                </a:lnSpc>
              </a:pPr>
              <a:r>
                <a:rPr lang="en-IN" sz="1750" dirty="0"/>
                <a:t>    print "I'm the producer"</a:t>
              </a:r>
            </a:p>
            <a:p>
              <a:pPr algn="just" fontAlgn="base">
                <a:lnSpc>
                  <a:spcPct val="150000"/>
                </a:lnSpc>
              </a:pPr>
              <a:r>
                <a:rPr lang="en-IN" sz="1750" dirty="0"/>
                <a:t>    for </a:t>
              </a:r>
              <a:r>
                <a:rPr lang="en-IN" sz="1750" dirty="0" err="1"/>
                <a:t>i</a:t>
              </a:r>
              <a:r>
                <a:rPr lang="en-IN" sz="1750" dirty="0"/>
                <a:t> in range(30):</a:t>
              </a:r>
            </a:p>
            <a:p>
              <a:pPr algn="just" fontAlgn="base">
                <a:lnSpc>
                  <a:spcPct val="150000"/>
                </a:lnSpc>
              </a:pPr>
              <a:r>
                <a:rPr lang="en-IN" sz="1750" dirty="0"/>
                <a:t>        with </a:t>
              </a:r>
              <a:r>
                <a:rPr lang="en-IN" sz="1750" dirty="0" err="1"/>
                <a:t>items_cv</a:t>
              </a:r>
              <a:r>
                <a:rPr lang="en-IN" sz="1750" dirty="0"/>
                <a:t>:          # Always must acquire the lock first</a:t>
              </a:r>
            </a:p>
            <a:p>
              <a:pPr algn="just" fontAlgn="base">
                <a:lnSpc>
                  <a:spcPct val="150000"/>
                </a:lnSpc>
              </a:pPr>
              <a:r>
                <a:rPr lang="en-IN" sz="1750" dirty="0"/>
                <a:t>            </a:t>
              </a:r>
              <a:r>
                <a:rPr lang="en-IN" sz="1750" dirty="0" err="1"/>
                <a:t>items.append</a:t>
              </a:r>
              <a:r>
                <a:rPr lang="en-IN" sz="1750" dirty="0"/>
                <a:t>(</a:t>
              </a:r>
              <a:r>
                <a:rPr lang="en-IN" sz="1750" dirty="0" err="1"/>
                <a:t>i</a:t>
              </a:r>
              <a:r>
                <a:rPr lang="en-IN" sz="1750" dirty="0"/>
                <a:t>)     # Add an item to the list</a:t>
              </a:r>
            </a:p>
            <a:p>
              <a:pPr algn="just" fontAlgn="base">
                <a:lnSpc>
                  <a:spcPct val="150000"/>
                </a:lnSpc>
              </a:pPr>
              <a:r>
                <a:rPr lang="en-IN" sz="1750" dirty="0"/>
                <a:t>            </a:t>
              </a:r>
              <a:r>
                <a:rPr lang="en-IN" sz="1750" dirty="0" err="1"/>
                <a:t>items_cv.notify</a:t>
              </a:r>
              <a:r>
                <a:rPr lang="en-IN" sz="1750" dirty="0"/>
                <a:t>()   # Send a notification signal</a:t>
              </a:r>
            </a:p>
            <a:p>
              <a:pPr algn="just" fontAlgn="base">
                <a:lnSpc>
                  <a:spcPct val="150000"/>
                </a:lnSpc>
              </a:pPr>
              <a:r>
                <a:rPr lang="en-IN" sz="1750" dirty="0"/>
                <a:t>        </a:t>
              </a:r>
              <a:r>
                <a:rPr lang="en-IN" sz="1750" dirty="0" err="1"/>
                <a:t>time.sleep</a:t>
              </a:r>
              <a:r>
                <a:rPr lang="en-IN" sz="1750" dirty="0"/>
                <a:t>(1)</a:t>
              </a:r>
            </a:p>
          </p:txBody>
        </p:sp>
      </p:grpSp>
      <p:sp>
        <p:nvSpPr>
          <p:cNvPr id="8" name="object 12"/>
          <p:cNvSpPr txBox="1"/>
          <p:nvPr/>
        </p:nvSpPr>
        <p:spPr>
          <a:xfrm>
            <a:off x="5991003" y="628441"/>
            <a:ext cx="6031664" cy="6059351"/>
          </a:xfrm>
          <a:prstGeom prst="rect">
            <a:avLst/>
          </a:prstGeom>
        </p:spPr>
        <p:txBody>
          <a:bodyPr vert="horz" wrap="square" lIns="0" tIns="0" rIns="0" bIns="0" numCol="1" rtlCol="0">
            <a:spAutoFit/>
          </a:bodyPr>
          <a:lstStyle/>
          <a:p>
            <a:pPr algn="just" fontAlgn="base">
              <a:lnSpc>
                <a:spcPct val="150000"/>
              </a:lnSpc>
            </a:pPr>
            <a:r>
              <a:rPr lang="en-IN" sz="1750" dirty="0"/>
              <a:t>def consumer():</a:t>
            </a:r>
          </a:p>
          <a:p>
            <a:pPr algn="just" fontAlgn="base">
              <a:lnSpc>
                <a:spcPct val="150000"/>
              </a:lnSpc>
            </a:pPr>
            <a:r>
              <a:rPr lang="en-IN" sz="1750" dirty="0"/>
              <a:t>    print "I'm a consumer", </a:t>
            </a:r>
            <a:r>
              <a:rPr lang="en-IN" sz="1750" dirty="0" err="1"/>
              <a:t>threading.currentThread</a:t>
            </a:r>
            <a:r>
              <a:rPr lang="en-IN" sz="1750" dirty="0"/>
              <a:t>().name</a:t>
            </a:r>
          </a:p>
          <a:p>
            <a:pPr algn="just" fontAlgn="base">
              <a:lnSpc>
                <a:spcPct val="150000"/>
              </a:lnSpc>
            </a:pPr>
            <a:r>
              <a:rPr lang="en-IN" sz="1750" dirty="0"/>
              <a:t>    while True:</a:t>
            </a:r>
          </a:p>
          <a:p>
            <a:pPr algn="just" fontAlgn="base">
              <a:lnSpc>
                <a:spcPct val="150000"/>
              </a:lnSpc>
            </a:pPr>
            <a:r>
              <a:rPr lang="en-IN" sz="1750" dirty="0"/>
              <a:t>        with </a:t>
            </a:r>
            <a:r>
              <a:rPr lang="en-IN" sz="1750" dirty="0" err="1"/>
              <a:t>items_cv</a:t>
            </a:r>
            <a:r>
              <a:rPr lang="en-IN" sz="1750" dirty="0"/>
              <a:t>:           # Must always acquire the lock</a:t>
            </a:r>
          </a:p>
          <a:p>
            <a:pPr algn="just" fontAlgn="base">
              <a:lnSpc>
                <a:spcPct val="150000"/>
              </a:lnSpc>
            </a:pPr>
            <a:r>
              <a:rPr lang="en-IN" sz="1750" dirty="0"/>
              <a:t>            while not items:     # Check if there are any items</a:t>
            </a:r>
          </a:p>
          <a:p>
            <a:pPr algn="just" fontAlgn="base">
              <a:lnSpc>
                <a:spcPct val="150000"/>
              </a:lnSpc>
            </a:pPr>
            <a:r>
              <a:rPr lang="en-IN" sz="1750" dirty="0"/>
              <a:t>                </a:t>
            </a:r>
            <a:r>
              <a:rPr lang="en-IN" sz="1750" dirty="0" err="1"/>
              <a:t>items_cv.wait</a:t>
            </a:r>
            <a:r>
              <a:rPr lang="en-IN" sz="1750" dirty="0"/>
              <a:t>()  # If not, we have to sleep</a:t>
            </a:r>
          </a:p>
          <a:p>
            <a:pPr algn="just" fontAlgn="base">
              <a:lnSpc>
                <a:spcPct val="150000"/>
              </a:lnSpc>
            </a:pPr>
            <a:r>
              <a:rPr lang="en-IN" sz="1750" dirty="0"/>
              <a:t>            x = </a:t>
            </a:r>
            <a:r>
              <a:rPr lang="en-IN" sz="1750" dirty="0" err="1"/>
              <a:t>items.pop</a:t>
            </a:r>
            <a:r>
              <a:rPr lang="en-IN" sz="1750" dirty="0"/>
              <a:t>(0)     # Pop an item off</a:t>
            </a:r>
          </a:p>
          <a:p>
            <a:pPr algn="just" fontAlgn="base">
              <a:lnSpc>
                <a:spcPct val="150000"/>
              </a:lnSpc>
            </a:pPr>
            <a:r>
              <a:rPr lang="en-IN" sz="1750" dirty="0"/>
              <a:t>        print </a:t>
            </a:r>
            <a:r>
              <a:rPr lang="en-IN" sz="1750" dirty="0" err="1"/>
              <a:t>threading.currentThread</a:t>
            </a:r>
            <a:r>
              <a:rPr lang="en-IN" sz="1750" dirty="0"/>
              <a:t>().</a:t>
            </a:r>
            <a:r>
              <a:rPr lang="en-IN" sz="1750" dirty="0" err="1"/>
              <a:t>name,"got</a:t>
            </a:r>
            <a:r>
              <a:rPr lang="en-IN" sz="1750" dirty="0"/>
              <a:t>", x</a:t>
            </a:r>
          </a:p>
          <a:p>
            <a:pPr algn="just" fontAlgn="base">
              <a:lnSpc>
                <a:spcPct val="150000"/>
              </a:lnSpc>
            </a:pPr>
            <a:r>
              <a:rPr lang="en-IN" sz="1750" dirty="0"/>
              <a:t>        </a:t>
            </a:r>
            <a:r>
              <a:rPr lang="en-IN" sz="1750" dirty="0" err="1"/>
              <a:t>time.sleep</a:t>
            </a:r>
            <a:r>
              <a:rPr lang="en-IN" sz="1750" dirty="0"/>
              <a:t>(5)</a:t>
            </a:r>
          </a:p>
          <a:p>
            <a:pPr algn="just" fontAlgn="base">
              <a:lnSpc>
                <a:spcPct val="150000"/>
              </a:lnSpc>
            </a:pPr>
            <a:r>
              <a:rPr lang="en-IN" sz="1750"/>
              <a:t>cons </a:t>
            </a:r>
            <a:r>
              <a:rPr lang="en-IN" sz="1750" dirty="0"/>
              <a:t>= [</a:t>
            </a:r>
            <a:r>
              <a:rPr lang="en-IN" sz="1750" dirty="0" err="1"/>
              <a:t>threading.Thread</a:t>
            </a:r>
            <a:r>
              <a:rPr lang="en-IN" sz="1750" dirty="0"/>
              <a:t>(target=consumer)</a:t>
            </a:r>
          </a:p>
          <a:p>
            <a:pPr algn="just" fontAlgn="base">
              <a:lnSpc>
                <a:spcPct val="150000"/>
              </a:lnSpc>
            </a:pPr>
            <a:r>
              <a:rPr lang="en-IN" sz="1750" dirty="0"/>
              <a:t>        for </a:t>
            </a:r>
            <a:r>
              <a:rPr lang="en-IN" sz="1750" dirty="0" err="1"/>
              <a:t>i</a:t>
            </a:r>
            <a:r>
              <a:rPr lang="en-IN" sz="1750" dirty="0"/>
              <a:t> in range(10)]</a:t>
            </a:r>
          </a:p>
          <a:p>
            <a:pPr algn="just" fontAlgn="base">
              <a:lnSpc>
                <a:spcPct val="150000"/>
              </a:lnSpc>
            </a:pPr>
            <a:r>
              <a:rPr lang="en-IN" sz="1750" dirty="0"/>
              <a:t>for c in cons:</a:t>
            </a:r>
          </a:p>
          <a:p>
            <a:pPr algn="just" fontAlgn="base">
              <a:lnSpc>
                <a:spcPct val="150000"/>
              </a:lnSpc>
            </a:pPr>
            <a:r>
              <a:rPr lang="en-IN" sz="1750" dirty="0"/>
              <a:t>    </a:t>
            </a:r>
            <a:r>
              <a:rPr lang="en-IN" sz="1750" dirty="0" err="1"/>
              <a:t>c.setDaemon</a:t>
            </a:r>
            <a:r>
              <a:rPr lang="en-IN" sz="1750" dirty="0"/>
              <a:t>(True)</a:t>
            </a:r>
          </a:p>
          <a:p>
            <a:pPr algn="just" fontAlgn="base">
              <a:lnSpc>
                <a:spcPct val="150000"/>
              </a:lnSpc>
            </a:pPr>
            <a:r>
              <a:rPr lang="en-IN" sz="1750" dirty="0"/>
              <a:t>    </a:t>
            </a:r>
            <a:r>
              <a:rPr lang="en-IN" sz="1750" dirty="0" err="1"/>
              <a:t>c.start</a:t>
            </a:r>
            <a:r>
              <a:rPr lang="en-IN" sz="1750" dirty="0"/>
              <a:t>()</a:t>
            </a:r>
          </a:p>
          <a:p>
            <a:pPr algn="just" fontAlgn="base">
              <a:lnSpc>
                <a:spcPct val="150000"/>
              </a:lnSpc>
            </a:pPr>
            <a:r>
              <a:rPr lang="en-IN" sz="1750" dirty="0"/>
              <a:t>producer()</a:t>
            </a:r>
          </a:p>
        </p:txBody>
      </p:sp>
      <p:sp>
        <p:nvSpPr>
          <p:cNvPr id="4" name="Slide Number Placeholder 3"/>
          <p:cNvSpPr>
            <a:spLocks noGrp="1"/>
          </p:cNvSpPr>
          <p:nvPr>
            <p:ph type="sldNum" sz="quarter" idx="7"/>
          </p:nvPr>
        </p:nvSpPr>
        <p:spPr/>
        <p:txBody>
          <a:bodyPr/>
          <a:lstStyle/>
          <a:p>
            <a:fld id="{B6F15528-21DE-4FAA-801E-634DDDAF4B2B}" type="slidenum">
              <a:rPr/>
              <a:t>77</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3048000" y="2844800"/>
            <a:ext cx="6096000" cy="1168400"/>
          </a:xfrm>
          <a:prstGeom prst="rect">
            <a:avLst/>
          </a:prstGeom>
          <a:noFill/>
        </p:spPr>
        <p:txBody>
          <a:bodyPr wrap="square" rtlCol="0" anchor="t">
            <a:spAutoFit/>
          </a:bodyPr>
          <a:lstStyle/>
          <a:p>
            <a:r>
              <a:rPr lang="en-US" sz="3500" b="1" dirty="0">
                <a:solidFill>
                  <a:schemeClr val="tx1"/>
                </a:solidFill>
                <a:latin typeface="Candara" panose="020E0502030303020204" pitchFamily="34" charset="0"/>
                <a:sym typeface="+mn-ea"/>
              </a:rPr>
              <a:t>Network Programming Paradigm</a:t>
            </a:r>
          </a:p>
        </p:txBody>
      </p:sp>
      <p:sp>
        <p:nvSpPr>
          <p:cNvPr id="5" name="Slide Number Placeholder 4"/>
          <p:cNvSpPr>
            <a:spLocks noGrp="1"/>
          </p:cNvSpPr>
          <p:nvPr>
            <p:ph type="sldNum" sz="quarter" idx="7"/>
          </p:nvPr>
        </p:nvSpPr>
        <p:spPr/>
        <p:txBody>
          <a:bodyPr/>
          <a:lstStyle/>
          <a:p>
            <a:fld id="{B6F15528-21DE-4FAA-801E-634DDDAF4B2B}" type="slidenum">
              <a:rPr/>
              <a:t>78</a:t>
            </a:fld>
            <a:endParaRPr/>
          </a:p>
        </p:txBody>
      </p:sp>
      <p:sp>
        <p:nvSpPr>
          <p:cNvPr id="6" name="Footer Placeholder 5"/>
          <p:cNvSpPr>
            <a:spLocks noGrp="1"/>
          </p:cNvSpPr>
          <p:nvPr>
            <p:ph type="ftr" sz="quarter" idx="5"/>
          </p:nvPr>
        </p:nvSpPr>
        <p:spPr/>
        <p:txBody>
          <a:bodyPr/>
          <a:lstStyle/>
          <a:p>
            <a:r>
              <a:t>UNIT IV : Pythonic Programming Paradigm</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Introduction</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59"/>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9214355" cy="686078"/>
            </a:xfrm>
            <a:prstGeom prst="rect">
              <a:avLst/>
            </a:prstGeom>
          </p:spPr>
          <p:txBody>
            <a:bodyPr vert="horz" wrap="square" lIns="0" tIns="0" rIns="0" bIns="0" numCol="1" rtlCol="0">
              <a:spAutoFit/>
            </a:bodyPr>
            <a:lstStyle/>
            <a:p>
              <a:pPr algn="just" fontAlgn="base">
                <a:lnSpc>
                  <a:spcPct val="150000"/>
                </a:lnSpc>
              </a:pPr>
              <a:r>
                <a:rPr lang="en-IN" sz="1750" dirty="0"/>
                <a:t>The Network paradigm involves thinking of computing in terms of a client, who is essentially in need of some type of information, and a server, who has lots of information and is just waiting to hand it out. Typically, a client will connect to a server and query for certain information. The server will go off and find the information and then return it to the client.</a:t>
              </a:r>
            </a:p>
            <a:p>
              <a:pPr algn="just" fontAlgn="base">
                <a:lnSpc>
                  <a:spcPct val="150000"/>
                </a:lnSpc>
              </a:pPr>
              <a:endParaRPr lang="en-IN" sz="1750" dirty="0"/>
            </a:p>
            <a:p>
              <a:pPr algn="just" fontAlgn="base">
                <a:lnSpc>
                  <a:spcPct val="150000"/>
                </a:lnSpc>
              </a:pPr>
              <a:r>
                <a:rPr lang="en-IN" sz="1750" dirty="0"/>
                <a:t>In the context of the Internet, clients are typically run on desktop or laptop computers attached to the Internet looking for information, whereas servers are typically run on larger computers with certain types of information available for the clients to retrieve. The Web itself is made up of a bunch of computers that act as Web servers; they have vast amounts of HTML pages and related data available for people to retrieve and browse. Web clients are used by those of us who connect to the Web servers and browse through the Web pages.</a:t>
              </a:r>
            </a:p>
            <a:p>
              <a:pPr algn="just" fontAlgn="base">
                <a:lnSpc>
                  <a:spcPct val="150000"/>
                </a:lnSpc>
              </a:pPr>
              <a:endParaRPr lang="en-IN" sz="1750" dirty="0"/>
            </a:p>
            <a:p>
              <a:pPr algn="just" fontAlgn="base">
                <a:lnSpc>
                  <a:spcPct val="150000"/>
                </a:lnSpc>
              </a:pPr>
              <a:r>
                <a:rPr lang="en-IN" sz="1750" dirty="0"/>
                <a:t>Network programming uses a particular type of network communication known as sockets. A socket is a software abstraction for an input or output medium of communication. </a:t>
              </a:r>
            </a:p>
          </p:txBody>
        </p:sp>
      </p:grpSp>
      <p:sp>
        <p:nvSpPr>
          <p:cNvPr id="4" name="Slide Number Placeholder 3"/>
          <p:cNvSpPr>
            <a:spLocks noGrp="1"/>
          </p:cNvSpPr>
          <p:nvPr>
            <p:ph type="sldNum" sz="quarter" idx="7"/>
          </p:nvPr>
        </p:nvSpPr>
        <p:spPr/>
        <p:txBody>
          <a:bodyPr/>
          <a:lstStyle/>
          <a:p>
            <a:fld id="{B6F15528-21DE-4FAA-801E-634DDDAF4B2B}" type="slidenum">
              <a:rPr/>
              <a:t>79</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What is Socket?</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59"/>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9214355" cy="628905"/>
            </a:xfrm>
            <a:prstGeom prst="rect">
              <a:avLst/>
            </a:prstGeom>
          </p:spPr>
          <p:txBody>
            <a:bodyPr vert="horz" wrap="square" lIns="0" tIns="0" rIns="0" bIns="0" numCol="1" rtlCol="0">
              <a:spAutoFit/>
            </a:bodyPr>
            <a:lstStyle/>
            <a:p>
              <a:pPr marL="285750" indent="-285750" algn="just" fontAlgn="base">
                <a:lnSpc>
                  <a:spcPct val="150000"/>
                </a:lnSpc>
                <a:buFont typeface="Arial" panose="020B0604020202020204" pitchFamily="34" charset="0"/>
                <a:buChar char="•"/>
              </a:pPr>
              <a:r>
                <a:rPr lang="en-IN" sz="1750" dirty="0"/>
                <a:t>A socket is a software abstraction for an input or output medium of communication. </a:t>
              </a:r>
            </a:p>
            <a:p>
              <a:pPr marL="285750" indent="-285750" algn="just" fontAlgn="base">
                <a:lnSpc>
                  <a:spcPct val="150000"/>
                </a:lnSpc>
                <a:buFont typeface="Arial" panose="020B0604020202020204" pitchFamily="34" charset="0"/>
                <a:buChar char="•"/>
              </a:pPr>
              <a:r>
                <a:rPr lang="en-IN" sz="1750" dirty="0"/>
                <a:t>Sockets allow communication between processes that lie on the same machine, or on different machines working in diverse environment and even across different continents.</a:t>
              </a:r>
            </a:p>
            <a:p>
              <a:pPr marL="285750" indent="-285750" algn="just" fontAlgn="base">
                <a:lnSpc>
                  <a:spcPct val="150000"/>
                </a:lnSpc>
                <a:buFont typeface="Arial" panose="020B0604020202020204" pitchFamily="34" charset="0"/>
                <a:buChar char="•"/>
              </a:pPr>
              <a:r>
                <a:rPr lang="en-IN" sz="1750" dirty="0"/>
                <a:t>A socket is the most vital and fundamental entity. Sockets are the end-point of a two-way communication link. </a:t>
              </a:r>
            </a:p>
            <a:p>
              <a:pPr marL="285750" indent="-285750" algn="just" fontAlgn="base">
                <a:lnSpc>
                  <a:spcPct val="150000"/>
                </a:lnSpc>
                <a:buFont typeface="Arial" panose="020B0604020202020204" pitchFamily="34" charset="0"/>
                <a:buChar char="•"/>
              </a:pPr>
              <a:r>
                <a:rPr lang="en-IN" sz="1750" dirty="0"/>
                <a:t>An endpoint is a combination of IP address and the port number. </a:t>
              </a:r>
            </a:p>
            <a:p>
              <a:pPr algn="just" fontAlgn="base">
                <a:lnSpc>
                  <a:spcPct val="150000"/>
                </a:lnSpc>
              </a:pPr>
              <a:r>
                <a:rPr lang="en-IN" sz="1750" dirty="0"/>
                <a:t>For Client-Server communication,</a:t>
              </a:r>
            </a:p>
            <a:p>
              <a:pPr marL="742950" lvl="1" indent="-285750" algn="just" fontAlgn="base">
                <a:lnSpc>
                  <a:spcPct val="150000"/>
                </a:lnSpc>
                <a:buFont typeface="Wingdings" panose="05000000000000000000" pitchFamily="2" charset="2"/>
                <a:buChar char="§"/>
              </a:pPr>
              <a:r>
                <a:rPr lang="en-IN" sz="1750" dirty="0"/>
                <a:t>Sockets are to be configured at the two ends to initiate a connection, </a:t>
              </a:r>
            </a:p>
            <a:p>
              <a:pPr marL="742950" lvl="1" indent="-285750" algn="just" fontAlgn="base">
                <a:lnSpc>
                  <a:spcPct val="150000"/>
                </a:lnSpc>
                <a:buFont typeface="Wingdings" panose="05000000000000000000" pitchFamily="2" charset="2"/>
                <a:buChar char="§"/>
              </a:pPr>
              <a:r>
                <a:rPr lang="en-IN" sz="1750" dirty="0"/>
                <a:t>Listen for incoming messages</a:t>
              </a:r>
            </a:p>
            <a:p>
              <a:pPr marL="742950" lvl="1" indent="-285750" algn="just" fontAlgn="base">
                <a:lnSpc>
                  <a:spcPct val="150000"/>
                </a:lnSpc>
                <a:buFont typeface="Wingdings" panose="05000000000000000000" pitchFamily="2" charset="2"/>
                <a:buChar char="§"/>
              </a:pPr>
              <a:r>
                <a:rPr lang="en-IN" sz="1750" dirty="0"/>
                <a:t>Send the responses at both ends</a:t>
              </a:r>
            </a:p>
            <a:p>
              <a:pPr marL="742950" lvl="1" indent="-285750" algn="just" fontAlgn="base">
                <a:lnSpc>
                  <a:spcPct val="150000"/>
                </a:lnSpc>
                <a:buFont typeface="Wingdings" panose="05000000000000000000" pitchFamily="2" charset="2"/>
                <a:buChar char="§"/>
              </a:pPr>
              <a:r>
                <a:rPr lang="en-IN" sz="1750" dirty="0"/>
                <a:t>Establishing a bidirectional communication.</a:t>
              </a:r>
            </a:p>
            <a:p>
              <a:pPr algn="just" fontAlgn="base">
                <a:lnSpc>
                  <a:spcPct val="150000"/>
                </a:lnSpc>
              </a:pPr>
              <a:endParaRPr lang="en-IN" sz="1750" dirty="0"/>
            </a:p>
          </p:txBody>
        </p:sp>
      </p:grpSp>
      <p:sp>
        <p:nvSpPr>
          <p:cNvPr id="4" name="Slide Number Placeholder 3"/>
          <p:cNvSpPr>
            <a:spLocks noGrp="1"/>
          </p:cNvSpPr>
          <p:nvPr>
            <p:ph type="sldNum" sz="quarter" idx="7"/>
          </p:nvPr>
        </p:nvSpPr>
        <p:spPr/>
        <p:txBody>
          <a:bodyPr/>
          <a:lstStyle/>
          <a:p>
            <a:fld id="{B6F15528-21DE-4FAA-801E-634DDDAF4B2B}" type="slidenum">
              <a:rPr/>
              <a:t>80</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Socket Types</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59"/>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9214355" cy="571732"/>
            </a:xfrm>
            <a:prstGeom prst="rect">
              <a:avLst/>
            </a:prstGeom>
          </p:spPr>
          <p:txBody>
            <a:bodyPr vert="horz" wrap="square" lIns="0" tIns="0" rIns="0" bIns="0" numCol="1" rtlCol="0">
              <a:spAutoFit/>
            </a:bodyPr>
            <a:lstStyle/>
            <a:p>
              <a:pPr algn="just" fontAlgn="base">
                <a:lnSpc>
                  <a:spcPct val="150000"/>
                </a:lnSpc>
              </a:pPr>
              <a:r>
                <a:rPr lang="en-IN" sz="1750" b="1" dirty="0"/>
                <a:t>Datagram Socket</a:t>
              </a:r>
            </a:p>
            <a:p>
              <a:pPr marL="285750" indent="-285750" algn="just" fontAlgn="base">
                <a:lnSpc>
                  <a:spcPct val="150000"/>
                </a:lnSpc>
                <a:buFont typeface="Arial" panose="020B0604020202020204" pitchFamily="34" charset="0"/>
                <a:buChar char="•"/>
              </a:pPr>
              <a:r>
                <a:rPr lang="en-IN" sz="1750" dirty="0"/>
                <a:t>A datagram is an independent, self-contained piece of information sent over a network whose arrival, arrival time, and content are not guaranteed.  A datagram socket uses User Datagram Protocol (UDP) to facilitate the sending of datagrams (self-contained pieces of information) in an unreliable manner. Unreliable means that information sent via datagrams isn't guaranteed to make it to its destination.</a:t>
              </a:r>
            </a:p>
            <a:p>
              <a:pPr marL="285750" indent="-285750" algn="just" fontAlgn="base">
                <a:lnSpc>
                  <a:spcPct val="150000"/>
                </a:lnSpc>
                <a:buFont typeface="Arial" panose="020B0604020202020204" pitchFamily="34" charset="0"/>
                <a:buChar char="•"/>
              </a:pPr>
              <a:endParaRPr lang="en-IN" sz="1750" dirty="0"/>
            </a:p>
            <a:p>
              <a:pPr algn="just" fontAlgn="base">
                <a:lnSpc>
                  <a:spcPct val="150000"/>
                </a:lnSpc>
              </a:pPr>
              <a:r>
                <a:rPr lang="en-IN" sz="1750" b="1" dirty="0"/>
                <a:t>Stream Socket:</a:t>
              </a:r>
            </a:p>
            <a:p>
              <a:pPr marL="285750" indent="-285750" algn="just" fontAlgn="base">
                <a:lnSpc>
                  <a:spcPct val="150000"/>
                </a:lnSpc>
                <a:buFont typeface="Arial" panose="020B0604020202020204" pitchFamily="34" charset="0"/>
                <a:buChar char="•"/>
              </a:pPr>
              <a:r>
                <a:rPr lang="en-IN" sz="1750" dirty="0"/>
                <a:t>A stream socket, or connected socket, is a socket through which data can be transmitted continuously. A stream socket is more akin to a live network, in which the communication link is continuously active. A stream socket is a "connected" socket through which data is transferred continuously.</a:t>
              </a:r>
            </a:p>
          </p:txBody>
        </p:sp>
      </p:grpSp>
      <p:sp>
        <p:nvSpPr>
          <p:cNvPr id="4" name="Slide Number Placeholder 3"/>
          <p:cNvSpPr>
            <a:spLocks noGrp="1"/>
          </p:cNvSpPr>
          <p:nvPr>
            <p:ph type="sldNum" sz="quarter" idx="7"/>
          </p:nvPr>
        </p:nvSpPr>
        <p:spPr/>
        <p:txBody>
          <a:bodyPr/>
          <a:lstStyle/>
          <a:p>
            <a:fld id="{B6F15528-21DE-4FAA-801E-634DDDAF4B2B}" type="slidenum">
              <a:rPr/>
              <a:t>81</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Socket in Python</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sp>
        <p:nvSpPr>
          <p:cNvPr id="29" name="Rectangle 28"/>
          <p:cNvSpPr/>
          <p:nvPr/>
        </p:nvSpPr>
        <p:spPr>
          <a:xfrm>
            <a:off x="0" y="586959"/>
            <a:ext cx="12105504" cy="5979173"/>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10" name="object 12"/>
          <p:cNvSpPr txBox="1"/>
          <p:nvPr/>
        </p:nvSpPr>
        <p:spPr>
          <a:xfrm>
            <a:off x="89671" y="586959"/>
            <a:ext cx="11998667" cy="6186309"/>
          </a:xfrm>
          <a:prstGeom prst="rect">
            <a:avLst/>
          </a:prstGeom>
        </p:spPr>
        <p:txBody>
          <a:bodyPr vert="horz" wrap="square" lIns="0" tIns="0" rIns="0" bIns="0" numCol="1" rtlCol="0">
            <a:spAutoFit/>
          </a:bodyPr>
          <a:lstStyle/>
          <a:p>
            <a:pPr algn="just" fontAlgn="base">
              <a:lnSpc>
                <a:spcPct val="150000"/>
              </a:lnSpc>
            </a:pPr>
            <a:endParaRPr lang="en-IN" sz="900" dirty="0"/>
          </a:p>
          <a:p>
            <a:pPr algn="just" fontAlgn="base">
              <a:lnSpc>
                <a:spcPct val="150000"/>
              </a:lnSpc>
            </a:pPr>
            <a:r>
              <a:rPr lang="en-IN" sz="1750" dirty="0"/>
              <a:t>		</a:t>
            </a:r>
            <a:r>
              <a:rPr lang="en-IN" sz="1750" dirty="0" err="1"/>
              <a:t>sock_obj</a:t>
            </a:r>
            <a:r>
              <a:rPr lang="en-IN" sz="1750" dirty="0"/>
              <a:t> = </a:t>
            </a:r>
            <a:r>
              <a:rPr lang="en-IN" sz="1750" dirty="0" err="1"/>
              <a:t>socket.socket</a:t>
            </a:r>
            <a:r>
              <a:rPr lang="en-IN" sz="1750" dirty="0"/>
              <a:t>( </a:t>
            </a:r>
            <a:r>
              <a:rPr lang="en-IN" sz="1750" dirty="0" err="1"/>
              <a:t>socket_family</a:t>
            </a:r>
            <a:r>
              <a:rPr lang="en-IN" sz="1750" dirty="0"/>
              <a:t>, </a:t>
            </a:r>
            <a:r>
              <a:rPr lang="en-IN" sz="1750" dirty="0" err="1"/>
              <a:t>socket_type</a:t>
            </a:r>
            <a:r>
              <a:rPr lang="en-IN" sz="1750" dirty="0"/>
              <a:t>, protocol=0)</a:t>
            </a:r>
          </a:p>
          <a:p>
            <a:pPr algn="just" fontAlgn="base">
              <a:lnSpc>
                <a:spcPct val="150000"/>
              </a:lnSpc>
            </a:pPr>
            <a:endParaRPr lang="en-IN" sz="800" dirty="0"/>
          </a:p>
          <a:p>
            <a:pPr algn="just" fontAlgn="base">
              <a:lnSpc>
                <a:spcPct val="150000"/>
              </a:lnSpc>
            </a:pPr>
            <a:r>
              <a:rPr lang="en-IN" sz="1750" b="1" dirty="0" err="1"/>
              <a:t>socket_family</a:t>
            </a:r>
            <a:r>
              <a:rPr lang="en-IN" sz="1750" b="1" dirty="0"/>
              <a:t>:</a:t>
            </a:r>
            <a:r>
              <a:rPr lang="en-IN" sz="1750" dirty="0"/>
              <a:t> - Defines  family of protocols used as transport mechanism. </a:t>
            </a:r>
          </a:p>
          <a:p>
            <a:pPr lvl="1" algn="just" fontAlgn="base">
              <a:lnSpc>
                <a:spcPct val="150000"/>
              </a:lnSpc>
            </a:pPr>
            <a:r>
              <a:rPr lang="en-IN" sz="1750" dirty="0"/>
              <a:t>Either AF_UNIX, or</a:t>
            </a:r>
          </a:p>
          <a:p>
            <a:pPr lvl="1" algn="just" fontAlgn="base">
              <a:lnSpc>
                <a:spcPct val="150000"/>
              </a:lnSpc>
            </a:pPr>
            <a:r>
              <a:rPr lang="en-IN" sz="1750" dirty="0"/>
              <a:t>AF_INET (IP version 4 or IPv4).</a:t>
            </a:r>
          </a:p>
          <a:p>
            <a:pPr algn="just" fontAlgn="base">
              <a:lnSpc>
                <a:spcPct val="150000"/>
              </a:lnSpc>
            </a:pPr>
            <a:r>
              <a:rPr lang="en-IN" sz="1750" b="1" dirty="0" err="1"/>
              <a:t>socket_type</a:t>
            </a:r>
            <a:r>
              <a:rPr lang="en-IN" sz="1750" b="1" dirty="0"/>
              <a:t>:</a:t>
            </a:r>
            <a:r>
              <a:rPr lang="en-IN" sz="1750" dirty="0"/>
              <a:t> Defines the types of communication between the two end-points. </a:t>
            </a:r>
          </a:p>
          <a:p>
            <a:pPr lvl="1" algn="just" fontAlgn="base">
              <a:lnSpc>
                <a:spcPct val="150000"/>
              </a:lnSpc>
            </a:pPr>
            <a:r>
              <a:rPr lang="en-IN" sz="1750" dirty="0"/>
              <a:t>SOCK_STREAM (for connection-oriented protocols, e.g., TCP), or</a:t>
            </a:r>
          </a:p>
          <a:p>
            <a:pPr lvl="1" algn="just" fontAlgn="base">
              <a:lnSpc>
                <a:spcPct val="150000"/>
              </a:lnSpc>
            </a:pPr>
            <a:r>
              <a:rPr lang="en-IN" sz="1750" dirty="0"/>
              <a:t>SOCK_DGRAM (for connectionless protocols e.g. UDP).</a:t>
            </a:r>
          </a:p>
          <a:p>
            <a:pPr algn="just" fontAlgn="base">
              <a:lnSpc>
                <a:spcPct val="150000"/>
              </a:lnSpc>
            </a:pPr>
            <a:r>
              <a:rPr lang="en-IN" sz="1750" b="1" dirty="0"/>
              <a:t>protocol</a:t>
            </a:r>
            <a:r>
              <a:rPr lang="en-IN" sz="1750" dirty="0"/>
              <a:t>: We typically leave this field or set this field to zero.</a:t>
            </a:r>
          </a:p>
          <a:p>
            <a:pPr algn="just" fontAlgn="base">
              <a:lnSpc>
                <a:spcPct val="150000"/>
              </a:lnSpc>
            </a:pPr>
            <a:r>
              <a:rPr lang="en-IN" sz="1750" b="1" dirty="0"/>
              <a:t>Example:</a:t>
            </a:r>
          </a:p>
          <a:p>
            <a:pPr lvl="2" algn="just" fontAlgn="base">
              <a:lnSpc>
                <a:spcPct val="150000"/>
              </a:lnSpc>
            </a:pPr>
            <a:r>
              <a:rPr lang="en-IN" sz="1750" dirty="0"/>
              <a:t>#Socket client example in python</a:t>
            </a:r>
          </a:p>
          <a:p>
            <a:pPr lvl="2" algn="just" fontAlgn="base">
              <a:lnSpc>
                <a:spcPct val="150000"/>
              </a:lnSpc>
            </a:pPr>
            <a:r>
              <a:rPr lang="en-IN" sz="1750" dirty="0"/>
              <a:t>import socket	</a:t>
            </a:r>
          </a:p>
          <a:p>
            <a:pPr lvl="2" algn="just" fontAlgn="base">
              <a:lnSpc>
                <a:spcPct val="150000"/>
              </a:lnSpc>
            </a:pPr>
            <a:r>
              <a:rPr lang="en-IN" sz="1750" dirty="0"/>
              <a:t>#create an AF_INET, STREAM socket (TCP)</a:t>
            </a:r>
          </a:p>
          <a:p>
            <a:pPr lvl="2" algn="just" fontAlgn="base">
              <a:lnSpc>
                <a:spcPct val="150000"/>
              </a:lnSpc>
            </a:pPr>
            <a:r>
              <a:rPr lang="en-IN" sz="1750" dirty="0"/>
              <a:t>s = </a:t>
            </a:r>
            <a:r>
              <a:rPr lang="en-IN" sz="1750" dirty="0" err="1"/>
              <a:t>socket.socket</a:t>
            </a:r>
            <a:r>
              <a:rPr lang="en-IN" sz="1750" dirty="0"/>
              <a:t>(</a:t>
            </a:r>
            <a:r>
              <a:rPr lang="en-IN" sz="1750" dirty="0" err="1"/>
              <a:t>socket.AF_INET</a:t>
            </a:r>
            <a:r>
              <a:rPr lang="en-IN" sz="1750" dirty="0"/>
              <a:t>, </a:t>
            </a:r>
            <a:r>
              <a:rPr lang="en-IN" sz="1750" dirty="0" err="1"/>
              <a:t>socket.SOCK_STREAM</a:t>
            </a:r>
            <a:r>
              <a:rPr lang="en-IN" sz="1750" dirty="0"/>
              <a:t>)</a:t>
            </a:r>
          </a:p>
          <a:p>
            <a:pPr lvl="2" algn="just" fontAlgn="base">
              <a:lnSpc>
                <a:spcPct val="150000"/>
              </a:lnSpc>
            </a:pPr>
            <a:r>
              <a:rPr lang="en-IN" sz="1750" dirty="0"/>
              <a:t>print 'Socket Created'</a:t>
            </a:r>
          </a:p>
        </p:txBody>
      </p:sp>
      <p:sp>
        <p:nvSpPr>
          <p:cNvPr id="2" name="Slide Number Placeholder 1"/>
          <p:cNvSpPr>
            <a:spLocks noGrp="1"/>
          </p:cNvSpPr>
          <p:nvPr>
            <p:ph type="sldNum" sz="quarter" idx="7"/>
          </p:nvPr>
        </p:nvSpPr>
        <p:spPr/>
        <p:txBody>
          <a:bodyPr/>
          <a:lstStyle/>
          <a:p>
            <a:fld id="{B6F15528-21DE-4FAA-801E-634DDDAF4B2B}" type="slidenum">
              <a:rPr/>
              <a:t>82</a:t>
            </a:fld>
            <a:endParaRPr/>
          </a:p>
        </p:txBody>
      </p:sp>
      <p:sp>
        <p:nvSpPr>
          <p:cNvPr id="4" name="Footer Placeholder 3"/>
          <p:cNvSpPr>
            <a:spLocks noGrp="1"/>
          </p:cNvSpPr>
          <p:nvPr>
            <p:ph type="ftr" sz="quarter" idx="5"/>
          </p:nvPr>
        </p:nvSpPr>
        <p:spPr/>
        <p:txBody>
          <a:bodyPr/>
          <a:lstStyle/>
          <a:p>
            <a:r>
              <a:t>UNIT IV : Pythonic Programming Paradigm</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Socket Creation</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sp>
        <p:nvSpPr>
          <p:cNvPr id="29" name="Rectangle 28"/>
          <p:cNvSpPr/>
          <p:nvPr/>
        </p:nvSpPr>
        <p:spPr>
          <a:xfrm>
            <a:off x="0" y="586959"/>
            <a:ext cx="12105504" cy="5979173"/>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10" name="object 12"/>
          <p:cNvSpPr txBox="1"/>
          <p:nvPr/>
        </p:nvSpPr>
        <p:spPr>
          <a:xfrm>
            <a:off x="89671" y="586959"/>
            <a:ext cx="11998667" cy="4225837"/>
          </a:xfrm>
          <a:prstGeom prst="rect">
            <a:avLst/>
          </a:prstGeom>
        </p:spPr>
        <p:txBody>
          <a:bodyPr vert="horz" wrap="square" lIns="0" tIns="0" rIns="0" bIns="0" numCol="1" rtlCol="0">
            <a:spAutoFit/>
          </a:bodyPr>
          <a:lstStyle/>
          <a:p>
            <a:pPr algn="just" fontAlgn="base">
              <a:lnSpc>
                <a:spcPct val="150000"/>
              </a:lnSpc>
            </a:pPr>
            <a:r>
              <a:rPr lang="en-IN" sz="1750" dirty="0"/>
              <a:t>import socket	</a:t>
            </a:r>
          </a:p>
          <a:p>
            <a:pPr algn="just" fontAlgn="base">
              <a:lnSpc>
                <a:spcPct val="150000"/>
              </a:lnSpc>
            </a:pPr>
            <a:r>
              <a:rPr lang="en-IN" sz="1750" dirty="0"/>
              <a:t>import sys	</a:t>
            </a:r>
          </a:p>
          <a:p>
            <a:pPr algn="just" fontAlgn="base">
              <a:lnSpc>
                <a:spcPct val="150000"/>
              </a:lnSpc>
            </a:pPr>
            <a:r>
              <a:rPr lang="en-IN" sz="1750" dirty="0"/>
              <a:t>try:</a:t>
            </a:r>
          </a:p>
          <a:p>
            <a:pPr algn="just" fontAlgn="base">
              <a:lnSpc>
                <a:spcPct val="150000"/>
              </a:lnSpc>
            </a:pPr>
            <a:r>
              <a:rPr lang="en-IN" sz="1750" dirty="0"/>
              <a:t>	#create an AF_INET, STREAM socket (TCP)</a:t>
            </a:r>
          </a:p>
          <a:p>
            <a:pPr algn="just" fontAlgn="base">
              <a:lnSpc>
                <a:spcPct val="150000"/>
              </a:lnSpc>
            </a:pPr>
            <a:r>
              <a:rPr lang="en-IN" sz="1750" dirty="0"/>
              <a:t>	s = </a:t>
            </a:r>
            <a:r>
              <a:rPr lang="en-IN" sz="1750" dirty="0" err="1"/>
              <a:t>socket.socket</a:t>
            </a:r>
            <a:r>
              <a:rPr lang="en-IN" sz="1750" dirty="0"/>
              <a:t>(</a:t>
            </a:r>
            <a:r>
              <a:rPr lang="en-IN" sz="1750" dirty="0" err="1"/>
              <a:t>socket.AF_INET</a:t>
            </a:r>
            <a:r>
              <a:rPr lang="en-IN" sz="1750" dirty="0"/>
              <a:t>, </a:t>
            </a:r>
            <a:r>
              <a:rPr lang="en-IN" sz="1750" dirty="0" err="1"/>
              <a:t>socket.SOCK_STREAM</a:t>
            </a:r>
            <a:r>
              <a:rPr lang="en-IN" sz="1750" dirty="0"/>
              <a:t>)</a:t>
            </a:r>
          </a:p>
          <a:p>
            <a:pPr algn="just" fontAlgn="base">
              <a:lnSpc>
                <a:spcPct val="150000"/>
              </a:lnSpc>
            </a:pPr>
            <a:r>
              <a:rPr lang="en-IN" sz="1750" dirty="0"/>
              <a:t>except </a:t>
            </a:r>
            <a:r>
              <a:rPr lang="en-IN" sz="1750" dirty="0" err="1"/>
              <a:t>socket.error</a:t>
            </a:r>
            <a:r>
              <a:rPr lang="en-IN" sz="1750" dirty="0"/>
              <a:t>, </a:t>
            </a:r>
            <a:r>
              <a:rPr lang="en-IN" sz="1750" dirty="0" err="1"/>
              <a:t>msg</a:t>
            </a:r>
            <a:r>
              <a:rPr lang="en-IN" sz="1750" dirty="0"/>
              <a:t>:</a:t>
            </a:r>
          </a:p>
          <a:p>
            <a:pPr algn="just" fontAlgn="base">
              <a:lnSpc>
                <a:spcPct val="150000"/>
              </a:lnSpc>
            </a:pPr>
            <a:r>
              <a:rPr lang="en-IN" sz="1750" dirty="0"/>
              <a:t>	print 'Failed to create socket. Error code: ' + </a:t>
            </a:r>
            <a:r>
              <a:rPr lang="en-IN" sz="1750" dirty="0" err="1"/>
              <a:t>str</a:t>
            </a:r>
            <a:r>
              <a:rPr lang="en-IN" sz="1750" dirty="0"/>
              <a:t>(</a:t>
            </a:r>
            <a:r>
              <a:rPr lang="en-IN" sz="1750" dirty="0" err="1"/>
              <a:t>msg</a:t>
            </a:r>
            <a:r>
              <a:rPr lang="en-IN" sz="1750" dirty="0"/>
              <a:t>[0]) + ' , Error message : ' + </a:t>
            </a:r>
            <a:r>
              <a:rPr lang="en-IN" sz="1750" dirty="0" err="1"/>
              <a:t>msg</a:t>
            </a:r>
            <a:r>
              <a:rPr lang="en-IN" sz="1750" dirty="0"/>
              <a:t>[1]</a:t>
            </a:r>
          </a:p>
          <a:p>
            <a:pPr algn="just" fontAlgn="base">
              <a:lnSpc>
                <a:spcPct val="150000"/>
              </a:lnSpc>
            </a:pPr>
            <a:r>
              <a:rPr lang="en-IN" sz="1750" dirty="0"/>
              <a:t>	</a:t>
            </a:r>
            <a:r>
              <a:rPr lang="en-IN" sz="1750" dirty="0" err="1"/>
              <a:t>sys.exit</a:t>
            </a:r>
            <a:r>
              <a:rPr lang="en-IN" sz="1750" dirty="0"/>
              <a:t>();</a:t>
            </a:r>
          </a:p>
          <a:p>
            <a:pPr algn="just" fontAlgn="base">
              <a:lnSpc>
                <a:spcPct val="150000"/>
              </a:lnSpc>
            </a:pPr>
            <a:endParaRPr lang="en-IN" sz="1750" dirty="0"/>
          </a:p>
          <a:p>
            <a:pPr algn="just" fontAlgn="base">
              <a:lnSpc>
                <a:spcPct val="150000"/>
              </a:lnSpc>
            </a:pPr>
            <a:r>
              <a:rPr lang="en-IN" sz="1750" dirty="0"/>
              <a:t>print 'Socket Created'</a:t>
            </a:r>
          </a:p>
          <a:p>
            <a:pPr algn="just" fontAlgn="base">
              <a:lnSpc>
                <a:spcPct val="150000"/>
              </a:lnSpc>
            </a:pPr>
            <a:endParaRPr lang="en-IN" sz="900" dirty="0"/>
          </a:p>
        </p:txBody>
      </p:sp>
      <p:sp>
        <p:nvSpPr>
          <p:cNvPr id="2" name="Slide Number Placeholder 1"/>
          <p:cNvSpPr>
            <a:spLocks noGrp="1"/>
          </p:cNvSpPr>
          <p:nvPr>
            <p:ph type="sldNum" sz="quarter" idx="7"/>
          </p:nvPr>
        </p:nvSpPr>
        <p:spPr/>
        <p:txBody>
          <a:bodyPr/>
          <a:lstStyle/>
          <a:p>
            <a:fld id="{B6F15528-21DE-4FAA-801E-634DDDAF4B2B}" type="slidenum">
              <a:rPr/>
              <a:t>83</a:t>
            </a:fld>
            <a:endParaRPr/>
          </a:p>
        </p:txBody>
      </p:sp>
      <p:sp>
        <p:nvSpPr>
          <p:cNvPr id="4" name="Footer Placeholder 3"/>
          <p:cNvSpPr>
            <a:spLocks noGrp="1"/>
          </p:cNvSpPr>
          <p:nvPr>
            <p:ph type="ftr" sz="quarter" idx="5"/>
          </p:nvPr>
        </p:nvSpPr>
        <p:spPr/>
        <p:txBody>
          <a:bodyPr/>
          <a:lstStyle/>
          <a:p>
            <a:r>
              <a:t>UNIT IV : Pythonic Programming Paradigm</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965117" cy="394403"/>
          </a:xfrm>
          <a:prstGeom prst="rect">
            <a:avLst/>
          </a:prstGeom>
        </p:spPr>
        <p:txBody>
          <a:bodyPr vert="horz" wrap="square" lIns="0" tIns="0" rIns="0" bIns="0" rtlCol="0">
            <a:spAutoFit/>
          </a:bodyPr>
          <a:lstStyle/>
          <a:p>
            <a:pPr marL="15875"/>
            <a:r>
              <a:rPr lang="en-IN" sz="2565" b="1" spc="13" dirty="0">
                <a:solidFill>
                  <a:srgbClr val="010103"/>
                </a:solidFill>
                <a:latin typeface="Arial" panose="020B0604020202020204"/>
                <a:cs typeface="Arial" panose="020B0604020202020204"/>
              </a:rPr>
              <a:t>Client/server symmetry in Sockets applications</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59"/>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9214355" cy="51265"/>
            </a:xfrm>
            <a:prstGeom prst="rect">
              <a:avLst/>
            </a:prstGeom>
          </p:spPr>
          <p:txBody>
            <a:bodyPr vert="horz" wrap="square" lIns="0" tIns="0" rIns="0" bIns="0" numCol="1" rtlCol="0">
              <a:spAutoFit/>
            </a:bodyPr>
            <a:lstStyle/>
            <a:p>
              <a:pPr algn="just" fontAlgn="base">
                <a:lnSpc>
                  <a:spcPct val="150000"/>
                </a:lnSpc>
              </a:pPr>
              <a:endParaRPr lang="en-IN" sz="1750" dirty="0"/>
            </a:p>
          </p:txBody>
        </p:sp>
      </p:gr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9816" y="586958"/>
            <a:ext cx="5915959" cy="5915959"/>
          </a:xfrm>
          <a:prstGeom prst="rect">
            <a:avLst/>
          </a:prstGeom>
        </p:spPr>
      </p:pic>
      <p:sp>
        <p:nvSpPr>
          <p:cNvPr id="5" name="Slide Number Placeholder 4"/>
          <p:cNvSpPr>
            <a:spLocks noGrp="1"/>
          </p:cNvSpPr>
          <p:nvPr>
            <p:ph type="sldNum" sz="quarter" idx="7"/>
          </p:nvPr>
        </p:nvSpPr>
        <p:spPr/>
        <p:txBody>
          <a:bodyPr/>
          <a:lstStyle/>
          <a:p>
            <a:fld id="{B6F15528-21DE-4FAA-801E-634DDDAF4B2B}" type="slidenum">
              <a:rPr/>
              <a:t>84</a:t>
            </a:fld>
            <a:endParaRPr/>
          </a:p>
        </p:txBody>
      </p:sp>
      <p:sp>
        <p:nvSpPr>
          <p:cNvPr id="6" name="Footer Placeholder 5"/>
          <p:cNvSpPr>
            <a:spLocks noGrp="1"/>
          </p:cNvSpPr>
          <p:nvPr>
            <p:ph type="ftr" sz="quarter" idx="5"/>
          </p:nvPr>
        </p:nvSpPr>
        <p:spPr/>
        <p:txBody>
          <a:bodyPr/>
          <a:lstStyle/>
          <a:p>
            <a:r>
              <a:t>UNIT IV : Pythonic Programming Paradigm</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Socket in Python</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59"/>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9214355" cy="628905"/>
            </a:xfrm>
            <a:prstGeom prst="rect">
              <a:avLst/>
            </a:prstGeom>
          </p:spPr>
          <p:txBody>
            <a:bodyPr vert="horz" wrap="square" lIns="0" tIns="0" rIns="0" bIns="0" numCol="1" rtlCol="0">
              <a:spAutoFit/>
            </a:bodyPr>
            <a:lstStyle/>
            <a:p>
              <a:pPr algn="just" fontAlgn="base">
                <a:lnSpc>
                  <a:spcPct val="150000"/>
                </a:lnSpc>
              </a:pPr>
              <a:r>
                <a:rPr lang="en-IN" sz="1750" dirty="0"/>
                <a:t>To create a socket, we must use </a:t>
              </a:r>
              <a:r>
                <a:rPr lang="en-IN" sz="1750" dirty="0" err="1"/>
                <a:t>socket.socket</a:t>
              </a:r>
              <a:r>
                <a:rPr lang="en-IN" sz="1750" dirty="0"/>
                <a:t>() function available in the Python socket module, which has the general syntax as follows:</a:t>
              </a:r>
            </a:p>
            <a:p>
              <a:pPr algn="just" fontAlgn="base">
                <a:lnSpc>
                  <a:spcPct val="150000"/>
                </a:lnSpc>
              </a:pPr>
              <a:r>
                <a:rPr lang="en-IN" sz="1750" b="1" i="1" dirty="0"/>
                <a:t>	S = </a:t>
              </a:r>
              <a:r>
                <a:rPr lang="en-IN" sz="1750" b="1" i="1" dirty="0" err="1"/>
                <a:t>socket.socket</a:t>
              </a:r>
              <a:r>
                <a:rPr lang="en-IN" sz="1750" b="1" i="1" dirty="0"/>
                <a:t>(</a:t>
              </a:r>
              <a:r>
                <a:rPr lang="en-IN" sz="1750" b="1" i="1" dirty="0" err="1"/>
                <a:t>socket_family</a:t>
              </a:r>
              <a:r>
                <a:rPr lang="en-IN" sz="1750" b="1" i="1" dirty="0"/>
                <a:t>, </a:t>
              </a:r>
              <a:r>
                <a:rPr lang="en-IN" sz="1750" b="1" i="1" dirty="0" err="1"/>
                <a:t>socket_type</a:t>
              </a:r>
              <a:r>
                <a:rPr lang="en-IN" sz="1750" b="1" i="1" dirty="0"/>
                <a:t>, protocol=0)</a:t>
              </a:r>
            </a:p>
            <a:p>
              <a:pPr algn="just" fontAlgn="base">
                <a:lnSpc>
                  <a:spcPct val="150000"/>
                </a:lnSpc>
              </a:pPr>
              <a:r>
                <a:rPr lang="en-IN" sz="1750" dirty="0"/>
                <a:t>    </a:t>
              </a:r>
              <a:r>
                <a:rPr lang="en-IN" sz="1750" dirty="0" err="1"/>
                <a:t>socket_family</a:t>
              </a:r>
              <a:r>
                <a:rPr lang="en-IN" sz="1750" dirty="0"/>
                <a:t>: This is either AF_UNIX or AF_INET. We are only going to talk about INET sockets in this tutorial, as they account for at least 99% of the sockets in use.</a:t>
              </a:r>
            </a:p>
            <a:p>
              <a:pPr algn="just" fontAlgn="base">
                <a:lnSpc>
                  <a:spcPct val="150000"/>
                </a:lnSpc>
              </a:pPr>
              <a:r>
                <a:rPr lang="en-IN" sz="1750" dirty="0"/>
                <a:t>    </a:t>
              </a:r>
              <a:r>
                <a:rPr lang="en-IN" sz="1750" dirty="0" err="1"/>
                <a:t>socket_type</a:t>
              </a:r>
              <a:r>
                <a:rPr lang="en-IN" sz="1750" dirty="0"/>
                <a:t>: This is either SOCK_STREAM or SOCK_DGRAM.</a:t>
              </a:r>
            </a:p>
            <a:p>
              <a:pPr algn="just" fontAlgn="base">
                <a:lnSpc>
                  <a:spcPct val="150000"/>
                </a:lnSpc>
              </a:pPr>
              <a:r>
                <a:rPr lang="en-IN" sz="1750" dirty="0"/>
                <a:t>    Protocol: This is usually left out, defaulting to 0.</a:t>
              </a:r>
            </a:p>
            <a:p>
              <a:pPr algn="just" fontAlgn="base">
                <a:lnSpc>
                  <a:spcPct val="150000"/>
                </a:lnSpc>
              </a:pPr>
              <a:endParaRPr lang="en-IN" sz="1750" dirty="0"/>
            </a:p>
            <a:p>
              <a:pPr algn="just" fontAlgn="base">
                <a:lnSpc>
                  <a:spcPct val="150000"/>
                </a:lnSpc>
              </a:pPr>
              <a:r>
                <a:rPr lang="en-IN" sz="1750" b="1" dirty="0"/>
                <a:t>Client Socket Methods</a:t>
              </a:r>
            </a:p>
            <a:p>
              <a:pPr algn="just" fontAlgn="base">
                <a:lnSpc>
                  <a:spcPct val="150000"/>
                </a:lnSpc>
              </a:pPr>
              <a:r>
                <a:rPr lang="en-IN" sz="1750" dirty="0"/>
                <a:t>Following are some client socket methods:</a:t>
              </a:r>
            </a:p>
            <a:p>
              <a:pPr algn="just" fontAlgn="base">
                <a:lnSpc>
                  <a:spcPct val="150000"/>
                </a:lnSpc>
              </a:pPr>
              <a:r>
                <a:rPr lang="en-IN" sz="1750" dirty="0"/>
                <a:t>connect( ) : To connect to a remote socket at an address. An address format(host, port) pair is used for AF_INET address family.</a:t>
              </a:r>
            </a:p>
          </p:txBody>
        </p:sp>
      </p:grpSp>
      <p:sp>
        <p:nvSpPr>
          <p:cNvPr id="4" name="Slide Number Placeholder 3"/>
          <p:cNvSpPr>
            <a:spLocks noGrp="1"/>
          </p:cNvSpPr>
          <p:nvPr>
            <p:ph type="sldNum" sz="quarter" idx="7"/>
          </p:nvPr>
        </p:nvSpPr>
        <p:spPr/>
        <p:txBody>
          <a:bodyPr/>
          <a:lstStyle/>
          <a:p>
            <a:fld id="{B6F15528-21DE-4FAA-801E-634DDDAF4B2B}" type="slidenum">
              <a:rPr/>
              <a:t>85</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Socket in Python</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60"/>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9214355" cy="516192"/>
            </a:xfrm>
            <a:prstGeom prst="rect">
              <a:avLst/>
            </a:prstGeom>
          </p:spPr>
          <p:txBody>
            <a:bodyPr vert="horz" wrap="square" lIns="0" tIns="0" rIns="0" bIns="0" numCol="1" rtlCol="0">
              <a:spAutoFit/>
            </a:bodyPr>
            <a:lstStyle/>
            <a:p>
              <a:pPr algn="just" fontAlgn="base">
                <a:lnSpc>
                  <a:spcPct val="150000"/>
                </a:lnSpc>
              </a:pPr>
              <a:r>
                <a:rPr lang="en-IN" b="1" dirty="0"/>
                <a:t>Server Socket Methods</a:t>
              </a:r>
            </a:p>
            <a:p>
              <a:pPr algn="just" fontAlgn="base">
                <a:lnSpc>
                  <a:spcPct val="150000"/>
                </a:lnSpc>
              </a:pPr>
              <a:r>
                <a:rPr lang="en-IN" sz="1750" dirty="0"/>
                <a:t>bind( ):  This method binds the socket to an address. The format of address depends on socket family mentioned above(AF_INET).</a:t>
              </a:r>
            </a:p>
            <a:p>
              <a:pPr algn="just" fontAlgn="base">
                <a:lnSpc>
                  <a:spcPct val="150000"/>
                </a:lnSpc>
              </a:pPr>
              <a:endParaRPr lang="en-IN" sz="1750" dirty="0"/>
            </a:p>
            <a:p>
              <a:pPr algn="just" fontAlgn="base">
                <a:lnSpc>
                  <a:spcPct val="150000"/>
                </a:lnSpc>
              </a:pPr>
              <a:r>
                <a:rPr lang="en-IN" sz="1750" dirty="0"/>
                <a:t>listen(backlog) : This method listens for the connection made to the socket. The backlog is the maximum number of queued connections that must be listened before rejecting the connection.</a:t>
              </a:r>
            </a:p>
            <a:p>
              <a:pPr algn="just" fontAlgn="base">
                <a:lnSpc>
                  <a:spcPct val="150000"/>
                </a:lnSpc>
              </a:pPr>
              <a:endParaRPr lang="en-IN" sz="1750" dirty="0"/>
            </a:p>
            <a:p>
              <a:pPr algn="just" fontAlgn="base">
                <a:lnSpc>
                  <a:spcPct val="150000"/>
                </a:lnSpc>
              </a:pPr>
              <a:r>
                <a:rPr lang="en-IN" sz="1750" dirty="0"/>
                <a:t>accept( ) : This method is used to accept a connection. The socket must be bound to an address and listening for connections. The return value is a pair(conn, address) where conn is a new socket object which can be used to send and receive data on that connection, and address is the address bound to the socket on the other end of the connection.</a:t>
              </a:r>
            </a:p>
          </p:txBody>
        </p:sp>
      </p:grpSp>
      <p:sp>
        <p:nvSpPr>
          <p:cNvPr id="4" name="Slide Number Placeholder 3"/>
          <p:cNvSpPr>
            <a:spLocks noGrp="1"/>
          </p:cNvSpPr>
          <p:nvPr>
            <p:ph type="sldNum" sz="quarter" idx="7"/>
          </p:nvPr>
        </p:nvSpPr>
        <p:spPr/>
        <p:txBody>
          <a:bodyPr/>
          <a:lstStyle/>
          <a:p>
            <a:fld id="{B6F15528-21DE-4FAA-801E-634DDDAF4B2B}" type="slidenum">
              <a:rPr/>
              <a:t>86</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1" y="44591"/>
            <a:ext cx="7212082" cy="394403"/>
          </a:xfrm>
          <a:prstGeom prst="rect">
            <a:avLst/>
          </a:prstGeom>
        </p:spPr>
        <p:txBody>
          <a:bodyPr vert="horz" wrap="square" lIns="0" tIns="0" rIns="0" bIns="0" rtlCol="0">
            <a:spAutoFit/>
          </a:bodyPr>
          <a:lstStyle/>
          <a:p>
            <a:pPr marL="15875"/>
            <a:r>
              <a:rPr lang="en-US" sz="2565" b="1" spc="13" dirty="0">
                <a:solidFill>
                  <a:srgbClr val="010103"/>
                </a:solidFill>
                <a:latin typeface="Arial" panose="020B0604020202020204"/>
                <a:cs typeface="Arial" panose="020B0604020202020204"/>
              </a:rPr>
              <a:t>General Socket in Python</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60"/>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9214355" cy="758407"/>
            </a:xfrm>
            <a:prstGeom prst="rect">
              <a:avLst/>
            </a:prstGeom>
          </p:spPr>
          <p:txBody>
            <a:bodyPr vert="horz" wrap="square" lIns="0" tIns="0" rIns="0" bIns="0" numCol="1" rtlCol="0">
              <a:spAutoFit/>
            </a:bodyPr>
            <a:lstStyle/>
            <a:p>
              <a:pPr algn="just" fontAlgn="base">
                <a:lnSpc>
                  <a:spcPct val="150000"/>
                </a:lnSpc>
              </a:pPr>
              <a:r>
                <a:rPr lang="en-IN" dirty="0" err="1"/>
                <a:t>sock_object.recv</a:t>
              </a:r>
              <a:r>
                <a:rPr lang="en-IN" dirty="0"/>
                <a:t>():</a:t>
              </a:r>
            </a:p>
            <a:p>
              <a:pPr algn="just" fontAlgn="base">
                <a:lnSpc>
                  <a:spcPct val="150000"/>
                </a:lnSpc>
              </a:pPr>
              <a:r>
                <a:rPr lang="en-IN" dirty="0"/>
                <a:t>	Use this method to receive messages at endpoints when the value of the protocol parameter is TCP.</a:t>
              </a:r>
            </a:p>
            <a:p>
              <a:pPr algn="just" fontAlgn="base">
                <a:lnSpc>
                  <a:spcPct val="150000"/>
                </a:lnSpc>
              </a:pPr>
              <a:r>
                <a:rPr lang="en-IN" dirty="0" err="1"/>
                <a:t>sock_object.send</a:t>
              </a:r>
              <a:r>
                <a:rPr lang="en-IN" dirty="0"/>
                <a:t>():</a:t>
              </a:r>
            </a:p>
            <a:p>
              <a:pPr algn="just" fontAlgn="base">
                <a:lnSpc>
                  <a:spcPct val="150000"/>
                </a:lnSpc>
              </a:pPr>
              <a:r>
                <a:rPr lang="en-IN" dirty="0"/>
                <a:t>	Apply this method to send messages from endpoints in case the protocol is TCP.</a:t>
              </a:r>
            </a:p>
            <a:p>
              <a:pPr algn="just" fontAlgn="base">
                <a:lnSpc>
                  <a:spcPct val="150000"/>
                </a:lnSpc>
              </a:pPr>
              <a:r>
                <a:rPr lang="en-IN" dirty="0" err="1"/>
                <a:t>sock_object.recvfrom</a:t>
              </a:r>
              <a:r>
                <a:rPr lang="en-IN" dirty="0"/>
                <a:t>():</a:t>
              </a:r>
            </a:p>
            <a:p>
              <a:pPr algn="just" fontAlgn="base">
                <a:lnSpc>
                  <a:spcPct val="150000"/>
                </a:lnSpc>
              </a:pPr>
              <a:r>
                <a:rPr lang="en-IN" dirty="0"/>
                <a:t>	Call this method to receive messages at endpoints if the protocol used is UDP.</a:t>
              </a:r>
            </a:p>
            <a:p>
              <a:pPr algn="just" fontAlgn="base">
                <a:lnSpc>
                  <a:spcPct val="150000"/>
                </a:lnSpc>
              </a:pPr>
              <a:r>
                <a:rPr lang="en-IN" dirty="0" err="1"/>
                <a:t>sock_object.sendto</a:t>
              </a:r>
              <a:r>
                <a:rPr lang="en-IN" dirty="0"/>
                <a:t>():</a:t>
              </a:r>
            </a:p>
            <a:p>
              <a:pPr algn="just" fontAlgn="base">
                <a:lnSpc>
                  <a:spcPct val="150000"/>
                </a:lnSpc>
              </a:pPr>
              <a:r>
                <a:rPr lang="en-IN" dirty="0"/>
                <a:t>	Invoke this method to send messages from endpoints if the protocol parameter is UDP.</a:t>
              </a:r>
            </a:p>
            <a:p>
              <a:pPr algn="just" fontAlgn="base">
                <a:lnSpc>
                  <a:spcPct val="150000"/>
                </a:lnSpc>
              </a:pPr>
              <a:r>
                <a:rPr lang="en-IN" dirty="0" err="1"/>
                <a:t>sock_object.gethostname</a:t>
              </a:r>
              <a:r>
                <a:rPr lang="en-IN" dirty="0"/>
                <a:t>():</a:t>
              </a:r>
            </a:p>
            <a:p>
              <a:pPr algn="just" fontAlgn="base">
                <a:lnSpc>
                  <a:spcPct val="150000"/>
                </a:lnSpc>
              </a:pPr>
              <a:r>
                <a:rPr lang="en-IN" dirty="0"/>
                <a:t>	This method returns hostname.</a:t>
              </a:r>
            </a:p>
            <a:p>
              <a:pPr algn="just" fontAlgn="base">
                <a:lnSpc>
                  <a:spcPct val="150000"/>
                </a:lnSpc>
              </a:pPr>
              <a:r>
                <a:rPr lang="en-IN" dirty="0" err="1"/>
                <a:t>sock_object.close</a:t>
              </a:r>
              <a:r>
                <a:rPr lang="en-IN" dirty="0"/>
                <a:t>():</a:t>
              </a:r>
            </a:p>
            <a:p>
              <a:pPr algn="just" fontAlgn="base">
                <a:lnSpc>
                  <a:spcPct val="150000"/>
                </a:lnSpc>
              </a:pPr>
              <a:r>
                <a:rPr lang="en-IN" dirty="0"/>
                <a:t>	This method is used to close the socket. The remote endpoint will not receive data from this side.</a:t>
              </a:r>
            </a:p>
            <a:p>
              <a:pPr algn="just" fontAlgn="base">
                <a:lnSpc>
                  <a:spcPct val="150000"/>
                </a:lnSpc>
              </a:pPr>
              <a:endParaRPr lang="en-IN" dirty="0"/>
            </a:p>
          </p:txBody>
        </p:sp>
      </p:grpSp>
      <p:sp>
        <p:nvSpPr>
          <p:cNvPr id="4" name="Slide Number Placeholder 3"/>
          <p:cNvSpPr>
            <a:spLocks noGrp="1"/>
          </p:cNvSpPr>
          <p:nvPr>
            <p:ph type="sldNum" sz="quarter" idx="7"/>
          </p:nvPr>
        </p:nvSpPr>
        <p:spPr/>
        <p:txBody>
          <a:bodyPr/>
          <a:lstStyle/>
          <a:p>
            <a:fld id="{B6F15528-21DE-4FAA-801E-634DDDAF4B2B}" type="slidenum">
              <a:rPr/>
              <a:t>87</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965117" cy="394403"/>
          </a:xfrm>
          <a:prstGeom prst="rect">
            <a:avLst/>
          </a:prstGeom>
        </p:spPr>
        <p:txBody>
          <a:bodyPr vert="horz" wrap="square" lIns="0" tIns="0" rIns="0" bIns="0" rtlCol="0">
            <a:spAutoFit/>
          </a:bodyPr>
          <a:lstStyle/>
          <a:p>
            <a:pPr marL="15875"/>
            <a:r>
              <a:rPr lang="en-IN" sz="2565" b="1" spc="13" dirty="0">
                <a:solidFill>
                  <a:srgbClr val="010103"/>
                </a:solidFill>
                <a:latin typeface="Arial" panose="020B0604020202020204"/>
                <a:cs typeface="Arial" panose="020B0604020202020204"/>
              </a:rPr>
              <a:t>Simple TCP Server</a:t>
            </a:r>
            <a:endParaRPr lang="en-IN"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59"/>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9214355" cy="51265"/>
            </a:xfrm>
            <a:prstGeom prst="rect">
              <a:avLst/>
            </a:prstGeom>
          </p:spPr>
          <p:txBody>
            <a:bodyPr vert="horz" wrap="square" lIns="0" tIns="0" rIns="0" bIns="0" numCol="1" rtlCol="0">
              <a:spAutoFit/>
            </a:bodyPr>
            <a:lstStyle/>
            <a:p>
              <a:pPr algn="just" fontAlgn="base">
                <a:lnSpc>
                  <a:spcPct val="150000"/>
                </a:lnSpc>
              </a:pPr>
              <a:endParaRPr lang="en-IN" sz="1750" dirty="0"/>
            </a:p>
          </p:txBody>
        </p:sp>
      </p:grpSp>
      <p:pic>
        <p:nvPicPr>
          <p:cNvPr id="6" name="Picture 5"/>
          <p:cNvPicPr>
            <a:picLocks noChangeAspect="1"/>
          </p:cNvPicPr>
          <p:nvPr/>
        </p:nvPicPr>
        <p:blipFill>
          <a:blip r:embed="rId3"/>
          <a:stretch>
            <a:fillRect/>
          </a:stretch>
        </p:blipFill>
        <p:spPr>
          <a:xfrm>
            <a:off x="1235566" y="607770"/>
            <a:ext cx="8553103" cy="5937691"/>
          </a:xfrm>
          <a:prstGeom prst="rect">
            <a:avLst/>
          </a:prstGeom>
        </p:spPr>
      </p:pic>
      <p:sp>
        <p:nvSpPr>
          <p:cNvPr id="4" name="Slide Number Placeholder 3"/>
          <p:cNvSpPr>
            <a:spLocks noGrp="1"/>
          </p:cNvSpPr>
          <p:nvPr>
            <p:ph type="sldNum" sz="quarter" idx="7"/>
          </p:nvPr>
        </p:nvSpPr>
        <p:spPr/>
        <p:txBody>
          <a:bodyPr/>
          <a:lstStyle/>
          <a:p>
            <a:fld id="{B6F15528-21DE-4FAA-801E-634DDDAF4B2B}" type="slidenum">
              <a:rPr/>
              <a:t>88</a:t>
            </a:fld>
            <a:endParaRPr/>
          </a:p>
        </p:txBody>
      </p:sp>
      <p:sp>
        <p:nvSpPr>
          <p:cNvPr id="5" name="Footer Placeholder 4"/>
          <p:cNvSpPr>
            <a:spLocks noGrp="1"/>
          </p:cNvSpPr>
          <p:nvPr>
            <p:ph type="ftr" sz="quarter" idx="5"/>
          </p:nvPr>
        </p:nvSpPr>
        <p:spPr/>
        <p:txBody>
          <a:bodyPr/>
          <a:lstStyle/>
          <a:p>
            <a:r>
              <a:t>UNIT IV : Pythonic Programming Paradigm</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965117" cy="394403"/>
          </a:xfrm>
          <a:prstGeom prst="rect">
            <a:avLst/>
          </a:prstGeom>
        </p:spPr>
        <p:txBody>
          <a:bodyPr vert="horz" wrap="square" lIns="0" tIns="0" rIns="0" bIns="0" rtlCol="0">
            <a:spAutoFit/>
          </a:bodyPr>
          <a:lstStyle/>
          <a:p>
            <a:pPr marL="15875"/>
            <a:r>
              <a:rPr lang="en-IN" sz="2565" b="1" spc="13" dirty="0">
                <a:solidFill>
                  <a:srgbClr val="010103"/>
                </a:solidFill>
                <a:latin typeface="Arial" panose="020B0604020202020204"/>
                <a:cs typeface="Arial" panose="020B0604020202020204"/>
              </a:rPr>
              <a:t>Simple TCP Client</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59"/>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9214355" cy="51265"/>
            </a:xfrm>
            <a:prstGeom prst="rect">
              <a:avLst/>
            </a:prstGeom>
          </p:spPr>
          <p:txBody>
            <a:bodyPr vert="horz" wrap="square" lIns="0" tIns="0" rIns="0" bIns="0" numCol="1" rtlCol="0">
              <a:spAutoFit/>
            </a:bodyPr>
            <a:lstStyle/>
            <a:p>
              <a:pPr algn="just" fontAlgn="base">
                <a:lnSpc>
                  <a:spcPct val="150000"/>
                </a:lnSpc>
              </a:pPr>
              <a:endParaRPr lang="en-IN" sz="1750" dirty="0"/>
            </a:p>
          </p:txBody>
        </p:sp>
      </p:grpSp>
      <p:pic>
        <p:nvPicPr>
          <p:cNvPr id="4" name="Picture 3"/>
          <p:cNvPicPr>
            <a:picLocks noChangeAspect="1"/>
          </p:cNvPicPr>
          <p:nvPr/>
        </p:nvPicPr>
        <p:blipFill>
          <a:blip r:embed="rId3"/>
          <a:stretch>
            <a:fillRect/>
          </a:stretch>
        </p:blipFill>
        <p:spPr>
          <a:xfrm>
            <a:off x="1646839" y="1032135"/>
            <a:ext cx="6663443" cy="4893005"/>
          </a:xfrm>
          <a:prstGeom prst="rect">
            <a:avLst/>
          </a:prstGeom>
        </p:spPr>
      </p:pic>
      <p:sp>
        <p:nvSpPr>
          <p:cNvPr id="5" name="Slide Number Placeholder 4"/>
          <p:cNvSpPr>
            <a:spLocks noGrp="1"/>
          </p:cNvSpPr>
          <p:nvPr>
            <p:ph type="sldNum" sz="quarter" idx="7"/>
          </p:nvPr>
        </p:nvSpPr>
        <p:spPr/>
        <p:txBody>
          <a:bodyPr/>
          <a:lstStyle/>
          <a:p>
            <a:fld id="{B6F15528-21DE-4FAA-801E-634DDDAF4B2B}" type="slidenum">
              <a:rPr/>
              <a:t>89</a:t>
            </a:fld>
            <a:endParaRPr/>
          </a:p>
        </p:txBody>
      </p:sp>
      <p:sp>
        <p:nvSpPr>
          <p:cNvPr id="6" name="Footer Placeholder 5"/>
          <p:cNvSpPr>
            <a:spLocks noGrp="1"/>
          </p:cNvSpPr>
          <p:nvPr>
            <p:ph type="ftr" sz="quarter" idx="5"/>
          </p:nvPr>
        </p:nvSpPr>
        <p:spPr/>
        <p:txBody>
          <a:bodyPr/>
          <a:lstStyle/>
          <a:p>
            <a:r>
              <a:t>UNIT IV : Pythonic Programming Paradigm</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965117" cy="394403"/>
          </a:xfrm>
          <a:prstGeom prst="rect">
            <a:avLst/>
          </a:prstGeom>
        </p:spPr>
        <p:txBody>
          <a:bodyPr vert="horz" wrap="square" lIns="0" tIns="0" rIns="0" bIns="0" rtlCol="0">
            <a:spAutoFit/>
          </a:bodyPr>
          <a:lstStyle/>
          <a:p>
            <a:pPr marL="15875"/>
            <a:r>
              <a:rPr lang="en-IN" sz="2565" b="1" spc="13" dirty="0">
                <a:solidFill>
                  <a:srgbClr val="010103"/>
                </a:solidFill>
                <a:latin typeface="Arial" panose="020B0604020202020204"/>
                <a:cs typeface="Arial" panose="020B0604020202020204"/>
              </a:rPr>
              <a:t>Simple UDP Server</a:t>
            </a:r>
            <a:endParaRPr lang="en-IN"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59"/>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9214355" cy="51265"/>
            </a:xfrm>
            <a:prstGeom prst="rect">
              <a:avLst/>
            </a:prstGeom>
          </p:spPr>
          <p:txBody>
            <a:bodyPr vert="horz" wrap="square" lIns="0" tIns="0" rIns="0" bIns="0" numCol="1" rtlCol="0">
              <a:spAutoFit/>
            </a:bodyPr>
            <a:lstStyle/>
            <a:p>
              <a:pPr algn="just" fontAlgn="base">
                <a:lnSpc>
                  <a:spcPct val="150000"/>
                </a:lnSpc>
              </a:pPr>
              <a:endParaRPr lang="en-IN" sz="1750" dirty="0"/>
            </a:p>
          </p:txBody>
        </p:sp>
      </p:grpSp>
      <p:pic>
        <p:nvPicPr>
          <p:cNvPr id="4" name="Picture 3"/>
          <p:cNvPicPr>
            <a:picLocks noChangeAspect="1"/>
          </p:cNvPicPr>
          <p:nvPr/>
        </p:nvPicPr>
        <p:blipFill>
          <a:blip r:embed="rId3"/>
          <a:stretch>
            <a:fillRect/>
          </a:stretch>
        </p:blipFill>
        <p:spPr>
          <a:xfrm>
            <a:off x="1352270" y="628440"/>
            <a:ext cx="9726062" cy="5937691"/>
          </a:xfrm>
          <a:prstGeom prst="rect">
            <a:avLst/>
          </a:prstGeom>
        </p:spPr>
      </p:pic>
      <p:sp>
        <p:nvSpPr>
          <p:cNvPr id="5" name="Slide Number Placeholder 4"/>
          <p:cNvSpPr>
            <a:spLocks noGrp="1"/>
          </p:cNvSpPr>
          <p:nvPr>
            <p:ph type="sldNum" sz="quarter" idx="7"/>
          </p:nvPr>
        </p:nvSpPr>
        <p:spPr/>
        <p:txBody>
          <a:bodyPr/>
          <a:lstStyle/>
          <a:p>
            <a:fld id="{B6F15528-21DE-4FAA-801E-634DDDAF4B2B}" type="slidenum">
              <a:rPr/>
              <a:t>90</a:t>
            </a:fld>
            <a:endParaRPr/>
          </a:p>
        </p:txBody>
      </p:sp>
      <p:sp>
        <p:nvSpPr>
          <p:cNvPr id="6" name="Footer Placeholder 5"/>
          <p:cNvSpPr>
            <a:spLocks noGrp="1"/>
          </p:cNvSpPr>
          <p:nvPr>
            <p:ph type="ftr" sz="quarter" idx="5"/>
          </p:nvPr>
        </p:nvSpPr>
        <p:spPr/>
        <p:txBody>
          <a:bodyPr/>
          <a:lstStyle/>
          <a:p>
            <a:r>
              <a:t>UNIT IV : Pythonic Programming Paradigm</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883" y="512978"/>
            <a:ext cx="12168981" cy="0"/>
          </a:xfrm>
          <a:custGeom>
            <a:avLst/>
            <a:gdLst/>
            <a:ahLst/>
            <a:cxnLst/>
            <a:rect l="l" t="t" r="r" b="b"/>
            <a:pathLst>
              <a:path w="9735185">
                <a:moveTo>
                  <a:pt x="0" y="0"/>
                </a:moveTo>
                <a:lnTo>
                  <a:pt x="9734587" y="0"/>
                </a:lnTo>
              </a:path>
            </a:pathLst>
          </a:custGeom>
          <a:ln w="28519">
            <a:solidFill>
              <a:srgbClr val="1F97C8"/>
            </a:solidFill>
          </a:ln>
        </p:spPr>
        <p:txBody>
          <a:bodyPr wrap="square" lIns="0" tIns="0" rIns="0" bIns="0" rtlCol="0"/>
          <a:lstStyle/>
          <a:p>
            <a:endParaRPr sz="2250"/>
          </a:p>
        </p:txBody>
      </p:sp>
      <p:sp>
        <p:nvSpPr>
          <p:cNvPr id="9" name="object 9"/>
          <p:cNvSpPr txBox="1"/>
          <p:nvPr/>
        </p:nvSpPr>
        <p:spPr>
          <a:xfrm>
            <a:off x="89670" y="44591"/>
            <a:ext cx="7965117" cy="394403"/>
          </a:xfrm>
          <a:prstGeom prst="rect">
            <a:avLst/>
          </a:prstGeom>
        </p:spPr>
        <p:txBody>
          <a:bodyPr vert="horz" wrap="square" lIns="0" tIns="0" rIns="0" bIns="0" rtlCol="0">
            <a:spAutoFit/>
          </a:bodyPr>
          <a:lstStyle/>
          <a:p>
            <a:pPr marL="15875"/>
            <a:r>
              <a:rPr lang="en-IN" sz="2565" b="1" spc="13" dirty="0">
                <a:solidFill>
                  <a:srgbClr val="010103"/>
                </a:solidFill>
                <a:latin typeface="Arial" panose="020B0604020202020204"/>
                <a:cs typeface="Arial" panose="020B0604020202020204"/>
              </a:rPr>
              <a:t>Simple UDP Client</a:t>
            </a:r>
            <a:endParaRPr sz="2565" dirty="0">
              <a:latin typeface="Arial" panose="020B0604020202020204"/>
              <a:cs typeface="Arial" panose="020B0604020202020204"/>
            </a:endParaRPr>
          </a:p>
        </p:txBody>
      </p:sp>
      <p:sp>
        <p:nvSpPr>
          <p:cNvPr id="27" name="object 20"/>
          <p:cNvSpPr/>
          <p:nvPr/>
        </p:nvSpPr>
        <p:spPr>
          <a:xfrm flipV="1">
            <a:off x="0" y="6640253"/>
            <a:ext cx="12192000" cy="57149"/>
          </a:xfrm>
          <a:custGeom>
            <a:avLst/>
            <a:gdLst/>
            <a:ahLst/>
            <a:cxnLst/>
            <a:rect l="l" t="t" r="r" b="b"/>
            <a:pathLst>
              <a:path w="2915285" h="217170">
                <a:moveTo>
                  <a:pt x="0" y="0"/>
                </a:moveTo>
                <a:lnTo>
                  <a:pt x="2914775" y="0"/>
                </a:lnTo>
                <a:lnTo>
                  <a:pt x="2914775" y="216855"/>
                </a:lnTo>
                <a:lnTo>
                  <a:pt x="0" y="216855"/>
                </a:lnTo>
                <a:lnTo>
                  <a:pt x="0" y="0"/>
                </a:lnTo>
                <a:close/>
              </a:path>
            </a:pathLst>
          </a:custGeom>
          <a:solidFill>
            <a:srgbClr val="0793CF"/>
          </a:solidFill>
        </p:spPr>
        <p:txBody>
          <a:bodyPr wrap="square" lIns="0" tIns="0" rIns="0" bIns="0" rtlCol="0"/>
          <a:lstStyle/>
          <a:p>
            <a:endParaRPr sz="2250"/>
          </a:p>
        </p:txBody>
      </p:sp>
      <p:grpSp>
        <p:nvGrpSpPr>
          <p:cNvPr id="2" name="Group 27"/>
          <p:cNvGrpSpPr/>
          <p:nvPr/>
        </p:nvGrpSpPr>
        <p:grpSpPr>
          <a:xfrm>
            <a:off x="0" y="586959"/>
            <a:ext cx="12105504" cy="5979173"/>
            <a:chOff x="127862" y="1268442"/>
            <a:chExt cx="9296400" cy="846250"/>
          </a:xfrm>
        </p:grpSpPr>
        <p:sp>
          <p:nvSpPr>
            <p:cNvPr id="29" name="Rectangle 28"/>
            <p:cNvSpPr/>
            <p:nvPr/>
          </p:nvSpPr>
          <p:spPr>
            <a:xfrm>
              <a:off x="127862" y="1268442"/>
              <a:ext cx="9296400" cy="846250"/>
            </a:xfrm>
            <a:prstGeom prst="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50"/>
            </a:p>
          </p:txBody>
        </p:sp>
        <p:sp>
          <p:nvSpPr>
            <p:cNvPr id="30" name="object 12"/>
            <p:cNvSpPr txBox="1"/>
            <p:nvPr/>
          </p:nvSpPr>
          <p:spPr>
            <a:xfrm>
              <a:off x="168600" y="1274313"/>
              <a:ext cx="9214355" cy="51265"/>
            </a:xfrm>
            <a:prstGeom prst="rect">
              <a:avLst/>
            </a:prstGeom>
          </p:spPr>
          <p:txBody>
            <a:bodyPr vert="horz" wrap="square" lIns="0" tIns="0" rIns="0" bIns="0" numCol="1" rtlCol="0">
              <a:spAutoFit/>
            </a:bodyPr>
            <a:lstStyle/>
            <a:p>
              <a:pPr algn="just" fontAlgn="base">
                <a:lnSpc>
                  <a:spcPct val="150000"/>
                </a:lnSpc>
              </a:pPr>
              <a:endParaRPr lang="en-IN" sz="1750" dirty="0"/>
            </a:p>
          </p:txBody>
        </p:sp>
      </p:grpSp>
      <p:pic>
        <p:nvPicPr>
          <p:cNvPr id="5" name="Picture 4"/>
          <p:cNvPicPr>
            <a:picLocks noChangeAspect="1"/>
          </p:cNvPicPr>
          <p:nvPr/>
        </p:nvPicPr>
        <p:blipFill rotWithShape="1">
          <a:blip r:embed="rId3"/>
          <a:srcRect t="1710" r="13783"/>
          <a:stretch>
            <a:fillRect/>
          </a:stretch>
        </p:blipFill>
        <p:spPr>
          <a:xfrm>
            <a:off x="1284418" y="949179"/>
            <a:ext cx="9535926" cy="5254731"/>
          </a:xfrm>
          <a:prstGeom prst="rect">
            <a:avLst/>
          </a:prstGeom>
        </p:spPr>
      </p:pic>
      <p:sp>
        <p:nvSpPr>
          <p:cNvPr id="4" name="Slide Number Placeholder 3"/>
          <p:cNvSpPr>
            <a:spLocks noGrp="1"/>
          </p:cNvSpPr>
          <p:nvPr>
            <p:ph type="sldNum" sz="quarter" idx="7"/>
          </p:nvPr>
        </p:nvSpPr>
        <p:spPr/>
        <p:txBody>
          <a:bodyPr/>
          <a:lstStyle/>
          <a:p>
            <a:fld id="{B6F15528-21DE-4FAA-801E-634DDDAF4B2B}" type="slidenum">
              <a:rPr/>
              <a:t>91</a:t>
            </a:fld>
            <a:endParaRPr/>
          </a:p>
        </p:txBody>
      </p:sp>
      <p:sp>
        <p:nvSpPr>
          <p:cNvPr id="6" name="Footer Placeholder 5"/>
          <p:cNvSpPr>
            <a:spLocks noGrp="1"/>
          </p:cNvSpPr>
          <p:nvPr>
            <p:ph type="ftr" sz="quarter" idx="5"/>
          </p:nvPr>
        </p:nvSpPr>
        <p:spPr/>
        <p:txBody>
          <a:bodyPr/>
          <a:lstStyle/>
          <a:p>
            <a:r>
              <a:t>UNIT IV : Pythonic Programming Paradigm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932</TotalTime>
  <Words>9072</Words>
  <Application>Microsoft Office PowerPoint</Application>
  <PresentationFormat>Widescreen</PresentationFormat>
  <Paragraphs>1197</Paragraphs>
  <Slides>91</Slides>
  <Notes>91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91</vt:i4>
      </vt:variant>
    </vt:vector>
  </HeadingPairs>
  <TitlesOfParts>
    <vt:vector size="99" baseType="lpstr">
      <vt:lpstr>Arial</vt:lpstr>
      <vt:lpstr>Arial MT</vt:lpstr>
      <vt:lpstr>Calibri</vt:lpstr>
      <vt:lpstr>Candara</vt:lpstr>
      <vt:lpstr>Courier New</vt:lpstr>
      <vt:lpstr>Times New Roman</vt:lpstr>
      <vt:lpstr>Wingdings</vt:lpstr>
      <vt:lpstr>Office Theme</vt:lpstr>
      <vt:lpstr>21CSC203P -  Advanced Programming Practice   Unit-4 :  PYTHONIC PROGRAMMING PARADIGM </vt:lpstr>
      <vt:lpstr>Outline of the course  Functional Programming Paradigm:     Concepts,     PureFunction and Built-in Higher-Order Functions;  Logic Programming Paradigm:    Structures, Logic, and Control Parallel Programming Paradigm:    Shared and Distributed memory    Multi-Processing – Ipython Network Programming Paradigm:    Socket; Socket Types;   Creation and Configuration of Sockets in TCP / UDP – Client /                         Server Model</vt:lpstr>
      <vt:lpstr>Introduction</vt:lpstr>
      <vt:lpstr>Characteristics of Functional Programming </vt:lpstr>
      <vt:lpstr>Concepts of FP</vt:lpstr>
      <vt:lpstr>Functional Programming vs Procedure Programming </vt:lpstr>
      <vt:lpstr>1. Pure functions </vt:lpstr>
      <vt:lpstr>1. Pure functions </vt:lpstr>
      <vt:lpstr>2. Recursion</vt:lpstr>
      <vt:lpstr>Referential transparency</vt:lpstr>
      <vt:lpstr>Referential transparency</vt:lpstr>
      <vt:lpstr>Immutability</vt:lpstr>
      <vt:lpstr>Functions are First-Class and can be Higher-Order</vt:lpstr>
      <vt:lpstr>Functions are First-Class and can be Higher-Order</vt:lpstr>
      <vt:lpstr>Functions are First-Class and can be Higher-Order</vt:lpstr>
      <vt:lpstr>Functions are First-Class and can be Higher-Order</vt:lpstr>
      <vt:lpstr>Functions are First-Class and can be Higher-Order</vt:lpstr>
      <vt:lpstr>Functions are First-Class and can be Higher-Order ..cont</vt:lpstr>
      <vt:lpstr>Functional Programming – Non Strict Evaluation</vt:lpstr>
      <vt:lpstr>Functional Programming – Non Strict Evaluation</vt:lpstr>
      <vt:lpstr>Functional Programming – lambda calculus</vt:lpstr>
      <vt:lpstr>Functional Programming – Closure</vt:lpstr>
      <vt:lpstr>Pure Functions in Python</vt:lpstr>
      <vt:lpstr>Built-in Higher Order Functions</vt:lpstr>
      <vt:lpstr>Anonymous Function</vt:lpstr>
      <vt:lpstr>map() Function</vt:lpstr>
      <vt:lpstr>map() Function</vt:lpstr>
      <vt:lpstr>filter() Function</vt:lpstr>
      <vt:lpstr>filter() Function</vt:lpstr>
      <vt:lpstr>reduce() Function</vt:lpstr>
      <vt:lpstr>map(), filter() and reduce() Function</vt:lpstr>
      <vt:lpstr>map(), filter() and reduce() Function</vt:lpstr>
      <vt:lpstr>Examples</vt:lpstr>
      <vt:lpstr>Examples</vt:lpstr>
      <vt:lpstr>Examples</vt:lpstr>
      <vt:lpstr>Function vs Procedure</vt:lpstr>
      <vt:lpstr>Function vs Object Oriented</vt:lpstr>
      <vt:lpstr>Logical Programming  Paradigm</vt:lpstr>
      <vt:lpstr>Logical Programming Paradigm </vt:lpstr>
      <vt:lpstr>Logical Programming Paradigm </vt:lpstr>
      <vt:lpstr>Logical Programming Paradigm</vt:lpstr>
      <vt:lpstr>Logical Programming Paradigm</vt:lpstr>
      <vt:lpstr>Logical Programming Paradigm</vt:lpstr>
      <vt:lpstr>Anatomy Logical Programming Paradigm </vt:lpstr>
      <vt:lpstr>Logical Programming Paradigm</vt:lpstr>
      <vt:lpstr>Logical Programming Paradigm</vt:lpstr>
      <vt:lpstr>Logical Programming Paradigm </vt:lpstr>
      <vt:lpstr>Logical Programming Paradigm</vt:lpstr>
      <vt:lpstr>Logical Programming Paradigm</vt:lpstr>
      <vt:lpstr>Logical Programming Paradigm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21CSC203P -  Advanced Programming Practice   Unit-4 :  PYTHONIC PROGRAMMING PARADIGM </dc:title>
  <dc:creator/>
  <cp:lastModifiedBy>HP</cp:lastModifiedBy>
  <cp:revision>19</cp:revision>
  <dcterms:created xsi:type="dcterms:W3CDTF">2023-09-19T10:33:00Z</dcterms:created>
  <dcterms:modified xsi:type="dcterms:W3CDTF">2023-10-25T06:09:25Z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ICV">
    <vt:lpwstr>C767B2CBA7E34A9BB1D1D7C9A188D3F2_12</vt:lpwstr>
  </property>
  <property fmtid="{D5CDD505-2E9C-101B-9397-08002B2CF9AE}" pid="4" name="KSOProductBuildVer">
    <vt:lpwstr>1033-12.2.0.13201</vt:lpwstr>
  </property>
</Properties>
</file>