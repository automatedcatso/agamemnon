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6858000" cx="12192000"/>
  <p:notesSz cx="6858000" cy="9144000"/>
  <p:embeddedFontLst>
    <p:embeddedFont>
      <p:font typeface="Roboto"/>
      <p:regular r:id="rId22"/>
      <p:bold r:id="rId23"/>
      <p:italic r:id="rId24"/>
      <p:boldItalic r:id="rId25"/>
    </p:embeddedFont>
    <p:embeddedFont>
      <p:font typeface="Palatino Linotype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0" roundtripDataSignature="AMtx7miCX47HQRHdcrVWdCP3HiLvuiCR0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Roboto-regular.fntdata"/><Relationship Id="rId21" Type="http://schemas.openxmlformats.org/officeDocument/2006/relationships/slide" Target="slides/slide17.xml"/><Relationship Id="rId24" Type="http://schemas.openxmlformats.org/officeDocument/2006/relationships/font" Target="fonts/Roboto-italic.fntdata"/><Relationship Id="rId23" Type="http://schemas.openxmlformats.org/officeDocument/2006/relationships/font" Target="fonts/Roboto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PalatinoLinotype-regular.fntdata"/><Relationship Id="rId25" Type="http://schemas.openxmlformats.org/officeDocument/2006/relationships/font" Target="fonts/Roboto-boldItalic.fntdata"/><Relationship Id="rId28" Type="http://schemas.openxmlformats.org/officeDocument/2006/relationships/font" Target="fonts/PalatinoLinotype-italic.fntdata"/><Relationship Id="rId27" Type="http://schemas.openxmlformats.org/officeDocument/2006/relationships/font" Target="fonts/PalatinoLinotype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PalatinoLinotype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idx="1" type="subTitle"/>
          </p:nvPr>
        </p:nvSpPr>
        <p:spPr>
          <a:xfrm>
            <a:off x="1524000" y="967667"/>
            <a:ext cx="9144000" cy="4989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</a:pPr>
            <a:r>
              <a:rPr b="1" i="0" lang="en-US" sz="4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21CSC201J</a:t>
            </a:r>
            <a:br>
              <a:rPr b="1" i="0" lang="en-US" sz="4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</a:br>
            <a:r>
              <a:rPr b="1" i="0" lang="en-US" sz="4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DATA STRUCTURES AND ALGORITHMS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</a:pPr>
            <a:br>
              <a:rPr b="1" i="0" lang="en-US" sz="4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</a:br>
            <a:r>
              <a:rPr b="1" i="0" lang="en-US" sz="4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UNIT-5</a:t>
            </a:r>
            <a:br>
              <a:rPr b="1" i="0" lang="en-US" sz="4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</a:br>
            <a:r>
              <a:rPr b="1" i="0" lang="en-US" sz="4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Topic :</a:t>
            </a:r>
            <a:r>
              <a:rPr b="1" lang="en-US" sz="4800">
                <a:latin typeface="Times New Roman"/>
                <a:ea typeface="Times New Roman"/>
                <a:cs typeface="Times New Roman"/>
                <a:sym typeface="Times New Roman"/>
              </a:rPr>
              <a:t>PRIM’S ALGORITHM</a:t>
            </a:r>
            <a:endParaRPr/>
          </a:p>
          <a:p>
            <a:pPr indent="0" lvl="0" marL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>
            <p:ph type="ctrTitle"/>
          </p:nvPr>
        </p:nvSpPr>
        <p:spPr>
          <a:xfrm>
            <a:off x="1524000" y="1122363"/>
            <a:ext cx="9144000" cy="64429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2"/>
          <p:cNvSpPr txBox="1"/>
          <p:nvPr>
            <p:ph idx="1" type="subTitle"/>
          </p:nvPr>
        </p:nvSpPr>
        <p:spPr>
          <a:xfrm>
            <a:off x="1524000" y="1873188"/>
            <a:ext cx="9144000" cy="33846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b="0" i="0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Prim's algorithm to find minimum cost spanning tree (as Kruskal's algorithm) uses the greedy approach. Prim's algorithm shares a similarity with the </a:t>
            </a:r>
            <a:r>
              <a:rPr b="1" i="0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shortest path first</a:t>
            </a:r>
            <a:r>
              <a:rPr b="0" i="0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algorithms.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0" i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b="0" i="0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Prim's algorithm, in contrast with Kruskal's algorithm, treats the nodes as a single tree and keeps on adding new nodes to the spanning tree from the given graph.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"/>
          <p:cNvSpPr txBox="1"/>
          <p:nvPr>
            <p:ph type="ctrTitle"/>
          </p:nvPr>
        </p:nvSpPr>
        <p:spPr>
          <a:xfrm>
            <a:off x="1524000" y="1122363"/>
            <a:ext cx="9144000" cy="71531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US" sz="4000">
                <a:latin typeface="Times New Roman"/>
                <a:ea typeface="Times New Roman"/>
                <a:cs typeface="Times New Roman"/>
                <a:sym typeface="Times New Roman"/>
              </a:rPr>
              <a:t>Contd…</a:t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3"/>
          <p:cNvSpPr txBox="1"/>
          <p:nvPr>
            <p:ph idx="1" type="subTitle"/>
          </p:nvPr>
        </p:nvSpPr>
        <p:spPr>
          <a:xfrm>
            <a:off x="1524000" y="1837678"/>
            <a:ext cx="9144000" cy="34201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Step1: Select any connected vertices with minimum weight.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Step2: Select unvisited vertex which is adjacent to visited vertices with minimum weight.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Step3: Repeat step2 until all vertices are visited.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52079" y="1600200"/>
            <a:ext cx="6161102" cy="313839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4"/>
          <p:cNvSpPr txBox="1"/>
          <p:nvPr>
            <p:ph idx="1" type="subTitle"/>
          </p:nvPr>
        </p:nvSpPr>
        <p:spPr>
          <a:xfrm>
            <a:off x="1524000" y="807868"/>
            <a:ext cx="9144000" cy="44499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"/>
          <p:cNvSpPr txBox="1"/>
          <p:nvPr>
            <p:ph type="ctrTitle"/>
          </p:nvPr>
        </p:nvSpPr>
        <p:spPr>
          <a:xfrm>
            <a:off x="1524000" y="1122362"/>
            <a:ext cx="9144000" cy="4778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US" sz="4000">
                <a:latin typeface="Times New Roman"/>
                <a:ea typeface="Times New Roman"/>
                <a:cs typeface="Times New Roman"/>
                <a:sym typeface="Times New Roman"/>
              </a:rPr>
              <a:t>Step1:</a:t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5"/>
          <p:cNvSpPr txBox="1"/>
          <p:nvPr>
            <p:ph idx="1" type="subTitle"/>
          </p:nvPr>
        </p:nvSpPr>
        <p:spPr>
          <a:xfrm>
            <a:off x="1524000" y="1802167"/>
            <a:ext cx="9144000" cy="34556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Visited vertices S={a}</a:t>
            </a:r>
            <a:endParaRPr/>
          </a:p>
          <a:p>
            <a:pPr indent="0" lvl="0" marL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Remaining verticesV/S ={b,c,d,e,f,g}</a:t>
            </a:r>
            <a:endParaRPr/>
          </a:p>
          <a:p>
            <a:pPr indent="0" lvl="0" marL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Connected vertices A={}</a:t>
            </a:r>
            <a:endParaRPr/>
          </a:p>
          <a:p>
            <a:pPr indent="0" lvl="0" marL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Lightest edges ={a,b}</a:t>
            </a:r>
            <a:endParaRPr/>
          </a:p>
          <a:p>
            <a:pPr indent="0" lvl="0" marL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2183907" y="2681056"/>
            <a:ext cx="683580" cy="614779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/>
          <p:nvPr>
            <p:ph type="ctrTitle"/>
          </p:nvPr>
        </p:nvSpPr>
        <p:spPr>
          <a:xfrm>
            <a:off x="1524000" y="1122363"/>
            <a:ext cx="9144000" cy="4778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US" sz="4000">
                <a:latin typeface="Times New Roman"/>
                <a:ea typeface="Times New Roman"/>
                <a:cs typeface="Times New Roman"/>
                <a:sym typeface="Times New Roman"/>
              </a:rPr>
              <a:t>Step2:</a:t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6"/>
          <p:cNvSpPr txBox="1"/>
          <p:nvPr>
            <p:ph idx="1" type="subTitle"/>
          </p:nvPr>
        </p:nvSpPr>
        <p:spPr>
          <a:xfrm>
            <a:off x="1524000" y="1775534"/>
            <a:ext cx="9144000" cy="3482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S={a,b}</a:t>
            </a:r>
            <a:endParaRPr/>
          </a:p>
          <a:p>
            <a:pPr indent="0" lvl="0" marL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V/S= {c,d,e,f,g}</a:t>
            </a:r>
            <a:endParaRPr/>
          </a:p>
          <a:p>
            <a:pPr indent="0" lvl="0" marL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A={a,b}</a:t>
            </a:r>
            <a:endParaRPr/>
          </a:p>
          <a:p>
            <a:pPr indent="0" lvl="0" marL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Lightest edge={b,d}</a:t>
            </a:r>
            <a:endParaRPr/>
          </a:p>
          <a:p>
            <a:pPr indent="0" lvl="0" marL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There are two edges {a,b} and {a,c}. Since {a,b} having minimum weight it is considered.</a:t>
            </a:r>
            <a:endParaRPr/>
          </a:p>
          <a:p>
            <a:pPr indent="0" lvl="0" marL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1677880" y="3282518"/>
            <a:ext cx="506027" cy="446103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2442839" y="2760215"/>
            <a:ext cx="506027" cy="446103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8" name="Google Shape;118;p6"/>
          <p:cNvCxnSpPr>
            <a:stCxn id="116" idx="7"/>
            <a:endCxn id="117" idx="3"/>
          </p:cNvCxnSpPr>
          <p:nvPr/>
        </p:nvCxnSpPr>
        <p:spPr>
          <a:xfrm flipH="1" rot="10800000">
            <a:off x="2109801" y="3140848"/>
            <a:ext cx="407100" cy="207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9" name="Google Shape;119;p6"/>
          <p:cNvSpPr txBox="1"/>
          <p:nvPr/>
        </p:nvSpPr>
        <p:spPr>
          <a:xfrm>
            <a:off x="2183907" y="3140988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"/>
          <p:cNvSpPr txBox="1"/>
          <p:nvPr>
            <p:ph type="ctrTitle"/>
          </p:nvPr>
        </p:nvSpPr>
        <p:spPr>
          <a:xfrm>
            <a:off x="1524000" y="1122363"/>
            <a:ext cx="9144000" cy="4778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US" sz="4000">
                <a:latin typeface="Times New Roman"/>
                <a:ea typeface="Times New Roman"/>
                <a:cs typeface="Times New Roman"/>
                <a:sym typeface="Times New Roman"/>
              </a:rPr>
              <a:t>Step3:</a:t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" name="Google Shape;125;p7"/>
          <p:cNvSpPr txBox="1"/>
          <p:nvPr>
            <p:ph idx="1" type="subTitle"/>
          </p:nvPr>
        </p:nvSpPr>
        <p:spPr>
          <a:xfrm>
            <a:off x="1524000" y="1740023"/>
            <a:ext cx="9144000" cy="351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S={a,b,d}</a:t>
            </a:r>
            <a:endParaRPr/>
          </a:p>
          <a:p>
            <a:pPr indent="0" lvl="0" marL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V/S={c,e,f,g}</a:t>
            </a:r>
            <a:endParaRPr/>
          </a:p>
          <a:p>
            <a:pPr indent="0" lvl="0" marL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A={{a,b},{b,d}}</a:t>
            </a:r>
            <a:endParaRPr/>
          </a:p>
          <a:p>
            <a:pPr indent="0" lvl="0" marL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Lightest edge= {d,c}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6" name="Google Shape;12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7060" y="2679067"/>
            <a:ext cx="3151573" cy="1946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"/>
          <p:cNvSpPr txBox="1"/>
          <p:nvPr>
            <p:ph type="ctrTitle"/>
          </p:nvPr>
        </p:nvSpPr>
        <p:spPr>
          <a:xfrm>
            <a:off x="1524000" y="1122363"/>
            <a:ext cx="9144000" cy="59990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US" sz="4000">
                <a:latin typeface="Times New Roman"/>
                <a:ea typeface="Times New Roman"/>
                <a:cs typeface="Times New Roman"/>
                <a:sym typeface="Times New Roman"/>
              </a:rPr>
              <a:t>Step4:</a:t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" name="Google Shape;132;p8"/>
          <p:cNvSpPr txBox="1"/>
          <p:nvPr>
            <p:ph idx="1" type="subTitle"/>
          </p:nvPr>
        </p:nvSpPr>
        <p:spPr>
          <a:xfrm>
            <a:off x="1524000" y="1819922"/>
            <a:ext cx="9144000" cy="3719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S={a,b,c,d}</a:t>
            </a:r>
            <a:endParaRPr/>
          </a:p>
          <a:p>
            <a:pPr indent="0" lvl="0" marL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V/S ={e,f,g}</a:t>
            </a:r>
            <a:endParaRPr/>
          </a:p>
          <a:p>
            <a:pPr indent="0" lvl="0" marL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A={{a,b},{b,d},{d,c}}</a:t>
            </a:r>
            <a:endParaRPr/>
          </a:p>
          <a:p>
            <a:pPr indent="0" lvl="0" marL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Lightest edges={e,f}</a:t>
            </a:r>
            <a:endParaRPr/>
          </a:p>
          <a:p>
            <a:pPr indent="0" lvl="0" marL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{b,c} will form a loop </a:t>
            </a:r>
            <a:endParaRPr/>
          </a:p>
          <a:p>
            <a:pPr indent="0" lvl="0" marL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so it is not considered.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3" name="Google Shape;13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46555" y="2592281"/>
            <a:ext cx="2896155" cy="24591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9"/>
          <p:cNvSpPr txBox="1"/>
          <p:nvPr>
            <p:ph type="ctrTitle"/>
          </p:nvPr>
        </p:nvSpPr>
        <p:spPr>
          <a:xfrm>
            <a:off x="1524000" y="1122363"/>
            <a:ext cx="9144000" cy="71531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US" sz="4000">
                <a:latin typeface="Times New Roman"/>
                <a:ea typeface="Times New Roman"/>
                <a:cs typeface="Times New Roman"/>
                <a:sym typeface="Times New Roman"/>
              </a:rPr>
              <a:t>Step5:</a:t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9"/>
          <p:cNvSpPr txBox="1"/>
          <p:nvPr>
            <p:ph idx="1" type="subTitle"/>
          </p:nvPr>
        </p:nvSpPr>
        <p:spPr>
          <a:xfrm>
            <a:off x="1524000" y="1988598"/>
            <a:ext cx="9144000" cy="32692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S={a,b,c,d,f}</a:t>
            </a:r>
            <a:endParaRPr/>
          </a:p>
          <a:p>
            <a:pPr indent="0" lvl="0" marL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V/S={e,g}</a:t>
            </a:r>
            <a:endParaRPr/>
          </a:p>
          <a:p>
            <a:pPr indent="0" lvl="0" marL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A={{a,b},{b,d},{d,c},{c,f}}</a:t>
            </a:r>
            <a:endParaRPr/>
          </a:p>
          <a:p>
            <a:pPr indent="0" lvl="0" marL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Lightest edge={f,g}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0" name="Google Shape;14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86758" y="2422355"/>
            <a:ext cx="3572106" cy="21762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"/>
          <p:cNvSpPr txBox="1"/>
          <p:nvPr>
            <p:ph type="ctrTitle"/>
          </p:nvPr>
        </p:nvSpPr>
        <p:spPr>
          <a:xfrm>
            <a:off x="1524000" y="1122363"/>
            <a:ext cx="9144000" cy="72419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US" sz="4000">
                <a:latin typeface="Times New Roman"/>
                <a:ea typeface="Times New Roman"/>
                <a:cs typeface="Times New Roman"/>
                <a:sym typeface="Times New Roman"/>
              </a:rPr>
              <a:t>Step6:</a:t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" name="Google Shape;146;p10"/>
          <p:cNvSpPr txBox="1"/>
          <p:nvPr>
            <p:ph idx="1" type="subTitle"/>
          </p:nvPr>
        </p:nvSpPr>
        <p:spPr>
          <a:xfrm>
            <a:off x="1524000" y="1935331"/>
            <a:ext cx="9144000" cy="38003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S={a,b,c,d,f,g}</a:t>
            </a:r>
            <a:endParaRPr/>
          </a:p>
          <a:p>
            <a:pPr indent="0" lvl="0" marL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V/S={e}</a:t>
            </a:r>
            <a:endParaRPr/>
          </a:p>
          <a:p>
            <a:pPr indent="0" lvl="0" marL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A={{a,b},{b,d},{d,c},{c,f},{f,g}}</a:t>
            </a:r>
            <a:endParaRPr/>
          </a:p>
          <a:p>
            <a:pPr indent="0" lvl="0" marL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Lightest edge={g,e}</a:t>
            </a:r>
            <a:endParaRPr/>
          </a:p>
          <a:p>
            <a:pPr indent="0" lvl="0" marL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{f,d} will form a loop </a:t>
            </a:r>
            <a:endParaRPr/>
          </a:p>
          <a:p>
            <a:pPr indent="0" lvl="0" marL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so it is not considered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7" name="Google Shape;14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5635" y="2397456"/>
            <a:ext cx="3669483" cy="23982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"/>
          <p:cNvSpPr txBox="1"/>
          <p:nvPr>
            <p:ph type="ctrTitle"/>
          </p:nvPr>
        </p:nvSpPr>
        <p:spPr>
          <a:xfrm>
            <a:off x="1524000" y="1122363"/>
            <a:ext cx="9144000" cy="64429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US" sz="4000">
                <a:latin typeface="Times New Roman"/>
                <a:ea typeface="Times New Roman"/>
                <a:cs typeface="Times New Roman"/>
                <a:sym typeface="Times New Roman"/>
              </a:rPr>
              <a:t>Step7:</a:t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11"/>
          <p:cNvSpPr txBox="1"/>
          <p:nvPr>
            <p:ph idx="1" type="subTitle"/>
          </p:nvPr>
        </p:nvSpPr>
        <p:spPr>
          <a:xfrm>
            <a:off x="1524000" y="1926453"/>
            <a:ext cx="9144000" cy="3809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S={a,b,c,d,e,f,g,f}</a:t>
            </a:r>
            <a:endParaRPr/>
          </a:p>
          <a:p>
            <a:pPr indent="0" lvl="0" marL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V/S={}</a:t>
            </a:r>
            <a:endParaRPr/>
          </a:p>
          <a:p>
            <a:pPr indent="0" lvl="0" marL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Connected vertices </a:t>
            </a:r>
            <a:endParaRPr/>
          </a:p>
          <a:p>
            <a:pPr indent="0" lvl="0" marL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A={{a,b},{b,d},{d,c},</a:t>
            </a:r>
            <a:endParaRPr/>
          </a:p>
          <a:p>
            <a:pPr indent="0" lvl="0" marL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{c,f},{f,g},{g,e}}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4" name="Google Shape;15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2369" y="2357506"/>
            <a:ext cx="4139999" cy="24692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2"/>
          <p:cNvSpPr txBox="1"/>
          <p:nvPr>
            <p:ph type="ctrTitle"/>
          </p:nvPr>
        </p:nvSpPr>
        <p:spPr>
          <a:xfrm>
            <a:off x="1524000" y="1122363"/>
            <a:ext cx="9144000" cy="80409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US" sz="4000">
                <a:latin typeface="Times New Roman"/>
                <a:ea typeface="Times New Roman"/>
                <a:cs typeface="Times New Roman"/>
                <a:sym typeface="Times New Roman"/>
              </a:rPr>
              <a:t>Final Minimum Spanning Tree</a:t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" name="Google Shape;160;p12"/>
          <p:cNvSpPr txBox="1"/>
          <p:nvPr>
            <p:ph idx="1" type="subTitle"/>
          </p:nvPr>
        </p:nvSpPr>
        <p:spPr>
          <a:xfrm>
            <a:off x="1524000" y="2059619"/>
            <a:ext cx="9144000" cy="3198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161" name="Google Shape;16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05345" y="2059619"/>
            <a:ext cx="5699464" cy="28719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3"/>
          <p:cNvSpPr txBox="1"/>
          <p:nvPr>
            <p:ph idx="1" type="subTitle"/>
          </p:nvPr>
        </p:nvSpPr>
        <p:spPr>
          <a:xfrm>
            <a:off x="1524000" y="1837678"/>
            <a:ext cx="9144000" cy="34201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rPr lang="en-US" sz="4000">
                <a:latin typeface="Times New Roman"/>
                <a:ea typeface="Times New Roman"/>
                <a:cs typeface="Times New Roman"/>
                <a:sym typeface="Times New Roman"/>
              </a:rPr>
              <a:t>Minimum spanning Tree = a-b-d-c-f-g-e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rPr lang="en-US" sz="4000">
                <a:latin typeface="Times New Roman"/>
                <a:ea typeface="Times New Roman"/>
                <a:cs typeface="Times New Roman"/>
                <a:sym typeface="Times New Roman"/>
              </a:rPr>
              <a:t>Total cost= 4+8+2+1+2+6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rPr lang="en-US" sz="4000">
                <a:latin typeface="Times New Roman"/>
                <a:ea typeface="Times New Roman"/>
                <a:cs typeface="Times New Roman"/>
                <a:sym typeface="Times New Roman"/>
              </a:rPr>
              <a:t>=23</a:t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4"/>
          <p:cNvSpPr txBox="1"/>
          <p:nvPr>
            <p:ph type="ctrTitle"/>
          </p:nvPr>
        </p:nvSpPr>
        <p:spPr>
          <a:xfrm>
            <a:off x="1524000" y="781235"/>
            <a:ext cx="9144000" cy="63919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b="1" lang="en-US" sz="4000">
                <a:latin typeface="Times New Roman"/>
                <a:ea typeface="Times New Roman"/>
                <a:cs typeface="Times New Roman"/>
                <a:sym typeface="Times New Roman"/>
              </a:rPr>
              <a:t>Algorithm</a:t>
            </a:r>
            <a:endParaRPr b="1" sz="4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2" name="Google Shape;172;p14"/>
          <p:cNvSpPr txBox="1"/>
          <p:nvPr>
            <p:ph idx="1" type="subTitle"/>
          </p:nvPr>
        </p:nvSpPr>
        <p:spPr>
          <a:xfrm>
            <a:off x="1524000" y="1420427"/>
            <a:ext cx="9144000" cy="51135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i="0">
              <a:solidFill>
                <a:srgbClr val="2C3E5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5240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US">
                <a:latin typeface="Times New Roman"/>
                <a:ea typeface="Times New Roman"/>
                <a:cs typeface="Times New Roman"/>
                <a:sym typeface="Times New Roman"/>
              </a:rPr>
              <a:t>This algorithm creates spanning tree with minimum weight from a given weighted graph.</a:t>
            </a:r>
            <a:b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>
                <a:latin typeface="Times New Roman"/>
                <a:ea typeface="Times New Roman"/>
                <a:cs typeface="Times New Roman"/>
                <a:sym typeface="Times New Roman"/>
              </a:rPr>
              <a:t>Begin</a:t>
            </a:r>
            <a:endParaRPr/>
          </a:p>
          <a:p>
            <a:pPr indent="-15240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US">
                <a:latin typeface="Times New Roman"/>
                <a:ea typeface="Times New Roman"/>
                <a:cs typeface="Times New Roman"/>
                <a:sym typeface="Times New Roman"/>
              </a:rPr>
              <a:t>Create edge list of given graph, with their weights.</a:t>
            </a:r>
            <a:endParaRPr/>
          </a:p>
          <a:p>
            <a:pPr indent="-15240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US">
                <a:latin typeface="Times New Roman"/>
                <a:ea typeface="Times New Roman"/>
                <a:cs typeface="Times New Roman"/>
                <a:sym typeface="Times New Roman"/>
              </a:rPr>
              <a:t>Draw all nodes to create skeleton for spanning tree.</a:t>
            </a:r>
            <a:endParaRPr/>
          </a:p>
          <a:p>
            <a:pPr indent="-15240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US">
                <a:latin typeface="Times New Roman"/>
                <a:ea typeface="Times New Roman"/>
                <a:cs typeface="Times New Roman"/>
                <a:sym typeface="Times New Roman"/>
              </a:rPr>
              <a:t>Select an edge with lowest weight and add it to skeleton and delete edge from edge list.</a:t>
            </a:r>
            <a:endParaRPr/>
          </a:p>
          <a:p>
            <a:pPr indent="-15240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US">
                <a:latin typeface="Times New Roman"/>
                <a:ea typeface="Times New Roman"/>
                <a:cs typeface="Times New Roman"/>
                <a:sym typeface="Times New Roman"/>
              </a:rPr>
              <a:t>Add other edges. While adding an edge take care that the one end of the edge should always be in the skeleton tree and its cost should be minimum.</a:t>
            </a:r>
            <a:endParaRPr/>
          </a:p>
          <a:p>
            <a:pPr indent="-15240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US">
                <a:latin typeface="Times New Roman"/>
                <a:ea typeface="Times New Roman"/>
                <a:cs typeface="Times New Roman"/>
                <a:sym typeface="Times New Roman"/>
              </a:rPr>
              <a:t>Repeat step 5 until n-1 edges are added.</a:t>
            </a:r>
            <a:endParaRPr/>
          </a:p>
          <a:p>
            <a:pPr indent="-15240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US">
                <a:latin typeface="Times New Roman"/>
                <a:ea typeface="Times New Roman"/>
                <a:cs typeface="Times New Roman"/>
                <a:sym typeface="Times New Roman"/>
              </a:rPr>
              <a:t>Return.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5"/>
          <p:cNvSpPr txBox="1"/>
          <p:nvPr>
            <p:ph idx="1" type="subTitle"/>
          </p:nvPr>
        </p:nvSpPr>
        <p:spPr>
          <a:xfrm>
            <a:off x="1062750" y="1031749"/>
            <a:ext cx="9144000" cy="54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0" i="0" lang="en-US" sz="5600">
                <a:latin typeface="Times New Roman"/>
                <a:ea typeface="Times New Roman"/>
                <a:cs typeface="Times New Roman"/>
                <a:sym typeface="Times New Roman"/>
              </a:rPr>
              <a:t>#include &lt;stdio.h&gt;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0" i="0" lang="en-US" sz="5600">
                <a:latin typeface="Times New Roman"/>
                <a:ea typeface="Times New Roman"/>
                <a:cs typeface="Times New Roman"/>
                <a:sym typeface="Times New Roman"/>
              </a:rPr>
              <a:t>#define Vertices 5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0" i="0" lang="en-US" sz="5600">
                <a:latin typeface="Times New Roman"/>
                <a:ea typeface="Times New Roman"/>
                <a:cs typeface="Times New Roman"/>
                <a:sym typeface="Times New Roman"/>
              </a:rPr>
              <a:t>//A utility function for finding the vertex with the lowest key value from a set of vertices that isn't included in MST.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0" i="0" lang="en-US" sz="5600">
                <a:latin typeface="Times New Roman"/>
                <a:ea typeface="Times New Roman"/>
                <a:cs typeface="Times New Roman"/>
                <a:sym typeface="Times New Roman"/>
              </a:rPr>
              <a:t>int Least_Key(int key[], bool Min_Span_Tree[])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0" i="0" lang="en-US" sz="5600"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0" i="0" lang="en-US" sz="5600">
                <a:latin typeface="Times New Roman"/>
                <a:ea typeface="Times New Roman"/>
                <a:cs typeface="Times New Roman"/>
                <a:sym typeface="Times New Roman"/>
              </a:rPr>
              <a:t>    int least = INT_MAX, min_index;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0" i="0" lang="en-US" sz="5600">
                <a:latin typeface="Times New Roman"/>
                <a:ea typeface="Times New Roman"/>
                <a:cs typeface="Times New Roman"/>
                <a:sym typeface="Times New Roman"/>
              </a:rPr>
              <a:t>    for (int v = 0; v &lt; Vertices; v++)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0" i="0" lang="en-US" sz="5600">
                <a:latin typeface="Times New Roman"/>
                <a:ea typeface="Times New Roman"/>
                <a:cs typeface="Times New Roman"/>
                <a:sym typeface="Times New Roman"/>
              </a:rPr>
              <a:t>        if (Min_Span_Tree[v] == false &amp;&amp; key[v] &lt; least)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0" i="0" lang="en-US" sz="5600">
                <a:latin typeface="Times New Roman"/>
                <a:ea typeface="Times New Roman"/>
                <a:cs typeface="Times New Roman"/>
                <a:sym typeface="Times New Roman"/>
              </a:rPr>
              <a:t>            least = key[v], min_index = v;  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0" i="0" lang="en-US" sz="5600">
                <a:latin typeface="Times New Roman"/>
                <a:ea typeface="Times New Roman"/>
                <a:cs typeface="Times New Roman"/>
                <a:sym typeface="Times New Roman"/>
              </a:rPr>
              <a:t>    return min_index;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0" i="0" lang="en-US" sz="5600"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0" i="0" lang="en-US" sz="5600">
                <a:latin typeface="Times New Roman"/>
                <a:ea typeface="Times New Roman"/>
                <a:cs typeface="Times New Roman"/>
                <a:sym typeface="Times New Roman"/>
              </a:rPr>
              <a:t>//Function to print created MST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0" i="0" lang="en-US" sz="5600">
                <a:latin typeface="Times New Roman"/>
                <a:ea typeface="Times New Roman"/>
                <a:cs typeface="Times New Roman"/>
                <a:sym typeface="Times New Roman"/>
              </a:rPr>
              <a:t>int print_Prims_MST(int parent[], int graph[Vertices][Vertices])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0" i="0" lang="en-US" sz="5600"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0" i="0" lang="en-US" sz="5600">
                <a:latin typeface="Times New Roman"/>
                <a:ea typeface="Times New Roman"/>
                <a:cs typeface="Times New Roman"/>
                <a:sym typeface="Times New Roman"/>
              </a:rPr>
              <a:t>    printf("Edge \tWeight\n");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0" i="0" lang="en-US" sz="5600">
                <a:latin typeface="Times New Roman"/>
                <a:ea typeface="Times New Roman"/>
                <a:cs typeface="Times New Roman"/>
                <a:sym typeface="Times New Roman"/>
              </a:rPr>
              <a:t>    for (int i = 1; i &lt; Vertices; i++)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0" i="0" lang="en-US" sz="5600">
                <a:latin typeface="Times New Roman"/>
                <a:ea typeface="Times New Roman"/>
                <a:cs typeface="Times New Roman"/>
                <a:sym typeface="Times New Roman"/>
              </a:rPr>
              <a:t>        printf("%d - %d \t%d \n", parent[i], i, graph[i][parent[i]]);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0" i="0" lang="en-US" sz="5600"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6"/>
          <p:cNvSpPr txBox="1"/>
          <p:nvPr>
            <p:ph idx="1" type="subTitle"/>
          </p:nvPr>
        </p:nvSpPr>
        <p:spPr>
          <a:xfrm>
            <a:off x="671060" y="808607"/>
            <a:ext cx="9144000" cy="56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0" i="0" lang="en-US" sz="4800">
                <a:latin typeface="Times New Roman"/>
                <a:ea typeface="Times New Roman"/>
                <a:cs typeface="Times New Roman"/>
                <a:sym typeface="Times New Roman"/>
              </a:rPr>
              <a:t>//Function to generate MST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0" i="0" lang="en-US" sz="4800">
                <a:latin typeface="Times New Roman"/>
                <a:ea typeface="Times New Roman"/>
                <a:cs typeface="Times New Roman"/>
                <a:sym typeface="Times New Roman"/>
              </a:rPr>
              <a:t>void prims_MST(int graph[Vertices][Vertices])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0" i="0" lang="en-US" sz="4800"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0" i="0" lang="en-US" sz="4800">
                <a:latin typeface="Times New Roman"/>
                <a:ea typeface="Times New Roman"/>
                <a:cs typeface="Times New Roman"/>
                <a:sym typeface="Times New Roman"/>
              </a:rPr>
              <a:t>    int parent[Vertices];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0" i="0" lang="en-US" sz="4800">
                <a:latin typeface="Times New Roman"/>
                <a:ea typeface="Times New Roman"/>
                <a:cs typeface="Times New Roman"/>
                <a:sym typeface="Times New Roman"/>
              </a:rPr>
              <a:t>    int key[Vertices];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0" i="0" lang="en-US" sz="4800">
                <a:latin typeface="Times New Roman"/>
                <a:ea typeface="Times New Roman"/>
                <a:cs typeface="Times New Roman"/>
                <a:sym typeface="Times New Roman"/>
              </a:rPr>
              <a:t>    bool Min_Span_Tree[Vertices];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0" i="0" lang="en-US" sz="4800">
                <a:latin typeface="Times New Roman"/>
                <a:ea typeface="Times New Roman"/>
                <a:cs typeface="Times New Roman"/>
                <a:sym typeface="Times New Roman"/>
              </a:rPr>
              <a:t>    for (int i = 0; i &lt; Vertices; i++)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0" i="0" lang="en-US" sz="4800">
                <a:latin typeface="Times New Roman"/>
                <a:ea typeface="Times New Roman"/>
                <a:cs typeface="Times New Roman"/>
                <a:sym typeface="Times New Roman"/>
              </a:rPr>
              <a:t>        key[i] = INT_MAX, Min_Span_Tree[i] = false;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0" i="0" lang="en-US" sz="4800">
                <a:latin typeface="Times New Roman"/>
                <a:ea typeface="Times New Roman"/>
                <a:cs typeface="Times New Roman"/>
                <a:sym typeface="Times New Roman"/>
              </a:rPr>
              <a:t>    key[0] = 0;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0" i="0" lang="en-US" sz="4800">
                <a:latin typeface="Times New Roman"/>
                <a:ea typeface="Times New Roman"/>
                <a:cs typeface="Times New Roman"/>
                <a:sym typeface="Times New Roman"/>
              </a:rPr>
              <a:t>    parent[0] = -1; 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0" i="0" lang="en-US" sz="4800">
                <a:latin typeface="Times New Roman"/>
                <a:ea typeface="Times New Roman"/>
                <a:cs typeface="Times New Roman"/>
                <a:sym typeface="Times New Roman"/>
              </a:rPr>
              <a:t>    for (int count = 0; count &lt; Vertices - 1; count++) 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0" i="0" lang="en-US" sz="4800">
                <a:latin typeface="Times New Roman"/>
                <a:ea typeface="Times New Roman"/>
                <a:cs typeface="Times New Roman"/>
                <a:sym typeface="Times New Roman"/>
              </a:rPr>
              <a:t>        int u = Least_Key(key, Min_Span_Tree);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0" i="0" lang="en-US" sz="4800">
                <a:latin typeface="Times New Roman"/>
                <a:ea typeface="Times New Roman"/>
                <a:cs typeface="Times New Roman"/>
                <a:sym typeface="Times New Roman"/>
              </a:rPr>
              <a:t>        Min_Span_Tree[u] = true;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0" i="0" lang="en-US" sz="4800">
                <a:latin typeface="Times New Roman"/>
                <a:ea typeface="Times New Roman"/>
                <a:cs typeface="Times New Roman"/>
                <a:sym typeface="Times New Roman"/>
              </a:rPr>
              <a:t>        for (int v = 0; v &lt; Vertices; v++)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0" i="0" lang="en-US" sz="4800">
                <a:latin typeface="Times New Roman"/>
                <a:ea typeface="Times New Roman"/>
                <a:cs typeface="Times New Roman"/>
                <a:sym typeface="Times New Roman"/>
              </a:rPr>
              <a:t>            if (graph[u][v] &amp;&amp; Min_Span_Tree[v] == false &amp;&amp; graph[u][v] &lt; key[v])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0" i="0" lang="en-US" sz="4800">
                <a:latin typeface="Times New Roman"/>
                <a:ea typeface="Times New Roman"/>
                <a:cs typeface="Times New Roman"/>
                <a:sym typeface="Times New Roman"/>
              </a:rPr>
              <a:t>                parent[v] = u, key[v] = graph[u][v];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0" i="0" lang="en-US" sz="4800">
                <a:latin typeface="Times New Roman"/>
                <a:ea typeface="Times New Roman"/>
                <a:cs typeface="Times New Roman"/>
                <a:sym typeface="Times New Roman"/>
              </a:rPr>
              <a:t>    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0" i="0" lang="en-US" sz="4800">
                <a:latin typeface="Times New Roman"/>
                <a:ea typeface="Times New Roman"/>
                <a:cs typeface="Times New Roman"/>
                <a:sym typeface="Times New Roman"/>
              </a:rPr>
              <a:t>    printf("Created Spanning Tree for Given Graph is: \n");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0" i="0" lang="en-US" sz="4800">
                <a:latin typeface="Times New Roman"/>
                <a:ea typeface="Times New Roman"/>
                <a:cs typeface="Times New Roman"/>
                <a:sym typeface="Times New Roman"/>
              </a:rPr>
              <a:t>    printf("\n");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0" i="0" lang="en-US" sz="4800">
                <a:latin typeface="Times New Roman"/>
                <a:ea typeface="Times New Roman"/>
                <a:cs typeface="Times New Roman"/>
                <a:sym typeface="Times New Roman"/>
              </a:rPr>
              <a:t>    print_Prims_MST(parent, graph);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0" i="0" lang="en-US" sz="4800"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7"/>
          <p:cNvSpPr txBox="1"/>
          <p:nvPr>
            <p:ph idx="1" type="subTitle"/>
          </p:nvPr>
        </p:nvSpPr>
        <p:spPr>
          <a:xfrm>
            <a:off x="1524000" y="674703"/>
            <a:ext cx="9144000" cy="49093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1565E"/>
              </a:buClr>
              <a:buSzPts val="2000"/>
              <a:buNone/>
            </a:pPr>
            <a:r>
              <a:rPr b="0" i="0" lang="en-US" sz="2000">
                <a:solidFill>
                  <a:srgbClr val="51565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main()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1565E"/>
              </a:buClr>
              <a:buSzPts val="2000"/>
              <a:buNone/>
            </a:pPr>
            <a:r>
              <a:rPr b="0" i="0" lang="en-US" sz="2000">
                <a:solidFill>
                  <a:srgbClr val="51565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1565E"/>
              </a:buClr>
              <a:buSzPts val="2000"/>
              <a:buNone/>
            </a:pPr>
            <a:r>
              <a:rPr b="0" i="0" lang="en-US" sz="2000">
                <a:solidFill>
                  <a:srgbClr val="51565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  int graph[Vertices][Vertices] = { { 0, 3, 0, 6, 0 },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1565E"/>
              </a:buClr>
              <a:buSzPts val="2000"/>
              <a:buNone/>
            </a:pPr>
            <a:r>
              <a:rPr b="0" i="0" lang="en-US" sz="2000">
                <a:solidFill>
                  <a:srgbClr val="51565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                      { 3, 0, 4, 8, 5 },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1565E"/>
              </a:buClr>
              <a:buSzPts val="2000"/>
              <a:buNone/>
            </a:pPr>
            <a:r>
              <a:rPr b="0" i="0" lang="en-US" sz="2000">
                <a:solidFill>
                  <a:srgbClr val="51565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                      { 0, 4, 0, 0, 7 },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1565E"/>
              </a:buClr>
              <a:buSzPts val="2000"/>
              <a:buNone/>
            </a:pPr>
            <a:r>
              <a:rPr b="0" i="0" lang="en-US" sz="2000">
                <a:solidFill>
                  <a:srgbClr val="51565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                      { 6, 8, 0, 0, 11 },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1565E"/>
              </a:buClr>
              <a:buSzPts val="2000"/>
              <a:buNone/>
            </a:pPr>
            <a:r>
              <a:rPr b="0" i="0" lang="en-US" sz="2000">
                <a:solidFill>
                  <a:srgbClr val="51565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                      { 0, 5, 7, 11, 0 } };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1565E"/>
              </a:buClr>
              <a:buSzPts val="2000"/>
              <a:buNone/>
            </a:pPr>
            <a:r>
              <a:rPr b="0" i="0" lang="en-US" sz="2000">
                <a:solidFill>
                  <a:srgbClr val="51565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  prims_MST(graph);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1565E"/>
              </a:buClr>
              <a:buSzPts val="2000"/>
              <a:buNone/>
            </a:pPr>
            <a:r>
              <a:rPr b="0" i="0" lang="en-US" sz="2000">
                <a:solidFill>
                  <a:srgbClr val="51565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  return 0;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1565E"/>
              </a:buClr>
              <a:buSzPts val="2000"/>
              <a:buNone/>
            </a:pPr>
            <a:r>
              <a:rPr b="0" i="0" lang="en-US" sz="2000">
                <a:solidFill>
                  <a:srgbClr val="51565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2023-08-15T14:31:30Z</dcterms:created>
  <dc:creator>PRAVEENA AKKI</dc:creator>
</cp:coreProperties>
</file>