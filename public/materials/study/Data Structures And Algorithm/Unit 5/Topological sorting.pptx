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</p:sldIdLst>
  <p:sldSz cy="6858000" cx="12192000"/>
  <p:notesSz cx="6858000" cy="9144000"/>
  <p:embeddedFontLst>
    <p:embeddedFont>
      <p:font typeface="Palatino Linotype"/>
      <p:regular r:id="rId32"/>
      <p:bold r:id="rId33"/>
      <p:italic r:id="rId34"/>
      <p:boldItalic r:id="rId35"/>
    </p:embeddedFont>
    <p:embeddedFont>
      <p:font typeface="Open Sans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0" roundtripDataSignature="AMtx7mhZMnAsEH2S/xPVGieA8x9lSZFb1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font" Target="fonts/PalatinoLinotype-bold.fntdata"/><Relationship Id="rId10" Type="http://schemas.openxmlformats.org/officeDocument/2006/relationships/slide" Target="slides/slide6.xml"/><Relationship Id="rId32" Type="http://schemas.openxmlformats.org/officeDocument/2006/relationships/font" Target="fonts/PalatinoLinotype-regular.fntdata"/><Relationship Id="rId13" Type="http://schemas.openxmlformats.org/officeDocument/2006/relationships/slide" Target="slides/slide9.xml"/><Relationship Id="rId35" Type="http://schemas.openxmlformats.org/officeDocument/2006/relationships/font" Target="fonts/PalatinoLinotype-boldItalic.fntdata"/><Relationship Id="rId12" Type="http://schemas.openxmlformats.org/officeDocument/2006/relationships/slide" Target="slides/slide8.xml"/><Relationship Id="rId34" Type="http://schemas.openxmlformats.org/officeDocument/2006/relationships/font" Target="fonts/PalatinoLinotype-italic.fntdata"/><Relationship Id="rId15" Type="http://schemas.openxmlformats.org/officeDocument/2006/relationships/slide" Target="slides/slide11.xml"/><Relationship Id="rId37" Type="http://schemas.openxmlformats.org/officeDocument/2006/relationships/font" Target="fonts/OpenSans-bold.fntdata"/><Relationship Id="rId14" Type="http://schemas.openxmlformats.org/officeDocument/2006/relationships/slide" Target="slides/slide10.xml"/><Relationship Id="rId36" Type="http://schemas.openxmlformats.org/officeDocument/2006/relationships/font" Target="fonts/OpenSans-regular.fntdata"/><Relationship Id="rId17" Type="http://schemas.openxmlformats.org/officeDocument/2006/relationships/slide" Target="slides/slide13.xml"/><Relationship Id="rId39" Type="http://schemas.openxmlformats.org/officeDocument/2006/relationships/font" Target="fonts/OpenSans-boldItalic.fntdata"/><Relationship Id="rId16" Type="http://schemas.openxmlformats.org/officeDocument/2006/relationships/slide" Target="slides/slide12.xml"/><Relationship Id="rId38" Type="http://schemas.openxmlformats.org/officeDocument/2006/relationships/font" Target="fonts/OpenSans-italic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54" name="Google Shape;15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78" name="Google Shape;17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02" name="Google Shape;20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26" name="Google Shape;22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50" name="Google Shape;25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74" name="Google Shape;27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98" name="Google Shape;29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31" name="Google Shape;33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86" name="Google Shape;38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40" name="Google Shape;44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50" name="Google Shape;45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74" name="Google Shape;47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98" name="Google Shape;49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22" name="Google Shape;52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46" name="Google Shape;54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70" name="Google Shape;57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94" name="Google Shape;594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618" name="Google Shape;61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660" name="Google Shape;660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1" name="Google Shape;31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3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title"/>
          </p:nvPr>
        </p:nvSpPr>
        <p:spPr>
          <a:xfrm>
            <a:off x="838200" y="166256"/>
            <a:ext cx="10515600" cy="3491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alatino Linotype"/>
              <a:buNone/>
            </a:pPr>
            <a:br>
              <a:rPr b="1" lang="en-US" sz="6000">
                <a:latin typeface="Palatino Linotype"/>
                <a:ea typeface="Palatino Linotype"/>
                <a:cs typeface="Palatino Linotype"/>
                <a:sym typeface="Palatino Linotype"/>
              </a:rPr>
            </a:br>
            <a:br>
              <a:rPr b="1" lang="en-US" sz="6000">
                <a:latin typeface="Palatino Linotype"/>
                <a:ea typeface="Palatino Linotype"/>
                <a:cs typeface="Palatino Linotype"/>
                <a:sym typeface="Palatino Linotype"/>
              </a:rPr>
            </a:br>
            <a:br>
              <a:rPr b="1" lang="en-US" sz="6000">
                <a:latin typeface="Palatino Linotype"/>
                <a:ea typeface="Palatino Linotype"/>
                <a:cs typeface="Palatino Linotype"/>
                <a:sym typeface="Palatino Linotype"/>
              </a:rPr>
            </a:br>
            <a:br>
              <a:rPr b="1" lang="en-US" sz="6000">
                <a:latin typeface="Palatino Linotype"/>
                <a:ea typeface="Palatino Linotype"/>
                <a:cs typeface="Palatino Linotype"/>
                <a:sym typeface="Palatino Linotype"/>
              </a:rPr>
            </a:br>
            <a:r>
              <a:rPr b="1" i="0" lang="en-US" sz="6000" u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21CSC201J</a:t>
            </a:r>
            <a:br>
              <a:rPr b="1" i="0" lang="en-US" sz="6000" u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</a:br>
            <a:r>
              <a:rPr b="1" i="0" lang="en-US" sz="6000" u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DATA STRUCTURES AND ALGORITHMS</a:t>
            </a:r>
            <a:br>
              <a:rPr b="0" lang="en-US" sz="8000"/>
            </a:br>
            <a:br>
              <a:rPr b="1" i="0" lang="en-US" sz="6000" u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</a:br>
            <a:r>
              <a:rPr b="1" i="0" lang="en-US" sz="6000" u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UNIT-5</a:t>
            </a:r>
            <a:br>
              <a:rPr b="1" i="0" lang="en-US" sz="6000" u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</a:br>
            <a:r>
              <a:rPr b="1" i="0" lang="en-US" sz="6000" u="none" strike="noStrike">
                <a:solidFill>
                  <a:srgbClr val="00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Topic : </a:t>
            </a:r>
            <a:r>
              <a:rPr b="1" lang="en-US" sz="6000">
                <a:latin typeface="Palatino Linotype"/>
                <a:ea typeface="Palatino Linotype"/>
                <a:cs typeface="Palatino Linotype"/>
                <a:sym typeface="Palatino Linotype"/>
              </a:rPr>
              <a:t>Topological sorting</a:t>
            </a:r>
            <a:endParaRPr b="1" i="0" sz="60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23418" y="-27709"/>
            <a:ext cx="1468582" cy="57265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20-08-2023</a:t>
            </a:r>
            <a:endParaRPr/>
          </a:p>
        </p:txBody>
      </p:sp>
      <p:sp>
        <p:nvSpPr>
          <p:cNvPr id="91" name="Google Shape;91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Dr K Deepa Thilak, Asso Prof, NWC</a:t>
            </a:r>
            <a:endParaRPr/>
          </a:p>
        </p:txBody>
      </p:sp>
      <p:sp>
        <p:nvSpPr>
          <p:cNvPr id="92" name="Google Shape;92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Definition</a:t>
            </a:r>
            <a:endParaRPr/>
          </a:p>
        </p:txBody>
      </p:sp>
      <p:sp>
        <p:nvSpPr>
          <p:cNvPr id="98" name="Google Shape;98;p2"/>
          <p:cNvSpPr txBox="1"/>
          <p:nvPr>
            <p:ph idx="1" type="body"/>
          </p:nvPr>
        </p:nvSpPr>
        <p:spPr>
          <a:xfrm>
            <a:off x="838200" y="1825625"/>
            <a:ext cx="10515600" cy="2072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Topological sorting </a:t>
            </a:r>
            <a:r>
              <a:rPr lang="en-US" sz="2400"/>
              <a:t>for Directed Acyclic Graph (DAG) is a linear ordering of vertices such that for every directed edge u v, vertex u comes before v in the ordering.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Note: Topological Sorting for a graph is not possible if the graph is not a DAG.</a:t>
            </a:r>
            <a:endParaRPr sz="2400"/>
          </a:p>
        </p:txBody>
      </p:sp>
      <p:pic>
        <p:nvPicPr>
          <p:cNvPr id="99" name="Google Shape;9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28654" y="4032682"/>
            <a:ext cx="3005298" cy="2429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23418" y="-55419"/>
            <a:ext cx="1468582" cy="57265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20-08-2023</a:t>
            </a:r>
            <a:endParaRPr/>
          </a:p>
        </p:txBody>
      </p:sp>
      <p:sp>
        <p:nvSpPr>
          <p:cNvPr id="102" name="Google Shape;102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Dr K Deepa Thilak, Asso Prof, NWC</a:t>
            </a:r>
            <a:endParaRPr/>
          </a:p>
        </p:txBody>
      </p:sp>
      <p:sp>
        <p:nvSpPr>
          <p:cNvPr id="103" name="Google Shape;103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Topo sort example</a:t>
            </a:r>
            <a:endParaRPr/>
          </a:p>
        </p:txBody>
      </p:sp>
      <p:sp>
        <p:nvSpPr>
          <p:cNvPr id="109" name="Google Shape;109;p3"/>
          <p:cNvSpPr txBox="1"/>
          <p:nvPr>
            <p:ph idx="1" type="body"/>
          </p:nvPr>
        </p:nvSpPr>
        <p:spPr>
          <a:xfrm>
            <a:off x="1524000" y="1295400"/>
            <a:ext cx="9144000" cy="45351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9498"/>
              <a:buChar char="•"/>
            </a:pPr>
            <a:r>
              <a:rPr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many valid topological sort orderings can you find for the vertices in the graph below?</a:t>
            </a:r>
            <a:endParaRPr/>
          </a:p>
          <a:p>
            <a: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62162"/>
              <a:buNone/>
            </a:pPr>
            <a:r>
              <a:t/>
            </a:r>
            <a:endParaRPr sz="120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ct val="81081"/>
              <a:buChar char="•"/>
            </a:pPr>
            <a:r>
              <a:rPr lang="en-US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[A, B, C, D, E, F], [A, B, C, D, F, E],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ct val="81081"/>
              <a:buChar char="•"/>
            </a:pPr>
            <a:r>
              <a:rPr lang="en-US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[A, B, D, C, E, F], [A, B, D, C, F, E],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ct val="81081"/>
              <a:buChar char="•"/>
            </a:pPr>
            <a:r>
              <a:rPr lang="en-US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[B, A, C, D, E, F], [B, A, C, D, F, E],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ct val="81081"/>
              <a:buChar char="•"/>
            </a:pPr>
            <a:r>
              <a:rPr lang="en-US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[B, A, D, C, E, F], [B, A, D, C, F, E],</a:t>
            </a:r>
            <a:endParaRPr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ct val="81081"/>
              <a:buChar char="•"/>
            </a:pPr>
            <a:r>
              <a:rPr lang="en-US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[B, C, A, D, E, F], [B, C, A, D, F, E],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ct val="81081"/>
              <a:buChar char="•"/>
            </a:pPr>
            <a:r>
              <a:rPr lang="en-US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...</a:t>
            </a:r>
            <a:endParaRPr/>
          </a:p>
          <a:p>
            <a: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81081"/>
              <a:buNone/>
            </a:pPr>
            <a:r>
              <a:t/>
            </a:r>
            <a:endParaRPr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81081"/>
              <a:buNone/>
            </a:pPr>
            <a:r>
              <a:t/>
            </a:r>
            <a:endParaRPr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81081"/>
              <a:buNone/>
            </a:pPr>
            <a:r>
              <a:t/>
            </a:r>
            <a:endParaRPr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ct val="81081"/>
              <a:buChar char="•"/>
            </a:pPr>
            <a:r>
              <a:rPr lang="en-US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if there were a new vertex G unconnected to the others?</a:t>
            </a:r>
            <a:endParaRPr/>
          </a:p>
        </p:txBody>
      </p:sp>
      <p:grpSp>
        <p:nvGrpSpPr>
          <p:cNvPr id="110" name="Google Shape;110;p3"/>
          <p:cNvGrpSpPr/>
          <p:nvPr/>
        </p:nvGrpSpPr>
        <p:grpSpPr>
          <a:xfrm>
            <a:off x="7386484" y="2267564"/>
            <a:ext cx="3124200" cy="2590800"/>
            <a:chOff x="3456" y="1344"/>
            <a:chExt cx="1968" cy="1632"/>
          </a:xfrm>
        </p:grpSpPr>
        <p:sp>
          <p:nvSpPr>
            <p:cNvPr id="111" name="Google Shape;111;p3"/>
            <p:cNvSpPr/>
            <p:nvPr/>
          </p:nvSpPr>
          <p:spPr>
            <a:xfrm>
              <a:off x="4032" y="1344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2" name="Google Shape;112;p3"/>
            <p:cNvCxnSpPr>
              <a:stCxn id="113" idx="7"/>
              <a:endCxn id="111" idx="3"/>
            </p:cNvCxnSpPr>
            <p:nvPr/>
          </p:nvCxnSpPr>
          <p:spPr>
            <a:xfrm flipH="1" rot="10800000">
              <a:off x="3661" y="1559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14" name="Google Shape;114;p3"/>
            <p:cNvSpPr/>
            <p:nvPr/>
          </p:nvSpPr>
          <p:spPr>
            <a:xfrm>
              <a:off x="3648" y="2736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5184" y="1632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4272" y="2352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3456" y="1824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7" name="Google Shape;117;p3"/>
            <p:cNvCxnSpPr>
              <a:stCxn id="111" idx="6"/>
              <a:endCxn id="115" idx="2"/>
            </p:cNvCxnSpPr>
            <p:nvPr/>
          </p:nvCxnSpPr>
          <p:spPr>
            <a:xfrm>
              <a:off x="4272" y="1464"/>
              <a:ext cx="9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18" name="Google Shape;118;p3"/>
            <p:cNvCxnSpPr>
              <a:stCxn id="113" idx="5"/>
              <a:endCxn id="116" idx="2"/>
            </p:cNvCxnSpPr>
            <p:nvPr/>
          </p:nvCxnSpPr>
          <p:spPr>
            <a:xfrm>
              <a:off x="3661" y="2029"/>
              <a:ext cx="6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19" name="Google Shape;119;p3"/>
            <p:cNvCxnSpPr>
              <a:stCxn id="116" idx="7"/>
              <a:endCxn id="115" idx="3"/>
            </p:cNvCxnSpPr>
            <p:nvPr/>
          </p:nvCxnSpPr>
          <p:spPr>
            <a:xfrm flipH="1" rot="10800000">
              <a:off x="4477" y="1787"/>
              <a:ext cx="600" cy="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0" name="Google Shape;120;p3"/>
            <p:cNvCxnSpPr>
              <a:stCxn id="114" idx="6"/>
              <a:endCxn id="116" idx="3"/>
            </p:cNvCxnSpPr>
            <p:nvPr/>
          </p:nvCxnSpPr>
          <p:spPr>
            <a:xfrm flipH="1" rot="10800000">
              <a:off x="3888" y="2556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21" name="Google Shape;121;p3"/>
            <p:cNvSpPr/>
            <p:nvPr/>
          </p:nvSpPr>
          <p:spPr>
            <a:xfrm>
              <a:off x="4464" y="1776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2" name="Google Shape;122;p3"/>
            <p:cNvCxnSpPr>
              <a:stCxn id="111" idx="5"/>
              <a:endCxn id="121" idx="1"/>
            </p:cNvCxnSpPr>
            <p:nvPr/>
          </p:nvCxnSpPr>
          <p:spPr>
            <a:xfrm>
              <a:off x="4237" y="1549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3" name="Google Shape;123;p3"/>
            <p:cNvCxnSpPr>
              <a:stCxn id="116" idx="0"/>
              <a:endCxn id="121" idx="4"/>
            </p:cNvCxnSpPr>
            <p:nvPr/>
          </p:nvCxnSpPr>
          <p:spPr>
            <a:xfrm flipH="1" rot="10800000">
              <a:off x="4392" y="2052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pic>
        <p:nvPicPr>
          <p:cNvPr id="124" name="Google Shape;12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23418" y="0"/>
            <a:ext cx="1468582" cy="57265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20-08-2023</a:t>
            </a:r>
            <a:endParaRPr/>
          </a:p>
        </p:txBody>
      </p:sp>
      <p:sp>
        <p:nvSpPr>
          <p:cNvPr id="126" name="Google Shape;126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Dr K Deepa Thilak, Asso Prof, NWC</a:t>
            </a:r>
            <a:endParaRPr/>
          </a:p>
        </p:txBody>
      </p:sp>
      <p:sp>
        <p:nvSpPr>
          <p:cNvPr id="127" name="Google Shape;127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Topo sort: Algorithm 1</a:t>
            </a:r>
            <a:endParaRPr/>
          </a:p>
        </p:txBody>
      </p:sp>
      <p:sp>
        <p:nvSpPr>
          <p:cNvPr id="133" name="Google Shape;133;p4"/>
          <p:cNvSpPr txBox="1"/>
          <p:nvPr>
            <p:ph idx="1" type="body"/>
          </p:nvPr>
        </p:nvSpPr>
        <p:spPr>
          <a:xfrm>
            <a:off x="152400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 topologicalSort():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i="1" lang="en-US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ordering</a:t>
            </a:r>
            <a:r>
              <a:rPr lang="en-US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:= { }.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lang="en-US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Repeat until graph is empty: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Find a vertex </a:t>
            </a:r>
            <a:r>
              <a:rPr i="1" lang="en-US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with in-degree of 0  (no incoming edges).</a:t>
            </a:r>
            <a:endParaRPr/>
          </a:p>
          <a:p>
            <a: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(If there is no such vertex, the graph cannot be sorted; stop.)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Delete </a:t>
            </a:r>
            <a:r>
              <a:rPr i="1" lang="en-US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and all of its</a:t>
            </a: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outgoing edges from the graph.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i="1" lang="en-US">
                <a:latin typeface="Times New Roman"/>
                <a:ea typeface="Times New Roman"/>
                <a:cs typeface="Times New Roman"/>
                <a:sym typeface="Times New Roman"/>
              </a:rPr>
              <a:t>ordering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+= </a:t>
            </a:r>
            <a:r>
              <a:rPr i="1" lang="en-US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.</a:t>
            </a:r>
            <a:endParaRPr/>
          </a:p>
        </p:txBody>
      </p:sp>
      <p:grpSp>
        <p:nvGrpSpPr>
          <p:cNvPr id="134" name="Google Shape;134;p4"/>
          <p:cNvGrpSpPr/>
          <p:nvPr/>
        </p:nvGrpSpPr>
        <p:grpSpPr>
          <a:xfrm>
            <a:off x="7010400" y="3505200"/>
            <a:ext cx="3124200" cy="2590800"/>
            <a:chOff x="3456" y="1344"/>
            <a:chExt cx="1968" cy="1632"/>
          </a:xfrm>
        </p:grpSpPr>
        <p:sp>
          <p:nvSpPr>
            <p:cNvPr id="135" name="Google Shape;135;p4"/>
            <p:cNvSpPr/>
            <p:nvPr/>
          </p:nvSpPr>
          <p:spPr>
            <a:xfrm>
              <a:off x="4032" y="1344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6" name="Google Shape;136;p4"/>
            <p:cNvCxnSpPr>
              <a:stCxn id="137" idx="7"/>
              <a:endCxn id="135" idx="3"/>
            </p:cNvCxnSpPr>
            <p:nvPr/>
          </p:nvCxnSpPr>
          <p:spPr>
            <a:xfrm flipH="1" rot="10800000">
              <a:off x="3661" y="1559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38" name="Google Shape;138;p4"/>
            <p:cNvSpPr/>
            <p:nvPr/>
          </p:nvSpPr>
          <p:spPr>
            <a:xfrm>
              <a:off x="3648" y="2736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4"/>
            <p:cNvSpPr/>
            <p:nvPr/>
          </p:nvSpPr>
          <p:spPr>
            <a:xfrm>
              <a:off x="5184" y="1632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4"/>
            <p:cNvSpPr/>
            <p:nvPr/>
          </p:nvSpPr>
          <p:spPr>
            <a:xfrm>
              <a:off x="4272" y="2352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4"/>
            <p:cNvSpPr/>
            <p:nvPr/>
          </p:nvSpPr>
          <p:spPr>
            <a:xfrm>
              <a:off x="3456" y="1824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41" name="Google Shape;141;p4"/>
            <p:cNvCxnSpPr>
              <a:stCxn id="135" idx="6"/>
              <a:endCxn id="139" idx="2"/>
            </p:cNvCxnSpPr>
            <p:nvPr/>
          </p:nvCxnSpPr>
          <p:spPr>
            <a:xfrm>
              <a:off x="4272" y="1464"/>
              <a:ext cx="9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42" name="Google Shape;142;p4"/>
            <p:cNvCxnSpPr>
              <a:stCxn id="137" idx="5"/>
              <a:endCxn id="140" idx="2"/>
            </p:cNvCxnSpPr>
            <p:nvPr/>
          </p:nvCxnSpPr>
          <p:spPr>
            <a:xfrm>
              <a:off x="3661" y="2029"/>
              <a:ext cx="6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43" name="Google Shape;143;p4"/>
            <p:cNvCxnSpPr>
              <a:stCxn id="140" idx="7"/>
              <a:endCxn id="139" idx="3"/>
            </p:cNvCxnSpPr>
            <p:nvPr/>
          </p:nvCxnSpPr>
          <p:spPr>
            <a:xfrm flipH="1" rot="10800000">
              <a:off x="4477" y="1787"/>
              <a:ext cx="600" cy="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44" name="Google Shape;144;p4"/>
            <p:cNvCxnSpPr>
              <a:stCxn id="138" idx="6"/>
              <a:endCxn id="140" idx="3"/>
            </p:cNvCxnSpPr>
            <p:nvPr/>
          </p:nvCxnSpPr>
          <p:spPr>
            <a:xfrm flipH="1" rot="10800000">
              <a:off x="3888" y="2556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45" name="Google Shape;145;p4"/>
            <p:cNvSpPr/>
            <p:nvPr/>
          </p:nvSpPr>
          <p:spPr>
            <a:xfrm>
              <a:off x="4464" y="1776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46" name="Google Shape;146;p4"/>
            <p:cNvCxnSpPr>
              <a:stCxn id="135" idx="5"/>
              <a:endCxn id="145" idx="1"/>
            </p:cNvCxnSpPr>
            <p:nvPr/>
          </p:nvCxnSpPr>
          <p:spPr>
            <a:xfrm>
              <a:off x="4237" y="1549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47" name="Google Shape;147;p4"/>
            <p:cNvCxnSpPr>
              <a:stCxn id="140" idx="0"/>
              <a:endCxn id="145" idx="4"/>
            </p:cNvCxnSpPr>
            <p:nvPr/>
          </p:nvCxnSpPr>
          <p:spPr>
            <a:xfrm flipH="1" rot="10800000">
              <a:off x="4392" y="2052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pic>
        <p:nvPicPr>
          <p:cNvPr id="148" name="Google Shape;14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23418" y="0"/>
            <a:ext cx="1468582" cy="57265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20-08-2023</a:t>
            </a:r>
            <a:endParaRPr/>
          </a:p>
        </p:txBody>
      </p:sp>
      <p:sp>
        <p:nvSpPr>
          <p:cNvPr id="150" name="Google Shape;150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Dr K Deepa Thilak, Asso Prof, NWC</a:t>
            </a:r>
            <a:endParaRPr/>
          </a:p>
        </p:txBody>
      </p:sp>
      <p:sp>
        <p:nvSpPr>
          <p:cNvPr id="151" name="Google Shape;151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Topo sort example</a:t>
            </a:r>
            <a:endParaRPr/>
          </a:p>
        </p:txBody>
      </p:sp>
      <p:sp>
        <p:nvSpPr>
          <p:cNvPr id="157" name="Google Shape;157;p5"/>
          <p:cNvSpPr txBox="1"/>
          <p:nvPr>
            <p:ph idx="1" type="body"/>
          </p:nvPr>
        </p:nvSpPr>
        <p:spPr>
          <a:xfrm>
            <a:off x="1524000" y="132311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 topologicalSort():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i="1" lang="en-US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ordering</a:t>
            </a:r>
            <a:r>
              <a:rPr lang="en-US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:= { }.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lang="en-US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Repeat until graph is empty: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</a:pPr>
            <a: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a vertex </a:t>
            </a:r>
            <a:r>
              <a:rPr i="1"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in-degree of 0  (no incoming edges).</a:t>
            </a:r>
            <a:endParaRPr/>
          </a:p>
          <a:p>
            <a: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</a:pPr>
            <a: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(If there is no such vertex, the graph cannot be sorted; stop.)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</a:pPr>
            <a: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Delete </a:t>
            </a:r>
            <a:r>
              <a:rPr i="1"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all of its</a:t>
            </a:r>
            <a:b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outgoing edges from the graph.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</a:pPr>
            <a:r>
              <a:rPr i="1"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ordering</a:t>
            </a:r>
            <a: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+= </a:t>
            </a:r>
            <a:r>
              <a:rPr i="1"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.</a:t>
            </a:r>
            <a:endParaRPr/>
          </a:p>
          <a:p>
            <a:pPr indent="-2286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i="1" lang="en-US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ordering</a:t>
            </a:r>
            <a:r>
              <a:rPr lang="en-US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{ B }</a:t>
            </a:r>
            <a:endParaRPr/>
          </a:p>
        </p:txBody>
      </p:sp>
      <p:grpSp>
        <p:nvGrpSpPr>
          <p:cNvPr id="158" name="Google Shape;158;p5"/>
          <p:cNvGrpSpPr/>
          <p:nvPr/>
        </p:nvGrpSpPr>
        <p:grpSpPr>
          <a:xfrm>
            <a:off x="7010400" y="3505200"/>
            <a:ext cx="3124200" cy="2590800"/>
            <a:chOff x="3456" y="1344"/>
            <a:chExt cx="1968" cy="1632"/>
          </a:xfrm>
        </p:grpSpPr>
        <p:sp>
          <p:nvSpPr>
            <p:cNvPr id="159" name="Google Shape;159;p5"/>
            <p:cNvSpPr/>
            <p:nvPr/>
          </p:nvSpPr>
          <p:spPr>
            <a:xfrm>
              <a:off x="4032" y="1344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60" name="Google Shape;160;p5"/>
            <p:cNvCxnSpPr>
              <a:stCxn id="161" idx="7"/>
              <a:endCxn id="159" idx="3"/>
            </p:cNvCxnSpPr>
            <p:nvPr/>
          </p:nvCxnSpPr>
          <p:spPr>
            <a:xfrm flipH="1" rot="10800000">
              <a:off x="3661" y="1559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62" name="Google Shape;162;p5"/>
            <p:cNvSpPr/>
            <p:nvPr/>
          </p:nvSpPr>
          <p:spPr>
            <a:xfrm>
              <a:off x="3648" y="2736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5"/>
            <p:cNvSpPr/>
            <p:nvPr/>
          </p:nvSpPr>
          <p:spPr>
            <a:xfrm>
              <a:off x="5184" y="1632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5"/>
            <p:cNvSpPr/>
            <p:nvPr/>
          </p:nvSpPr>
          <p:spPr>
            <a:xfrm>
              <a:off x="4272" y="2352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5"/>
            <p:cNvSpPr/>
            <p:nvPr/>
          </p:nvSpPr>
          <p:spPr>
            <a:xfrm>
              <a:off x="3456" y="1824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2B2B2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B2B2B2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65" name="Google Shape;165;p5"/>
            <p:cNvCxnSpPr>
              <a:stCxn id="159" idx="6"/>
              <a:endCxn id="163" idx="2"/>
            </p:cNvCxnSpPr>
            <p:nvPr/>
          </p:nvCxnSpPr>
          <p:spPr>
            <a:xfrm>
              <a:off x="4272" y="1464"/>
              <a:ext cx="9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66" name="Google Shape;166;p5"/>
            <p:cNvCxnSpPr>
              <a:stCxn id="161" idx="5"/>
              <a:endCxn id="164" idx="2"/>
            </p:cNvCxnSpPr>
            <p:nvPr/>
          </p:nvCxnSpPr>
          <p:spPr>
            <a:xfrm>
              <a:off x="3661" y="2029"/>
              <a:ext cx="600" cy="300"/>
            </a:xfrm>
            <a:prstGeom prst="straightConnector1">
              <a:avLst/>
            </a:prstGeom>
            <a:noFill/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67" name="Google Shape;167;p5"/>
            <p:cNvCxnSpPr>
              <a:stCxn id="164" idx="7"/>
              <a:endCxn id="163" idx="3"/>
            </p:cNvCxnSpPr>
            <p:nvPr/>
          </p:nvCxnSpPr>
          <p:spPr>
            <a:xfrm flipH="1" rot="10800000">
              <a:off x="4477" y="1787"/>
              <a:ext cx="600" cy="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68" name="Google Shape;168;p5"/>
            <p:cNvCxnSpPr>
              <a:stCxn id="162" idx="6"/>
              <a:endCxn id="164" idx="3"/>
            </p:cNvCxnSpPr>
            <p:nvPr/>
          </p:nvCxnSpPr>
          <p:spPr>
            <a:xfrm flipH="1" rot="10800000">
              <a:off x="3888" y="2556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69" name="Google Shape;169;p5"/>
            <p:cNvSpPr/>
            <p:nvPr/>
          </p:nvSpPr>
          <p:spPr>
            <a:xfrm>
              <a:off x="4464" y="1776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0" name="Google Shape;170;p5"/>
            <p:cNvCxnSpPr>
              <a:stCxn id="159" idx="5"/>
              <a:endCxn id="169" idx="1"/>
            </p:cNvCxnSpPr>
            <p:nvPr/>
          </p:nvCxnSpPr>
          <p:spPr>
            <a:xfrm>
              <a:off x="4237" y="1549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71" name="Google Shape;171;p5"/>
            <p:cNvCxnSpPr>
              <a:stCxn id="164" idx="0"/>
              <a:endCxn id="169" idx="4"/>
            </p:cNvCxnSpPr>
            <p:nvPr/>
          </p:nvCxnSpPr>
          <p:spPr>
            <a:xfrm flipH="1" rot="10800000">
              <a:off x="4392" y="2052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pic>
        <p:nvPicPr>
          <p:cNvPr id="172" name="Google Shape;17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23418" y="0"/>
            <a:ext cx="1468582" cy="57265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20-08-2023</a:t>
            </a:r>
            <a:endParaRPr/>
          </a:p>
        </p:txBody>
      </p:sp>
      <p:sp>
        <p:nvSpPr>
          <p:cNvPr id="174" name="Google Shape;17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Dr K Deepa Thilak, Asso Prof, NWC</a:t>
            </a:r>
            <a:endParaRPr/>
          </a:p>
        </p:txBody>
      </p:sp>
      <p:sp>
        <p:nvSpPr>
          <p:cNvPr id="175" name="Google Shape;17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Topo sort example</a:t>
            </a:r>
            <a:endParaRPr/>
          </a:p>
        </p:txBody>
      </p:sp>
      <p:sp>
        <p:nvSpPr>
          <p:cNvPr id="181" name="Google Shape;181;p6"/>
          <p:cNvSpPr txBox="1"/>
          <p:nvPr>
            <p:ph idx="1" type="body"/>
          </p:nvPr>
        </p:nvSpPr>
        <p:spPr>
          <a:xfrm>
            <a:off x="152400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 topologicalSort():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i="1" lang="en-US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ordering</a:t>
            </a:r>
            <a:r>
              <a:rPr lang="en-US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:= { }.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lang="en-US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Repeat until graph is empty: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</a:pPr>
            <a: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a vertex </a:t>
            </a:r>
            <a:r>
              <a:rPr i="1"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in-degree of 0  (no incoming edges).</a:t>
            </a:r>
            <a:endParaRPr/>
          </a:p>
          <a:p>
            <a: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</a:pPr>
            <a: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(If there is no such vertex, the graph cannot be sorted; stop.)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</a:pPr>
            <a: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Delete </a:t>
            </a:r>
            <a:r>
              <a:rPr i="1"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all of its</a:t>
            </a:r>
            <a:b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outgoing edges from the graph.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</a:pPr>
            <a:r>
              <a:rPr i="1"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ordering</a:t>
            </a:r>
            <a: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+= </a:t>
            </a:r>
            <a:r>
              <a:rPr i="1"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.</a:t>
            </a:r>
            <a:endParaRPr/>
          </a:p>
          <a:p>
            <a:pPr indent="-2286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i="1" lang="en-US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ordering</a:t>
            </a:r>
            <a:r>
              <a:rPr lang="en-US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{ B, C }</a:t>
            </a:r>
            <a:endParaRPr/>
          </a:p>
        </p:txBody>
      </p:sp>
      <p:grpSp>
        <p:nvGrpSpPr>
          <p:cNvPr id="182" name="Google Shape;182;p6"/>
          <p:cNvGrpSpPr/>
          <p:nvPr/>
        </p:nvGrpSpPr>
        <p:grpSpPr>
          <a:xfrm>
            <a:off x="7010400" y="3505200"/>
            <a:ext cx="3124200" cy="2590800"/>
            <a:chOff x="3456" y="1344"/>
            <a:chExt cx="1968" cy="1632"/>
          </a:xfrm>
        </p:grpSpPr>
        <p:sp>
          <p:nvSpPr>
            <p:cNvPr id="183" name="Google Shape;183;p6"/>
            <p:cNvSpPr/>
            <p:nvPr/>
          </p:nvSpPr>
          <p:spPr>
            <a:xfrm>
              <a:off x="4032" y="1344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2B2B2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B2B2B2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4" name="Google Shape;184;p6"/>
            <p:cNvCxnSpPr>
              <a:stCxn id="185" idx="7"/>
              <a:endCxn id="183" idx="3"/>
            </p:cNvCxnSpPr>
            <p:nvPr/>
          </p:nvCxnSpPr>
          <p:spPr>
            <a:xfrm flipH="1" rot="10800000">
              <a:off x="3661" y="1559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86" name="Google Shape;186;p6"/>
            <p:cNvSpPr/>
            <p:nvPr/>
          </p:nvSpPr>
          <p:spPr>
            <a:xfrm>
              <a:off x="3648" y="2736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6"/>
            <p:cNvSpPr/>
            <p:nvPr/>
          </p:nvSpPr>
          <p:spPr>
            <a:xfrm>
              <a:off x="5184" y="1632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6"/>
            <p:cNvSpPr/>
            <p:nvPr/>
          </p:nvSpPr>
          <p:spPr>
            <a:xfrm>
              <a:off x="4272" y="2352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6"/>
            <p:cNvSpPr/>
            <p:nvPr/>
          </p:nvSpPr>
          <p:spPr>
            <a:xfrm>
              <a:off x="3456" y="1824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2B2B2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B2B2B2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9" name="Google Shape;189;p6"/>
            <p:cNvCxnSpPr>
              <a:stCxn id="183" idx="6"/>
              <a:endCxn id="187" idx="2"/>
            </p:cNvCxnSpPr>
            <p:nvPr/>
          </p:nvCxnSpPr>
          <p:spPr>
            <a:xfrm>
              <a:off x="4272" y="1464"/>
              <a:ext cx="900" cy="300"/>
            </a:xfrm>
            <a:prstGeom prst="straightConnector1">
              <a:avLst/>
            </a:prstGeom>
            <a:noFill/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90" name="Google Shape;190;p6"/>
            <p:cNvCxnSpPr>
              <a:stCxn id="185" idx="5"/>
              <a:endCxn id="188" idx="2"/>
            </p:cNvCxnSpPr>
            <p:nvPr/>
          </p:nvCxnSpPr>
          <p:spPr>
            <a:xfrm>
              <a:off x="3661" y="2029"/>
              <a:ext cx="600" cy="300"/>
            </a:xfrm>
            <a:prstGeom prst="straightConnector1">
              <a:avLst/>
            </a:prstGeom>
            <a:noFill/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91" name="Google Shape;191;p6"/>
            <p:cNvCxnSpPr>
              <a:stCxn id="188" idx="7"/>
              <a:endCxn id="187" idx="3"/>
            </p:cNvCxnSpPr>
            <p:nvPr/>
          </p:nvCxnSpPr>
          <p:spPr>
            <a:xfrm flipH="1" rot="10800000">
              <a:off x="4477" y="1787"/>
              <a:ext cx="600" cy="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92" name="Google Shape;192;p6"/>
            <p:cNvCxnSpPr>
              <a:stCxn id="186" idx="6"/>
              <a:endCxn id="188" idx="3"/>
            </p:cNvCxnSpPr>
            <p:nvPr/>
          </p:nvCxnSpPr>
          <p:spPr>
            <a:xfrm flipH="1" rot="10800000">
              <a:off x="3888" y="2556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93" name="Google Shape;193;p6"/>
            <p:cNvSpPr/>
            <p:nvPr/>
          </p:nvSpPr>
          <p:spPr>
            <a:xfrm>
              <a:off x="4464" y="1776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4" name="Google Shape;194;p6"/>
            <p:cNvCxnSpPr>
              <a:stCxn id="183" idx="5"/>
              <a:endCxn id="193" idx="1"/>
            </p:cNvCxnSpPr>
            <p:nvPr/>
          </p:nvCxnSpPr>
          <p:spPr>
            <a:xfrm>
              <a:off x="4237" y="1549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95" name="Google Shape;195;p6"/>
            <p:cNvCxnSpPr>
              <a:stCxn id="188" idx="0"/>
              <a:endCxn id="193" idx="4"/>
            </p:cNvCxnSpPr>
            <p:nvPr/>
          </p:nvCxnSpPr>
          <p:spPr>
            <a:xfrm flipH="1" rot="10800000">
              <a:off x="4392" y="2052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pic>
        <p:nvPicPr>
          <p:cNvPr id="196" name="Google Shape;19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23418" y="0"/>
            <a:ext cx="1468582" cy="57265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20-08-2023</a:t>
            </a:r>
            <a:endParaRPr/>
          </a:p>
        </p:txBody>
      </p:sp>
      <p:sp>
        <p:nvSpPr>
          <p:cNvPr id="198" name="Google Shape;198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Dr K Deepa Thilak, Asso Prof, NWC</a:t>
            </a:r>
            <a:endParaRPr/>
          </a:p>
        </p:txBody>
      </p:sp>
      <p:sp>
        <p:nvSpPr>
          <p:cNvPr id="199" name="Google Shape;199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Topo sort example</a:t>
            </a:r>
            <a:endParaRPr/>
          </a:p>
        </p:txBody>
      </p:sp>
      <p:sp>
        <p:nvSpPr>
          <p:cNvPr id="205" name="Google Shape;205;p7"/>
          <p:cNvSpPr txBox="1"/>
          <p:nvPr>
            <p:ph idx="1" type="body"/>
          </p:nvPr>
        </p:nvSpPr>
        <p:spPr>
          <a:xfrm>
            <a:off x="152400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 topologicalSort():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i="1" lang="en-US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ordering</a:t>
            </a:r>
            <a:r>
              <a:rPr lang="en-US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:= { }.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lang="en-US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Repeat until graph is empty: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</a:pPr>
            <a: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a vertex </a:t>
            </a:r>
            <a:r>
              <a:rPr i="1"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in-degree of 0  (no incoming edges).</a:t>
            </a:r>
            <a:endParaRPr/>
          </a:p>
          <a:p>
            <a: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</a:pPr>
            <a: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(If there is no such vertex, the graph cannot be sorted; stop.)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</a:pPr>
            <a: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Delete </a:t>
            </a:r>
            <a:r>
              <a:rPr i="1"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all of its</a:t>
            </a:r>
            <a:b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outgoing edges from the graph.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</a:pPr>
            <a:r>
              <a:rPr i="1"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ordering</a:t>
            </a:r>
            <a: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+= </a:t>
            </a:r>
            <a:r>
              <a:rPr i="1"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.</a:t>
            </a:r>
            <a:endParaRPr/>
          </a:p>
          <a:p>
            <a:pPr indent="-2286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i="1" lang="en-US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ordering</a:t>
            </a:r>
            <a:r>
              <a:rPr lang="en-US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{ B, C, A }</a:t>
            </a:r>
            <a:endParaRPr/>
          </a:p>
        </p:txBody>
      </p:sp>
      <p:grpSp>
        <p:nvGrpSpPr>
          <p:cNvPr id="206" name="Google Shape;206;p7"/>
          <p:cNvGrpSpPr/>
          <p:nvPr/>
        </p:nvGrpSpPr>
        <p:grpSpPr>
          <a:xfrm>
            <a:off x="7010400" y="3505200"/>
            <a:ext cx="3124200" cy="2590800"/>
            <a:chOff x="3456" y="1344"/>
            <a:chExt cx="1968" cy="1632"/>
          </a:xfrm>
        </p:grpSpPr>
        <p:sp>
          <p:nvSpPr>
            <p:cNvPr id="207" name="Google Shape;207;p7"/>
            <p:cNvSpPr/>
            <p:nvPr/>
          </p:nvSpPr>
          <p:spPr>
            <a:xfrm>
              <a:off x="4032" y="1344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2B2B2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B2B2B2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8" name="Google Shape;208;p7"/>
            <p:cNvCxnSpPr>
              <a:stCxn id="209" idx="7"/>
              <a:endCxn id="207" idx="3"/>
            </p:cNvCxnSpPr>
            <p:nvPr/>
          </p:nvCxnSpPr>
          <p:spPr>
            <a:xfrm flipH="1" rot="10800000">
              <a:off x="3661" y="1559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10" name="Google Shape;210;p7"/>
            <p:cNvSpPr/>
            <p:nvPr/>
          </p:nvSpPr>
          <p:spPr>
            <a:xfrm>
              <a:off x="3648" y="2736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2B2B2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B2B2B2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7"/>
            <p:cNvSpPr/>
            <p:nvPr/>
          </p:nvSpPr>
          <p:spPr>
            <a:xfrm>
              <a:off x="5184" y="1632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7"/>
            <p:cNvSpPr/>
            <p:nvPr/>
          </p:nvSpPr>
          <p:spPr>
            <a:xfrm>
              <a:off x="4272" y="2352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7"/>
            <p:cNvSpPr/>
            <p:nvPr/>
          </p:nvSpPr>
          <p:spPr>
            <a:xfrm>
              <a:off x="3456" y="1824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2B2B2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B2B2B2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13" name="Google Shape;213;p7"/>
            <p:cNvCxnSpPr>
              <a:stCxn id="207" idx="6"/>
              <a:endCxn id="211" idx="2"/>
            </p:cNvCxnSpPr>
            <p:nvPr/>
          </p:nvCxnSpPr>
          <p:spPr>
            <a:xfrm>
              <a:off x="4272" y="1464"/>
              <a:ext cx="900" cy="300"/>
            </a:xfrm>
            <a:prstGeom prst="straightConnector1">
              <a:avLst/>
            </a:prstGeom>
            <a:noFill/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4" name="Google Shape;214;p7"/>
            <p:cNvCxnSpPr>
              <a:stCxn id="209" idx="5"/>
              <a:endCxn id="212" idx="2"/>
            </p:cNvCxnSpPr>
            <p:nvPr/>
          </p:nvCxnSpPr>
          <p:spPr>
            <a:xfrm>
              <a:off x="3661" y="2029"/>
              <a:ext cx="600" cy="300"/>
            </a:xfrm>
            <a:prstGeom prst="straightConnector1">
              <a:avLst/>
            </a:prstGeom>
            <a:noFill/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5" name="Google Shape;215;p7"/>
            <p:cNvCxnSpPr>
              <a:stCxn id="212" idx="7"/>
              <a:endCxn id="211" idx="3"/>
            </p:cNvCxnSpPr>
            <p:nvPr/>
          </p:nvCxnSpPr>
          <p:spPr>
            <a:xfrm flipH="1" rot="10800000">
              <a:off x="4477" y="1787"/>
              <a:ext cx="600" cy="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6" name="Google Shape;216;p7"/>
            <p:cNvCxnSpPr>
              <a:stCxn id="210" idx="6"/>
              <a:endCxn id="212" idx="3"/>
            </p:cNvCxnSpPr>
            <p:nvPr/>
          </p:nvCxnSpPr>
          <p:spPr>
            <a:xfrm flipH="1" rot="10800000">
              <a:off x="3888" y="2556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17" name="Google Shape;217;p7"/>
            <p:cNvSpPr/>
            <p:nvPr/>
          </p:nvSpPr>
          <p:spPr>
            <a:xfrm>
              <a:off x="4464" y="1776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18" name="Google Shape;218;p7"/>
            <p:cNvCxnSpPr>
              <a:stCxn id="207" idx="5"/>
              <a:endCxn id="217" idx="1"/>
            </p:cNvCxnSpPr>
            <p:nvPr/>
          </p:nvCxnSpPr>
          <p:spPr>
            <a:xfrm>
              <a:off x="4237" y="1549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19" name="Google Shape;219;p7"/>
            <p:cNvCxnSpPr>
              <a:stCxn id="212" idx="0"/>
              <a:endCxn id="217" idx="4"/>
            </p:cNvCxnSpPr>
            <p:nvPr/>
          </p:nvCxnSpPr>
          <p:spPr>
            <a:xfrm flipH="1" rot="10800000">
              <a:off x="4392" y="2052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pic>
        <p:nvPicPr>
          <p:cNvPr id="220" name="Google Shape;22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23418" y="0"/>
            <a:ext cx="1468582" cy="57265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20-08-2023</a:t>
            </a:r>
            <a:endParaRPr/>
          </a:p>
        </p:txBody>
      </p:sp>
      <p:sp>
        <p:nvSpPr>
          <p:cNvPr id="222" name="Google Shape;22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Dr K Deepa Thilak, Asso Prof, NWC</a:t>
            </a:r>
            <a:endParaRPr/>
          </a:p>
        </p:txBody>
      </p:sp>
      <p:sp>
        <p:nvSpPr>
          <p:cNvPr id="223" name="Google Shape;22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Topo sort example</a:t>
            </a:r>
            <a:endParaRPr/>
          </a:p>
        </p:txBody>
      </p:sp>
      <p:sp>
        <p:nvSpPr>
          <p:cNvPr id="229" name="Google Shape;229;p8"/>
          <p:cNvSpPr txBox="1"/>
          <p:nvPr>
            <p:ph idx="1" type="body"/>
          </p:nvPr>
        </p:nvSpPr>
        <p:spPr>
          <a:xfrm>
            <a:off x="152400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 topologicalSort():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i="1" lang="en-US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ordering</a:t>
            </a:r>
            <a:r>
              <a:rPr lang="en-US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:= { }.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lang="en-US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Repeat until graph is empty: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</a:pPr>
            <a: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a vertex </a:t>
            </a:r>
            <a:r>
              <a:rPr i="1"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in-degree of 0  (no incoming edges).</a:t>
            </a:r>
            <a:endParaRPr/>
          </a:p>
          <a:p>
            <a: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</a:pPr>
            <a: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(If there is no such vertex, the graph cannot be sorted; stop.)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</a:pPr>
            <a: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Delete </a:t>
            </a:r>
            <a:r>
              <a:rPr i="1"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all of its</a:t>
            </a:r>
            <a:b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outgoing edges from the graph.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</a:pPr>
            <a:r>
              <a:rPr i="1"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ordering</a:t>
            </a:r>
            <a: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+= </a:t>
            </a:r>
            <a:r>
              <a:rPr i="1"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.</a:t>
            </a:r>
            <a:endParaRPr/>
          </a:p>
          <a:p>
            <a:pPr indent="-2286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i="1" lang="en-US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ordering</a:t>
            </a:r>
            <a:r>
              <a:rPr lang="en-US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{ B, C, A, D }</a:t>
            </a:r>
            <a:endParaRPr/>
          </a:p>
        </p:txBody>
      </p:sp>
      <p:grpSp>
        <p:nvGrpSpPr>
          <p:cNvPr id="230" name="Google Shape;230;p8"/>
          <p:cNvGrpSpPr/>
          <p:nvPr/>
        </p:nvGrpSpPr>
        <p:grpSpPr>
          <a:xfrm>
            <a:off x="7010400" y="3505200"/>
            <a:ext cx="3124200" cy="2590800"/>
            <a:chOff x="3456" y="1344"/>
            <a:chExt cx="1968" cy="1632"/>
          </a:xfrm>
        </p:grpSpPr>
        <p:sp>
          <p:nvSpPr>
            <p:cNvPr id="231" name="Google Shape;231;p8"/>
            <p:cNvSpPr/>
            <p:nvPr/>
          </p:nvSpPr>
          <p:spPr>
            <a:xfrm>
              <a:off x="4032" y="1344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2B2B2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B2B2B2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32" name="Google Shape;232;p8"/>
            <p:cNvCxnSpPr>
              <a:stCxn id="233" idx="7"/>
              <a:endCxn id="231" idx="3"/>
            </p:cNvCxnSpPr>
            <p:nvPr/>
          </p:nvCxnSpPr>
          <p:spPr>
            <a:xfrm flipH="1" rot="10800000">
              <a:off x="3661" y="1559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34" name="Google Shape;234;p8"/>
            <p:cNvSpPr/>
            <p:nvPr/>
          </p:nvSpPr>
          <p:spPr>
            <a:xfrm>
              <a:off x="3648" y="2736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2B2B2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B2B2B2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8"/>
            <p:cNvSpPr/>
            <p:nvPr/>
          </p:nvSpPr>
          <p:spPr>
            <a:xfrm>
              <a:off x="5184" y="1632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8"/>
            <p:cNvSpPr/>
            <p:nvPr/>
          </p:nvSpPr>
          <p:spPr>
            <a:xfrm>
              <a:off x="4272" y="2352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2B2B2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B2B2B2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8"/>
            <p:cNvSpPr/>
            <p:nvPr/>
          </p:nvSpPr>
          <p:spPr>
            <a:xfrm>
              <a:off x="3456" y="1824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2B2B2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B2B2B2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37" name="Google Shape;237;p8"/>
            <p:cNvCxnSpPr>
              <a:stCxn id="231" idx="6"/>
              <a:endCxn id="235" idx="2"/>
            </p:cNvCxnSpPr>
            <p:nvPr/>
          </p:nvCxnSpPr>
          <p:spPr>
            <a:xfrm>
              <a:off x="4272" y="1464"/>
              <a:ext cx="900" cy="300"/>
            </a:xfrm>
            <a:prstGeom prst="straightConnector1">
              <a:avLst/>
            </a:prstGeom>
            <a:noFill/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38" name="Google Shape;238;p8"/>
            <p:cNvCxnSpPr>
              <a:stCxn id="233" idx="5"/>
              <a:endCxn id="236" idx="2"/>
            </p:cNvCxnSpPr>
            <p:nvPr/>
          </p:nvCxnSpPr>
          <p:spPr>
            <a:xfrm>
              <a:off x="3661" y="2029"/>
              <a:ext cx="600" cy="300"/>
            </a:xfrm>
            <a:prstGeom prst="straightConnector1">
              <a:avLst/>
            </a:prstGeom>
            <a:noFill/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39" name="Google Shape;239;p8"/>
            <p:cNvCxnSpPr>
              <a:stCxn id="236" idx="7"/>
              <a:endCxn id="235" idx="3"/>
            </p:cNvCxnSpPr>
            <p:nvPr/>
          </p:nvCxnSpPr>
          <p:spPr>
            <a:xfrm flipH="1" rot="10800000">
              <a:off x="4477" y="1787"/>
              <a:ext cx="600" cy="600"/>
            </a:xfrm>
            <a:prstGeom prst="straightConnector1">
              <a:avLst/>
            </a:prstGeom>
            <a:noFill/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40" name="Google Shape;240;p8"/>
            <p:cNvCxnSpPr>
              <a:stCxn id="234" idx="6"/>
              <a:endCxn id="236" idx="3"/>
            </p:cNvCxnSpPr>
            <p:nvPr/>
          </p:nvCxnSpPr>
          <p:spPr>
            <a:xfrm flipH="1" rot="10800000">
              <a:off x="3888" y="2556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41" name="Google Shape;241;p8"/>
            <p:cNvSpPr/>
            <p:nvPr/>
          </p:nvSpPr>
          <p:spPr>
            <a:xfrm>
              <a:off x="4464" y="1776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42" name="Google Shape;242;p8"/>
            <p:cNvCxnSpPr>
              <a:stCxn id="231" idx="5"/>
              <a:endCxn id="241" idx="1"/>
            </p:cNvCxnSpPr>
            <p:nvPr/>
          </p:nvCxnSpPr>
          <p:spPr>
            <a:xfrm>
              <a:off x="4237" y="1549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43" name="Google Shape;243;p8"/>
            <p:cNvCxnSpPr>
              <a:stCxn id="236" idx="0"/>
              <a:endCxn id="241" idx="4"/>
            </p:cNvCxnSpPr>
            <p:nvPr/>
          </p:nvCxnSpPr>
          <p:spPr>
            <a:xfrm flipH="1" rot="10800000">
              <a:off x="4392" y="2052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pic>
        <p:nvPicPr>
          <p:cNvPr id="244" name="Google Shape;24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23418" y="0"/>
            <a:ext cx="1468582" cy="572655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20-08-2023</a:t>
            </a:r>
            <a:endParaRPr/>
          </a:p>
        </p:txBody>
      </p:sp>
      <p:sp>
        <p:nvSpPr>
          <p:cNvPr id="246" name="Google Shape;24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Dr K Deepa Thilak, Asso Prof, NWC</a:t>
            </a:r>
            <a:endParaRPr/>
          </a:p>
        </p:txBody>
      </p:sp>
      <p:sp>
        <p:nvSpPr>
          <p:cNvPr id="247" name="Google Shape;24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Topo sort example</a:t>
            </a:r>
            <a:endParaRPr/>
          </a:p>
        </p:txBody>
      </p:sp>
      <p:sp>
        <p:nvSpPr>
          <p:cNvPr id="253" name="Google Shape;253;p9"/>
          <p:cNvSpPr txBox="1"/>
          <p:nvPr>
            <p:ph idx="1" type="body"/>
          </p:nvPr>
        </p:nvSpPr>
        <p:spPr>
          <a:xfrm>
            <a:off x="152400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 topologicalSort():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i="1" lang="en-US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ordering</a:t>
            </a:r>
            <a:r>
              <a:rPr lang="en-US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:= { }.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lang="en-US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Repeat until graph is empty: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</a:pPr>
            <a: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a vertex </a:t>
            </a:r>
            <a:r>
              <a:rPr i="1"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in-degree of 0  (no incoming edges).</a:t>
            </a:r>
            <a:endParaRPr/>
          </a:p>
          <a:p>
            <a: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</a:pPr>
            <a: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(If there is no such vertex, the graph cannot be sorted; stop.)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</a:pPr>
            <a: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Delete </a:t>
            </a:r>
            <a:r>
              <a:rPr i="1"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all of its</a:t>
            </a:r>
            <a:b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outgoing edges from the graph.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</a:pPr>
            <a:r>
              <a:rPr i="1"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ordering</a:t>
            </a:r>
            <a: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+= </a:t>
            </a:r>
            <a:r>
              <a:rPr i="1"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.</a:t>
            </a:r>
            <a:endParaRPr/>
          </a:p>
          <a:p>
            <a:pPr indent="-2286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i="1" lang="en-US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ordering</a:t>
            </a:r>
            <a:r>
              <a:rPr lang="en-US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{ B, C, A, D, F }</a:t>
            </a:r>
            <a:endParaRPr/>
          </a:p>
        </p:txBody>
      </p:sp>
      <p:grpSp>
        <p:nvGrpSpPr>
          <p:cNvPr id="254" name="Google Shape;254;p9"/>
          <p:cNvGrpSpPr/>
          <p:nvPr/>
        </p:nvGrpSpPr>
        <p:grpSpPr>
          <a:xfrm>
            <a:off x="7010400" y="3505200"/>
            <a:ext cx="3124200" cy="2590800"/>
            <a:chOff x="3456" y="1344"/>
            <a:chExt cx="1968" cy="1632"/>
          </a:xfrm>
        </p:grpSpPr>
        <p:sp>
          <p:nvSpPr>
            <p:cNvPr id="255" name="Google Shape;255;p9"/>
            <p:cNvSpPr/>
            <p:nvPr/>
          </p:nvSpPr>
          <p:spPr>
            <a:xfrm>
              <a:off x="4032" y="1344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2B2B2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B2B2B2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56" name="Google Shape;256;p9"/>
            <p:cNvCxnSpPr>
              <a:stCxn id="257" idx="7"/>
              <a:endCxn id="255" idx="3"/>
            </p:cNvCxnSpPr>
            <p:nvPr/>
          </p:nvCxnSpPr>
          <p:spPr>
            <a:xfrm flipH="1" rot="10800000">
              <a:off x="3661" y="1559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58" name="Google Shape;258;p9"/>
            <p:cNvSpPr/>
            <p:nvPr/>
          </p:nvSpPr>
          <p:spPr>
            <a:xfrm>
              <a:off x="3648" y="2736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2B2B2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B2B2B2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9"/>
            <p:cNvSpPr/>
            <p:nvPr/>
          </p:nvSpPr>
          <p:spPr>
            <a:xfrm>
              <a:off x="5184" y="1632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2B2B2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B2B2B2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9"/>
            <p:cNvSpPr/>
            <p:nvPr/>
          </p:nvSpPr>
          <p:spPr>
            <a:xfrm>
              <a:off x="4272" y="2352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2B2B2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B2B2B2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9"/>
            <p:cNvSpPr/>
            <p:nvPr/>
          </p:nvSpPr>
          <p:spPr>
            <a:xfrm>
              <a:off x="3456" y="1824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2B2B2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B2B2B2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61" name="Google Shape;261;p9"/>
            <p:cNvCxnSpPr>
              <a:stCxn id="255" idx="6"/>
              <a:endCxn id="259" idx="2"/>
            </p:cNvCxnSpPr>
            <p:nvPr/>
          </p:nvCxnSpPr>
          <p:spPr>
            <a:xfrm>
              <a:off x="4272" y="1464"/>
              <a:ext cx="900" cy="300"/>
            </a:xfrm>
            <a:prstGeom prst="straightConnector1">
              <a:avLst/>
            </a:prstGeom>
            <a:noFill/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62" name="Google Shape;262;p9"/>
            <p:cNvCxnSpPr>
              <a:stCxn id="257" idx="5"/>
              <a:endCxn id="260" idx="2"/>
            </p:cNvCxnSpPr>
            <p:nvPr/>
          </p:nvCxnSpPr>
          <p:spPr>
            <a:xfrm>
              <a:off x="3661" y="2029"/>
              <a:ext cx="600" cy="300"/>
            </a:xfrm>
            <a:prstGeom prst="straightConnector1">
              <a:avLst/>
            </a:prstGeom>
            <a:noFill/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63" name="Google Shape;263;p9"/>
            <p:cNvCxnSpPr>
              <a:stCxn id="260" idx="7"/>
              <a:endCxn id="259" idx="3"/>
            </p:cNvCxnSpPr>
            <p:nvPr/>
          </p:nvCxnSpPr>
          <p:spPr>
            <a:xfrm flipH="1" rot="10800000">
              <a:off x="4477" y="1787"/>
              <a:ext cx="600" cy="600"/>
            </a:xfrm>
            <a:prstGeom prst="straightConnector1">
              <a:avLst/>
            </a:prstGeom>
            <a:noFill/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64" name="Google Shape;264;p9"/>
            <p:cNvCxnSpPr>
              <a:stCxn id="258" idx="6"/>
              <a:endCxn id="260" idx="3"/>
            </p:cNvCxnSpPr>
            <p:nvPr/>
          </p:nvCxnSpPr>
          <p:spPr>
            <a:xfrm flipH="1" rot="10800000">
              <a:off x="3888" y="2556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65" name="Google Shape;265;p9"/>
            <p:cNvSpPr/>
            <p:nvPr/>
          </p:nvSpPr>
          <p:spPr>
            <a:xfrm>
              <a:off x="4464" y="1776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66" name="Google Shape;266;p9"/>
            <p:cNvCxnSpPr>
              <a:stCxn id="255" idx="5"/>
              <a:endCxn id="265" idx="1"/>
            </p:cNvCxnSpPr>
            <p:nvPr/>
          </p:nvCxnSpPr>
          <p:spPr>
            <a:xfrm>
              <a:off x="4237" y="1549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67" name="Google Shape;267;p9"/>
            <p:cNvCxnSpPr>
              <a:stCxn id="260" idx="0"/>
              <a:endCxn id="265" idx="4"/>
            </p:cNvCxnSpPr>
            <p:nvPr/>
          </p:nvCxnSpPr>
          <p:spPr>
            <a:xfrm flipH="1" rot="10800000">
              <a:off x="4392" y="2052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pic>
        <p:nvPicPr>
          <p:cNvPr id="268" name="Google Shape;26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23418" y="0"/>
            <a:ext cx="1468582" cy="57265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20-08-2023</a:t>
            </a:r>
            <a:endParaRPr/>
          </a:p>
        </p:txBody>
      </p:sp>
      <p:sp>
        <p:nvSpPr>
          <p:cNvPr id="270" name="Google Shape;27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Dr K Deepa Thilak, Asso Prof, NWC</a:t>
            </a:r>
            <a:endParaRPr/>
          </a:p>
        </p:txBody>
      </p:sp>
      <p:sp>
        <p:nvSpPr>
          <p:cNvPr id="271" name="Google Shape;27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Topo sort example</a:t>
            </a:r>
            <a:endParaRPr/>
          </a:p>
        </p:txBody>
      </p:sp>
      <p:sp>
        <p:nvSpPr>
          <p:cNvPr id="277" name="Google Shape;277;p10"/>
          <p:cNvSpPr txBox="1"/>
          <p:nvPr>
            <p:ph idx="1" type="body"/>
          </p:nvPr>
        </p:nvSpPr>
        <p:spPr>
          <a:xfrm>
            <a:off x="152400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 topologicalSort():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i="1" lang="en-US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ordering</a:t>
            </a:r>
            <a:r>
              <a:rPr lang="en-US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:= { }.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lang="en-US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Repeat until graph is empty: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</a:pPr>
            <a: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a vertex </a:t>
            </a:r>
            <a:r>
              <a:rPr i="1"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in-degree of 0  (no incoming edges).</a:t>
            </a:r>
            <a:endParaRPr/>
          </a:p>
          <a:p>
            <a: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</a:pPr>
            <a: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(If there is no such vertex, the graph cannot be sorted; stop.)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</a:pPr>
            <a: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Delete </a:t>
            </a:r>
            <a:r>
              <a:rPr i="1"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all of its</a:t>
            </a:r>
            <a:b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outgoing edges from the graph.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</a:pPr>
            <a:r>
              <a:rPr i="1"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ordering</a:t>
            </a:r>
            <a: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+= </a:t>
            </a:r>
            <a:r>
              <a:rPr i="1"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.</a:t>
            </a:r>
            <a:endParaRPr/>
          </a:p>
          <a:p>
            <a:pPr indent="-2286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i="1" lang="en-US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ordering</a:t>
            </a:r>
            <a:r>
              <a:rPr lang="en-US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{ B, C, A, D, F, E }</a:t>
            </a:r>
            <a:endParaRPr/>
          </a:p>
        </p:txBody>
      </p:sp>
      <p:grpSp>
        <p:nvGrpSpPr>
          <p:cNvPr id="278" name="Google Shape;278;p10"/>
          <p:cNvGrpSpPr/>
          <p:nvPr/>
        </p:nvGrpSpPr>
        <p:grpSpPr>
          <a:xfrm>
            <a:off x="7010400" y="3505200"/>
            <a:ext cx="3124200" cy="2590800"/>
            <a:chOff x="3456" y="1344"/>
            <a:chExt cx="1968" cy="1632"/>
          </a:xfrm>
        </p:grpSpPr>
        <p:sp>
          <p:nvSpPr>
            <p:cNvPr id="279" name="Google Shape;279;p10"/>
            <p:cNvSpPr/>
            <p:nvPr/>
          </p:nvSpPr>
          <p:spPr>
            <a:xfrm>
              <a:off x="4032" y="1344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2B2B2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B2B2B2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80" name="Google Shape;280;p10"/>
            <p:cNvCxnSpPr>
              <a:stCxn id="281" idx="7"/>
              <a:endCxn id="279" idx="3"/>
            </p:cNvCxnSpPr>
            <p:nvPr/>
          </p:nvCxnSpPr>
          <p:spPr>
            <a:xfrm flipH="1" rot="10800000">
              <a:off x="3661" y="1559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82" name="Google Shape;282;p10"/>
            <p:cNvSpPr/>
            <p:nvPr/>
          </p:nvSpPr>
          <p:spPr>
            <a:xfrm>
              <a:off x="3648" y="2736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2B2B2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B2B2B2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10"/>
            <p:cNvSpPr/>
            <p:nvPr/>
          </p:nvSpPr>
          <p:spPr>
            <a:xfrm>
              <a:off x="5184" y="1632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2B2B2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B2B2B2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10"/>
            <p:cNvSpPr/>
            <p:nvPr/>
          </p:nvSpPr>
          <p:spPr>
            <a:xfrm>
              <a:off x="4272" y="2352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2B2B2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B2B2B2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10"/>
            <p:cNvSpPr/>
            <p:nvPr/>
          </p:nvSpPr>
          <p:spPr>
            <a:xfrm>
              <a:off x="3456" y="1824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2B2B2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B2B2B2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85" name="Google Shape;285;p10"/>
            <p:cNvCxnSpPr>
              <a:stCxn id="279" idx="6"/>
              <a:endCxn id="283" idx="2"/>
            </p:cNvCxnSpPr>
            <p:nvPr/>
          </p:nvCxnSpPr>
          <p:spPr>
            <a:xfrm>
              <a:off x="4272" y="1464"/>
              <a:ext cx="900" cy="300"/>
            </a:xfrm>
            <a:prstGeom prst="straightConnector1">
              <a:avLst/>
            </a:prstGeom>
            <a:noFill/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86" name="Google Shape;286;p10"/>
            <p:cNvCxnSpPr>
              <a:stCxn id="281" idx="5"/>
              <a:endCxn id="284" idx="2"/>
            </p:cNvCxnSpPr>
            <p:nvPr/>
          </p:nvCxnSpPr>
          <p:spPr>
            <a:xfrm>
              <a:off x="3661" y="2029"/>
              <a:ext cx="600" cy="300"/>
            </a:xfrm>
            <a:prstGeom prst="straightConnector1">
              <a:avLst/>
            </a:prstGeom>
            <a:noFill/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87" name="Google Shape;287;p10"/>
            <p:cNvCxnSpPr>
              <a:stCxn id="284" idx="7"/>
              <a:endCxn id="283" idx="3"/>
            </p:cNvCxnSpPr>
            <p:nvPr/>
          </p:nvCxnSpPr>
          <p:spPr>
            <a:xfrm flipH="1" rot="10800000">
              <a:off x="4477" y="1787"/>
              <a:ext cx="600" cy="600"/>
            </a:xfrm>
            <a:prstGeom prst="straightConnector1">
              <a:avLst/>
            </a:prstGeom>
            <a:noFill/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88" name="Google Shape;288;p10"/>
            <p:cNvCxnSpPr>
              <a:stCxn id="282" idx="6"/>
              <a:endCxn id="284" idx="3"/>
            </p:cNvCxnSpPr>
            <p:nvPr/>
          </p:nvCxnSpPr>
          <p:spPr>
            <a:xfrm flipH="1" rot="10800000">
              <a:off x="3888" y="2556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89" name="Google Shape;289;p10"/>
            <p:cNvSpPr/>
            <p:nvPr/>
          </p:nvSpPr>
          <p:spPr>
            <a:xfrm>
              <a:off x="4464" y="1776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2B2B2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B2B2B2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90" name="Google Shape;290;p10"/>
            <p:cNvCxnSpPr>
              <a:stCxn id="279" idx="5"/>
              <a:endCxn id="289" idx="1"/>
            </p:cNvCxnSpPr>
            <p:nvPr/>
          </p:nvCxnSpPr>
          <p:spPr>
            <a:xfrm>
              <a:off x="4237" y="1549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91" name="Google Shape;291;p10"/>
            <p:cNvCxnSpPr>
              <a:stCxn id="284" idx="0"/>
              <a:endCxn id="289" idx="4"/>
            </p:cNvCxnSpPr>
            <p:nvPr/>
          </p:nvCxnSpPr>
          <p:spPr>
            <a:xfrm flipH="1" rot="10800000">
              <a:off x="4392" y="2052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pic>
        <p:nvPicPr>
          <p:cNvPr id="292" name="Google Shape;29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23418" y="0"/>
            <a:ext cx="1468582" cy="572655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20-08-2023</a:t>
            </a:r>
            <a:endParaRPr/>
          </a:p>
        </p:txBody>
      </p:sp>
      <p:sp>
        <p:nvSpPr>
          <p:cNvPr id="294" name="Google Shape;294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Dr K Deepa Thilak, Asso Prof, NWC</a:t>
            </a:r>
            <a:endParaRPr/>
          </a:p>
        </p:txBody>
      </p:sp>
      <p:sp>
        <p:nvSpPr>
          <p:cNvPr id="295" name="Google Shape;295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1"/>
          <p:cNvSpPr txBox="1"/>
          <p:nvPr>
            <p:ph type="title"/>
          </p:nvPr>
        </p:nvSpPr>
        <p:spPr>
          <a:xfrm>
            <a:off x="838200" y="1143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Topo sort: Algorithm 1(C Implementation)</a:t>
            </a:r>
            <a:endParaRPr/>
          </a:p>
        </p:txBody>
      </p:sp>
      <p:sp>
        <p:nvSpPr>
          <p:cNvPr id="301" name="Google Shape;301;p11"/>
          <p:cNvSpPr txBox="1"/>
          <p:nvPr>
            <p:ph idx="1" type="body"/>
          </p:nvPr>
        </p:nvSpPr>
        <p:spPr>
          <a:xfrm>
            <a:off x="872332" y="1181100"/>
            <a:ext cx="5603875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2857"/>
              <a:buNone/>
            </a:pPr>
            <a:r>
              <a:rPr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topsort( graph G )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2857"/>
              <a:buNone/>
            </a:pPr>
            <a:r>
              <a:rPr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2857"/>
              <a:buNone/>
            </a:pPr>
            <a:r>
              <a:rPr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unsigned int counter;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2857"/>
              <a:buNone/>
            </a:pPr>
            <a:r>
              <a:rPr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vertex v, w;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2857"/>
              <a:buNone/>
            </a:pPr>
            <a:r>
              <a:rPr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for( counter = 0; counter &lt; NUM_VERTEX; counter++ )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2857"/>
              <a:buNone/>
            </a:pPr>
            <a:r>
              <a:rPr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2857"/>
              <a:buNone/>
            </a:pPr>
            <a:r>
              <a:rPr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 = find_new_vertex_of_indegree_zero( );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2857"/>
              <a:buNone/>
            </a:pPr>
            <a:r>
              <a:rPr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if( v = NOT_A_VERTEX )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2857"/>
              <a:buNone/>
            </a:pPr>
            <a:r>
              <a:rPr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2857"/>
              <a:buNone/>
            </a:pPr>
            <a:r>
              <a:rPr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error("Graph has a cycle");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2857"/>
              <a:buNone/>
            </a:pPr>
            <a:r>
              <a:rPr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break;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2857"/>
              <a:buNone/>
            </a:pPr>
            <a:r>
              <a:rPr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2857"/>
              <a:buNone/>
            </a:pPr>
            <a:r>
              <a:rPr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top_num[v] = counter;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2857"/>
              <a:buNone/>
            </a:pPr>
            <a:r>
              <a:rPr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each w adjacent to v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2857"/>
              <a:buNone/>
            </a:pPr>
            <a:r>
              <a:rPr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indegree[w]--;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2857"/>
              <a:buNone/>
            </a:pPr>
            <a:r>
              <a:rPr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2857"/>
              <a:buNone/>
            </a:pPr>
            <a:r>
              <a:rPr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grpSp>
        <p:nvGrpSpPr>
          <p:cNvPr id="302" name="Google Shape;302;p11"/>
          <p:cNvGrpSpPr/>
          <p:nvPr/>
        </p:nvGrpSpPr>
        <p:grpSpPr>
          <a:xfrm>
            <a:off x="7010400" y="3505200"/>
            <a:ext cx="3124200" cy="2590800"/>
            <a:chOff x="3456" y="1344"/>
            <a:chExt cx="1968" cy="1632"/>
          </a:xfrm>
        </p:grpSpPr>
        <p:sp>
          <p:nvSpPr>
            <p:cNvPr id="303" name="Google Shape;303;p11"/>
            <p:cNvSpPr/>
            <p:nvPr/>
          </p:nvSpPr>
          <p:spPr>
            <a:xfrm>
              <a:off x="4032" y="1344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04" name="Google Shape;304;p11"/>
            <p:cNvCxnSpPr>
              <a:stCxn id="305" idx="7"/>
              <a:endCxn id="303" idx="3"/>
            </p:cNvCxnSpPr>
            <p:nvPr/>
          </p:nvCxnSpPr>
          <p:spPr>
            <a:xfrm flipH="1" rot="10800000">
              <a:off x="3661" y="1559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06" name="Google Shape;306;p11"/>
            <p:cNvSpPr/>
            <p:nvPr/>
          </p:nvSpPr>
          <p:spPr>
            <a:xfrm>
              <a:off x="3648" y="2736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11"/>
            <p:cNvSpPr/>
            <p:nvPr/>
          </p:nvSpPr>
          <p:spPr>
            <a:xfrm>
              <a:off x="5184" y="1632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308;p11"/>
            <p:cNvSpPr/>
            <p:nvPr/>
          </p:nvSpPr>
          <p:spPr>
            <a:xfrm>
              <a:off x="4272" y="2352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11"/>
            <p:cNvSpPr/>
            <p:nvPr/>
          </p:nvSpPr>
          <p:spPr>
            <a:xfrm>
              <a:off x="3456" y="1824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09" name="Google Shape;309;p11"/>
            <p:cNvCxnSpPr>
              <a:stCxn id="303" idx="6"/>
              <a:endCxn id="307" idx="2"/>
            </p:cNvCxnSpPr>
            <p:nvPr/>
          </p:nvCxnSpPr>
          <p:spPr>
            <a:xfrm>
              <a:off x="4272" y="1464"/>
              <a:ext cx="9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10" name="Google Shape;310;p11"/>
            <p:cNvCxnSpPr>
              <a:stCxn id="305" idx="5"/>
              <a:endCxn id="308" idx="2"/>
            </p:cNvCxnSpPr>
            <p:nvPr/>
          </p:nvCxnSpPr>
          <p:spPr>
            <a:xfrm>
              <a:off x="3661" y="2029"/>
              <a:ext cx="6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11" name="Google Shape;311;p11"/>
            <p:cNvCxnSpPr>
              <a:stCxn id="308" idx="7"/>
              <a:endCxn id="307" idx="3"/>
            </p:cNvCxnSpPr>
            <p:nvPr/>
          </p:nvCxnSpPr>
          <p:spPr>
            <a:xfrm flipH="1" rot="10800000">
              <a:off x="4477" y="1787"/>
              <a:ext cx="600" cy="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12" name="Google Shape;312;p11"/>
            <p:cNvCxnSpPr>
              <a:stCxn id="306" idx="6"/>
              <a:endCxn id="308" idx="3"/>
            </p:cNvCxnSpPr>
            <p:nvPr/>
          </p:nvCxnSpPr>
          <p:spPr>
            <a:xfrm flipH="1" rot="10800000">
              <a:off x="3888" y="2556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13" name="Google Shape;313;p11"/>
            <p:cNvSpPr/>
            <p:nvPr/>
          </p:nvSpPr>
          <p:spPr>
            <a:xfrm>
              <a:off x="4464" y="1776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14" name="Google Shape;314;p11"/>
            <p:cNvCxnSpPr>
              <a:stCxn id="303" idx="5"/>
              <a:endCxn id="313" idx="1"/>
            </p:cNvCxnSpPr>
            <p:nvPr/>
          </p:nvCxnSpPr>
          <p:spPr>
            <a:xfrm>
              <a:off x="4237" y="1549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15" name="Google Shape;315;p11"/>
            <p:cNvCxnSpPr>
              <a:stCxn id="308" idx="0"/>
              <a:endCxn id="313" idx="4"/>
            </p:cNvCxnSpPr>
            <p:nvPr/>
          </p:nvCxnSpPr>
          <p:spPr>
            <a:xfrm flipH="1" rot="10800000">
              <a:off x="4392" y="2052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pic>
        <p:nvPicPr>
          <p:cNvPr id="316" name="Google Shape;31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23418" y="0"/>
            <a:ext cx="1468582" cy="572655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20-08-2023</a:t>
            </a:r>
            <a:endParaRPr/>
          </a:p>
        </p:txBody>
      </p:sp>
      <p:sp>
        <p:nvSpPr>
          <p:cNvPr id="318" name="Google Shape;31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Dr K Deepa Thilak, Asso Prof, NWC</a:t>
            </a:r>
            <a:endParaRPr/>
          </a:p>
        </p:txBody>
      </p:sp>
      <p:sp>
        <p:nvSpPr>
          <p:cNvPr id="319" name="Google Shape;31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Topo sort: Algorithm 1 Complexity Ananlysis</a:t>
            </a:r>
            <a:endParaRPr/>
          </a:p>
        </p:txBody>
      </p:sp>
      <p:sp>
        <p:nvSpPr>
          <p:cNvPr id="325" name="Google Shape;325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For each vertex check neighboring vertices indegree, each call to it takes O(|V|) time.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Since there are |V| such calls, the running time of the algorithm is O(|V| 2 )</a:t>
            </a:r>
            <a:endParaRPr/>
          </a:p>
        </p:txBody>
      </p:sp>
      <p:sp>
        <p:nvSpPr>
          <p:cNvPr id="326" name="Google Shape;3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20-08-2023</a:t>
            </a:r>
            <a:endParaRPr/>
          </a:p>
        </p:txBody>
      </p:sp>
      <p:sp>
        <p:nvSpPr>
          <p:cNvPr id="327" name="Google Shape;3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Dr K Deepa Thilak, Asso Prof, NWC</a:t>
            </a:r>
            <a:endParaRPr/>
          </a:p>
        </p:txBody>
      </p:sp>
      <p:sp>
        <p:nvSpPr>
          <p:cNvPr id="328" name="Google Shape;3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3"/>
          <p:cNvSpPr txBox="1"/>
          <p:nvPr>
            <p:ph type="title"/>
          </p:nvPr>
        </p:nvSpPr>
        <p:spPr>
          <a:xfrm>
            <a:off x="838200" y="4152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Ordering a graph</a:t>
            </a:r>
            <a:endParaRPr/>
          </a:p>
        </p:txBody>
      </p:sp>
      <p:sp>
        <p:nvSpPr>
          <p:cNvPr id="334" name="Google Shape;334;p13"/>
          <p:cNvSpPr txBox="1"/>
          <p:nvPr>
            <p:ph idx="1" type="body"/>
          </p:nvPr>
        </p:nvSpPr>
        <p:spPr>
          <a:xfrm>
            <a:off x="403123" y="1295399"/>
            <a:ext cx="10950677" cy="29400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Suppose we have a directed acyclic graph (DAG) of courses, and we want to find an order in which the courses can be taken.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lang="en-US" sz="18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Must take all prereqs before you can take a given course.  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lang="en-US" sz="18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[142, 143, 140, 154, 341, 374, 331, 403, 311, 332, 344,</a:t>
            </a:r>
            <a:b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312, 351, 333, 352, 373, 414, 410, 417, 413, 415]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There might be more than one allowable ordering.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lang="en-US" sz="18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can we find a valid ordering of the vertices?</a:t>
            </a:r>
            <a:endParaRPr/>
          </a:p>
          <a:p>
            <a: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b="1"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1: 				Case 2: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35" name="Google Shape;335;p13"/>
          <p:cNvGrpSpPr/>
          <p:nvPr/>
        </p:nvGrpSpPr>
        <p:grpSpPr>
          <a:xfrm>
            <a:off x="4655127" y="4221819"/>
            <a:ext cx="6802582" cy="2220952"/>
            <a:chOff x="384" y="2448"/>
            <a:chExt cx="5232" cy="1632"/>
          </a:xfrm>
        </p:grpSpPr>
        <p:sp>
          <p:nvSpPr>
            <p:cNvPr id="336" name="Google Shape;336;p13"/>
            <p:cNvSpPr/>
            <p:nvPr/>
          </p:nvSpPr>
          <p:spPr>
            <a:xfrm>
              <a:off x="1920" y="3696"/>
              <a:ext cx="48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Calibri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142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37" name="Google Shape;337;p13"/>
            <p:cNvCxnSpPr>
              <a:stCxn id="336" idx="0"/>
            </p:cNvCxnSpPr>
            <p:nvPr/>
          </p:nvCxnSpPr>
          <p:spPr>
            <a:xfrm flipH="1" rot="10800000">
              <a:off x="2160" y="3096"/>
              <a:ext cx="300" cy="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38" name="Google Shape;338;p13"/>
            <p:cNvSpPr/>
            <p:nvPr/>
          </p:nvSpPr>
          <p:spPr>
            <a:xfrm>
              <a:off x="2304" y="2784"/>
              <a:ext cx="48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Calibri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143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13"/>
            <p:cNvSpPr/>
            <p:nvPr/>
          </p:nvSpPr>
          <p:spPr>
            <a:xfrm>
              <a:off x="3456" y="3840"/>
              <a:ext cx="48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Calibri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154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13"/>
            <p:cNvSpPr/>
            <p:nvPr/>
          </p:nvSpPr>
          <p:spPr>
            <a:xfrm>
              <a:off x="3168" y="3408"/>
              <a:ext cx="48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Calibri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140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13"/>
            <p:cNvSpPr/>
            <p:nvPr/>
          </p:nvSpPr>
          <p:spPr>
            <a:xfrm>
              <a:off x="1104" y="2544"/>
              <a:ext cx="48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Calibri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311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13"/>
            <p:cNvSpPr/>
            <p:nvPr/>
          </p:nvSpPr>
          <p:spPr>
            <a:xfrm>
              <a:off x="384" y="3024"/>
              <a:ext cx="48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Calibri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312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13"/>
            <p:cNvSpPr/>
            <p:nvPr/>
          </p:nvSpPr>
          <p:spPr>
            <a:xfrm>
              <a:off x="1536" y="3312"/>
              <a:ext cx="48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Calibri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331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13"/>
            <p:cNvSpPr/>
            <p:nvPr/>
          </p:nvSpPr>
          <p:spPr>
            <a:xfrm>
              <a:off x="3312" y="2832"/>
              <a:ext cx="48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Calibri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351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13"/>
            <p:cNvSpPr/>
            <p:nvPr/>
          </p:nvSpPr>
          <p:spPr>
            <a:xfrm>
              <a:off x="3744" y="3264"/>
              <a:ext cx="48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Calibri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333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13"/>
            <p:cNvSpPr/>
            <p:nvPr/>
          </p:nvSpPr>
          <p:spPr>
            <a:xfrm>
              <a:off x="2496" y="3408"/>
              <a:ext cx="48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Calibri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341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" name="Google Shape;347;p13"/>
            <p:cNvSpPr/>
            <p:nvPr/>
          </p:nvSpPr>
          <p:spPr>
            <a:xfrm>
              <a:off x="960" y="3072"/>
              <a:ext cx="48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Calibri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344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" name="Google Shape;348;p13"/>
            <p:cNvSpPr/>
            <p:nvPr/>
          </p:nvSpPr>
          <p:spPr>
            <a:xfrm>
              <a:off x="1200" y="3744"/>
              <a:ext cx="48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Calibri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403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13"/>
            <p:cNvSpPr/>
            <p:nvPr/>
          </p:nvSpPr>
          <p:spPr>
            <a:xfrm>
              <a:off x="4032" y="2832"/>
              <a:ext cx="48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Calibri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352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13"/>
            <p:cNvSpPr/>
            <p:nvPr/>
          </p:nvSpPr>
          <p:spPr>
            <a:xfrm>
              <a:off x="4464" y="2544"/>
              <a:ext cx="48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Calibri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373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13"/>
            <p:cNvSpPr/>
            <p:nvPr/>
          </p:nvSpPr>
          <p:spPr>
            <a:xfrm>
              <a:off x="4272" y="3552"/>
              <a:ext cx="48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Calibri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410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52" name="Google Shape;352;p13"/>
            <p:cNvCxnSpPr>
              <a:stCxn id="336" idx="6"/>
              <a:endCxn id="339" idx="2"/>
            </p:cNvCxnSpPr>
            <p:nvPr/>
          </p:nvCxnSpPr>
          <p:spPr>
            <a:xfrm>
              <a:off x="2400" y="3816"/>
              <a:ext cx="12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53" name="Google Shape;353;p13"/>
            <p:cNvCxnSpPr>
              <a:stCxn id="340" idx="1"/>
              <a:endCxn id="338" idx="5"/>
            </p:cNvCxnSpPr>
            <p:nvPr/>
          </p:nvCxnSpPr>
          <p:spPr>
            <a:xfrm rot="10800000">
              <a:off x="2638" y="2843"/>
              <a:ext cx="600" cy="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54" name="Google Shape;354;p13"/>
            <p:cNvCxnSpPr>
              <a:stCxn id="340" idx="4"/>
              <a:endCxn id="339" idx="1"/>
            </p:cNvCxnSpPr>
            <p:nvPr/>
          </p:nvCxnSpPr>
          <p:spPr>
            <a:xfrm>
              <a:off x="3408" y="3648"/>
              <a:ext cx="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55" name="Google Shape;355;p13"/>
            <p:cNvCxnSpPr>
              <a:stCxn id="341" idx="4"/>
              <a:endCxn id="342" idx="7"/>
            </p:cNvCxnSpPr>
            <p:nvPr/>
          </p:nvCxnSpPr>
          <p:spPr>
            <a:xfrm flipH="1">
              <a:off x="744" y="2784"/>
              <a:ext cx="6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56" name="Google Shape;356;p13"/>
            <p:cNvSpPr/>
            <p:nvPr/>
          </p:nvSpPr>
          <p:spPr>
            <a:xfrm>
              <a:off x="1488" y="2928"/>
              <a:ext cx="48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Calibri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332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57" name="Google Shape;357;p13"/>
            <p:cNvCxnSpPr>
              <a:stCxn id="338" idx="1"/>
              <a:endCxn id="341" idx="6"/>
            </p:cNvCxnSpPr>
            <p:nvPr/>
          </p:nvCxnSpPr>
          <p:spPr>
            <a:xfrm rot="10800000">
              <a:off x="1474" y="2519"/>
              <a:ext cx="9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58" name="Google Shape;358;p13"/>
            <p:cNvCxnSpPr>
              <a:stCxn id="338" idx="3"/>
              <a:endCxn id="343" idx="0"/>
            </p:cNvCxnSpPr>
            <p:nvPr/>
          </p:nvCxnSpPr>
          <p:spPr>
            <a:xfrm flipH="1">
              <a:off x="1774" y="2989"/>
              <a:ext cx="6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59" name="Google Shape;359;p13"/>
            <p:cNvCxnSpPr>
              <a:stCxn id="338" idx="2"/>
              <a:endCxn id="356" idx="7"/>
            </p:cNvCxnSpPr>
            <p:nvPr/>
          </p:nvCxnSpPr>
          <p:spPr>
            <a:xfrm rot="10800000">
              <a:off x="2004" y="2904"/>
              <a:ext cx="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60" name="Google Shape;360;p13"/>
            <p:cNvCxnSpPr>
              <a:stCxn id="338" idx="4"/>
              <a:endCxn id="346" idx="0"/>
            </p:cNvCxnSpPr>
            <p:nvPr/>
          </p:nvCxnSpPr>
          <p:spPr>
            <a:xfrm>
              <a:off x="2544" y="3024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61" name="Google Shape;361;p13"/>
            <p:cNvCxnSpPr>
              <a:endCxn id="344" idx="2"/>
            </p:cNvCxnSpPr>
            <p:nvPr/>
          </p:nvCxnSpPr>
          <p:spPr>
            <a:xfrm>
              <a:off x="2712" y="2952"/>
              <a:ext cx="6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62" name="Google Shape;362;p13"/>
            <p:cNvCxnSpPr>
              <a:stCxn id="338" idx="6"/>
              <a:endCxn id="350" idx="2"/>
            </p:cNvCxnSpPr>
            <p:nvPr/>
          </p:nvCxnSpPr>
          <p:spPr>
            <a:xfrm flipH="1" rot="10800000">
              <a:off x="2784" y="2604"/>
              <a:ext cx="18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63" name="Google Shape;363;p13"/>
            <p:cNvCxnSpPr>
              <a:stCxn id="341" idx="4"/>
              <a:endCxn id="347" idx="0"/>
            </p:cNvCxnSpPr>
            <p:nvPr/>
          </p:nvCxnSpPr>
          <p:spPr>
            <a:xfrm>
              <a:off x="1344" y="2784"/>
              <a:ext cx="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64" name="Google Shape;364;p13"/>
            <p:cNvCxnSpPr>
              <a:stCxn id="343" idx="3"/>
              <a:endCxn id="348" idx="0"/>
            </p:cNvCxnSpPr>
            <p:nvPr/>
          </p:nvCxnSpPr>
          <p:spPr>
            <a:xfrm flipH="1">
              <a:off x="1306" y="3517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65" name="Google Shape;365;p13"/>
            <p:cNvCxnSpPr>
              <a:stCxn id="344" idx="6"/>
              <a:endCxn id="349" idx="2"/>
            </p:cNvCxnSpPr>
            <p:nvPr/>
          </p:nvCxnSpPr>
          <p:spPr>
            <a:xfrm>
              <a:off x="3792" y="2952"/>
              <a:ext cx="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66" name="Google Shape;366;p13"/>
            <p:cNvCxnSpPr>
              <a:stCxn id="344" idx="4"/>
              <a:endCxn id="345" idx="1"/>
            </p:cNvCxnSpPr>
            <p:nvPr/>
          </p:nvCxnSpPr>
          <p:spPr>
            <a:xfrm>
              <a:off x="3552" y="3072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67" name="Google Shape;367;p13"/>
            <p:cNvSpPr/>
            <p:nvPr/>
          </p:nvSpPr>
          <p:spPr>
            <a:xfrm>
              <a:off x="2976" y="2448"/>
              <a:ext cx="48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Calibri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374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68" name="Google Shape;368;p13"/>
            <p:cNvCxnSpPr>
              <a:stCxn id="338" idx="7"/>
              <a:endCxn id="367" idx="2"/>
            </p:cNvCxnSpPr>
            <p:nvPr/>
          </p:nvCxnSpPr>
          <p:spPr>
            <a:xfrm flipH="1" rot="10800000">
              <a:off x="2714" y="2519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69" name="Google Shape;369;p13"/>
            <p:cNvSpPr/>
            <p:nvPr/>
          </p:nvSpPr>
          <p:spPr>
            <a:xfrm>
              <a:off x="4608" y="3840"/>
              <a:ext cx="48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Calibri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415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13"/>
            <p:cNvSpPr/>
            <p:nvPr/>
          </p:nvSpPr>
          <p:spPr>
            <a:xfrm>
              <a:off x="4944" y="3456"/>
              <a:ext cx="48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Calibri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413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13"/>
            <p:cNvSpPr/>
            <p:nvPr/>
          </p:nvSpPr>
          <p:spPr>
            <a:xfrm>
              <a:off x="5136" y="3120"/>
              <a:ext cx="48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Calibri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417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13"/>
            <p:cNvSpPr/>
            <p:nvPr/>
          </p:nvSpPr>
          <p:spPr>
            <a:xfrm>
              <a:off x="5136" y="2496"/>
              <a:ext cx="48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Calibri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414</a:t>
              </a:r>
              <a:endPara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73" name="Google Shape;373;p13"/>
            <p:cNvCxnSpPr>
              <a:stCxn id="350" idx="4"/>
              <a:endCxn id="351" idx="0"/>
            </p:cNvCxnSpPr>
            <p:nvPr/>
          </p:nvCxnSpPr>
          <p:spPr>
            <a:xfrm flipH="1">
              <a:off x="4404" y="2784"/>
              <a:ext cx="300" cy="9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74" name="Google Shape;374;p13"/>
            <p:cNvCxnSpPr>
              <a:stCxn id="350" idx="4"/>
              <a:endCxn id="369" idx="0"/>
            </p:cNvCxnSpPr>
            <p:nvPr/>
          </p:nvCxnSpPr>
          <p:spPr>
            <a:xfrm>
              <a:off x="4704" y="2784"/>
              <a:ext cx="0" cy="1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75" name="Google Shape;375;p13"/>
            <p:cNvCxnSpPr>
              <a:stCxn id="350" idx="4"/>
              <a:endCxn id="370" idx="1"/>
            </p:cNvCxnSpPr>
            <p:nvPr/>
          </p:nvCxnSpPr>
          <p:spPr>
            <a:xfrm>
              <a:off x="4704" y="2784"/>
              <a:ext cx="300" cy="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76" name="Google Shape;376;p13"/>
            <p:cNvCxnSpPr>
              <a:stCxn id="350" idx="6"/>
              <a:endCxn id="372" idx="2"/>
            </p:cNvCxnSpPr>
            <p:nvPr/>
          </p:nvCxnSpPr>
          <p:spPr>
            <a:xfrm>
              <a:off x="4944" y="2664"/>
              <a:ext cx="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77" name="Google Shape;377;p13"/>
            <p:cNvCxnSpPr>
              <a:stCxn id="350" idx="5"/>
              <a:endCxn id="371" idx="1"/>
            </p:cNvCxnSpPr>
            <p:nvPr/>
          </p:nvCxnSpPr>
          <p:spPr>
            <a:xfrm>
              <a:off x="4874" y="2749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78" name="Google Shape;378;p13"/>
            <p:cNvCxnSpPr>
              <a:stCxn id="341" idx="4"/>
              <a:endCxn id="356" idx="1"/>
            </p:cNvCxnSpPr>
            <p:nvPr/>
          </p:nvCxnSpPr>
          <p:spPr>
            <a:xfrm>
              <a:off x="1344" y="2784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pic>
        <p:nvPicPr>
          <p:cNvPr id="379" name="Google Shape;37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23418" y="-27709"/>
            <a:ext cx="1468582" cy="572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78615" y="4334175"/>
            <a:ext cx="2538482" cy="2052391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20-08-2023</a:t>
            </a:r>
            <a:endParaRPr/>
          </a:p>
        </p:txBody>
      </p:sp>
      <p:sp>
        <p:nvSpPr>
          <p:cNvPr id="382" name="Google Shape;38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Dr K Deepa Thilak, Asso Prof, NWC</a:t>
            </a:r>
            <a:endParaRPr/>
          </a:p>
        </p:txBody>
      </p:sp>
      <p:sp>
        <p:nvSpPr>
          <p:cNvPr id="383" name="Google Shape;38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4"/>
          <p:cNvSpPr txBox="1"/>
          <p:nvPr>
            <p:ph type="title"/>
          </p:nvPr>
        </p:nvSpPr>
        <p:spPr>
          <a:xfrm>
            <a:off x="838200" y="1735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Topological Sort</a:t>
            </a:r>
            <a:endParaRPr/>
          </a:p>
        </p:txBody>
      </p:sp>
      <p:sp>
        <p:nvSpPr>
          <p:cNvPr id="389" name="Google Shape;389;p14"/>
          <p:cNvSpPr txBox="1"/>
          <p:nvPr>
            <p:ph idx="1" type="body"/>
          </p:nvPr>
        </p:nvSpPr>
        <p:spPr>
          <a:xfrm>
            <a:off x="628073" y="1123025"/>
            <a:ext cx="10963563" cy="52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topological sort:</a:t>
            </a:r>
            <a:r>
              <a:rPr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Given a digraph </a:t>
            </a:r>
            <a:r>
              <a:rPr i="1"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(</a:t>
            </a:r>
            <a:r>
              <a:rPr i="1"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 a total ordering of </a:t>
            </a:r>
            <a:r>
              <a:rPr i="1"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's vertices such that for every edge (</a:t>
            </a:r>
            <a:r>
              <a:rPr i="1"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in </a:t>
            </a:r>
            <a:r>
              <a:rPr i="1"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vertex </a:t>
            </a:r>
            <a:r>
              <a:rPr i="1"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precedes </a:t>
            </a:r>
            <a:r>
              <a:rPr i="1"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the ordering.  </a:t>
            </a:r>
            <a:endParaRPr/>
          </a:p>
          <a:p>
            <a:pPr indent="-3429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Examples:</a:t>
            </a:r>
            <a:endParaRPr/>
          </a:p>
          <a:p>
            <a:pPr indent="-342900" lvl="1" marL="9144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lang="en-US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determining the order to recalculate updated cells in a spreadsheet</a:t>
            </a:r>
            <a:endParaRPr/>
          </a:p>
          <a:p>
            <a:pPr indent="-342900" lvl="1" marL="9144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lang="en-US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finding an order to recompile files that have dependencies</a:t>
            </a:r>
            <a:endParaRPr/>
          </a:p>
          <a:p>
            <a:pPr indent="-342900" lvl="2" marL="13716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(any problem of finding an order to perform tasks with dependencies)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90" name="Google Shape;3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23418" y="-27709"/>
            <a:ext cx="1468582" cy="57265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1" name="Google Shape;391;p14"/>
          <p:cNvGrpSpPr/>
          <p:nvPr/>
        </p:nvGrpSpPr>
        <p:grpSpPr>
          <a:xfrm>
            <a:off x="1562100" y="4361124"/>
            <a:ext cx="8789555" cy="2032001"/>
            <a:chOff x="384" y="2448"/>
            <a:chExt cx="5232" cy="1632"/>
          </a:xfrm>
        </p:grpSpPr>
        <p:sp>
          <p:nvSpPr>
            <p:cNvPr id="392" name="Google Shape;392;p14"/>
            <p:cNvSpPr/>
            <p:nvPr/>
          </p:nvSpPr>
          <p:spPr>
            <a:xfrm>
              <a:off x="1920" y="3696"/>
              <a:ext cx="48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142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93" name="Google Shape;393;p14"/>
            <p:cNvCxnSpPr>
              <a:stCxn id="392" idx="0"/>
            </p:cNvCxnSpPr>
            <p:nvPr/>
          </p:nvCxnSpPr>
          <p:spPr>
            <a:xfrm flipH="1" rot="10800000">
              <a:off x="2160" y="3096"/>
              <a:ext cx="300" cy="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94" name="Google Shape;394;p14"/>
            <p:cNvSpPr/>
            <p:nvPr/>
          </p:nvSpPr>
          <p:spPr>
            <a:xfrm>
              <a:off x="2304" y="2784"/>
              <a:ext cx="48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143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" name="Google Shape;395;p14"/>
            <p:cNvSpPr/>
            <p:nvPr/>
          </p:nvSpPr>
          <p:spPr>
            <a:xfrm>
              <a:off x="3456" y="3840"/>
              <a:ext cx="48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154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" name="Google Shape;396;p14"/>
            <p:cNvSpPr/>
            <p:nvPr/>
          </p:nvSpPr>
          <p:spPr>
            <a:xfrm>
              <a:off x="3168" y="3408"/>
              <a:ext cx="48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140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" name="Google Shape;397;p14"/>
            <p:cNvSpPr/>
            <p:nvPr/>
          </p:nvSpPr>
          <p:spPr>
            <a:xfrm>
              <a:off x="1104" y="2544"/>
              <a:ext cx="48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311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p14"/>
            <p:cNvSpPr/>
            <p:nvPr/>
          </p:nvSpPr>
          <p:spPr>
            <a:xfrm>
              <a:off x="384" y="3024"/>
              <a:ext cx="48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312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" name="Google Shape;399;p14"/>
            <p:cNvSpPr/>
            <p:nvPr/>
          </p:nvSpPr>
          <p:spPr>
            <a:xfrm>
              <a:off x="1536" y="3312"/>
              <a:ext cx="48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331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14"/>
            <p:cNvSpPr/>
            <p:nvPr/>
          </p:nvSpPr>
          <p:spPr>
            <a:xfrm>
              <a:off x="3312" y="2832"/>
              <a:ext cx="48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351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" name="Google Shape;401;p14"/>
            <p:cNvSpPr/>
            <p:nvPr/>
          </p:nvSpPr>
          <p:spPr>
            <a:xfrm>
              <a:off x="3744" y="3264"/>
              <a:ext cx="48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333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" name="Google Shape;402;p14"/>
            <p:cNvSpPr/>
            <p:nvPr/>
          </p:nvSpPr>
          <p:spPr>
            <a:xfrm>
              <a:off x="2496" y="3408"/>
              <a:ext cx="48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341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" name="Google Shape;403;p14"/>
            <p:cNvSpPr/>
            <p:nvPr/>
          </p:nvSpPr>
          <p:spPr>
            <a:xfrm>
              <a:off x="960" y="3072"/>
              <a:ext cx="48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344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14"/>
            <p:cNvSpPr/>
            <p:nvPr/>
          </p:nvSpPr>
          <p:spPr>
            <a:xfrm>
              <a:off x="1200" y="3744"/>
              <a:ext cx="48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403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14"/>
            <p:cNvSpPr/>
            <p:nvPr/>
          </p:nvSpPr>
          <p:spPr>
            <a:xfrm>
              <a:off x="4032" y="2832"/>
              <a:ext cx="48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352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06;p14"/>
            <p:cNvSpPr/>
            <p:nvPr/>
          </p:nvSpPr>
          <p:spPr>
            <a:xfrm>
              <a:off x="4464" y="2544"/>
              <a:ext cx="48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373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407;p14"/>
            <p:cNvSpPr/>
            <p:nvPr/>
          </p:nvSpPr>
          <p:spPr>
            <a:xfrm>
              <a:off x="4272" y="3552"/>
              <a:ext cx="48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410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08" name="Google Shape;408;p14"/>
            <p:cNvCxnSpPr>
              <a:stCxn id="392" idx="6"/>
              <a:endCxn id="395" idx="2"/>
            </p:cNvCxnSpPr>
            <p:nvPr/>
          </p:nvCxnSpPr>
          <p:spPr>
            <a:xfrm>
              <a:off x="2400" y="3816"/>
              <a:ext cx="12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09" name="Google Shape;409;p14"/>
            <p:cNvCxnSpPr>
              <a:stCxn id="396" idx="1"/>
              <a:endCxn id="394" idx="5"/>
            </p:cNvCxnSpPr>
            <p:nvPr/>
          </p:nvCxnSpPr>
          <p:spPr>
            <a:xfrm rot="10800000">
              <a:off x="2638" y="2843"/>
              <a:ext cx="600" cy="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10" name="Google Shape;410;p14"/>
            <p:cNvCxnSpPr>
              <a:stCxn id="396" idx="4"/>
              <a:endCxn id="395" idx="1"/>
            </p:cNvCxnSpPr>
            <p:nvPr/>
          </p:nvCxnSpPr>
          <p:spPr>
            <a:xfrm>
              <a:off x="3408" y="3648"/>
              <a:ext cx="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11" name="Google Shape;411;p14"/>
            <p:cNvCxnSpPr>
              <a:stCxn id="397" idx="4"/>
              <a:endCxn id="398" idx="7"/>
            </p:cNvCxnSpPr>
            <p:nvPr/>
          </p:nvCxnSpPr>
          <p:spPr>
            <a:xfrm flipH="1">
              <a:off x="744" y="2784"/>
              <a:ext cx="6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12" name="Google Shape;412;p14"/>
            <p:cNvSpPr/>
            <p:nvPr/>
          </p:nvSpPr>
          <p:spPr>
            <a:xfrm>
              <a:off x="1488" y="2928"/>
              <a:ext cx="48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332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13" name="Google Shape;413;p14"/>
            <p:cNvCxnSpPr>
              <a:stCxn id="394" idx="1"/>
              <a:endCxn id="397" idx="6"/>
            </p:cNvCxnSpPr>
            <p:nvPr/>
          </p:nvCxnSpPr>
          <p:spPr>
            <a:xfrm rot="10800000">
              <a:off x="1474" y="2519"/>
              <a:ext cx="9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14" name="Google Shape;414;p14"/>
            <p:cNvCxnSpPr>
              <a:stCxn id="394" idx="3"/>
              <a:endCxn id="399" idx="0"/>
            </p:cNvCxnSpPr>
            <p:nvPr/>
          </p:nvCxnSpPr>
          <p:spPr>
            <a:xfrm flipH="1">
              <a:off x="1774" y="2989"/>
              <a:ext cx="6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15" name="Google Shape;415;p14"/>
            <p:cNvCxnSpPr>
              <a:stCxn id="394" idx="2"/>
              <a:endCxn id="412" idx="7"/>
            </p:cNvCxnSpPr>
            <p:nvPr/>
          </p:nvCxnSpPr>
          <p:spPr>
            <a:xfrm rot="10800000">
              <a:off x="2004" y="2904"/>
              <a:ext cx="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16" name="Google Shape;416;p14"/>
            <p:cNvCxnSpPr>
              <a:stCxn id="394" idx="4"/>
              <a:endCxn id="402" idx="0"/>
            </p:cNvCxnSpPr>
            <p:nvPr/>
          </p:nvCxnSpPr>
          <p:spPr>
            <a:xfrm>
              <a:off x="2544" y="3024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17" name="Google Shape;417;p14"/>
            <p:cNvCxnSpPr>
              <a:endCxn id="400" idx="2"/>
            </p:cNvCxnSpPr>
            <p:nvPr/>
          </p:nvCxnSpPr>
          <p:spPr>
            <a:xfrm>
              <a:off x="2712" y="2952"/>
              <a:ext cx="6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18" name="Google Shape;418;p14"/>
            <p:cNvCxnSpPr>
              <a:stCxn id="394" idx="6"/>
              <a:endCxn id="406" idx="2"/>
            </p:cNvCxnSpPr>
            <p:nvPr/>
          </p:nvCxnSpPr>
          <p:spPr>
            <a:xfrm flipH="1" rot="10800000">
              <a:off x="2784" y="2604"/>
              <a:ext cx="18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19" name="Google Shape;419;p14"/>
            <p:cNvCxnSpPr>
              <a:stCxn id="397" idx="4"/>
              <a:endCxn id="403" idx="0"/>
            </p:cNvCxnSpPr>
            <p:nvPr/>
          </p:nvCxnSpPr>
          <p:spPr>
            <a:xfrm>
              <a:off x="1344" y="2784"/>
              <a:ext cx="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20" name="Google Shape;420;p14"/>
            <p:cNvCxnSpPr>
              <a:stCxn id="399" idx="3"/>
              <a:endCxn id="404" idx="0"/>
            </p:cNvCxnSpPr>
            <p:nvPr/>
          </p:nvCxnSpPr>
          <p:spPr>
            <a:xfrm flipH="1">
              <a:off x="1306" y="3517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21" name="Google Shape;421;p14"/>
            <p:cNvCxnSpPr>
              <a:stCxn id="400" idx="6"/>
              <a:endCxn id="405" idx="2"/>
            </p:cNvCxnSpPr>
            <p:nvPr/>
          </p:nvCxnSpPr>
          <p:spPr>
            <a:xfrm>
              <a:off x="3792" y="2952"/>
              <a:ext cx="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22" name="Google Shape;422;p14"/>
            <p:cNvCxnSpPr>
              <a:stCxn id="400" idx="4"/>
              <a:endCxn id="401" idx="1"/>
            </p:cNvCxnSpPr>
            <p:nvPr/>
          </p:nvCxnSpPr>
          <p:spPr>
            <a:xfrm>
              <a:off x="3552" y="3072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23" name="Google Shape;423;p14"/>
            <p:cNvSpPr/>
            <p:nvPr/>
          </p:nvSpPr>
          <p:spPr>
            <a:xfrm>
              <a:off x="2976" y="2448"/>
              <a:ext cx="48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374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24" name="Google Shape;424;p14"/>
            <p:cNvCxnSpPr>
              <a:stCxn id="394" idx="7"/>
              <a:endCxn id="423" idx="2"/>
            </p:cNvCxnSpPr>
            <p:nvPr/>
          </p:nvCxnSpPr>
          <p:spPr>
            <a:xfrm flipH="1" rot="10800000">
              <a:off x="2714" y="2519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25" name="Google Shape;425;p14"/>
            <p:cNvSpPr/>
            <p:nvPr/>
          </p:nvSpPr>
          <p:spPr>
            <a:xfrm>
              <a:off x="4608" y="3840"/>
              <a:ext cx="48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415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14"/>
            <p:cNvSpPr/>
            <p:nvPr/>
          </p:nvSpPr>
          <p:spPr>
            <a:xfrm>
              <a:off x="4944" y="3456"/>
              <a:ext cx="48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413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14"/>
            <p:cNvSpPr/>
            <p:nvPr/>
          </p:nvSpPr>
          <p:spPr>
            <a:xfrm>
              <a:off x="5136" y="3120"/>
              <a:ext cx="48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417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14"/>
            <p:cNvSpPr/>
            <p:nvPr/>
          </p:nvSpPr>
          <p:spPr>
            <a:xfrm>
              <a:off x="5136" y="2496"/>
              <a:ext cx="48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414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29" name="Google Shape;429;p14"/>
            <p:cNvCxnSpPr>
              <a:stCxn id="406" idx="4"/>
              <a:endCxn id="407" idx="0"/>
            </p:cNvCxnSpPr>
            <p:nvPr/>
          </p:nvCxnSpPr>
          <p:spPr>
            <a:xfrm flipH="1">
              <a:off x="4404" y="2784"/>
              <a:ext cx="300" cy="9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30" name="Google Shape;430;p14"/>
            <p:cNvCxnSpPr>
              <a:stCxn id="406" idx="4"/>
              <a:endCxn id="425" idx="0"/>
            </p:cNvCxnSpPr>
            <p:nvPr/>
          </p:nvCxnSpPr>
          <p:spPr>
            <a:xfrm>
              <a:off x="4704" y="2784"/>
              <a:ext cx="0" cy="1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31" name="Google Shape;431;p14"/>
            <p:cNvCxnSpPr>
              <a:stCxn id="406" idx="4"/>
              <a:endCxn id="426" idx="1"/>
            </p:cNvCxnSpPr>
            <p:nvPr/>
          </p:nvCxnSpPr>
          <p:spPr>
            <a:xfrm>
              <a:off x="4704" y="2784"/>
              <a:ext cx="300" cy="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32" name="Google Shape;432;p14"/>
            <p:cNvCxnSpPr>
              <a:stCxn id="406" idx="6"/>
              <a:endCxn id="428" idx="2"/>
            </p:cNvCxnSpPr>
            <p:nvPr/>
          </p:nvCxnSpPr>
          <p:spPr>
            <a:xfrm>
              <a:off x="4944" y="2664"/>
              <a:ext cx="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33" name="Google Shape;433;p14"/>
            <p:cNvCxnSpPr>
              <a:stCxn id="406" idx="5"/>
              <a:endCxn id="427" idx="1"/>
            </p:cNvCxnSpPr>
            <p:nvPr/>
          </p:nvCxnSpPr>
          <p:spPr>
            <a:xfrm>
              <a:off x="4874" y="2749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34" name="Google Shape;434;p14"/>
            <p:cNvCxnSpPr>
              <a:stCxn id="397" idx="4"/>
              <a:endCxn id="412" idx="1"/>
            </p:cNvCxnSpPr>
            <p:nvPr/>
          </p:nvCxnSpPr>
          <p:spPr>
            <a:xfrm>
              <a:off x="1344" y="2784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435" name="Google Shape;435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20-08-2023</a:t>
            </a:r>
            <a:endParaRPr/>
          </a:p>
        </p:txBody>
      </p:sp>
      <p:sp>
        <p:nvSpPr>
          <p:cNvPr id="436" name="Google Shape;43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Dr K Deepa Thilak, Asso Prof, NWC</a:t>
            </a:r>
            <a:endParaRPr/>
          </a:p>
        </p:txBody>
      </p:sp>
      <p:sp>
        <p:nvSpPr>
          <p:cNvPr id="437" name="Google Shape;43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Revised algorithm</a:t>
            </a:r>
            <a:endParaRPr/>
          </a:p>
        </p:txBody>
      </p:sp>
      <p:sp>
        <p:nvSpPr>
          <p:cNvPr id="443" name="Google Shape;443;p15"/>
          <p:cNvSpPr txBox="1"/>
          <p:nvPr>
            <p:ph idx="1" type="body"/>
          </p:nvPr>
        </p:nvSpPr>
        <p:spPr>
          <a:xfrm>
            <a:off x="152400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don't want to literally delete vertices and edges from the graph while trying to topological sort it; so let's revise the algorithm:</a:t>
            </a:r>
            <a:endParaRPr/>
          </a:p>
          <a:p>
            <a: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20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i="1" lang="en-US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map </a:t>
            </a:r>
            <a:r>
              <a:rPr lang="en-US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:= {each vertex → its in-degree}.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i="1" lang="en-US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queue </a:t>
            </a:r>
            <a:r>
              <a:rPr lang="en-US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:= {all vertices with in-degree = 0}.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i="1" lang="en-US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ordering </a:t>
            </a:r>
            <a:r>
              <a:rPr lang="en-US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:= { }.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lang="en-US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Repeat until queue is empty: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Dequeue the first vertex </a:t>
            </a:r>
            <a:r>
              <a:rPr i="1" lang="en-US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from the queue.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i="1" lang="en-US">
                <a:latin typeface="Times New Roman"/>
                <a:ea typeface="Times New Roman"/>
                <a:cs typeface="Times New Roman"/>
                <a:sym typeface="Times New Roman"/>
              </a:rPr>
              <a:t>ordering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+= </a:t>
            </a:r>
            <a:r>
              <a:rPr i="1" lang="en-US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Decrease the in-degree of all </a:t>
            </a:r>
            <a:r>
              <a:rPr i="1" lang="en-US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's neighbors by 1 in the </a:t>
            </a:r>
            <a:r>
              <a:rPr i="1" lang="en-US">
                <a:latin typeface="Times New Roman"/>
                <a:ea typeface="Times New Roman"/>
                <a:cs typeface="Times New Roman"/>
                <a:sym typeface="Times New Roman"/>
              </a:rPr>
              <a:t>map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i="1" lang="en-US">
                <a:latin typeface="Times New Roman"/>
                <a:ea typeface="Times New Roman"/>
                <a:cs typeface="Times New Roman"/>
                <a:sym typeface="Times New Roman"/>
              </a:rPr>
              <a:t>queue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+= {any neighbors whose in-degree is now 0}.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lang="en-US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all vertices are processed, success.</a:t>
            </a:r>
            <a:br>
              <a:rPr lang="en-US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Otherwise, there is a cycle.</a:t>
            </a:r>
            <a:endParaRPr/>
          </a:p>
        </p:txBody>
      </p:sp>
      <p:pic>
        <p:nvPicPr>
          <p:cNvPr id="444" name="Google Shape;44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23418" y="-27709"/>
            <a:ext cx="1468582" cy="572655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20-08-2023</a:t>
            </a:r>
            <a:endParaRPr/>
          </a:p>
        </p:txBody>
      </p:sp>
      <p:sp>
        <p:nvSpPr>
          <p:cNvPr id="446" name="Google Shape;44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Dr K Deepa Thilak, Asso Prof, NWC</a:t>
            </a:r>
            <a:endParaRPr/>
          </a:p>
        </p:txBody>
      </p:sp>
      <p:sp>
        <p:nvSpPr>
          <p:cNvPr id="447" name="Google Shape;44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Topo sort example 2</a:t>
            </a:r>
            <a:endParaRPr/>
          </a:p>
        </p:txBody>
      </p:sp>
      <p:sp>
        <p:nvSpPr>
          <p:cNvPr id="453" name="Google Shape;453;p16"/>
          <p:cNvSpPr txBox="1"/>
          <p:nvPr>
            <p:ph idx="1" type="body"/>
          </p:nvPr>
        </p:nvSpPr>
        <p:spPr>
          <a:xfrm>
            <a:off x="152400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</a:pPr>
            <a:r>
              <a:rPr lang="en-US" sz="20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 topologicalSort():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</a:pPr>
            <a:r>
              <a:rPr i="1" lang="en-US"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map </a:t>
            </a:r>
            <a:r>
              <a:rPr lang="en-US"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:= {each vertex → its in-degree}.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</a:pPr>
            <a:r>
              <a:rPr i="1" lang="en-US"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queue </a:t>
            </a:r>
            <a:r>
              <a:rPr lang="en-US"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:= {all vertices with in-degree = 0}.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</a:pPr>
            <a:r>
              <a:rPr i="1" lang="en-US"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ordering </a:t>
            </a:r>
            <a:r>
              <a:rPr lang="en-US"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:= { }.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Repeat until queue is empty: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Dequeue the first vertex </a:t>
            </a:r>
            <a:r>
              <a:rPr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from the queue.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ordering 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+= </a:t>
            </a:r>
            <a:r>
              <a:rPr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Decrease the in-degree of all </a:t>
            </a:r>
            <a:r>
              <a:rPr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's</a:t>
            </a:r>
            <a:b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neighbors by 1 in the </a:t>
            </a:r>
            <a:r>
              <a:rPr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map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queue 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+= {any neighbors whose in-degree is now 0}.</a:t>
            </a:r>
            <a:endParaRPr/>
          </a:p>
          <a:p>
            <a: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00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map	:= { A=0, B=0, C=1, D=2, E=2, F=2 }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queue	:= { B, A }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ordering	:= { }</a:t>
            </a:r>
            <a:endParaRPr/>
          </a:p>
        </p:txBody>
      </p:sp>
      <p:grpSp>
        <p:nvGrpSpPr>
          <p:cNvPr id="454" name="Google Shape;454;p16"/>
          <p:cNvGrpSpPr/>
          <p:nvPr/>
        </p:nvGrpSpPr>
        <p:grpSpPr>
          <a:xfrm>
            <a:off x="7162800" y="1524000"/>
            <a:ext cx="3124200" cy="2590800"/>
            <a:chOff x="3456" y="1344"/>
            <a:chExt cx="1968" cy="1632"/>
          </a:xfrm>
        </p:grpSpPr>
        <p:sp>
          <p:nvSpPr>
            <p:cNvPr id="455" name="Google Shape;455;p16"/>
            <p:cNvSpPr/>
            <p:nvPr/>
          </p:nvSpPr>
          <p:spPr>
            <a:xfrm>
              <a:off x="4032" y="1344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56" name="Google Shape;456;p16"/>
            <p:cNvCxnSpPr>
              <a:stCxn id="457" idx="7"/>
              <a:endCxn id="455" idx="3"/>
            </p:cNvCxnSpPr>
            <p:nvPr/>
          </p:nvCxnSpPr>
          <p:spPr>
            <a:xfrm flipH="1" rot="10800000">
              <a:off x="3661" y="1559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58" name="Google Shape;458;p16"/>
            <p:cNvSpPr/>
            <p:nvPr/>
          </p:nvSpPr>
          <p:spPr>
            <a:xfrm>
              <a:off x="3648" y="2736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" name="Google Shape;459;p16"/>
            <p:cNvSpPr/>
            <p:nvPr/>
          </p:nvSpPr>
          <p:spPr>
            <a:xfrm>
              <a:off x="5184" y="1632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" name="Google Shape;460;p16"/>
            <p:cNvSpPr/>
            <p:nvPr/>
          </p:nvSpPr>
          <p:spPr>
            <a:xfrm>
              <a:off x="4272" y="2352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" name="Google Shape;457;p16"/>
            <p:cNvSpPr/>
            <p:nvPr/>
          </p:nvSpPr>
          <p:spPr>
            <a:xfrm>
              <a:off x="3456" y="1824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61" name="Google Shape;461;p16"/>
            <p:cNvCxnSpPr>
              <a:stCxn id="455" idx="6"/>
              <a:endCxn id="459" idx="2"/>
            </p:cNvCxnSpPr>
            <p:nvPr/>
          </p:nvCxnSpPr>
          <p:spPr>
            <a:xfrm>
              <a:off x="4272" y="1464"/>
              <a:ext cx="9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62" name="Google Shape;462;p16"/>
            <p:cNvCxnSpPr>
              <a:stCxn id="457" idx="5"/>
              <a:endCxn id="460" idx="2"/>
            </p:cNvCxnSpPr>
            <p:nvPr/>
          </p:nvCxnSpPr>
          <p:spPr>
            <a:xfrm>
              <a:off x="3661" y="2029"/>
              <a:ext cx="6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63" name="Google Shape;463;p16"/>
            <p:cNvCxnSpPr>
              <a:stCxn id="460" idx="7"/>
              <a:endCxn id="459" idx="3"/>
            </p:cNvCxnSpPr>
            <p:nvPr/>
          </p:nvCxnSpPr>
          <p:spPr>
            <a:xfrm flipH="1" rot="10800000">
              <a:off x="4477" y="1787"/>
              <a:ext cx="600" cy="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64" name="Google Shape;464;p16"/>
            <p:cNvCxnSpPr>
              <a:stCxn id="458" idx="6"/>
              <a:endCxn id="460" idx="3"/>
            </p:cNvCxnSpPr>
            <p:nvPr/>
          </p:nvCxnSpPr>
          <p:spPr>
            <a:xfrm flipH="1" rot="10800000">
              <a:off x="3888" y="2556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65" name="Google Shape;465;p16"/>
            <p:cNvSpPr/>
            <p:nvPr/>
          </p:nvSpPr>
          <p:spPr>
            <a:xfrm>
              <a:off x="4464" y="1776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66" name="Google Shape;466;p16"/>
            <p:cNvCxnSpPr>
              <a:stCxn id="455" idx="5"/>
              <a:endCxn id="465" idx="1"/>
            </p:cNvCxnSpPr>
            <p:nvPr/>
          </p:nvCxnSpPr>
          <p:spPr>
            <a:xfrm>
              <a:off x="4237" y="1549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67" name="Google Shape;467;p16"/>
            <p:cNvCxnSpPr>
              <a:stCxn id="460" idx="0"/>
              <a:endCxn id="465" idx="4"/>
            </p:cNvCxnSpPr>
            <p:nvPr/>
          </p:nvCxnSpPr>
          <p:spPr>
            <a:xfrm flipH="1" rot="10800000">
              <a:off x="4392" y="2052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pic>
        <p:nvPicPr>
          <p:cNvPr id="468" name="Google Shape;46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23418" y="-27709"/>
            <a:ext cx="1468582" cy="572655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20-08-2023</a:t>
            </a:r>
            <a:endParaRPr/>
          </a:p>
        </p:txBody>
      </p:sp>
      <p:sp>
        <p:nvSpPr>
          <p:cNvPr id="470" name="Google Shape;470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Dr K Deepa Thilak, Asso Prof, NWC</a:t>
            </a:r>
            <a:endParaRPr/>
          </a:p>
        </p:txBody>
      </p:sp>
      <p:sp>
        <p:nvSpPr>
          <p:cNvPr id="471" name="Google Shape;471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Topo sort example 2</a:t>
            </a:r>
            <a:endParaRPr/>
          </a:p>
        </p:txBody>
      </p:sp>
      <p:sp>
        <p:nvSpPr>
          <p:cNvPr id="477" name="Google Shape;477;p17"/>
          <p:cNvSpPr txBox="1"/>
          <p:nvPr>
            <p:ph idx="1" type="body"/>
          </p:nvPr>
        </p:nvSpPr>
        <p:spPr>
          <a:xfrm>
            <a:off x="152400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</a:pPr>
            <a:r>
              <a:rPr lang="en-US" sz="20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 topologicalSort():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i="1"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map </a:t>
            </a:r>
            <a:r>
              <a:rPr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:= {each vertex → its in-degree}.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i="1"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queue </a:t>
            </a:r>
            <a:r>
              <a:rPr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:= {all vertices with in-degree = 0}.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i="1"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ordering </a:t>
            </a:r>
            <a:r>
              <a:rPr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:= { }.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Repeat until queue is empty: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</a:pP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Dequeue the first vertex </a:t>
            </a:r>
            <a:r>
              <a:rPr i="1"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from the queue.   </a:t>
            </a:r>
            <a:r>
              <a:rPr lang="en-US" sz="1800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B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</a:pPr>
            <a:r>
              <a:rPr i="1"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ordering </a:t>
            </a: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+= </a:t>
            </a:r>
            <a:r>
              <a:rPr i="1"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</a:pP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Decrease the in-degree of all </a:t>
            </a:r>
            <a:r>
              <a:rPr i="1"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's   </a:t>
            </a:r>
            <a:r>
              <a:rPr lang="en-US" sz="1800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C, D</a:t>
            </a:r>
            <a:b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neighbors by 1 in the </a:t>
            </a:r>
            <a:r>
              <a:rPr i="1"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map</a:t>
            </a: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</a:pPr>
            <a:r>
              <a:rPr i="1"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queue </a:t>
            </a: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+= {any neighbors whose in-degree is now 0}.</a:t>
            </a:r>
            <a:endParaRPr/>
          </a:p>
          <a:p>
            <a: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0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map	:= { A=0, B=0, </a:t>
            </a:r>
            <a:r>
              <a:rPr b="1"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C=0</a:t>
            </a:r>
            <a:r>
              <a:rPr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D=1</a:t>
            </a:r>
            <a:r>
              <a:rPr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E=2, F=2 }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queue	:= { A, </a:t>
            </a:r>
            <a:r>
              <a:rPr b="1"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}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ordering	:= { </a:t>
            </a:r>
            <a:r>
              <a:rPr b="1"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}</a:t>
            </a:r>
            <a:endParaRPr/>
          </a:p>
        </p:txBody>
      </p:sp>
      <p:grpSp>
        <p:nvGrpSpPr>
          <p:cNvPr id="478" name="Google Shape;478;p17"/>
          <p:cNvGrpSpPr/>
          <p:nvPr/>
        </p:nvGrpSpPr>
        <p:grpSpPr>
          <a:xfrm>
            <a:off x="7162800" y="1524000"/>
            <a:ext cx="3124200" cy="2590800"/>
            <a:chOff x="3456" y="1344"/>
            <a:chExt cx="1968" cy="1632"/>
          </a:xfrm>
        </p:grpSpPr>
        <p:sp>
          <p:nvSpPr>
            <p:cNvPr id="479" name="Google Shape;479;p17"/>
            <p:cNvSpPr/>
            <p:nvPr/>
          </p:nvSpPr>
          <p:spPr>
            <a:xfrm>
              <a:off x="4032" y="1344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80" name="Google Shape;480;p17"/>
            <p:cNvCxnSpPr>
              <a:stCxn id="481" idx="7"/>
              <a:endCxn id="479" idx="3"/>
            </p:cNvCxnSpPr>
            <p:nvPr/>
          </p:nvCxnSpPr>
          <p:spPr>
            <a:xfrm flipH="1" rot="10800000">
              <a:off x="3661" y="1559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82" name="Google Shape;482;p17"/>
            <p:cNvSpPr/>
            <p:nvPr/>
          </p:nvSpPr>
          <p:spPr>
            <a:xfrm>
              <a:off x="3648" y="2736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" name="Google Shape;483;p17"/>
            <p:cNvSpPr/>
            <p:nvPr/>
          </p:nvSpPr>
          <p:spPr>
            <a:xfrm>
              <a:off x="5184" y="1632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" name="Google Shape;484;p17"/>
            <p:cNvSpPr/>
            <p:nvPr/>
          </p:nvSpPr>
          <p:spPr>
            <a:xfrm>
              <a:off x="4272" y="2352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" name="Google Shape;481;p17"/>
            <p:cNvSpPr/>
            <p:nvPr/>
          </p:nvSpPr>
          <p:spPr>
            <a:xfrm>
              <a:off x="3456" y="1824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2B2B2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B2B2B2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85" name="Google Shape;485;p17"/>
            <p:cNvCxnSpPr>
              <a:stCxn id="479" idx="6"/>
              <a:endCxn id="483" idx="2"/>
            </p:cNvCxnSpPr>
            <p:nvPr/>
          </p:nvCxnSpPr>
          <p:spPr>
            <a:xfrm>
              <a:off x="4272" y="1464"/>
              <a:ext cx="9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86" name="Google Shape;486;p17"/>
            <p:cNvCxnSpPr>
              <a:stCxn id="481" idx="5"/>
              <a:endCxn id="484" idx="2"/>
            </p:cNvCxnSpPr>
            <p:nvPr/>
          </p:nvCxnSpPr>
          <p:spPr>
            <a:xfrm>
              <a:off x="3661" y="2029"/>
              <a:ext cx="600" cy="300"/>
            </a:xfrm>
            <a:prstGeom prst="straightConnector1">
              <a:avLst/>
            </a:prstGeom>
            <a:noFill/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87" name="Google Shape;487;p17"/>
            <p:cNvCxnSpPr>
              <a:stCxn id="484" idx="7"/>
              <a:endCxn id="483" idx="3"/>
            </p:cNvCxnSpPr>
            <p:nvPr/>
          </p:nvCxnSpPr>
          <p:spPr>
            <a:xfrm flipH="1" rot="10800000">
              <a:off x="4477" y="1787"/>
              <a:ext cx="600" cy="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88" name="Google Shape;488;p17"/>
            <p:cNvCxnSpPr>
              <a:stCxn id="482" idx="6"/>
              <a:endCxn id="484" idx="3"/>
            </p:cNvCxnSpPr>
            <p:nvPr/>
          </p:nvCxnSpPr>
          <p:spPr>
            <a:xfrm flipH="1" rot="10800000">
              <a:off x="3888" y="2556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89" name="Google Shape;489;p17"/>
            <p:cNvSpPr/>
            <p:nvPr/>
          </p:nvSpPr>
          <p:spPr>
            <a:xfrm>
              <a:off x="4464" y="1776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90" name="Google Shape;490;p17"/>
            <p:cNvCxnSpPr>
              <a:stCxn id="479" idx="5"/>
              <a:endCxn id="489" idx="1"/>
            </p:cNvCxnSpPr>
            <p:nvPr/>
          </p:nvCxnSpPr>
          <p:spPr>
            <a:xfrm>
              <a:off x="4237" y="1549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91" name="Google Shape;491;p17"/>
            <p:cNvCxnSpPr>
              <a:stCxn id="484" idx="0"/>
              <a:endCxn id="489" idx="4"/>
            </p:cNvCxnSpPr>
            <p:nvPr/>
          </p:nvCxnSpPr>
          <p:spPr>
            <a:xfrm flipH="1" rot="10800000">
              <a:off x="4392" y="2052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pic>
        <p:nvPicPr>
          <p:cNvPr id="492" name="Google Shape;49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23418" y="-27709"/>
            <a:ext cx="1468582" cy="572655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20-08-2023</a:t>
            </a:r>
            <a:endParaRPr/>
          </a:p>
        </p:txBody>
      </p:sp>
      <p:sp>
        <p:nvSpPr>
          <p:cNvPr id="494" name="Google Shape;494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Dr K Deepa Thilak, Asso Prof, NWC</a:t>
            </a:r>
            <a:endParaRPr/>
          </a:p>
        </p:txBody>
      </p:sp>
      <p:sp>
        <p:nvSpPr>
          <p:cNvPr id="495" name="Google Shape;495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Topo sort example 2</a:t>
            </a:r>
            <a:endParaRPr/>
          </a:p>
        </p:txBody>
      </p:sp>
      <p:sp>
        <p:nvSpPr>
          <p:cNvPr id="501" name="Google Shape;501;p18"/>
          <p:cNvSpPr txBox="1"/>
          <p:nvPr>
            <p:ph idx="1" type="body"/>
          </p:nvPr>
        </p:nvSpPr>
        <p:spPr>
          <a:xfrm>
            <a:off x="152400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</a:pPr>
            <a:r>
              <a:rPr lang="en-US" sz="20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 topologicalSort():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i="1"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map </a:t>
            </a:r>
            <a:r>
              <a:rPr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:= {each vertex → its in-degree}.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i="1"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queue </a:t>
            </a:r>
            <a:r>
              <a:rPr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:= {all vertices with in-degree = 0}.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i="1"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ordering </a:t>
            </a:r>
            <a:r>
              <a:rPr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:= { }.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Repeat until queue is empty: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</a:pP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Dequeue the first vertex </a:t>
            </a:r>
            <a:r>
              <a:rPr i="1"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from the queue.   </a:t>
            </a:r>
            <a:r>
              <a:rPr lang="en-US" sz="1800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A</a:t>
            </a:r>
            <a:endParaRPr sz="18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</a:pPr>
            <a:r>
              <a:rPr i="1"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ordering </a:t>
            </a: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+= </a:t>
            </a:r>
            <a:r>
              <a:rPr i="1"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</a:pP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Decrease the in-degree of all </a:t>
            </a:r>
            <a:r>
              <a:rPr i="1"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's   </a:t>
            </a:r>
            <a:r>
              <a:rPr lang="en-US" sz="1800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D</a:t>
            </a:r>
            <a:b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neighbors by 1 in the </a:t>
            </a:r>
            <a:r>
              <a:rPr i="1"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map</a:t>
            </a: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</a:pPr>
            <a:r>
              <a:rPr i="1"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queue </a:t>
            </a: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+= {any neighbors whose in-degree is now 0}.</a:t>
            </a:r>
            <a:endParaRPr/>
          </a:p>
          <a:p>
            <a: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0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map	:= { A=0, B=0, C=0, </a:t>
            </a:r>
            <a:r>
              <a:rPr b="1"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D=0</a:t>
            </a:r>
            <a:r>
              <a:rPr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E=2, F=2 }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queue	:= { C, </a:t>
            </a:r>
            <a:r>
              <a:rPr b="1"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}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ordering	:= { B, </a:t>
            </a:r>
            <a:r>
              <a:rPr b="1"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}</a:t>
            </a:r>
            <a:endParaRPr/>
          </a:p>
        </p:txBody>
      </p:sp>
      <p:grpSp>
        <p:nvGrpSpPr>
          <p:cNvPr id="502" name="Google Shape;502;p18"/>
          <p:cNvGrpSpPr/>
          <p:nvPr/>
        </p:nvGrpSpPr>
        <p:grpSpPr>
          <a:xfrm>
            <a:off x="7162800" y="1524000"/>
            <a:ext cx="3124200" cy="2590800"/>
            <a:chOff x="3456" y="1344"/>
            <a:chExt cx="1968" cy="1632"/>
          </a:xfrm>
        </p:grpSpPr>
        <p:sp>
          <p:nvSpPr>
            <p:cNvPr id="503" name="Google Shape;503;p18"/>
            <p:cNvSpPr/>
            <p:nvPr/>
          </p:nvSpPr>
          <p:spPr>
            <a:xfrm>
              <a:off x="4032" y="1344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04" name="Google Shape;504;p18"/>
            <p:cNvCxnSpPr>
              <a:stCxn id="505" idx="7"/>
              <a:endCxn id="503" idx="3"/>
            </p:cNvCxnSpPr>
            <p:nvPr/>
          </p:nvCxnSpPr>
          <p:spPr>
            <a:xfrm flipH="1" rot="10800000">
              <a:off x="3661" y="1559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506" name="Google Shape;506;p18"/>
            <p:cNvSpPr/>
            <p:nvPr/>
          </p:nvSpPr>
          <p:spPr>
            <a:xfrm>
              <a:off x="3648" y="2736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2B2B2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B2B2B2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" name="Google Shape;507;p18"/>
            <p:cNvSpPr/>
            <p:nvPr/>
          </p:nvSpPr>
          <p:spPr>
            <a:xfrm>
              <a:off x="5184" y="1632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8" name="Google Shape;508;p18"/>
            <p:cNvSpPr/>
            <p:nvPr/>
          </p:nvSpPr>
          <p:spPr>
            <a:xfrm>
              <a:off x="4272" y="2352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" name="Google Shape;505;p18"/>
            <p:cNvSpPr/>
            <p:nvPr/>
          </p:nvSpPr>
          <p:spPr>
            <a:xfrm>
              <a:off x="3456" y="1824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2B2B2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B2B2B2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09" name="Google Shape;509;p18"/>
            <p:cNvCxnSpPr>
              <a:stCxn id="503" idx="6"/>
              <a:endCxn id="507" idx="2"/>
            </p:cNvCxnSpPr>
            <p:nvPr/>
          </p:nvCxnSpPr>
          <p:spPr>
            <a:xfrm>
              <a:off x="4272" y="1464"/>
              <a:ext cx="9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10" name="Google Shape;510;p18"/>
            <p:cNvCxnSpPr>
              <a:stCxn id="505" idx="5"/>
              <a:endCxn id="508" idx="2"/>
            </p:cNvCxnSpPr>
            <p:nvPr/>
          </p:nvCxnSpPr>
          <p:spPr>
            <a:xfrm>
              <a:off x="3661" y="2029"/>
              <a:ext cx="600" cy="300"/>
            </a:xfrm>
            <a:prstGeom prst="straightConnector1">
              <a:avLst/>
            </a:prstGeom>
            <a:noFill/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11" name="Google Shape;511;p18"/>
            <p:cNvCxnSpPr>
              <a:stCxn id="508" idx="7"/>
              <a:endCxn id="507" idx="3"/>
            </p:cNvCxnSpPr>
            <p:nvPr/>
          </p:nvCxnSpPr>
          <p:spPr>
            <a:xfrm flipH="1" rot="10800000">
              <a:off x="4477" y="1787"/>
              <a:ext cx="600" cy="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12" name="Google Shape;512;p18"/>
            <p:cNvCxnSpPr>
              <a:stCxn id="506" idx="6"/>
              <a:endCxn id="508" idx="3"/>
            </p:cNvCxnSpPr>
            <p:nvPr/>
          </p:nvCxnSpPr>
          <p:spPr>
            <a:xfrm flipH="1" rot="10800000">
              <a:off x="3888" y="2556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513" name="Google Shape;513;p18"/>
            <p:cNvSpPr/>
            <p:nvPr/>
          </p:nvSpPr>
          <p:spPr>
            <a:xfrm>
              <a:off x="4464" y="1776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14" name="Google Shape;514;p18"/>
            <p:cNvCxnSpPr>
              <a:stCxn id="503" idx="5"/>
              <a:endCxn id="513" idx="1"/>
            </p:cNvCxnSpPr>
            <p:nvPr/>
          </p:nvCxnSpPr>
          <p:spPr>
            <a:xfrm>
              <a:off x="4237" y="1549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15" name="Google Shape;515;p18"/>
            <p:cNvCxnSpPr>
              <a:stCxn id="508" idx="0"/>
              <a:endCxn id="513" idx="4"/>
            </p:cNvCxnSpPr>
            <p:nvPr/>
          </p:nvCxnSpPr>
          <p:spPr>
            <a:xfrm flipH="1" rot="10800000">
              <a:off x="4392" y="2052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pic>
        <p:nvPicPr>
          <p:cNvPr id="516" name="Google Shape;51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23418" y="-27709"/>
            <a:ext cx="1468582" cy="572655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20-08-2023</a:t>
            </a:r>
            <a:endParaRPr/>
          </a:p>
        </p:txBody>
      </p:sp>
      <p:sp>
        <p:nvSpPr>
          <p:cNvPr id="518" name="Google Shape;51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Dr K Deepa Thilak, Asso Prof, NWC</a:t>
            </a:r>
            <a:endParaRPr/>
          </a:p>
        </p:txBody>
      </p:sp>
      <p:sp>
        <p:nvSpPr>
          <p:cNvPr id="519" name="Google Shape;51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Topo sort example 2</a:t>
            </a:r>
            <a:endParaRPr/>
          </a:p>
        </p:txBody>
      </p:sp>
      <p:sp>
        <p:nvSpPr>
          <p:cNvPr id="525" name="Google Shape;525;p19"/>
          <p:cNvSpPr txBox="1"/>
          <p:nvPr>
            <p:ph idx="1" type="body"/>
          </p:nvPr>
        </p:nvSpPr>
        <p:spPr>
          <a:xfrm>
            <a:off x="152400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</a:pPr>
            <a:r>
              <a:rPr lang="en-US" sz="20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 topologicalSort():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i="1"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map </a:t>
            </a:r>
            <a:r>
              <a:rPr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:= {each vertex → its in-degree}.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i="1"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queue </a:t>
            </a:r>
            <a:r>
              <a:rPr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:= {all vertices with in-degree = 0}.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i="1"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ordering </a:t>
            </a:r>
            <a:r>
              <a:rPr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:= { }.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Repeat until queue is empty: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</a:pP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Dequeue the first vertex </a:t>
            </a:r>
            <a:r>
              <a:rPr i="1"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from the queue.   </a:t>
            </a:r>
            <a:r>
              <a:rPr lang="en-US" sz="1800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C</a:t>
            </a:r>
            <a:endParaRPr sz="18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</a:pPr>
            <a:r>
              <a:rPr i="1"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ordering </a:t>
            </a: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+= </a:t>
            </a:r>
            <a:r>
              <a:rPr i="1"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</a:pP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Decrease the in-degree of all </a:t>
            </a:r>
            <a:r>
              <a:rPr i="1"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's   </a:t>
            </a:r>
            <a:r>
              <a:rPr lang="en-US" sz="1800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E, F</a:t>
            </a:r>
            <a:b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neighbors by 1 in the </a:t>
            </a:r>
            <a:r>
              <a:rPr i="1"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map</a:t>
            </a: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</a:pPr>
            <a:r>
              <a:rPr i="1"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queue </a:t>
            </a: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+= {any neighbors whose in-degree is now 0}.</a:t>
            </a:r>
            <a:endParaRPr/>
          </a:p>
          <a:p>
            <a: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0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map	:= { A=0, B=0, C=0, D=0, E=</a:t>
            </a:r>
            <a:r>
              <a:rPr b="1"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F=</a:t>
            </a:r>
            <a:r>
              <a:rPr b="1"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}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queue	:= { D }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ordering	:= { B, A, </a:t>
            </a:r>
            <a:r>
              <a:rPr b="1"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}</a:t>
            </a:r>
            <a:endParaRPr/>
          </a:p>
        </p:txBody>
      </p:sp>
      <p:grpSp>
        <p:nvGrpSpPr>
          <p:cNvPr id="526" name="Google Shape;526;p19"/>
          <p:cNvGrpSpPr/>
          <p:nvPr/>
        </p:nvGrpSpPr>
        <p:grpSpPr>
          <a:xfrm>
            <a:off x="7162800" y="1524000"/>
            <a:ext cx="3124200" cy="2590800"/>
            <a:chOff x="3456" y="1344"/>
            <a:chExt cx="1968" cy="1632"/>
          </a:xfrm>
        </p:grpSpPr>
        <p:sp>
          <p:nvSpPr>
            <p:cNvPr id="527" name="Google Shape;527;p19"/>
            <p:cNvSpPr/>
            <p:nvPr/>
          </p:nvSpPr>
          <p:spPr>
            <a:xfrm>
              <a:off x="4032" y="1344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2B2B2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B2B2B2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28" name="Google Shape;528;p19"/>
            <p:cNvCxnSpPr>
              <a:stCxn id="529" idx="7"/>
              <a:endCxn id="527" idx="3"/>
            </p:cNvCxnSpPr>
            <p:nvPr/>
          </p:nvCxnSpPr>
          <p:spPr>
            <a:xfrm flipH="1" rot="10800000">
              <a:off x="3661" y="1559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530" name="Google Shape;530;p19"/>
            <p:cNvSpPr/>
            <p:nvPr/>
          </p:nvSpPr>
          <p:spPr>
            <a:xfrm>
              <a:off x="3648" y="2736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2B2B2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B2B2B2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1" name="Google Shape;531;p19"/>
            <p:cNvSpPr/>
            <p:nvPr/>
          </p:nvSpPr>
          <p:spPr>
            <a:xfrm>
              <a:off x="5184" y="1632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2" name="Google Shape;532;p19"/>
            <p:cNvSpPr/>
            <p:nvPr/>
          </p:nvSpPr>
          <p:spPr>
            <a:xfrm>
              <a:off x="4272" y="2352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9" name="Google Shape;529;p19"/>
            <p:cNvSpPr/>
            <p:nvPr/>
          </p:nvSpPr>
          <p:spPr>
            <a:xfrm>
              <a:off x="3456" y="1824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2B2B2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B2B2B2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33" name="Google Shape;533;p19"/>
            <p:cNvCxnSpPr>
              <a:stCxn id="527" idx="6"/>
              <a:endCxn id="531" idx="2"/>
            </p:cNvCxnSpPr>
            <p:nvPr/>
          </p:nvCxnSpPr>
          <p:spPr>
            <a:xfrm>
              <a:off x="4272" y="1464"/>
              <a:ext cx="900" cy="300"/>
            </a:xfrm>
            <a:prstGeom prst="straightConnector1">
              <a:avLst/>
            </a:prstGeom>
            <a:noFill/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34" name="Google Shape;534;p19"/>
            <p:cNvCxnSpPr>
              <a:stCxn id="529" idx="5"/>
              <a:endCxn id="532" idx="2"/>
            </p:cNvCxnSpPr>
            <p:nvPr/>
          </p:nvCxnSpPr>
          <p:spPr>
            <a:xfrm>
              <a:off x="3661" y="2029"/>
              <a:ext cx="600" cy="300"/>
            </a:xfrm>
            <a:prstGeom prst="straightConnector1">
              <a:avLst/>
            </a:prstGeom>
            <a:noFill/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35" name="Google Shape;535;p19"/>
            <p:cNvCxnSpPr>
              <a:stCxn id="532" idx="7"/>
              <a:endCxn id="531" idx="3"/>
            </p:cNvCxnSpPr>
            <p:nvPr/>
          </p:nvCxnSpPr>
          <p:spPr>
            <a:xfrm flipH="1" rot="10800000">
              <a:off x="4477" y="1787"/>
              <a:ext cx="600" cy="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36" name="Google Shape;536;p19"/>
            <p:cNvCxnSpPr>
              <a:stCxn id="530" idx="6"/>
              <a:endCxn id="532" idx="3"/>
            </p:cNvCxnSpPr>
            <p:nvPr/>
          </p:nvCxnSpPr>
          <p:spPr>
            <a:xfrm flipH="1" rot="10800000">
              <a:off x="3888" y="2556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537" name="Google Shape;537;p19"/>
            <p:cNvSpPr/>
            <p:nvPr/>
          </p:nvSpPr>
          <p:spPr>
            <a:xfrm>
              <a:off x="4464" y="1776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38" name="Google Shape;538;p19"/>
            <p:cNvCxnSpPr>
              <a:stCxn id="527" idx="5"/>
              <a:endCxn id="537" idx="1"/>
            </p:cNvCxnSpPr>
            <p:nvPr/>
          </p:nvCxnSpPr>
          <p:spPr>
            <a:xfrm>
              <a:off x="4237" y="1549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39" name="Google Shape;539;p19"/>
            <p:cNvCxnSpPr>
              <a:stCxn id="532" idx="0"/>
              <a:endCxn id="537" idx="4"/>
            </p:cNvCxnSpPr>
            <p:nvPr/>
          </p:nvCxnSpPr>
          <p:spPr>
            <a:xfrm flipH="1" rot="10800000">
              <a:off x="4392" y="2052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pic>
        <p:nvPicPr>
          <p:cNvPr id="540" name="Google Shape;54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23418" y="-27709"/>
            <a:ext cx="1468582" cy="572655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20-08-2023</a:t>
            </a:r>
            <a:endParaRPr/>
          </a:p>
        </p:txBody>
      </p:sp>
      <p:sp>
        <p:nvSpPr>
          <p:cNvPr id="542" name="Google Shape;54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Dr K Deepa Thilak, Asso Prof, NWC</a:t>
            </a:r>
            <a:endParaRPr/>
          </a:p>
        </p:txBody>
      </p:sp>
      <p:sp>
        <p:nvSpPr>
          <p:cNvPr id="543" name="Google Shape;54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Topo sort example 2</a:t>
            </a:r>
            <a:endParaRPr/>
          </a:p>
        </p:txBody>
      </p:sp>
      <p:sp>
        <p:nvSpPr>
          <p:cNvPr id="549" name="Google Shape;549;p20"/>
          <p:cNvSpPr txBox="1"/>
          <p:nvPr>
            <p:ph idx="1" type="body"/>
          </p:nvPr>
        </p:nvSpPr>
        <p:spPr>
          <a:xfrm>
            <a:off x="152400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</a:pPr>
            <a:r>
              <a:rPr lang="en-US" sz="20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 topologicalSort():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i="1"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map </a:t>
            </a:r>
            <a:r>
              <a:rPr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:= {each vertex → its in-degree}.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i="1"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queue </a:t>
            </a:r>
            <a:r>
              <a:rPr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:= {all vertices with in-degree = 0}.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i="1"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ordering </a:t>
            </a:r>
            <a:r>
              <a:rPr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:= { }.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Repeat until queue is empty: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</a:pP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Dequeue the first vertex </a:t>
            </a:r>
            <a:r>
              <a:rPr i="1"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from the queue.   </a:t>
            </a:r>
            <a:r>
              <a:rPr lang="en-US" sz="1800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D</a:t>
            </a:r>
            <a:endParaRPr sz="18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</a:pPr>
            <a:r>
              <a:rPr i="1"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ordering </a:t>
            </a: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+= </a:t>
            </a:r>
            <a:r>
              <a:rPr i="1"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</a:pP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Decrease the in-degree of all </a:t>
            </a:r>
            <a:r>
              <a:rPr i="1"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's   </a:t>
            </a:r>
            <a:r>
              <a:rPr lang="en-US" sz="1800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F, E</a:t>
            </a:r>
            <a:b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neighbors by 1 in the </a:t>
            </a:r>
            <a:r>
              <a:rPr i="1"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map</a:t>
            </a: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</a:pPr>
            <a:r>
              <a:rPr i="1"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queue </a:t>
            </a: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+= {any neighbors whose in-degree is now 0}.</a:t>
            </a:r>
            <a:endParaRPr/>
          </a:p>
          <a:p>
            <a: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0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map	:= { A=0, B=0, C=0, D=0, E=</a:t>
            </a:r>
            <a:r>
              <a:rPr b="1"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F=</a:t>
            </a:r>
            <a:r>
              <a:rPr b="1"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}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queue	:= { </a:t>
            </a:r>
            <a:r>
              <a:rPr b="1"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}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ordering	:= { B, A, C, </a:t>
            </a:r>
            <a:r>
              <a:rPr b="1"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}</a:t>
            </a:r>
            <a:endParaRPr/>
          </a:p>
        </p:txBody>
      </p:sp>
      <p:grpSp>
        <p:nvGrpSpPr>
          <p:cNvPr id="550" name="Google Shape;550;p20"/>
          <p:cNvGrpSpPr/>
          <p:nvPr/>
        </p:nvGrpSpPr>
        <p:grpSpPr>
          <a:xfrm>
            <a:off x="7162800" y="1524000"/>
            <a:ext cx="3124200" cy="2590800"/>
            <a:chOff x="3456" y="1344"/>
            <a:chExt cx="1968" cy="1632"/>
          </a:xfrm>
        </p:grpSpPr>
        <p:sp>
          <p:nvSpPr>
            <p:cNvPr id="551" name="Google Shape;551;p20"/>
            <p:cNvSpPr/>
            <p:nvPr/>
          </p:nvSpPr>
          <p:spPr>
            <a:xfrm>
              <a:off x="4032" y="1344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2B2B2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B2B2B2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52" name="Google Shape;552;p20"/>
            <p:cNvCxnSpPr>
              <a:stCxn id="553" idx="7"/>
              <a:endCxn id="551" idx="3"/>
            </p:cNvCxnSpPr>
            <p:nvPr/>
          </p:nvCxnSpPr>
          <p:spPr>
            <a:xfrm flipH="1" rot="10800000">
              <a:off x="3661" y="1559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554" name="Google Shape;554;p20"/>
            <p:cNvSpPr/>
            <p:nvPr/>
          </p:nvSpPr>
          <p:spPr>
            <a:xfrm>
              <a:off x="3648" y="2736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2B2B2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B2B2B2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" name="Google Shape;555;p20"/>
            <p:cNvSpPr/>
            <p:nvPr/>
          </p:nvSpPr>
          <p:spPr>
            <a:xfrm>
              <a:off x="5184" y="1632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6" name="Google Shape;556;p20"/>
            <p:cNvSpPr/>
            <p:nvPr/>
          </p:nvSpPr>
          <p:spPr>
            <a:xfrm>
              <a:off x="4272" y="2352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2B2B2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B2B2B2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3" name="Google Shape;553;p20"/>
            <p:cNvSpPr/>
            <p:nvPr/>
          </p:nvSpPr>
          <p:spPr>
            <a:xfrm>
              <a:off x="3456" y="1824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2B2B2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B2B2B2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57" name="Google Shape;557;p20"/>
            <p:cNvCxnSpPr>
              <a:stCxn id="551" idx="6"/>
              <a:endCxn id="555" idx="2"/>
            </p:cNvCxnSpPr>
            <p:nvPr/>
          </p:nvCxnSpPr>
          <p:spPr>
            <a:xfrm>
              <a:off x="4272" y="1464"/>
              <a:ext cx="900" cy="300"/>
            </a:xfrm>
            <a:prstGeom prst="straightConnector1">
              <a:avLst/>
            </a:prstGeom>
            <a:noFill/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58" name="Google Shape;558;p20"/>
            <p:cNvCxnSpPr>
              <a:stCxn id="553" idx="5"/>
              <a:endCxn id="556" idx="2"/>
            </p:cNvCxnSpPr>
            <p:nvPr/>
          </p:nvCxnSpPr>
          <p:spPr>
            <a:xfrm>
              <a:off x="3661" y="2029"/>
              <a:ext cx="600" cy="300"/>
            </a:xfrm>
            <a:prstGeom prst="straightConnector1">
              <a:avLst/>
            </a:prstGeom>
            <a:noFill/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59" name="Google Shape;559;p20"/>
            <p:cNvCxnSpPr>
              <a:stCxn id="556" idx="7"/>
              <a:endCxn id="555" idx="3"/>
            </p:cNvCxnSpPr>
            <p:nvPr/>
          </p:nvCxnSpPr>
          <p:spPr>
            <a:xfrm flipH="1" rot="10800000">
              <a:off x="4477" y="1787"/>
              <a:ext cx="600" cy="600"/>
            </a:xfrm>
            <a:prstGeom prst="straightConnector1">
              <a:avLst/>
            </a:prstGeom>
            <a:noFill/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60" name="Google Shape;560;p20"/>
            <p:cNvCxnSpPr>
              <a:stCxn id="554" idx="6"/>
              <a:endCxn id="556" idx="3"/>
            </p:cNvCxnSpPr>
            <p:nvPr/>
          </p:nvCxnSpPr>
          <p:spPr>
            <a:xfrm flipH="1" rot="10800000">
              <a:off x="3888" y="2556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561" name="Google Shape;561;p20"/>
            <p:cNvSpPr/>
            <p:nvPr/>
          </p:nvSpPr>
          <p:spPr>
            <a:xfrm>
              <a:off x="4464" y="1776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62" name="Google Shape;562;p20"/>
            <p:cNvCxnSpPr>
              <a:stCxn id="551" idx="5"/>
              <a:endCxn id="561" idx="1"/>
            </p:cNvCxnSpPr>
            <p:nvPr/>
          </p:nvCxnSpPr>
          <p:spPr>
            <a:xfrm>
              <a:off x="4237" y="1549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63" name="Google Shape;563;p20"/>
            <p:cNvCxnSpPr>
              <a:stCxn id="556" idx="0"/>
              <a:endCxn id="561" idx="4"/>
            </p:cNvCxnSpPr>
            <p:nvPr/>
          </p:nvCxnSpPr>
          <p:spPr>
            <a:xfrm flipH="1" rot="10800000">
              <a:off x="4392" y="2052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pic>
        <p:nvPicPr>
          <p:cNvPr id="564" name="Google Shape;56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23418" y="-27709"/>
            <a:ext cx="1468582" cy="572655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20-08-2023</a:t>
            </a:r>
            <a:endParaRPr/>
          </a:p>
        </p:txBody>
      </p:sp>
      <p:sp>
        <p:nvSpPr>
          <p:cNvPr id="566" name="Google Shape;566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Dr K Deepa Thilak, Asso Prof, NWC</a:t>
            </a:r>
            <a:endParaRPr/>
          </a:p>
        </p:txBody>
      </p:sp>
      <p:sp>
        <p:nvSpPr>
          <p:cNvPr id="567" name="Google Shape;567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Topo sort example 2</a:t>
            </a:r>
            <a:endParaRPr/>
          </a:p>
        </p:txBody>
      </p:sp>
      <p:sp>
        <p:nvSpPr>
          <p:cNvPr id="573" name="Google Shape;573;p21"/>
          <p:cNvSpPr txBox="1"/>
          <p:nvPr>
            <p:ph idx="1" type="body"/>
          </p:nvPr>
        </p:nvSpPr>
        <p:spPr>
          <a:xfrm>
            <a:off x="152400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</a:pPr>
            <a:r>
              <a:rPr lang="en-US" sz="20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 topologicalSort():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i="1"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map </a:t>
            </a:r>
            <a:r>
              <a:rPr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:= {each vertex → its in-degree}.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i="1"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queue </a:t>
            </a:r>
            <a:r>
              <a:rPr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:= {all vertices with in-degree = 0}.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i="1"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ordering </a:t>
            </a:r>
            <a:r>
              <a:rPr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:= { }.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Repeat until queue is empty: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</a:pP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Dequeue the first vertex </a:t>
            </a:r>
            <a:r>
              <a:rPr i="1"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from the queue.   </a:t>
            </a:r>
            <a:r>
              <a:rPr lang="en-US" sz="1800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F</a:t>
            </a:r>
            <a:endParaRPr sz="18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</a:pPr>
            <a:r>
              <a:rPr i="1"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ordering </a:t>
            </a: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+= </a:t>
            </a:r>
            <a:r>
              <a:rPr i="1"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</a:pP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Decrease the in-degree of all </a:t>
            </a:r>
            <a:r>
              <a:rPr i="1"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's   </a:t>
            </a:r>
            <a:r>
              <a:rPr lang="en-US" sz="1800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none</a:t>
            </a:r>
            <a:b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neighbors by 1 in the </a:t>
            </a:r>
            <a:r>
              <a:rPr i="1"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map</a:t>
            </a: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</a:pPr>
            <a:r>
              <a:rPr i="1"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queue </a:t>
            </a: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+= {any neighbors whose in-degree is now 0}.</a:t>
            </a:r>
            <a:endParaRPr/>
          </a:p>
          <a:p>
            <a: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0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map	:= { A=0, B=0, C=0, D=0, E=0, F=0 }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queue	:= { E }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ordering	:= { B, A, C, D, </a:t>
            </a:r>
            <a:r>
              <a:rPr b="1"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}</a:t>
            </a:r>
            <a:endParaRPr/>
          </a:p>
        </p:txBody>
      </p:sp>
      <p:grpSp>
        <p:nvGrpSpPr>
          <p:cNvPr id="574" name="Google Shape;574;p21"/>
          <p:cNvGrpSpPr/>
          <p:nvPr/>
        </p:nvGrpSpPr>
        <p:grpSpPr>
          <a:xfrm>
            <a:off x="7162800" y="1524000"/>
            <a:ext cx="3124200" cy="2590800"/>
            <a:chOff x="3456" y="1344"/>
            <a:chExt cx="1968" cy="1632"/>
          </a:xfrm>
        </p:grpSpPr>
        <p:sp>
          <p:nvSpPr>
            <p:cNvPr id="575" name="Google Shape;575;p21"/>
            <p:cNvSpPr/>
            <p:nvPr/>
          </p:nvSpPr>
          <p:spPr>
            <a:xfrm>
              <a:off x="4032" y="1344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2B2B2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B2B2B2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76" name="Google Shape;576;p21"/>
            <p:cNvCxnSpPr>
              <a:stCxn id="577" idx="7"/>
              <a:endCxn id="575" idx="3"/>
            </p:cNvCxnSpPr>
            <p:nvPr/>
          </p:nvCxnSpPr>
          <p:spPr>
            <a:xfrm flipH="1" rot="10800000">
              <a:off x="3661" y="1559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578" name="Google Shape;578;p21"/>
            <p:cNvSpPr/>
            <p:nvPr/>
          </p:nvSpPr>
          <p:spPr>
            <a:xfrm>
              <a:off x="3648" y="2736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2B2B2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B2B2B2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9" name="Google Shape;579;p21"/>
            <p:cNvSpPr/>
            <p:nvPr/>
          </p:nvSpPr>
          <p:spPr>
            <a:xfrm>
              <a:off x="5184" y="1632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2B2B2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B2B2B2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0" name="Google Shape;580;p21"/>
            <p:cNvSpPr/>
            <p:nvPr/>
          </p:nvSpPr>
          <p:spPr>
            <a:xfrm>
              <a:off x="4272" y="2352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2B2B2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B2B2B2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" name="Google Shape;577;p21"/>
            <p:cNvSpPr/>
            <p:nvPr/>
          </p:nvSpPr>
          <p:spPr>
            <a:xfrm>
              <a:off x="3456" y="1824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2B2B2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B2B2B2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81" name="Google Shape;581;p21"/>
            <p:cNvCxnSpPr>
              <a:stCxn id="575" idx="6"/>
              <a:endCxn id="579" idx="2"/>
            </p:cNvCxnSpPr>
            <p:nvPr/>
          </p:nvCxnSpPr>
          <p:spPr>
            <a:xfrm>
              <a:off x="4272" y="1464"/>
              <a:ext cx="900" cy="300"/>
            </a:xfrm>
            <a:prstGeom prst="straightConnector1">
              <a:avLst/>
            </a:prstGeom>
            <a:noFill/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82" name="Google Shape;582;p21"/>
            <p:cNvCxnSpPr>
              <a:stCxn id="577" idx="5"/>
              <a:endCxn id="580" idx="2"/>
            </p:cNvCxnSpPr>
            <p:nvPr/>
          </p:nvCxnSpPr>
          <p:spPr>
            <a:xfrm>
              <a:off x="3661" y="2029"/>
              <a:ext cx="600" cy="300"/>
            </a:xfrm>
            <a:prstGeom prst="straightConnector1">
              <a:avLst/>
            </a:prstGeom>
            <a:noFill/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83" name="Google Shape;583;p21"/>
            <p:cNvCxnSpPr>
              <a:stCxn id="580" idx="7"/>
              <a:endCxn id="579" idx="3"/>
            </p:cNvCxnSpPr>
            <p:nvPr/>
          </p:nvCxnSpPr>
          <p:spPr>
            <a:xfrm flipH="1" rot="10800000">
              <a:off x="4477" y="1787"/>
              <a:ext cx="600" cy="600"/>
            </a:xfrm>
            <a:prstGeom prst="straightConnector1">
              <a:avLst/>
            </a:prstGeom>
            <a:noFill/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84" name="Google Shape;584;p21"/>
            <p:cNvCxnSpPr>
              <a:stCxn id="578" idx="6"/>
              <a:endCxn id="580" idx="3"/>
            </p:cNvCxnSpPr>
            <p:nvPr/>
          </p:nvCxnSpPr>
          <p:spPr>
            <a:xfrm flipH="1" rot="10800000">
              <a:off x="3888" y="2556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585" name="Google Shape;585;p21"/>
            <p:cNvSpPr/>
            <p:nvPr/>
          </p:nvSpPr>
          <p:spPr>
            <a:xfrm>
              <a:off x="4464" y="1776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86" name="Google Shape;586;p21"/>
            <p:cNvCxnSpPr>
              <a:stCxn id="575" idx="5"/>
              <a:endCxn id="585" idx="1"/>
            </p:cNvCxnSpPr>
            <p:nvPr/>
          </p:nvCxnSpPr>
          <p:spPr>
            <a:xfrm>
              <a:off x="4237" y="1549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87" name="Google Shape;587;p21"/>
            <p:cNvCxnSpPr>
              <a:stCxn id="580" idx="0"/>
              <a:endCxn id="585" idx="4"/>
            </p:cNvCxnSpPr>
            <p:nvPr/>
          </p:nvCxnSpPr>
          <p:spPr>
            <a:xfrm flipH="1" rot="10800000">
              <a:off x="4392" y="2052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pic>
        <p:nvPicPr>
          <p:cNvPr id="588" name="Google Shape;58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23418" y="-27709"/>
            <a:ext cx="1468582" cy="572655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20-08-2023</a:t>
            </a:r>
            <a:endParaRPr/>
          </a:p>
        </p:txBody>
      </p:sp>
      <p:sp>
        <p:nvSpPr>
          <p:cNvPr id="590" name="Google Shape;590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Dr K Deepa Thilak, Asso Prof, NWC</a:t>
            </a:r>
            <a:endParaRPr/>
          </a:p>
        </p:txBody>
      </p:sp>
      <p:sp>
        <p:nvSpPr>
          <p:cNvPr id="591" name="Google Shape;591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Topo sort example 2</a:t>
            </a:r>
            <a:endParaRPr/>
          </a:p>
        </p:txBody>
      </p:sp>
      <p:sp>
        <p:nvSpPr>
          <p:cNvPr id="597" name="Google Shape;597;p22"/>
          <p:cNvSpPr txBox="1"/>
          <p:nvPr>
            <p:ph idx="1" type="body"/>
          </p:nvPr>
        </p:nvSpPr>
        <p:spPr>
          <a:xfrm>
            <a:off x="1524000" y="1295400"/>
            <a:ext cx="9144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</a:pPr>
            <a:r>
              <a:rPr lang="en-US" sz="20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 topologicalSort():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i="1"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map </a:t>
            </a:r>
            <a:r>
              <a:rPr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:= {each vertex → its in-degree}.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i="1"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queue </a:t>
            </a:r>
            <a:r>
              <a:rPr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:= {all vertices with in-degree = 0}.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i="1"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ordering </a:t>
            </a:r>
            <a:r>
              <a:rPr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:= { }.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Repeat until queue is empty: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</a:pP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Dequeue the first vertex </a:t>
            </a:r>
            <a:r>
              <a:rPr i="1"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from the queue.   </a:t>
            </a:r>
            <a:r>
              <a:rPr lang="en-US" sz="1800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E</a:t>
            </a:r>
            <a:endParaRPr sz="18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</a:pPr>
            <a:r>
              <a:rPr i="1"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ordering </a:t>
            </a: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+= </a:t>
            </a:r>
            <a:r>
              <a:rPr i="1"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</a:pP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Decrease the in-degree of all </a:t>
            </a:r>
            <a:r>
              <a:rPr i="1"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's   </a:t>
            </a:r>
            <a:r>
              <a:rPr lang="en-US" sz="1800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none</a:t>
            </a:r>
            <a:b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neighbors by 1 in the </a:t>
            </a:r>
            <a:r>
              <a:rPr i="1"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map</a:t>
            </a: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</a:pPr>
            <a:r>
              <a:rPr i="1"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queue </a:t>
            </a: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+= {any neighbors whose in-degree is now 0}.</a:t>
            </a:r>
            <a:endParaRPr/>
          </a:p>
          <a:p>
            <a: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0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map	:= { A=0, B=0, C=0, D=0, E=0, F=0 }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queue	:= { }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ordering	:= { B, A, C, D, F, </a:t>
            </a:r>
            <a:r>
              <a:rPr b="1"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}</a:t>
            </a:r>
            <a:endParaRPr/>
          </a:p>
        </p:txBody>
      </p:sp>
      <p:grpSp>
        <p:nvGrpSpPr>
          <p:cNvPr id="598" name="Google Shape;598;p22"/>
          <p:cNvGrpSpPr/>
          <p:nvPr/>
        </p:nvGrpSpPr>
        <p:grpSpPr>
          <a:xfrm>
            <a:off x="7162800" y="1524000"/>
            <a:ext cx="3124200" cy="2590800"/>
            <a:chOff x="3456" y="1344"/>
            <a:chExt cx="1968" cy="1632"/>
          </a:xfrm>
        </p:grpSpPr>
        <p:sp>
          <p:nvSpPr>
            <p:cNvPr id="599" name="Google Shape;599;p22"/>
            <p:cNvSpPr/>
            <p:nvPr/>
          </p:nvSpPr>
          <p:spPr>
            <a:xfrm>
              <a:off x="4032" y="1344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2B2B2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B2B2B2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00" name="Google Shape;600;p22"/>
            <p:cNvCxnSpPr>
              <a:stCxn id="601" idx="7"/>
              <a:endCxn id="599" idx="3"/>
            </p:cNvCxnSpPr>
            <p:nvPr/>
          </p:nvCxnSpPr>
          <p:spPr>
            <a:xfrm flipH="1" rot="10800000">
              <a:off x="3661" y="1559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602" name="Google Shape;602;p22"/>
            <p:cNvSpPr/>
            <p:nvPr/>
          </p:nvSpPr>
          <p:spPr>
            <a:xfrm>
              <a:off x="3648" y="2736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2B2B2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B2B2B2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3" name="Google Shape;603;p22"/>
            <p:cNvSpPr/>
            <p:nvPr/>
          </p:nvSpPr>
          <p:spPr>
            <a:xfrm>
              <a:off x="5184" y="1632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2B2B2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B2B2B2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4" name="Google Shape;604;p22"/>
            <p:cNvSpPr/>
            <p:nvPr/>
          </p:nvSpPr>
          <p:spPr>
            <a:xfrm>
              <a:off x="4272" y="2352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2B2B2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B2B2B2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1" name="Google Shape;601;p22"/>
            <p:cNvSpPr/>
            <p:nvPr/>
          </p:nvSpPr>
          <p:spPr>
            <a:xfrm>
              <a:off x="3456" y="1824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2B2B2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B2B2B2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05" name="Google Shape;605;p22"/>
            <p:cNvCxnSpPr>
              <a:stCxn id="599" idx="6"/>
              <a:endCxn id="603" idx="2"/>
            </p:cNvCxnSpPr>
            <p:nvPr/>
          </p:nvCxnSpPr>
          <p:spPr>
            <a:xfrm>
              <a:off x="4272" y="1464"/>
              <a:ext cx="900" cy="300"/>
            </a:xfrm>
            <a:prstGeom prst="straightConnector1">
              <a:avLst/>
            </a:prstGeom>
            <a:noFill/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06" name="Google Shape;606;p22"/>
            <p:cNvCxnSpPr>
              <a:stCxn id="601" idx="5"/>
              <a:endCxn id="604" idx="2"/>
            </p:cNvCxnSpPr>
            <p:nvPr/>
          </p:nvCxnSpPr>
          <p:spPr>
            <a:xfrm>
              <a:off x="3661" y="2029"/>
              <a:ext cx="600" cy="300"/>
            </a:xfrm>
            <a:prstGeom prst="straightConnector1">
              <a:avLst/>
            </a:prstGeom>
            <a:noFill/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07" name="Google Shape;607;p22"/>
            <p:cNvCxnSpPr>
              <a:stCxn id="604" idx="7"/>
              <a:endCxn id="603" idx="3"/>
            </p:cNvCxnSpPr>
            <p:nvPr/>
          </p:nvCxnSpPr>
          <p:spPr>
            <a:xfrm flipH="1" rot="10800000">
              <a:off x="4477" y="1787"/>
              <a:ext cx="600" cy="600"/>
            </a:xfrm>
            <a:prstGeom prst="straightConnector1">
              <a:avLst/>
            </a:prstGeom>
            <a:noFill/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08" name="Google Shape;608;p22"/>
            <p:cNvCxnSpPr>
              <a:stCxn id="602" idx="6"/>
              <a:endCxn id="604" idx="3"/>
            </p:cNvCxnSpPr>
            <p:nvPr/>
          </p:nvCxnSpPr>
          <p:spPr>
            <a:xfrm flipH="1" rot="10800000">
              <a:off x="3888" y="2556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609" name="Google Shape;609;p22"/>
            <p:cNvSpPr/>
            <p:nvPr/>
          </p:nvSpPr>
          <p:spPr>
            <a:xfrm>
              <a:off x="4464" y="1776"/>
              <a:ext cx="240" cy="240"/>
            </a:xfrm>
            <a:prstGeom prst="ellipse">
              <a:avLst/>
            </a:prstGeom>
            <a:solidFill>
              <a:srgbClr val="E8E8E8"/>
            </a:solidFill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2B2B2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B2B2B2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10" name="Google Shape;610;p22"/>
            <p:cNvCxnSpPr>
              <a:stCxn id="599" idx="5"/>
              <a:endCxn id="609" idx="1"/>
            </p:cNvCxnSpPr>
            <p:nvPr/>
          </p:nvCxnSpPr>
          <p:spPr>
            <a:xfrm>
              <a:off x="4237" y="1549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11" name="Google Shape;611;p22"/>
            <p:cNvCxnSpPr>
              <a:stCxn id="604" idx="0"/>
              <a:endCxn id="609" idx="4"/>
            </p:cNvCxnSpPr>
            <p:nvPr/>
          </p:nvCxnSpPr>
          <p:spPr>
            <a:xfrm flipH="1" rot="10800000">
              <a:off x="4392" y="2052"/>
              <a:ext cx="300" cy="300"/>
            </a:xfrm>
            <a:prstGeom prst="straightConnector1">
              <a:avLst/>
            </a:prstGeom>
            <a:noFill/>
            <a:ln cap="flat" cmpd="sng" w="19050">
              <a:solidFill>
                <a:srgbClr val="C0C0C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pic>
        <p:nvPicPr>
          <p:cNvPr id="612" name="Google Shape;61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23418" y="-27709"/>
            <a:ext cx="1468582" cy="572655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20-08-2023</a:t>
            </a:r>
            <a:endParaRPr/>
          </a:p>
        </p:txBody>
      </p:sp>
      <p:sp>
        <p:nvSpPr>
          <p:cNvPr id="614" name="Google Shape;614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Dr K Deepa Thilak, Asso Prof, NWC</a:t>
            </a:r>
            <a:endParaRPr/>
          </a:p>
        </p:txBody>
      </p:sp>
      <p:sp>
        <p:nvSpPr>
          <p:cNvPr id="615" name="Google Shape;615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Topo sort runtime</a:t>
            </a:r>
            <a:endParaRPr/>
          </a:p>
        </p:txBody>
      </p:sp>
      <p:sp>
        <p:nvSpPr>
          <p:cNvPr id="621" name="Google Shape;621;p23"/>
          <p:cNvSpPr txBox="1"/>
          <p:nvPr>
            <p:ph idx="1" type="body"/>
          </p:nvPr>
        </p:nvSpPr>
        <p:spPr>
          <a:xfrm>
            <a:off x="511277" y="1295400"/>
            <a:ext cx="10156723" cy="44466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</a:pPr>
            <a:r>
              <a:rPr lang="en-US" sz="20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the runtime of our topological sort algorithm?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(with an "adjacency map" graph internal representation)</a:t>
            </a:r>
            <a:endParaRPr/>
          </a:p>
          <a:p>
            <a: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200">
              <a:solidFill>
                <a:srgbClr val="4040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 topologicalSort():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map 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:= {each vertex → its in-degree}.	</a:t>
            </a:r>
            <a:r>
              <a:rPr lang="en-US" sz="1800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O(</a:t>
            </a:r>
            <a:r>
              <a:rPr i="1" lang="en-US" sz="1800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queue 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:= {all vertices with in-degree = 0}.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ordering 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:= { }.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Repeat until queue is empty:	</a:t>
            </a:r>
            <a:r>
              <a:rPr lang="en-US" sz="1800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O(</a:t>
            </a:r>
            <a:r>
              <a:rPr i="1" lang="en-US" sz="1800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</a:pPr>
            <a: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Dequeue the first vertex </a:t>
            </a:r>
            <a:r>
              <a:rPr i="1"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from the queue.	</a:t>
            </a:r>
            <a:r>
              <a:rPr lang="en-US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    O(</a:t>
            </a:r>
            <a:r>
              <a:rPr i="1" lang="en-US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</a:pPr>
            <a:r>
              <a:rPr i="1"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ordering </a:t>
            </a:r>
            <a: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+= </a:t>
            </a:r>
            <a:r>
              <a:rPr i="1"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	</a:t>
            </a:r>
            <a:r>
              <a:rPr lang="en-US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    O(</a:t>
            </a:r>
            <a:r>
              <a:rPr i="1" lang="en-US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</a:pPr>
            <a: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Decrease the in-degree of all </a:t>
            </a:r>
            <a:r>
              <a:rPr i="1"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's	</a:t>
            </a:r>
            <a:r>
              <a:rPr lang="en-US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    O(</a:t>
            </a:r>
            <a:r>
              <a:rPr i="1" lang="en-US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for all passes</a:t>
            </a:r>
            <a:b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neighbors by 1 in the </a:t>
            </a:r>
            <a:r>
              <a:rPr i="1"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map</a:t>
            </a:r>
            <a: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</a:pPr>
            <a:r>
              <a:rPr i="1"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queue </a:t>
            </a:r>
            <a: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+= {any neighbors whose in-degree is now 0}.</a:t>
            </a:r>
            <a:endParaRPr/>
          </a:p>
          <a:p>
            <a:pPr indent="-2286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4040"/>
              </a:buClr>
              <a:buSzPts val="1800"/>
              <a:buChar char="•"/>
            </a:pPr>
            <a:r>
              <a:rPr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Overall: </a:t>
            </a:r>
            <a:r>
              <a:rPr b="1"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O(</a:t>
            </a:r>
            <a:r>
              <a:rPr b="1" i="1"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1"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b="1" i="1"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b="1"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;  essentially O(</a:t>
            </a:r>
            <a:r>
              <a:rPr i="1"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0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time on a sparse graph  (fast!)</a:t>
            </a:r>
            <a:endParaRPr/>
          </a:p>
        </p:txBody>
      </p:sp>
      <p:pic>
        <p:nvPicPr>
          <p:cNvPr id="622" name="Google Shape;62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23418" y="0"/>
            <a:ext cx="1468582" cy="572655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20-08-2023</a:t>
            </a:r>
            <a:endParaRPr/>
          </a:p>
        </p:txBody>
      </p:sp>
      <p:sp>
        <p:nvSpPr>
          <p:cNvPr id="624" name="Google Shape;624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Dr K Deepa Thilak, Asso Prof, NWC</a:t>
            </a:r>
            <a:endParaRPr/>
          </a:p>
        </p:txBody>
      </p:sp>
      <p:sp>
        <p:nvSpPr>
          <p:cNvPr id="625" name="Google Shape;625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Topo sort: Algorithm 2 (C Implementation)</a:t>
            </a:r>
            <a:endParaRPr/>
          </a:p>
        </p:txBody>
      </p:sp>
      <p:sp>
        <p:nvSpPr>
          <p:cNvPr id="631" name="Google Shape;631;p24"/>
          <p:cNvSpPr txBox="1"/>
          <p:nvPr>
            <p:ph idx="1" type="body"/>
          </p:nvPr>
        </p:nvSpPr>
        <p:spPr>
          <a:xfrm>
            <a:off x="838200" y="1429384"/>
            <a:ext cx="4932680" cy="49510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Void topsort( graph G 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QUEUE Q;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unsigned int counter;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vertex v, w;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Q = create_queue( NUM_VERTEX ); make_null( Q ); counter = 0;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for each vertex v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if( indegree[v] = 0 )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enqueue( v, Q 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while( !is_empty( Q ) 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v = dequeue( Q 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top_num[v] = ++counter; /* assign next number */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for each w adjacent to v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if( --indegree[w] = 0 )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         enqueue( w, Q 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}</a:t>
            </a:r>
            <a:endParaRPr/>
          </a:p>
        </p:txBody>
      </p:sp>
      <p:sp>
        <p:nvSpPr>
          <p:cNvPr id="632" name="Google Shape;632;p2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/>
              <a:t>f( counter != NUM_VERTEX 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/>
              <a:t>    error("Graph has a cycle");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/>
              <a:t>dispose_queue( Q ); /* free the memory */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/>
              <a:t>}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/>
              <a:t>i</a:t>
            </a:r>
            <a:endParaRPr/>
          </a:p>
        </p:txBody>
      </p:sp>
      <p:pic>
        <p:nvPicPr>
          <p:cNvPr id="633" name="Google Shape;63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23418" y="-9236"/>
            <a:ext cx="1468582" cy="572655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20-08-2023</a:t>
            </a:r>
            <a:endParaRPr/>
          </a:p>
        </p:txBody>
      </p:sp>
      <p:sp>
        <p:nvSpPr>
          <p:cNvPr id="635" name="Google Shape;635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Dr K Deepa Thilak, Asso Prof, NWC</a:t>
            </a:r>
            <a:endParaRPr/>
          </a:p>
        </p:txBody>
      </p:sp>
      <p:sp>
        <p:nvSpPr>
          <p:cNvPr id="636" name="Google Shape;636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TopSort: Applications</a:t>
            </a:r>
            <a:endParaRPr/>
          </a:p>
        </p:txBody>
      </p:sp>
      <p:sp>
        <p:nvSpPr>
          <p:cNvPr id="642" name="Google Shape;642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Finding cycle in a graph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Operation System deadlock detection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Dependency resolution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Sentence Ordering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Critical Path Analysis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Course Schedule problem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Other applications like manufacturing workflows, data serialization and context-free grammar.</a:t>
            </a:r>
            <a:endParaRPr/>
          </a:p>
        </p:txBody>
      </p:sp>
      <p:pic>
        <p:nvPicPr>
          <p:cNvPr id="643" name="Google Shape;64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23418" y="-9236"/>
            <a:ext cx="1468582" cy="572655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20-08-2023</a:t>
            </a:r>
            <a:endParaRPr/>
          </a:p>
        </p:txBody>
      </p:sp>
      <p:sp>
        <p:nvSpPr>
          <p:cNvPr id="645" name="Google Shape;645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Dr K Deepa Thilak, Asso Prof, NWC</a:t>
            </a:r>
            <a:endParaRPr/>
          </a:p>
        </p:txBody>
      </p:sp>
      <p:sp>
        <p:nvSpPr>
          <p:cNvPr id="646" name="Google Shape;646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Practice Question</a:t>
            </a:r>
            <a:endParaRPr/>
          </a:p>
        </p:txBody>
      </p:sp>
      <p:pic>
        <p:nvPicPr>
          <p:cNvPr id="652" name="Google Shape;652;p2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9421" y="2572344"/>
            <a:ext cx="4991797" cy="2857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53" name="Google Shape;65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00784" y="1598324"/>
            <a:ext cx="4134752" cy="4829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4" name="Google Shape;654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23418" y="0"/>
            <a:ext cx="1468582" cy="572655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20-08-2023</a:t>
            </a:r>
            <a:endParaRPr/>
          </a:p>
        </p:txBody>
      </p:sp>
      <p:sp>
        <p:nvSpPr>
          <p:cNvPr id="656" name="Google Shape;656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Dr K Deepa Thilak, Asso Prof, NWC</a:t>
            </a:r>
            <a:endParaRPr/>
          </a:p>
        </p:txBody>
      </p:sp>
      <p:sp>
        <p:nvSpPr>
          <p:cNvPr id="657" name="Google Shape;657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27"/>
          <p:cNvSpPr txBox="1"/>
          <p:nvPr>
            <p:ph type="title"/>
          </p:nvPr>
        </p:nvSpPr>
        <p:spPr>
          <a:xfrm>
            <a:off x="476518" y="365125"/>
            <a:ext cx="10877282" cy="6876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alatino Linotype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Review Questions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3" name="Google Shape;663;p27"/>
          <p:cNvSpPr txBox="1"/>
          <p:nvPr>
            <p:ph idx="2" type="body"/>
          </p:nvPr>
        </p:nvSpPr>
        <p:spPr>
          <a:xfrm>
            <a:off x="476518" y="1124744"/>
            <a:ext cx="10877282" cy="5052219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  </a:t>
            </a:r>
            <a:endParaRPr/>
          </a:p>
        </p:txBody>
      </p:sp>
      <p:sp>
        <p:nvSpPr>
          <p:cNvPr id="664" name="Google Shape;664;p27"/>
          <p:cNvSpPr/>
          <p:nvPr/>
        </p:nvSpPr>
        <p:spPr>
          <a:xfrm>
            <a:off x="476518" y="1124744"/>
            <a:ext cx="10877282" cy="95102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3A3A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1.Topological sort can be applied to which of the following graphs?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a) Undirected Cyclic Graphs           b) Directed Cyclic Graphs</a:t>
            </a:r>
            <a:b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c) Undirected Acyclic Graphs         d) Directed Acyclic Graphs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Most Efficient Time Complexity of Topological Sorting is? (V – number of vertices, E – number of edges)</a:t>
            </a:r>
            <a:b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a) O(V + E)        b) O(V)            c) O(E)        d) O(V*E)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In most of the cases, topological sort starts from a node which has ___</a:t>
            </a:r>
            <a:b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a) Maximum Degree  b) Minimum Degree   c) Any degree   d) Zero Degree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Topological sort of a Directed Acyclic graph is?</a:t>
            </a:r>
            <a:b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Always unique   b) Always Not unique   c) Sometimes unique and sometimes not unique   d) Always unique if graph has even number of vertices</a:t>
            </a:r>
            <a:endParaRPr b="0" i="0" sz="2000" u="none" cap="none" strike="noStrike">
              <a:solidFill>
                <a:srgbClr val="3A3A3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3A3A3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3A3A3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3A3A3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3A3A3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3A3A3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3A3A3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3A3A3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3A3A3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3A3A3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3A3A3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3A3A3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3A3A3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3A3A3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3A3A3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3A3A3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3A3A3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3A3A3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3A3A3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3A3A3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3A3A3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3A3A3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3A3A3A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5" name="Google Shape;66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23418" y="0"/>
            <a:ext cx="1468582" cy="572655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20-08-2023</a:t>
            </a:r>
            <a:endParaRPr/>
          </a:p>
        </p:txBody>
      </p:sp>
      <p:sp>
        <p:nvSpPr>
          <p:cNvPr id="667" name="Google Shape;667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Dr K Deepa Thilak, Asso Prof, NWC</a:t>
            </a:r>
            <a:endParaRPr/>
          </a:p>
        </p:txBody>
      </p:sp>
      <p:sp>
        <p:nvSpPr>
          <p:cNvPr id="668" name="Google Shape;668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2023-08-15T16:38:41Z</dcterms:created>
  <dc:creator>Deepa Thilak</dc:creator>
</cp:coreProperties>
</file>