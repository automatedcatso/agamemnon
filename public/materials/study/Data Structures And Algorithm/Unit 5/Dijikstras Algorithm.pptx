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16"/>
  </p:notesMasterIdLst>
  <p:sldIdLst>
    <p:sldId id="256" r:id="rId2"/>
    <p:sldId id="377" r:id="rId3"/>
    <p:sldId id="378" r:id="rId4"/>
    <p:sldId id="379" r:id="rId5"/>
    <p:sldId id="380" r:id="rId6"/>
    <p:sldId id="381" r:id="rId7"/>
    <p:sldId id="382" r:id="rId8"/>
    <p:sldId id="383" r:id="rId9"/>
    <p:sldId id="384" r:id="rId10"/>
    <p:sldId id="385" r:id="rId11"/>
    <p:sldId id="386" r:id="rId12"/>
    <p:sldId id="387" r:id="rId13"/>
    <p:sldId id="388" r:id="rId14"/>
    <p:sldId id="389" r:id="rId15"/>
  </p:sldIdLst>
  <p:sldSz cx="12192000" cy="6858000"/>
  <p:notesSz cx="6858000" cy="9144000"/>
  <p:embeddedFontLst>
    <p:embeddedFont>
      <p:font typeface="Algerian" panose="04020705040A02060702" pitchFamily="82" charset="0"/>
      <p:regular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Noto Sans" panose="020B0502040504020204" pitchFamily="34" charset="0"/>
      <p:regular r:id="rId22"/>
      <p:bold r:id="rId23"/>
      <p:italic r:id="rId24"/>
      <p:boldItalic r:id="rId25"/>
    </p:embeddedFont>
    <p:embeddedFont>
      <p:font typeface="Palatino Linotype" panose="02040502050505030304" pitchFamily="18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3CD5F7C-FBD6-494D-867C-78908F8B1FDC}">
  <a:tblStyle styleId="{73CD5F7C-FBD6-494D-867C-78908F8B1FD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A48E4469-F4A8-4792-B00F-4043E304C652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1D6F82F8-E5E6-48E4-8C0C-17660D1E488A}" styleName="Table_2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8" name="Google Shape;7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" name="Google Shape;1657;p1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8" name="Google Shape;1658;p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93738"/>
            <a:ext cx="6094413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659" name="Google Shape;1659;p122:notes"/>
          <p:cNvSpPr txBox="1">
            <a:spLocks noGrp="1"/>
          </p:cNvSpPr>
          <p:nvPr>
            <p:ph type="body" idx="1"/>
          </p:nvPr>
        </p:nvSpPr>
        <p:spPr>
          <a:xfrm>
            <a:off x="686360" y="4342535"/>
            <a:ext cx="5486681" cy="411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5" name="Google Shape;1665;p1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6" name="Google Shape;1666;p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93738"/>
            <a:ext cx="6094413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667" name="Google Shape;1667;p123:notes"/>
          <p:cNvSpPr txBox="1">
            <a:spLocks noGrp="1"/>
          </p:cNvSpPr>
          <p:nvPr>
            <p:ph type="body" idx="1"/>
          </p:nvPr>
        </p:nvSpPr>
        <p:spPr>
          <a:xfrm>
            <a:off x="686360" y="4342535"/>
            <a:ext cx="5486681" cy="411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p1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74" name="Google Shape;1674;p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Google Shape;1682;p1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83" name="Google Shape;1683;p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0" name="Google Shape;1690;p1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91" name="Google Shape;1691;p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p1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99" name="Google Shape;1699;p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p1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08" name="Google Shape;1708;p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5" name="Google Shape;1715;p1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16" name="Google Shape;1716;p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Google Shape;1724;p1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25" name="Google Shape;1725;p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4" name="Google Shape;1734;p1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5" name="Google Shape;1735;p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93738"/>
            <a:ext cx="6094413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736" name="Google Shape;1736;p131:notes"/>
          <p:cNvSpPr txBox="1">
            <a:spLocks noGrp="1"/>
          </p:cNvSpPr>
          <p:nvPr>
            <p:ph type="body" idx="1"/>
          </p:nvPr>
        </p:nvSpPr>
        <p:spPr>
          <a:xfrm>
            <a:off x="686360" y="4342535"/>
            <a:ext cx="5486681" cy="411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" name="Google Shape;1742;p1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3" name="Google Shape;1743;p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93738"/>
            <a:ext cx="6094413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744" name="Google Shape;1744;p132:notes"/>
          <p:cNvSpPr txBox="1">
            <a:spLocks noGrp="1"/>
          </p:cNvSpPr>
          <p:nvPr>
            <p:ph type="body" idx="1"/>
          </p:nvPr>
        </p:nvSpPr>
        <p:spPr>
          <a:xfrm>
            <a:off x="686360" y="4342535"/>
            <a:ext cx="5486681" cy="411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" name="Google Shape;1751;p1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2" name="Google Shape;1752;p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93738"/>
            <a:ext cx="6094413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753" name="Google Shape;1753;p133:notes"/>
          <p:cNvSpPr txBox="1">
            <a:spLocks noGrp="1"/>
          </p:cNvSpPr>
          <p:nvPr>
            <p:ph type="body" idx="1"/>
          </p:nvPr>
        </p:nvSpPr>
        <p:spPr>
          <a:xfrm>
            <a:off x="686360" y="4342535"/>
            <a:ext cx="5486681" cy="411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53623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5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>
                <a:solidFill>
                  <a:srgbClr val="7F7F7F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0">
            <a:alphaModFix amt="57000"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1"/>
          <p:cNvSpPr/>
          <p:nvPr/>
        </p:nvSpPr>
        <p:spPr>
          <a:xfrm>
            <a:off x="10504715" y="230188"/>
            <a:ext cx="1231640" cy="690465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4" r:id="rId5"/>
    <p:sldLayoutId id="2147483655" r:id="rId6"/>
    <p:sldLayoutId id="2147483656" r:id="rId7"/>
    <p:sldLayoutId id="2147483657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ctrTitle"/>
          </p:nvPr>
        </p:nvSpPr>
        <p:spPr>
          <a:xfrm>
            <a:off x="960120" y="950932"/>
            <a:ext cx="9717964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alatino Linotype"/>
              <a:buNone/>
            </a:pPr>
            <a:br>
              <a:rPr lang="en-US" sz="4800" b="1" dirty="0">
                <a:solidFill>
                  <a:srgbClr val="00206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</a:br>
            <a:br>
              <a:rPr lang="en-US" sz="4800" b="1" dirty="0">
                <a:solidFill>
                  <a:srgbClr val="00206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</a:br>
            <a:br>
              <a:rPr lang="en-US" sz="4800" b="1" dirty="0">
                <a:solidFill>
                  <a:srgbClr val="00206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</a:br>
            <a:br>
              <a:rPr lang="en-US" sz="4800" b="1" dirty="0">
                <a:solidFill>
                  <a:srgbClr val="00206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</a:br>
            <a:br>
              <a:rPr lang="en-US" sz="4800" b="1" dirty="0">
                <a:solidFill>
                  <a:srgbClr val="00206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</a:br>
            <a:r>
              <a:rPr lang="en-US" sz="4800" b="1" dirty="0">
                <a:solidFill>
                  <a:srgbClr val="00206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21</a:t>
            </a:r>
            <a:r>
              <a:rPr lang="en-US" sz="4800" b="1" i="0" u="none" strike="noStrike" cap="none" dirty="0">
                <a:solidFill>
                  <a:srgbClr val="00206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CSC201J</a:t>
            </a:r>
            <a:br>
              <a:rPr lang="en-US" sz="4800" b="1" i="0" u="none" strike="noStrike" cap="none" dirty="0">
                <a:solidFill>
                  <a:srgbClr val="00206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</a:br>
            <a:r>
              <a:rPr lang="en-US" sz="4800" b="1" i="0" u="none" strike="noStrike" cap="none" dirty="0">
                <a:solidFill>
                  <a:srgbClr val="00206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DATA STRUCTURES AND ALGORITHMS</a:t>
            </a:r>
            <a:endParaRPr dirty="0">
              <a:solidFill>
                <a:srgbClr val="002060"/>
              </a:solidFill>
            </a:endParaRPr>
          </a:p>
        </p:txBody>
      </p:sp>
      <p:sp>
        <p:nvSpPr>
          <p:cNvPr id="81" name="Google Shape;81;p12"/>
          <p:cNvSpPr txBox="1">
            <a:spLocks noGrp="1"/>
          </p:cNvSpPr>
          <p:nvPr>
            <p:ph type="subTitle" idx="1"/>
          </p:nvPr>
        </p:nvSpPr>
        <p:spPr>
          <a:xfrm>
            <a:off x="1534084" y="4361688"/>
            <a:ext cx="8003108" cy="73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</a:pPr>
            <a:r>
              <a:rPr lang="en-US" sz="2400" b="1" i="0" u="none" strike="noStrike" cap="none" dirty="0">
                <a:solidFill>
                  <a:srgbClr val="C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UNIT 5</a:t>
            </a:r>
            <a:endParaRPr sz="2400" dirty="0">
              <a:solidFill>
                <a:srgbClr val="C00000"/>
              </a:solidFill>
            </a:endParaRPr>
          </a:p>
        </p:txBody>
      </p:sp>
      <p:sp>
        <p:nvSpPr>
          <p:cNvPr id="82" name="Google Shape;82;p12"/>
          <p:cNvSpPr txBox="1"/>
          <p:nvPr/>
        </p:nvSpPr>
        <p:spPr>
          <a:xfrm>
            <a:off x="7104637" y="3886451"/>
            <a:ext cx="4208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AE4E38-81C7-DE29-6677-37F439008DD8}"/>
              </a:ext>
            </a:extLst>
          </p:cNvPr>
          <p:cNvSpPr txBox="1"/>
          <p:nvPr/>
        </p:nvSpPr>
        <p:spPr>
          <a:xfrm>
            <a:off x="2800350" y="3519469"/>
            <a:ext cx="60944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Times New Roman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Dijkstra’s Algorithm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1" name="Google Shape;1661;p133"/>
          <p:cNvSpPr/>
          <p:nvPr/>
        </p:nvSpPr>
        <p:spPr>
          <a:xfrm>
            <a:off x="838200" y="1131888"/>
            <a:ext cx="10515600" cy="5232400"/>
          </a:xfrm>
          <a:custGeom>
            <a:avLst/>
            <a:gdLst/>
            <a:ahLst/>
            <a:cxnLst/>
            <a:rect l="l" t="t" r="r" b="b"/>
            <a:pathLst>
              <a:path w="10515600" h="5232400" extrusionOk="0">
                <a:moveTo>
                  <a:pt x="0" y="5231892"/>
                </a:moveTo>
                <a:lnTo>
                  <a:pt x="10515600" y="5231892"/>
                </a:lnTo>
                <a:lnTo>
                  <a:pt x="10515600" y="0"/>
                </a:lnTo>
                <a:lnTo>
                  <a:pt x="0" y="0"/>
                </a:lnTo>
                <a:lnTo>
                  <a:pt x="0" y="5231892"/>
                </a:lnTo>
                <a:close/>
              </a:path>
            </a:pathLst>
          </a:custGeom>
          <a:noFill/>
          <a:ln w="381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2" name="Google Shape;1662;p133"/>
          <p:cNvSpPr txBox="1"/>
          <p:nvPr/>
        </p:nvSpPr>
        <p:spPr>
          <a:xfrm>
            <a:off x="917575" y="246063"/>
            <a:ext cx="8774113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225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Times New Roman"/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Dijkstra's algorithm </a:t>
            </a:r>
            <a:endParaRPr sz="4000" b="1" i="0" u="none" strike="noStrike" cap="none" dirty="0">
              <a:solidFill>
                <a:srgbClr val="2147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3" name="Google Shape;1663;p133"/>
          <p:cNvSpPr txBox="1"/>
          <p:nvPr/>
        </p:nvSpPr>
        <p:spPr>
          <a:xfrm>
            <a:off x="1127125" y="1371600"/>
            <a:ext cx="9577388" cy="4594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sng" strike="noStrike" cap="non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Dijkstra's algorithm</a:t>
            </a:r>
            <a:r>
              <a:rPr lang="en-US" sz="2800" b="1" i="0" u="none" strike="noStrike" cap="non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strike="noStrike" cap="non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en-US" sz="2800" b="1" i="0" u="none" strike="noStrike" cap="non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strike="noStrike" cap="non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 solution to the single-source shortest path problem in graph theory. 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Works on both directed and undirected graphs. However, all edges must have nonnegative weights.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4444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Input:</a:t>
            </a:r>
            <a:r>
              <a:rPr lang="en-US" sz="2800" b="0" i="0" u="none" strike="noStrike" cap="non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Weighted graph G={E,V} and source vertex </a:t>
            </a:r>
            <a:r>
              <a:rPr lang="en-US" sz="2800" b="0" i="1" u="none" strike="noStrike" cap="non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∈</a:t>
            </a:r>
            <a:r>
              <a:rPr lang="en-US" sz="2800" b="0" i="0" u="none" strike="noStrike" cap="non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V, such that all edge weights are nonnegative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r>
              <a:rPr lang="en-US" sz="2800" b="0" i="0" u="none" strike="noStrike" cap="non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Lengths of shortest paths (or the shortest paths themselves) from a given source vertex</a:t>
            </a:r>
            <a:r>
              <a:rPr lang="en-US" sz="2800" b="0" i="1" u="none" strike="noStrike" cap="non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∈</a:t>
            </a:r>
            <a:r>
              <a:rPr lang="en-US" sz="2800" b="0" i="0" u="none" strike="noStrike" cap="non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  to all other vertices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" name="Google Shape;1669;p134"/>
          <p:cNvSpPr/>
          <p:nvPr/>
        </p:nvSpPr>
        <p:spPr>
          <a:xfrm>
            <a:off x="838200" y="1131888"/>
            <a:ext cx="10515600" cy="5232400"/>
          </a:xfrm>
          <a:custGeom>
            <a:avLst/>
            <a:gdLst/>
            <a:ahLst/>
            <a:cxnLst/>
            <a:rect l="l" t="t" r="r" b="b"/>
            <a:pathLst>
              <a:path w="10515600" h="5232400" extrusionOk="0">
                <a:moveTo>
                  <a:pt x="0" y="5231892"/>
                </a:moveTo>
                <a:lnTo>
                  <a:pt x="10515600" y="5231892"/>
                </a:lnTo>
                <a:lnTo>
                  <a:pt x="10515600" y="0"/>
                </a:lnTo>
                <a:lnTo>
                  <a:pt x="0" y="0"/>
                </a:lnTo>
                <a:lnTo>
                  <a:pt x="0" y="5231892"/>
                </a:lnTo>
                <a:close/>
              </a:path>
            </a:pathLst>
          </a:custGeom>
          <a:noFill/>
          <a:ln w="381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0" name="Google Shape;1670;p134"/>
          <p:cNvSpPr txBox="1"/>
          <p:nvPr/>
        </p:nvSpPr>
        <p:spPr>
          <a:xfrm>
            <a:off x="917575" y="246063"/>
            <a:ext cx="8774113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225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Times New Roman"/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Dijkstra's algorithm </a:t>
            </a:r>
            <a:endParaRPr sz="4000" b="1" i="0" u="none" strike="noStrike" cap="none">
              <a:solidFill>
                <a:srgbClr val="2147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1" name="Google Shape;1671;p134"/>
          <p:cNvSpPr txBox="1"/>
          <p:nvPr/>
        </p:nvSpPr>
        <p:spPr>
          <a:xfrm>
            <a:off x="1127125" y="1341438"/>
            <a:ext cx="10009188" cy="42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Procedure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uses greedy technique.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proceeds in stages.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selects a vertex v, which has the smallest d</a:t>
            </a:r>
            <a:r>
              <a:rPr lang="en-US" sz="2400" b="0" i="0" u="none" strike="noStrike" cap="none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among all the unknown vertices and declares the shortest path from s to v is known.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remainder consists of updating the value of d</a:t>
            </a:r>
            <a:r>
              <a:rPr lang="en-US" sz="2400" b="0" i="0" u="none" strike="noStrike" cap="none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should  d</a:t>
            </a:r>
            <a:r>
              <a:rPr lang="en-US" sz="2400" b="0" i="0" u="none" strike="noStrike" cap="none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= d</a:t>
            </a:r>
            <a:r>
              <a:rPr lang="en-US" sz="2400" b="0" i="0" u="none" strike="noStrike" cap="none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+ C</a:t>
            </a:r>
            <a:r>
              <a:rPr lang="en-US" sz="2400" b="0" i="0" u="none" strike="noStrike" cap="none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v, w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if the new value for d</a:t>
            </a:r>
            <a:r>
              <a:rPr lang="en-US" sz="2400" b="0" i="0" u="none" strike="noStrike" cap="none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would an improvement.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"/>
              <a:buChar char="❖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Dijkstra’s algorithm can be implemented using list with a time complexity of O(v2).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"/>
              <a:buChar char="❖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a binary heap is used for implementation then time complexity can be reduced to O(E log V).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" name="Google Shape;1676;p135"/>
          <p:cNvSpPr txBox="1">
            <a:spLocks noGrp="1"/>
          </p:cNvSpPr>
          <p:nvPr>
            <p:ph type="title"/>
          </p:nvPr>
        </p:nvSpPr>
        <p:spPr>
          <a:xfrm>
            <a:off x="1712913" y="358775"/>
            <a:ext cx="8407400" cy="492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50000"/>
              <a:buNone/>
            </a:pPr>
            <a:r>
              <a:rPr lang="en-US" sz="4000" b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DIJKSTRA’S ALGORITHM- Example</a:t>
            </a:r>
            <a:endParaRPr sz="40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77" name="Google Shape;1677;p13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56950" y="936600"/>
            <a:ext cx="4641900" cy="249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8" name="Google Shape;1678;p135"/>
          <p:cNvSpPr/>
          <p:nvPr/>
        </p:nvSpPr>
        <p:spPr>
          <a:xfrm>
            <a:off x="641025" y="850900"/>
            <a:ext cx="10909935" cy="5415534"/>
          </a:xfrm>
          <a:custGeom>
            <a:avLst/>
            <a:gdLst/>
            <a:ahLst/>
            <a:cxnLst/>
            <a:rect l="l" t="t" r="r" b="b"/>
            <a:pathLst>
              <a:path w="10515600" h="5232400" extrusionOk="0">
                <a:moveTo>
                  <a:pt x="0" y="5231892"/>
                </a:moveTo>
                <a:lnTo>
                  <a:pt x="10515600" y="5231892"/>
                </a:lnTo>
                <a:lnTo>
                  <a:pt x="10515600" y="0"/>
                </a:lnTo>
                <a:lnTo>
                  <a:pt x="0" y="0"/>
                </a:lnTo>
                <a:lnTo>
                  <a:pt x="0" y="5231892"/>
                </a:lnTo>
                <a:close/>
              </a:path>
            </a:pathLst>
          </a:custGeom>
          <a:noFill/>
          <a:ln w="381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V1 is taken as source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79" name="Google Shape;1679;p135"/>
          <p:cNvGraphicFramePr/>
          <p:nvPr/>
        </p:nvGraphicFramePr>
        <p:xfrm>
          <a:off x="6816350" y="1497308"/>
          <a:ext cx="3369500" cy="3515120"/>
        </p:xfrm>
        <a:graphic>
          <a:graphicData uri="http://schemas.openxmlformats.org/drawingml/2006/table">
            <a:tbl>
              <a:tblPr>
                <a:noFill/>
                <a:tableStyleId>{73CD5F7C-FBD6-494D-867C-78908F8B1FDC}</a:tableStyleId>
              </a:tblPr>
              <a:tblGrid>
                <a:gridCol w="842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2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2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2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v</a:t>
                      </a:r>
                      <a:endParaRPr sz="16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Known</a:t>
                      </a:r>
                      <a:endParaRPr sz="16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/>
                        <a:t>d</a:t>
                      </a:r>
                      <a:r>
                        <a:rPr lang="en-US" sz="1300" u="none" strike="noStrike" cap="none" baseline="-25000"/>
                        <a:t>v</a:t>
                      </a:r>
                      <a:endParaRPr sz="1300" u="none" strike="noStrike" cap="none" baseline="-25000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/>
                        <a:t>p</a:t>
                      </a:r>
                      <a:r>
                        <a:rPr lang="en-US" sz="1300" u="none" strike="noStrike" cap="none" baseline="-25000"/>
                        <a:t>v</a:t>
                      </a:r>
                      <a:endParaRPr sz="1300" u="none" strike="noStrike" cap="none" baseline="-25000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/>
                        <a:t>V</a:t>
                      </a:r>
                      <a:r>
                        <a:rPr lang="en-US" sz="1300" u="none" strike="noStrike" cap="none" baseline="-25000"/>
                        <a:t>1</a:t>
                      </a:r>
                      <a:endParaRPr sz="1300" u="none" strike="noStrike" cap="none" baseline="-25000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1</a:t>
                      </a:r>
                      <a:endParaRPr sz="16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0</a:t>
                      </a:r>
                      <a:endParaRPr sz="16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0</a:t>
                      </a:r>
                      <a:endParaRPr sz="16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/>
                        <a:t>V</a:t>
                      </a:r>
                      <a:r>
                        <a:rPr lang="en-US" sz="1300" u="none" strike="noStrike" cap="none" baseline="-25000"/>
                        <a:t>2</a:t>
                      </a:r>
                      <a:endParaRPr sz="1300" u="none" strike="noStrike" cap="none" baseline="-25000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0</a:t>
                      </a:r>
                      <a:endParaRPr sz="16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∞</a:t>
                      </a:r>
                      <a:endParaRPr sz="16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0</a:t>
                      </a:r>
                      <a:endParaRPr sz="16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/>
                        <a:t>V</a:t>
                      </a:r>
                      <a:r>
                        <a:rPr lang="en-US" sz="1300" u="none" strike="noStrike" cap="none" baseline="-25000"/>
                        <a:t>3</a:t>
                      </a:r>
                      <a:endParaRPr sz="1300" u="none" strike="noStrike" cap="none" baseline="-25000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0</a:t>
                      </a:r>
                      <a:endParaRPr sz="16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∞</a:t>
                      </a:r>
                      <a:endParaRPr sz="16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0</a:t>
                      </a:r>
                      <a:endParaRPr sz="16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/>
                        <a:t>V</a:t>
                      </a:r>
                      <a:r>
                        <a:rPr lang="en-US" sz="1300" u="none" strike="noStrike" cap="none" baseline="-25000"/>
                        <a:t>4</a:t>
                      </a:r>
                      <a:endParaRPr sz="1300" u="none" strike="noStrike" cap="none" baseline="-25000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0</a:t>
                      </a:r>
                      <a:endParaRPr sz="16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∞</a:t>
                      </a:r>
                      <a:endParaRPr sz="16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0</a:t>
                      </a:r>
                      <a:endParaRPr sz="16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/>
                        <a:t>V</a:t>
                      </a:r>
                      <a:r>
                        <a:rPr lang="en-US" sz="1300" u="none" strike="noStrike" cap="none" baseline="-25000"/>
                        <a:t>5</a:t>
                      </a:r>
                      <a:endParaRPr sz="1300" u="none" strike="noStrike" cap="none" baseline="-25000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0</a:t>
                      </a:r>
                      <a:endParaRPr sz="16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∞</a:t>
                      </a:r>
                      <a:endParaRPr sz="16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0</a:t>
                      </a:r>
                      <a:endParaRPr sz="16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/>
                        <a:t>V</a:t>
                      </a:r>
                      <a:r>
                        <a:rPr lang="en-US" sz="1300" u="none" strike="noStrike" cap="none" baseline="-25000"/>
                        <a:t>6</a:t>
                      </a:r>
                      <a:endParaRPr sz="1300" u="none" strike="noStrike" cap="none" baseline="-25000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0</a:t>
                      </a:r>
                      <a:endParaRPr sz="16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∞</a:t>
                      </a:r>
                      <a:endParaRPr sz="16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0</a:t>
                      </a:r>
                      <a:endParaRPr sz="16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/>
                        <a:t>V</a:t>
                      </a:r>
                      <a:r>
                        <a:rPr lang="en-US" sz="1300" u="none" strike="noStrike" cap="none" baseline="-25000"/>
                        <a:t>7</a:t>
                      </a:r>
                      <a:endParaRPr sz="1300" u="none" strike="noStrike" cap="none" baseline="-25000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0</a:t>
                      </a:r>
                      <a:endParaRPr sz="16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∞</a:t>
                      </a:r>
                      <a:endParaRPr sz="16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0</a:t>
                      </a:r>
                      <a:endParaRPr sz="16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1680" name="Google Shape;1680;p1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18925" y="3514700"/>
            <a:ext cx="4114675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5" name="Google Shape;1685;p136"/>
          <p:cNvSpPr txBox="1">
            <a:spLocks noGrp="1"/>
          </p:cNvSpPr>
          <p:nvPr>
            <p:ph type="title"/>
          </p:nvPr>
        </p:nvSpPr>
        <p:spPr>
          <a:xfrm>
            <a:off x="1271588" y="474663"/>
            <a:ext cx="8772525" cy="506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50000"/>
              <a:buNone/>
            </a:pPr>
            <a:r>
              <a:rPr lang="en-US" sz="4000" b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DIJKSTRA’S ALGORITHM-Example</a:t>
            </a:r>
            <a:endParaRPr sz="40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86" name="Google Shape;1686;p13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43816" r="61331"/>
          <a:stretch/>
        </p:blipFill>
        <p:spPr>
          <a:xfrm>
            <a:off x="764950" y="1097425"/>
            <a:ext cx="3135300" cy="275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7" name="Google Shape;1687;p136"/>
          <p:cNvSpPr/>
          <p:nvPr/>
        </p:nvSpPr>
        <p:spPr>
          <a:xfrm>
            <a:off x="667325" y="981075"/>
            <a:ext cx="10857357" cy="5232400"/>
          </a:xfrm>
          <a:custGeom>
            <a:avLst/>
            <a:gdLst/>
            <a:ahLst/>
            <a:cxnLst/>
            <a:rect l="l" t="t" r="r" b="b"/>
            <a:pathLst>
              <a:path w="10515600" h="5232400" extrusionOk="0">
                <a:moveTo>
                  <a:pt x="0" y="5231892"/>
                </a:moveTo>
                <a:lnTo>
                  <a:pt x="10515600" y="5231892"/>
                </a:lnTo>
                <a:lnTo>
                  <a:pt x="10515600" y="0"/>
                </a:lnTo>
                <a:lnTo>
                  <a:pt x="0" y="0"/>
                </a:lnTo>
                <a:lnTo>
                  <a:pt x="0" y="5231892"/>
                </a:lnTo>
                <a:close/>
              </a:path>
            </a:pathLst>
          </a:custGeom>
          <a:noFill/>
          <a:ln w="381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Now V</a:t>
            </a:r>
            <a:r>
              <a:rPr lang="en-US" sz="1400" b="0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known vertex, marked as 1. Its adjacent vertices are v</a:t>
            </a:r>
            <a:r>
              <a:rPr lang="en-US" sz="1400" b="0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v</a:t>
            </a:r>
            <a:r>
              <a:rPr lang="en-US" sz="1400" b="0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p</a:t>
            </a:r>
            <a:r>
              <a:rPr lang="en-US" sz="1400" b="0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d</a:t>
            </a:r>
            <a:r>
              <a:rPr lang="en-US" sz="1400" b="0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endParaRPr sz="1400" b="0" i="0" u="none" strike="noStrike" cap="none" baseline="-25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values are updated.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T[v</a:t>
            </a:r>
            <a:r>
              <a:rPr lang="en-US" sz="1400" b="0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].dist = Min(T[v</a:t>
            </a:r>
            <a:r>
              <a:rPr lang="en-US" sz="1400" b="0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].dist,T[v</a:t>
            </a:r>
            <a:r>
              <a:rPr lang="en-US" sz="1400" b="0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].dist + Cv1, v2)=Min(α, 0+2)=2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T[v</a:t>
            </a:r>
            <a:r>
              <a:rPr lang="en-US" sz="1400" b="0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].dist = Min(T[v</a:t>
            </a:r>
            <a:r>
              <a:rPr lang="en-US" sz="1400" b="0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].dist,T[v</a:t>
            </a:r>
            <a:r>
              <a:rPr lang="en-US" sz="1400" b="0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].dist + Cv1, v2)=Min(α, 0+1)=1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88" name="Google Shape;1688;p136"/>
          <p:cNvGraphicFramePr/>
          <p:nvPr/>
        </p:nvGraphicFramePr>
        <p:xfrm>
          <a:off x="7794225" y="1487450"/>
          <a:ext cx="2778950" cy="3387104"/>
        </p:xfrm>
        <a:graphic>
          <a:graphicData uri="http://schemas.openxmlformats.org/drawingml/2006/table">
            <a:tbl>
              <a:tblPr>
                <a:noFill/>
                <a:tableStyleId>{73CD5F7C-FBD6-494D-867C-78908F8B1FDC}</a:tableStyleId>
              </a:tblPr>
              <a:tblGrid>
                <a:gridCol w="686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2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3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6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strike="noStrike" cap="none"/>
                        <a:t>v</a:t>
                      </a:r>
                      <a:endParaRPr sz="15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strike="noStrike" cap="none"/>
                        <a:t>Known</a:t>
                      </a:r>
                      <a:endParaRPr sz="15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d</a:t>
                      </a:r>
                      <a:r>
                        <a:rPr lang="en-US" sz="1200" u="none" strike="noStrike" cap="none" baseline="-25000"/>
                        <a:t>v</a:t>
                      </a:r>
                      <a:endParaRPr sz="1200" u="none" strike="noStrike" cap="none" baseline="-25000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p</a:t>
                      </a:r>
                      <a:r>
                        <a:rPr lang="en-US" sz="1200" u="none" strike="noStrike" cap="none" baseline="-25000"/>
                        <a:t>v</a:t>
                      </a:r>
                      <a:endParaRPr sz="1200" u="none" strike="noStrike" cap="none" baseline="-25000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V</a:t>
                      </a:r>
                      <a:r>
                        <a:rPr lang="en-US" sz="1200" u="none" strike="noStrike" cap="none" baseline="-25000"/>
                        <a:t>1</a:t>
                      </a:r>
                      <a:endParaRPr sz="1200" u="none" strike="noStrike" cap="none" baseline="-25000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strike="noStrike" cap="none"/>
                        <a:t>1</a:t>
                      </a:r>
                      <a:endParaRPr sz="15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strike="noStrike" cap="none"/>
                        <a:t>0</a:t>
                      </a:r>
                      <a:endParaRPr sz="15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strike="noStrike" cap="none"/>
                        <a:t>0</a:t>
                      </a:r>
                      <a:endParaRPr sz="15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V</a:t>
                      </a:r>
                      <a:r>
                        <a:rPr lang="en-US" sz="1200" u="none" strike="noStrike" cap="none" baseline="-25000"/>
                        <a:t>2</a:t>
                      </a:r>
                      <a:endParaRPr sz="1200" u="none" strike="noStrike" cap="none" baseline="-25000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strike="noStrike" cap="none"/>
                        <a:t>0</a:t>
                      </a:r>
                      <a:endParaRPr sz="15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strike="noStrike" cap="none"/>
                        <a:t>2</a:t>
                      </a:r>
                      <a:endParaRPr sz="15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V</a:t>
                      </a:r>
                      <a:r>
                        <a:rPr lang="en-US" sz="1200" u="none" strike="noStrike" cap="none" baseline="-25000"/>
                        <a:t>1</a:t>
                      </a:r>
                      <a:endParaRPr sz="1200" u="none" strike="noStrike" cap="none" baseline="-25000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V</a:t>
                      </a:r>
                      <a:r>
                        <a:rPr lang="en-US" sz="1200" u="none" strike="noStrike" cap="none" baseline="-25000"/>
                        <a:t>3</a:t>
                      </a:r>
                      <a:endParaRPr sz="1200" u="none" strike="noStrike" cap="none" baseline="-25000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strike="noStrike" cap="none"/>
                        <a:t>0</a:t>
                      </a:r>
                      <a:endParaRPr sz="15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strike="noStrike" cap="none"/>
                        <a:t>∞</a:t>
                      </a:r>
                      <a:endParaRPr sz="15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strike="noStrike" cap="none"/>
                        <a:t>0</a:t>
                      </a:r>
                      <a:endParaRPr sz="15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V</a:t>
                      </a:r>
                      <a:r>
                        <a:rPr lang="en-US" sz="1200" u="none" strike="noStrike" cap="none" baseline="-25000"/>
                        <a:t>4</a:t>
                      </a:r>
                      <a:endParaRPr sz="1200" u="none" strike="noStrike" cap="none" baseline="-25000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strike="noStrike" cap="none"/>
                        <a:t>0</a:t>
                      </a:r>
                      <a:endParaRPr sz="15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strike="noStrike" cap="none"/>
                        <a:t>1</a:t>
                      </a:r>
                      <a:endParaRPr sz="15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V</a:t>
                      </a:r>
                      <a:r>
                        <a:rPr lang="en-US" sz="1200" u="none" strike="noStrike" cap="none" baseline="-25000"/>
                        <a:t>1</a:t>
                      </a:r>
                      <a:endParaRPr sz="1200" u="none" strike="noStrike" cap="none" baseline="-25000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V</a:t>
                      </a:r>
                      <a:r>
                        <a:rPr lang="en-US" sz="1200" u="none" strike="noStrike" cap="none" baseline="-25000"/>
                        <a:t>5</a:t>
                      </a:r>
                      <a:endParaRPr sz="1200" u="none" strike="noStrike" cap="none" baseline="-25000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strike="noStrike" cap="none"/>
                        <a:t>0</a:t>
                      </a:r>
                      <a:endParaRPr sz="15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strike="noStrike" cap="none"/>
                        <a:t>∞</a:t>
                      </a:r>
                      <a:endParaRPr sz="15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strike="noStrike" cap="none"/>
                        <a:t>0</a:t>
                      </a:r>
                      <a:endParaRPr sz="15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V</a:t>
                      </a:r>
                      <a:r>
                        <a:rPr lang="en-US" sz="1200" u="none" strike="noStrike" cap="none" baseline="-25000"/>
                        <a:t>6</a:t>
                      </a:r>
                      <a:endParaRPr sz="1200" u="none" strike="noStrike" cap="none" baseline="-25000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strike="noStrike" cap="none"/>
                        <a:t>0</a:t>
                      </a:r>
                      <a:endParaRPr sz="15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strike="noStrike" cap="none"/>
                        <a:t>∞</a:t>
                      </a:r>
                      <a:endParaRPr sz="15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strike="noStrike" cap="none"/>
                        <a:t>0</a:t>
                      </a:r>
                      <a:endParaRPr sz="15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V</a:t>
                      </a:r>
                      <a:r>
                        <a:rPr lang="en-US" sz="1200" u="none" strike="noStrike" cap="none" baseline="-25000"/>
                        <a:t>7</a:t>
                      </a:r>
                      <a:endParaRPr sz="1200" u="none" strike="noStrike" cap="none" baseline="-25000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strike="noStrike" cap="none"/>
                        <a:t>0</a:t>
                      </a:r>
                      <a:endParaRPr sz="15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strike="noStrike" cap="none"/>
                        <a:t>∞</a:t>
                      </a:r>
                      <a:endParaRPr sz="15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strike="noStrike" cap="none"/>
                        <a:t>0</a:t>
                      </a:r>
                      <a:endParaRPr sz="15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3" name="Google Shape;1693;p137"/>
          <p:cNvSpPr txBox="1">
            <a:spLocks noGrp="1"/>
          </p:cNvSpPr>
          <p:nvPr>
            <p:ph type="title"/>
          </p:nvPr>
        </p:nvSpPr>
        <p:spPr>
          <a:xfrm>
            <a:off x="1127125" y="487363"/>
            <a:ext cx="8713788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50000"/>
              <a:buNone/>
            </a:pPr>
            <a:r>
              <a:rPr lang="en-US" sz="4000" b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DIJKSTRA’S ALGORITHM- Example</a:t>
            </a:r>
            <a:endParaRPr sz="40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4" name="Google Shape;1694;p137"/>
          <p:cNvSpPr txBox="1">
            <a:spLocks noGrp="1"/>
          </p:cNvSpPr>
          <p:nvPr>
            <p:ph type="body" idx="1"/>
          </p:nvPr>
        </p:nvSpPr>
        <p:spPr>
          <a:xfrm>
            <a:off x="1055688" y="2205038"/>
            <a:ext cx="10009187" cy="15525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45720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  Select the vertex with minimum distance away v</a:t>
            </a:r>
            <a:r>
              <a:rPr lang="en-US" sz="16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and v</a:t>
            </a:r>
            <a:r>
              <a:rPr lang="en-US" sz="16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. v</a:t>
            </a:r>
            <a:r>
              <a:rPr lang="en-US" sz="16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is marked as known vertex. Its adjacent vertices are v</a:t>
            </a:r>
            <a:r>
              <a:rPr lang="en-US" sz="16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</a:t>
            </a:r>
            <a:r>
              <a:rPr lang="en-US" sz="16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</a:t>
            </a:r>
            <a:r>
              <a:rPr lang="en-US" sz="16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and v</a:t>
            </a:r>
            <a:r>
              <a:rPr lang="en-US" sz="16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T[v</a:t>
            </a:r>
            <a:r>
              <a:rPr lang="en-US" sz="16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]. dist = Min (T[v</a:t>
            </a:r>
            <a:r>
              <a:rPr lang="en-US" sz="16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].dist, T[v</a:t>
            </a:r>
            <a:r>
              <a:rPr lang="en-US" sz="16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].dist + Cv</a:t>
            </a:r>
            <a:r>
              <a:rPr lang="en-US" sz="16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</a:t>
            </a:r>
            <a:r>
              <a:rPr lang="en-US" sz="16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Min (α , 1+2) = 3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T[v</a:t>
            </a:r>
            <a:r>
              <a:rPr lang="en-US" sz="16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]. dist = Min (T[v</a:t>
            </a:r>
            <a:r>
              <a:rPr lang="en-US" sz="16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].dist, T[v</a:t>
            </a:r>
            <a:r>
              <a:rPr lang="en-US" sz="16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].dist + Cv</a:t>
            </a:r>
            <a:r>
              <a:rPr lang="en-US" sz="16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</a:t>
            </a:r>
            <a:r>
              <a:rPr lang="en-US" sz="16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Min (α , 1+2) = 3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T[v</a:t>
            </a:r>
            <a:r>
              <a:rPr lang="en-US" sz="16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]. dist = Min (T[v</a:t>
            </a:r>
            <a:r>
              <a:rPr lang="en-US" sz="16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].dist, T[v</a:t>
            </a:r>
            <a:r>
              <a:rPr lang="en-US" sz="16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].dist + Cv</a:t>
            </a:r>
            <a:r>
              <a:rPr lang="en-US" sz="16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</a:t>
            </a:r>
            <a:r>
              <a:rPr lang="en-US" sz="16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Min (α , 1+8) = 9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T[v</a:t>
            </a:r>
            <a:r>
              <a:rPr lang="en-US" sz="16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]. dist = Min (T[v</a:t>
            </a:r>
            <a:r>
              <a:rPr lang="en-US" sz="16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].dist, T[v</a:t>
            </a:r>
            <a:r>
              <a:rPr lang="en-US" sz="16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].dist + Cv</a:t>
            </a:r>
            <a:r>
              <a:rPr lang="en-US" sz="16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</a:t>
            </a:r>
            <a:r>
              <a:rPr lang="en-US" sz="16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Min (α , 1+4) = 5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95" name="Google Shape;1695;p1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5713" y="2981325"/>
            <a:ext cx="5018087" cy="290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6" name="Google Shape;1696;p137"/>
          <p:cNvSpPr/>
          <p:nvPr/>
        </p:nvSpPr>
        <p:spPr>
          <a:xfrm>
            <a:off x="838200" y="1131888"/>
            <a:ext cx="10515600" cy="5232400"/>
          </a:xfrm>
          <a:custGeom>
            <a:avLst/>
            <a:gdLst/>
            <a:ahLst/>
            <a:cxnLst/>
            <a:rect l="l" t="t" r="r" b="b"/>
            <a:pathLst>
              <a:path w="10515600" h="5232400" extrusionOk="0">
                <a:moveTo>
                  <a:pt x="0" y="5231892"/>
                </a:moveTo>
                <a:lnTo>
                  <a:pt x="10515600" y="5231892"/>
                </a:lnTo>
                <a:lnTo>
                  <a:pt x="10515600" y="0"/>
                </a:lnTo>
                <a:lnTo>
                  <a:pt x="0" y="0"/>
                </a:lnTo>
                <a:lnTo>
                  <a:pt x="0" y="5231892"/>
                </a:lnTo>
                <a:close/>
              </a:path>
            </a:pathLst>
          </a:custGeom>
          <a:noFill/>
          <a:ln w="381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1" name="Google Shape;1701;p138"/>
          <p:cNvSpPr txBox="1">
            <a:spLocks noGrp="1"/>
          </p:cNvSpPr>
          <p:nvPr>
            <p:ph type="title"/>
          </p:nvPr>
        </p:nvSpPr>
        <p:spPr>
          <a:xfrm>
            <a:off x="1271588" y="358775"/>
            <a:ext cx="8626475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50000"/>
              <a:buNone/>
            </a:pPr>
            <a:r>
              <a:rPr lang="en-US" sz="4000" b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DIJKSTRA’S ALGORITHM- Example</a:t>
            </a:r>
            <a:endParaRPr sz="40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2" name="Google Shape;1702;p138"/>
          <p:cNvSpPr txBox="1">
            <a:spLocks noGrp="1"/>
          </p:cNvSpPr>
          <p:nvPr>
            <p:ph type="body" idx="1"/>
          </p:nvPr>
        </p:nvSpPr>
        <p:spPr>
          <a:xfrm>
            <a:off x="982663" y="1354138"/>
            <a:ext cx="10226675" cy="1204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  Select the vertex which is shortest distance from source v</a:t>
            </a:r>
            <a:r>
              <a:rPr lang="en-US" sz="20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v</a:t>
            </a:r>
            <a:r>
              <a:rPr lang="en-US" sz="20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is smallest one. v</a:t>
            </a:r>
            <a:r>
              <a:rPr lang="en-US" sz="20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is marked as known vertex. Its adjacent vertices are v</a:t>
            </a:r>
            <a:r>
              <a:rPr lang="en-US" sz="20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ad v</a:t>
            </a:r>
            <a:r>
              <a:rPr lang="en-US" sz="20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The distance from v</a:t>
            </a:r>
            <a:r>
              <a:rPr lang="en-US" sz="20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to v</a:t>
            </a:r>
            <a:r>
              <a:rPr lang="en-US" sz="20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4 </a:t>
            </a:r>
            <a:r>
              <a:rPr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v</a:t>
            </a:r>
            <a:r>
              <a:rPr lang="en-US" sz="20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through v</a:t>
            </a:r>
            <a:r>
              <a:rPr lang="en-US" sz="20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is more comparing with previous value of d</a:t>
            </a:r>
            <a:r>
              <a:rPr lang="en-US" sz="20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No change in d</a:t>
            </a:r>
            <a:r>
              <a:rPr lang="en-US" sz="20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and p</a:t>
            </a:r>
            <a:r>
              <a:rPr lang="en-US" sz="20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value.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03" name="Google Shape;1703;p138"/>
          <p:cNvPicPr preferRelativeResize="0"/>
          <p:nvPr/>
        </p:nvPicPr>
        <p:blipFill rotWithShape="1">
          <a:blip r:embed="rId3">
            <a:alphaModFix/>
          </a:blip>
          <a:srcRect t="2714" r="57982"/>
          <a:stretch/>
        </p:blipFill>
        <p:spPr>
          <a:xfrm>
            <a:off x="1992318" y="2559050"/>
            <a:ext cx="3321801" cy="3295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4" name="Google Shape;1704;p138"/>
          <p:cNvSpPr/>
          <p:nvPr/>
        </p:nvSpPr>
        <p:spPr>
          <a:xfrm>
            <a:off x="838213" y="920638"/>
            <a:ext cx="10515600" cy="5232400"/>
          </a:xfrm>
          <a:custGeom>
            <a:avLst/>
            <a:gdLst/>
            <a:ahLst/>
            <a:cxnLst/>
            <a:rect l="l" t="t" r="r" b="b"/>
            <a:pathLst>
              <a:path w="10515600" h="5232400" extrusionOk="0">
                <a:moveTo>
                  <a:pt x="0" y="5231892"/>
                </a:moveTo>
                <a:lnTo>
                  <a:pt x="10515600" y="5231892"/>
                </a:lnTo>
                <a:lnTo>
                  <a:pt x="10515600" y="0"/>
                </a:lnTo>
                <a:lnTo>
                  <a:pt x="0" y="0"/>
                </a:lnTo>
                <a:lnTo>
                  <a:pt x="0" y="5231892"/>
                </a:lnTo>
                <a:close/>
              </a:path>
            </a:pathLst>
          </a:custGeom>
          <a:noFill/>
          <a:ln w="381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05" name="Google Shape;1705;p138"/>
          <p:cNvGraphicFramePr/>
          <p:nvPr/>
        </p:nvGraphicFramePr>
        <p:xfrm>
          <a:off x="7613675" y="2500123"/>
          <a:ext cx="2902000" cy="3515120"/>
        </p:xfrm>
        <a:graphic>
          <a:graphicData uri="http://schemas.openxmlformats.org/drawingml/2006/table">
            <a:tbl>
              <a:tblPr>
                <a:noFill/>
                <a:tableStyleId>{73CD5F7C-FBD6-494D-867C-78908F8B1FDC}</a:tableStyleId>
              </a:tblPr>
              <a:tblGrid>
                <a:gridCol w="76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6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3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6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v</a:t>
                      </a:r>
                      <a:endParaRPr sz="16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Known</a:t>
                      </a:r>
                      <a:endParaRPr sz="16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/>
                        <a:t>d</a:t>
                      </a:r>
                      <a:r>
                        <a:rPr lang="en-US" sz="1300" u="none" strike="noStrike" cap="none" baseline="-25000"/>
                        <a:t>v</a:t>
                      </a:r>
                      <a:endParaRPr sz="1300" u="none" strike="noStrike" cap="none" baseline="-25000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/>
                        <a:t>p</a:t>
                      </a:r>
                      <a:r>
                        <a:rPr lang="en-US" sz="1300" u="none" strike="noStrike" cap="none" baseline="-25000"/>
                        <a:t>v</a:t>
                      </a:r>
                      <a:endParaRPr sz="1300" u="none" strike="noStrike" cap="none" baseline="-25000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/>
                        <a:t>V</a:t>
                      </a:r>
                      <a:r>
                        <a:rPr lang="en-US" sz="1300" u="none" strike="noStrike" cap="none" baseline="-25000"/>
                        <a:t>1</a:t>
                      </a:r>
                      <a:endParaRPr sz="1300" u="none" strike="noStrike" cap="none" baseline="-25000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1</a:t>
                      </a:r>
                      <a:endParaRPr sz="16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0</a:t>
                      </a:r>
                      <a:endParaRPr sz="16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0</a:t>
                      </a:r>
                      <a:endParaRPr sz="16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/>
                        <a:t>V</a:t>
                      </a:r>
                      <a:r>
                        <a:rPr lang="en-US" sz="1300" u="none" strike="noStrike" cap="none" baseline="-25000"/>
                        <a:t>2</a:t>
                      </a:r>
                      <a:endParaRPr sz="1300" u="none" strike="noStrike" cap="none" baseline="-25000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1</a:t>
                      </a:r>
                      <a:endParaRPr sz="16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2</a:t>
                      </a:r>
                      <a:endParaRPr sz="16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/>
                        <a:t>V</a:t>
                      </a:r>
                      <a:r>
                        <a:rPr lang="en-US" sz="1300" u="none" strike="noStrike" cap="none" baseline="-25000"/>
                        <a:t>1</a:t>
                      </a:r>
                      <a:endParaRPr sz="1300" u="none" strike="noStrike" cap="none" baseline="-25000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/>
                        <a:t>V</a:t>
                      </a:r>
                      <a:r>
                        <a:rPr lang="en-US" sz="1300" u="none" strike="noStrike" cap="none" baseline="-25000"/>
                        <a:t>3</a:t>
                      </a:r>
                      <a:endParaRPr sz="1300" u="none" strike="noStrike" cap="none" baseline="-25000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0</a:t>
                      </a:r>
                      <a:endParaRPr sz="16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3</a:t>
                      </a:r>
                      <a:endParaRPr sz="16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/>
                        <a:t>V</a:t>
                      </a:r>
                      <a:r>
                        <a:rPr lang="en-US" sz="1300" u="none" strike="noStrike" cap="none" baseline="-25000"/>
                        <a:t>4</a:t>
                      </a:r>
                      <a:endParaRPr sz="1300" u="none" strike="noStrike" cap="none" baseline="-25000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/>
                        <a:t>V</a:t>
                      </a:r>
                      <a:r>
                        <a:rPr lang="en-US" sz="1300" u="none" strike="noStrike" cap="none" baseline="-25000"/>
                        <a:t>4</a:t>
                      </a:r>
                      <a:endParaRPr sz="1300" u="none" strike="noStrike" cap="none" baseline="-25000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1</a:t>
                      </a:r>
                      <a:endParaRPr sz="16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1</a:t>
                      </a:r>
                      <a:endParaRPr sz="16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/>
                        <a:t>V</a:t>
                      </a:r>
                      <a:r>
                        <a:rPr lang="en-US" sz="1300" u="none" strike="noStrike" cap="none" baseline="-25000"/>
                        <a:t>1</a:t>
                      </a:r>
                      <a:endParaRPr sz="1300" u="none" strike="noStrike" cap="none" baseline="-25000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/>
                        <a:t>V</a:t>
                      </a:r>
                      <a:r>
                        <a:rPr lang="en-US" sz="1300" u="none" strike="noStrike" cap="none" baseline="-25000"/>
                        <a:t>5</a:t>
                      </a:r>
                      <a:endParaRPr sz="1300" u="none" strike="noStrike" cap="none" baseline="-25000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0</a:t>
                      </a:r>
                      <a:endParaRPr sz="16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3</a:t>
                      </a:r>
                      <a:endParaRPr sz="16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/>
                        <a:t>V</a:t>
                      </a:r>
                      <a:r>
                        <a:rPr lang="en-US" sz="1300" u="none" strike="noStrike" cap="none" baseline="-25000"/>
                        <a:t>4</a:t>
                      </a:r>
                      <a:endParaRPr sz="1300" u="none" strike="noStrike" cap="none" baseline="-25000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/>
                        <a:t>V</a:t>
                      </a:r>
                      <a:r>
                        <a:rPr lang="en-US" sz="1300" u="none" strike="noStrike" cap="none" baseline="-25000"/>
                        <a:t>6</a:t>
                      </a:r>
                      <a:endParaRPr sz="1300" u="none" strike="noStrike" cap="none" baseline="-25000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0</a:t>
                      </a:r>
                      <a:endParaRPr sz="16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9</a:t>
                      </a:r>
                      <a:endParaRPr sz="16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/>
                        <a:t>V</a:t>
                      </a:r>
                      <a:r>
                        <a:rPr lang="en-US" sz="1300" u="none" strike="noStrike" cap="none" baseline="-25000"/>
                        <a:t>4</a:t>
                      </a:r>
                      <a:endParaRPr sz="1300" u="none" strike="noStrike" cap="none" baseline="-25000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/>
                        <a:t>V</a:t>
                      </a:r>
                      <a:r>
                        <a:rPr lang="en-US" sz="1300" u="none" strike="noStrike" cap="none" baseline="-25000"/>
                        <a:t>7</a:t>
                      </a:r>
                      <a:endParaRPr sz="1300" u="none" strike="noStrike" cap="none" baseline="-25000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0</a:t>
                      </a:r>
                      <a:endParaRPr sz="16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5</a:t>
                      </a:r>
                      <a:endParaRPr sz="16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/>
                        <a:t>V</a:t>
                      </a:r>
                      <a:r>
                        <a:rPr lang="en-US" sz="1300" u="none" strike="noStrike" cap="none" baseline="-25000"/>
                        <a:t>4</a:t>
                      </a:r>
                      <a:endParaRPr sz="1300" u="none" strike="noStrike" cap="none" baseline="-25000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" name="Google Shape;1710;p139"/>
          <p:cNvSpPr txBox="1">
            <a:spLocks noGrp="1"/>
          </p:cNvSpPr>
          <p:nvPr>
            <p:ph type="title"/>
          </p:nvPr>
        </p:nvSpPr>
        <p:spPr>
          <a:xfrm>
            <a:off x="838200" y="458788"/>
            <a:ext cx="88582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 b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DIJKSTRA’S ALGORITHM- Example</a:t>
            </a:r>
            <a:endParaRPr sz="40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1" name="Google Shape;1711;p139"/>
          <p:cNvSpPr txBox="1">
            <a:spLocks noGrp="1"/>
          </p:cNvSpPr>
          <p:nvPr>
            <p:ph type="body" idx="1"/>
          </p:nvPr>
        </p:nvSpPr>
        <p:spPr>
          <a:xfrm>
            <a:off x="911225" y="1185863"/>
            <a:ext cx="10298113" cy="15462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 Select the smallest vertex from source. v</a:t>
            </a:r>
            <a:r>
              <a:rPr lang="en-US" sz="16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and v</a:t>
            </a:r>
            <a:r>
              <a:rPr lang="en-US" sz="16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are smallest one. Adjacent vertices for v</a:t>
            </a:r>
            <a:r>
              <a:rPr lang="en-US" sz="16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is v</a:t>
            </a:r>
            <a:r>
              <a:rPr lang="en-US" sz="16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and v</a:t>
            </a:r>
            <a:r>
              <a:rPr lang="en-US" sz="16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v</a:t>
            </a:r>
            <a:r>
              <a:rPr lang="en-US" sz="16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is source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there is no change in dv and pv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T[v</a:t>
            </a:r>
            <a:r>
              <a:rPr lang="en-US" sz="16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]. dist = Min (T[v</a:t>
            </a:r>
            <a:r>
              <a:rPr lang="en-US" sz="16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].dist, T[v</a:t>
            </a:r>
            <a:r>
              <a:rPr lang="en-US" sz="16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].dist + Cv</a:t>
            </a:r>
            <a:r>
              <a:rPr lang="en-US" sz="16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</a:t>
            </a:r>
            <a:r>
              <a:rPr lang="en-US" sz="16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Min (9 , 3+5) = 8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16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and p</a:t>
            </a:r>
            <a:r>
              <a:rPr lang="en-US" sz="16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values are updated. Adjacent vertices for v</a:t>
            </a:r>
            <a:r>
              <a:rPr lang="en-US" sz="16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is v</a:t>
            </a:r>
            <a:r>
              <a:rPr lang="en-US" sz="16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No change in d</a:t>
            </a:r>
            <a:r>
              <a:rPr lang="en-US" sz="16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and p</a:t>
            </a:r>
            <a:r>
              <a:rPr lang="en-US" sz="16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value.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12" name="Google Shape;1712;p1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03838" y="3068638"/>
            <a:ext cx="5729287" cy="3259137"/>
          </a:xfrm>
          <a:prstGeom prst="rect">
            <a:avLst/>
          </a:prstGeom>
          <a:noFill/>
          <a:ln>
            <a:noFill/>
          </a:ln>
        </p:spPr>
      </p:pic>
      <p:sp>
        <p:nvSpPr>
          <p:cNvPr id="1713" name="Google Shape;1713;p139"/>
          <p:cNvSpPr/>
          <p:nvPr/>
        </p:nvSpPr>
        <p:spPr>
          <a:xfrm>
            <a:off x="838200" y="1131888"/>
            <a:ext cx="10515600" cy="5232400"/>
          </a:xfrm>
          <a:custGeom>
            <a:avLst/>
            <a:gdLst/>
            <a:ahLst/>
            <a:cxnLst/>
            <a:rect l="l" t="t" r="r" b="b"/>
            <a:pathLst>
              <a:path w="10515600" h="5232400" extrusionOk="0">
                <a:moveTo>
                  <a:pt x="0" y="5231892"/>
                </a:moveTo>
                <a:lnTo>
                  <a:pt x="10515600" y="5231892"/>
                </a:lnTo>
                <a:lnTo>
                  <a:pt x="10515600" y="0"/>
                </a:lnTo>
                <a:lnTo>
                  <a:pt x="0" y="0"/>
                </a:lnTo>
                <a:lnTo>
                  <a:pt x="0" y="5231892"/>
                </a:lnTo>
                <a:close/>
              </a:path>
            </a:pathLst>
          </a:custGeom>
          <a:noFill/>
          <a:ln w="381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Google Shape;1718;p140"/>
          <p:cNvSpPr txBox="1">
            <a:spLocks noGrp="1"/>
          </p:cNvSpPr>
          <p:nvPr>
            <p:ph type="title"/>
          </p:nvPr>
        </p:nvSpPr>
        <p:spPr>
          <a:xfrm>
            <a:off x="766763" y="530225"/>
            <a:ext cx="9409112" cy="450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50000"/>
              <a:buNone/>
            </a:pPr>
            <a:r>
              <a:rPr lang="en-US" sz="4000" b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DIJKSTRA’S ALGORITHM- Example</a:t>
            </a:r>
            <a:endParaRPr sz="40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9" name="Google Shape;1719;p140"/>
          <p:cNvSpPr txBox="1">
            <a:spLocks noGrp="1"/>
          </p:cNvSpPr>
          <p:nvPr>
            <p:ph type="body" idx="1"/>
          </p:nvPr>
        </p:nvSpPr>
        <p:spPr>
          <a:xfrm>
            <a:off x="911225" y="1231900"/>
            <a:ext cx="10369550" cy="12287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45720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Next smallest vertex v</a:t>
            </a:r>
            <a:r>
              <a:rPr lang="en-US" sz="20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Its adjacent vertex is v</a:t>
            </a:r>
            <a:r>
              <a:rPr lang="en-US" sz="20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T[v</a:t>
            </a:r>
            <a:r>
              <a:rPr lang="en-US" sz="20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]. dist = Min (T[v</a:t>
            </a:r>
            <a:r>
              <a:rPr lang="en-US" sz="20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].dist, T[v</a:t>
            </a:r>
            <a:r>
              <a:rPr lang="en-US" sz="20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].dist + Cv</a:t>
            </a:r>
            <a:r>
              <a:rPr lang="en-US" sz="20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</a:t>
            </a:r>
            <a:r>
              <a:rPr lang="en-US" sz="20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Min (8 , 5+1) = 6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0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and p</a:t>
            </a:r>
            <a:r>
              <a:rPr lang="en-US" sz="20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values are updated.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20" name="Google Shape;1720;p140"/>
          <p:cNvPicPr preferRelativeResize="0"/>
          <p:nvPr/>
        </p:nvPicPr>
        <p:blipFill rotWithShape="1">
          <a:blip r:embed="rId3">
            <a:alphaModFix/>
          </a:blip>
          <a:srcRect t="19465" r="50718"/>
          <a:stretch/>
        </p:blipFill>
        <p:spPr>
          <a:xfrm>
            <a:off x="2352675" y="3185223"/>
            <a:ext cx="3855275" cy="299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1" name="Google Shape;1721;p140"/>
          <p:cNvSpPr/>
          <p:nvPr/>
        </p:nvSpPr>
        <p:spPr>
          <a:xfrm>
            <a:off x="911225" y="1083138"/>
            <a:ext cx="10515600" cy="5232400"/>
          </a:xfrm>
          <a:custGeom>
            <a:avLst/>
            <a:gdLst/>
            <a:ahLst/>
            <a:cxnLst/>
            <a:rect l="l" t="t" r="r" b="b"/>
            <a:pathLst>
              <a:path w="10515600" h="5232400" extrusionOk="0">
                <a:moveTo>
                  <a:pt x="0" y="5231892"/>
                </a:moveTo>
                <a:lnTo>
                  <a:pt x="10515600" y="5231892"/>
                </a:lnTo>
                <a:lnTo>
                  <a:pt x="10515600" y="0"/>
                </a:lnTo>
                <a:lnTo>
                  <a:pt x="0" y="0"/>
                </a:lnTo>
                <a:lnTo>
                  <a:pt x="0" y="5231892"/>
                </a:lnTo>
                <a:close/>
              </a:path>
            </a:pathLst>
          </a:custGeom>
          <a:noFill/>
          <a:ln w="381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22" name="Google Shape;1722;p140"/>
          <p:cNvGraphicFramePr/>
          <p:nvPr/>
        </p:nvGraphicFramePr>
        <p:xfrm>
          <a:off x="7745525" y="2330625"/>
          <a:ext cx="2713900" cy="3515120"/>
        </p:xfrm>
        <a:graphic>
          <a:graphicData uri="http://schemas.openxmlformats.org/drawingml/2006/table">
            <a:tbl>
              <a:tblPr>
                <a:noFill/>
                <a:tableStyleId>{73CD5F7C-FBD6-494D-867C-78908F8B1FDC}</a:tableStyleId>
              </a:tblPr>
              <a:tblGrid>
                <a:gridCol w="560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4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4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8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v</a:t>
                      </a:r>
                      <a:endParaRPr sz="16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Known</a:t>
                      </a:r>
                      <a:endParaRPr sz="16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/>
                        <a:t>d</a:t>
                      </a:r>
                      <a:r>
                        <a:rPr lang="en-US" sz="1300" u="none" strike="noStrike" cap="none" baseline="-25000"/>
                        <a:t>v</a:t>
                      </a:r>
                      <a:endParaRPr sz="1300" u="none" strike="noStrike" cap="none" baseline="-25000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/>
                        <a:t>p</a:t>
                      </a:r>
                      <a:r>
                        <a:rPr lang="en-US" sz="1300" u="none" strike="noStrike" cap="none" baseline="-25000"/>
                        <a:t>v</a:t>
                      </a:r>
                      <a:endParaRPr sz="1300" u="none" strike="noStrike" cap="none" baseline="-25000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/>
                        <a:t>V</a:t>
                      </a:r>
                      <a:r>
                        <a:rPr lang="en-US" sz="1300" u="none" strike="noStrike" cap="none" baseline="-25000"/>
                        <a:t>1</a:t>
                      </a:r>
                      <a:endParaRPr sz="1300" u="none" strike="noStrike" cap="none" baseline="-25000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1</a:t>
                      </a:r>
                      <a:endParaRPr sz="16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0</a:t>
                      </a:r>
                      <a:endParaRPr sz="16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0</a:t>
                      </a:r>
                      <a:endParaRPr sz="16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/>
                        <a:t>V</a:t>
                      </a:r>
                      <a:r>
                        <a:rPr lang="en-US" sz="1300" u="none" strike="noStrike" cap="none" baseline="-25000"/>
                        <a:t>2</a:t>
                      </a:r>
                      <a:endParaRPr sz="1300" u="none" strike="noStrike" cap="none" baseline="-25000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1</a:t>
                      </a:r>
                      <a:endParaRPr sz="16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2</a:t>
                      </a:r>
                      <a:endParaRPr sz="16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/>
                        <a:t>V</a:t>
                      </a:r>
                      <a:r>
                        <a:rPr lang="en-US" sz="1300" u="none" strike="noStrike" cap="none" baseline="-25000"/>
                        <a:t>1</a:t>
                      </a:r>
                      <a:endParaRPr sz="1300" u="none" strike="noStrike" cap="none" baseline="-25000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/>
                        <a:t>V</a:t>
                      </a:r>
                      <a:r>
                        <a:rPr lang="en-US" sz="1300" u="none" strike="noStrike" cap="none" baseline="-25000"/>
                        <a:t>3</a:t>
                      </a:r>
                      <a:endParaRPr sz="1300" u="none" strike="noStrike" cap="none" baseline="-25000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1</a:t>
                      </a:r>
                      <a:endParaRPr sz="16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3</a:t>
                      </a:r>
                      <a:endParaRPr sz="16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/>
                        <a:t>V</a:t>
                      </a:r>
                      <a:r>
                        <a:rPr lang="en-US" sz="1300" u="none" strike="noStrike" cap="none" baseline="-25000"/>
                        <a:t>4</a:t>
                      </a:r>
                      <a:endParaRPr sz="1300" u="none" strike="noStrike" cap="none" baseline="-25000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/>
                        <a:t>V</a:t>
                      </a:r>
                      <a:r>
                        <a:rPr lang="en-US" sz="1300" u="none" strike="noStrike" cap="none" baseline="-25000"/>
                        <a:t>4</a:t>
                      </a:r>
                      <a:endParaRPr sz="1300" u="none" strike="noStrike" cap="none" baseline="-25000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1</a:t>
                      </a:r>
                      <a:endParaRPr sz="16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1</a:t>
                      </a:r>
                      <a:endParaRPr sz="16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/>
                        <a:t>V</a:t>
                      </a:r>
                      <a:r>
                        <a:rPr lang="en-US" sz="1300" u="none" strike="noStrike" cap="none" baseline="-25000"/>
                        <a:t>1</a:t>
                      </a:r>
                      <a:endParaRPr sz="1300" u="none" strike="noStrike" cap="none" baseline="-25000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/>
                        <a:t>V</a:t>
                      </a:r>
                      <a:r>
                        <a:rPr lang="en-US" sz="1300" u="none" strike="noStrike" cap="none" baseline="-25000"/>
                        <a:t>5</a:t>
                      </a:r>
                      <a:endParaRPr sz="1300" u="none" strike="noStrike" cap="none" baseline="-25000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1</a:t>
                      </a:r>
                      <a:endParaRPr sz="16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3</a:t>
                      </a:r>
                      <a:endParaRPr sz="16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/>
                        <a:t>V</a:t>
                      </a:r>
                      <a:r>
                        <a:rPr lang="en-US" sz="1300" u="none" strike="noStrike" cap="none" baseline="-25000"/>
                        <a:t>4</a:t>
                      </a:r>
                      <a:endParaRPr sz="1300" u="none" strike="noStrike" cap="none" baseline="-25000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8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/>
                        <a:t>V</a:t>
                      </a:r>
                      <a:r>
                        <a:rPr lang="en-US" sz="1300" u="none" strike="noStrike" cap="none" baseline="-25000"/>
                        <a:t>6</a:t>
                      </a:r>
                      <a:endParaRPr sz="1300" u="none" strike="noStrike" cap="none" baseline="-25000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0</a:t>
                      </a:r>
                      <a:endParaRPr sz="16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6</a:t>
                      </a:r>
                      <a:endParaRPr sz="16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/>
                        <a:t>V</a:t>
                      </a:r>
                      <a:r>
                        <a:rPr lang="en-US" sz="1300" u="none" strike="noStrike" cap="none" baseline="-25000"/>
                        <a:t>7</a:t>
                      </a:r>
                      <a:endParaRPr sz="1300" u="none" strike="noStrike" cap="none" baseline="-25000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/>
                        <a:t>V</a:t>
                      </a:r>
                      <a:r>
                        <a:rPr lang="en-US" sz="1300" u="none" strike="noStrike" cap="none" baseline="-25000"/>
                        <a:t>7</a:t>
                      </a:r>
                      <a:endParaRPr sz="1300" u="none" strike="noStrike" cap="none" baseline="-25000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1</a:t>
                      </a:r>
                      <a:endParaRPr sz="16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5</a:t>
                      </a:r>
                      <a:endParaRPr sz="1600" u="none" strike="noStrike" cap="none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/>
                        <a:t>V</a:t>
                      </a:r>
                      <a:r>
                        <a:rPr lang="en-US" sz="1300" u="none" strike="noStrike" cap="none" baseline="-25000"/>
                        <a:t>4</a:t>
                      </a:r>
                      <a:endParaRPr sz="1300" u="none" strike="noStrike" cap="none" baseline="-25000"/>
                    </a:p>
                  </a:txBody>
                  <a:tcPr marL="68575" marR="68575" marT="91425" marB="91425">
                    <a:lnL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Google Shape;1727;p141"/>
          <p:cNvSpPr txBox="1">
            <a:spLocks noGrp="1"/>
          </p:cNvSpPr>
          <p:nvPr>
            <p:ph type="title"/>
          </p:nvPr>
        </p:nvSpPr>
        <p:spPr>
          <a:xfrm>
            <a:off x="192088" y="401638"/>
            <a:ext cx="9661525" cy="9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 b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DIJKSTRA’S ALGORITHM- Example</a:t>
            </a:r>
            <a:endParaRPr sz="40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8" name="Google Shape;1728;p141"/>
          <p:cNvSpPr txBox="1">
            <a:spLocks noGrp="1"/>
          </p:cNvSpPr>
          <p:nvPr>
            <p:ph type="body" idx="1"/>
          </p:nvPr>
        </p:nvSpPr>
        <p:spPr>
          <a:xfrm>
            <a:off x="911225" y="1189038"/>
            <a:ext cx="10369550" cy="3730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97297"/>
              <a:buChar char="•"/>
            </a:pPr>
            <a:r>
              <a:rPr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 The last vertex v</a:t>
            </a:r>
            <a:r>
              <a:rPr lang="en-US" sz="20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is declared as known. No adjacent vertices for v</a:t>
            </a:r>
            <a:r>
              <a:rPr lang="en-US" sz="20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No updation in the table.</a:t>
            </a:r>
            <a:endParaRPr/>
          </a:p>
          <a:p>
            <a:pPr marL="45720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97297"/>
              <a:buChar char="•"/>
            </a:pPr>
            <a:r>
              <a:rPr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shortest distance from source v</a:t>
            </a:r>
            <a:r>
              <a:rPr lang="en-US" sz="20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to all vertices. v</a:t>
            </a:r>
            <a:r>
              <a:rPr lang="en-US" sz="20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-&gt; v</a:t>
            </a:r>
            <a:r>
              <a:rPr lang="en-US" sz="20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= 2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97297"/>
              <a:buChar char="•"/>
            </a:pPr>
            <a:r>
              <a:rPr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0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-&gt; v</a:t>
            </a:r>
            <a:r>
              <a:rPr lang="en-US" sz="20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= 3 v</a:t>
            </a:r>
            <a:r>
              <a:rPr lang="en-US" sz="20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-&gt; v</a:t>
            </a:r>
            <a:r>
              <a:rPr lang="en-US" sz="20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= 1 v</a:t>
            </a:r>
            <a:r>
              <a:rPr lang="en-US" sz="20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-&gt; v</a:t>
            </a:r>
            <a:r>
              <a:rPr lang="en-US" sz="20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= 3 v</a:t>
            </a:r>
            <a:r>
              <a:rPr lang="en-US" sz="20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-&gt; v</a:t>
            </a:r>
            <a:r>
              <a:rPr lang="en-US" sz="20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= 6 v</a:t>
            </a:r>
            <a:r>
              <a:rPr lang="en-US" sz="20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-&gt; v</a:t>
            </a:r>
            <a:r>
              <a:rPr lang="en-US" sz="2000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= 5</a:t>
            </a:r>
            <a:endParaRPr/>
          </a:p>
          <a:p>
            <a:pPr marL="4572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49688"/>
              <a:buNone/>
            </a:pPr>
            <a:endParaRPr sz="13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9498"/>
              <a:buChar char="•"/>
            </a:pPr>
            <a:r>
              <a:rPr lang="en-US" b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Analysis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9498"/>
              <a:buChar char="•"/>
            </a:pPr>
            <a:r>
              <a:rPr lang="en-US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9498"/>
              <a:buChar char="•"/>
            </a:pPr>
            <a:r>
              <a:rPr lang="en-US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complexity of this algorithm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9498"/>
              <a:buChar char="•"/>
            </a:pPr>
            <a:r>
              <a:rPr lang="en-US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9498"/>
              <a:buChar char="•"/>
            </a:pPr>
            <a:r>
              <a:rPr lang="en-US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O(|E| + |V|</a:t>
            </a:r>
            <a:r>
              <a:rPr lang="en-US" baseline="30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) = O(|V|</a:t>
            </a:r>
            <a:r>
              <a:rPr lang="en-US" baseline="30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49688"/>
              <a:buNone/>
            </a:pPr>
            <a:endParaRPr sz="13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49688"/>
              <a:buNone/>
            </a:pPr>
            <a:endParaRPr sz="13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49688"/>
              <a:buNone/>
            </a:pP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9498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29" name="Google Shape;1729;p1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18150" y="2708275"/>
            <a:ext cx="4876800" cy="3132138"/>
          </a:xfrm>
          <a:prstGeom prst="rect">
            <a:avLst/>
          </a:prstGeom>
          <a:noFill/>
          <a:ln>
            <a:noFill/>
          </a:ln>
        </p:spPr>
      </p:pic>
      <p:sp>
        <p:nvSpPr>
          <p:cNvPr id="1730" name="Google Shape;1730;p141"/>
          <p:cNvSpPr/>
          <p:nvPr/>
        </p:nvSpPr>
        <p:spPr>
          <a:xfrm>
            <a:off x="6026150" y="890588"/>
            <a:ext cx="139700" cy="2762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1" name="Google Shape;1731;p141"/>
          <p:cNvSpPr/>
          <p:nvPr/>
        </p:nvSpPr>
        <p:spPr>
          <a:xfrm>
            <a:off x="6026150" y="890588"/>
            <a:ext cx="139700" cy="2762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2" name="Google Shape;1732;p141"/>
          <p:cNvSpPr/>
          <p:nvPr/>
        </p:nvSpPr>
        <p:spPr>
          <a:xfrm>
            <a:off x="838200" y="1131888"/>
            <a:ext cx="10515600" cy="5232400"/>
          </a:xfrm>
          <a:custGeom>
            <a:avLst/>
            <a:gdLst/>
            <a:ahLst/>
            <a:cxnLst/>
            <a:rect l="l" t="t" r="r" b="b"/>
            <a:pathLst>
              <a:path w="10515600" h="5232400" extrusionOk="0">
                <a:moveTo>
                  <a:pt x="0" y="5231892"/>
                </a:moveTo>
                <a:lnTo>
                  <a:pt x="10515600" y="5231892"/>
                </a:lnTo>
                <a:lnTo>
                  <a:pt x="10515600" y="0"/>
                </a:lnTo>
                <a:lnTo>
                  <a:pt x="0" y="0"/>
                </a:lnTo>
                <a:lnTo>
                  <a:pt x="0" y="5231892"/>
                </a:lnTo>
                <a:close/>
              </a:path>
            </a:pathLst>
          </a:custGeom>
          <a:noFill/>
          <a:ln w="381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8" name="Google Shape;1738;p142"/>
          <p:cNvSpPr/>
          <p:nvPr/>
        </p:nvSpPr>
        <p:spPr>
          <a:xfrm>
            <a:off x="838200" y="1133475"/>
            <a:ext cx="10515600" cy="5232400"/>
          </a:xfrm>
          <a:custGeom>
            <a:avLst/>
            <a:gdLst/>
            <a:ahLst/>
            <a:cxnLst/>
            <a:rect l="l" t="t" r="r" b="b"/>
            <a:pathLst>
              <a:path w="10515600" h="5232400" extrusionOk="0">
                <a:moveTo>
                  <a:pt x="0" y="5231892"/>
                </a:moveTo>
                <a:lnTo>
                  <a:pt x="10515600" y="5231892"/>
                </a:lnTo>
                <a:lnTo>
                  <a:pt x="10515600" y="0"/>
                </a:lnTo>
                <a:lnTo>
                  <a:pt x="0" y="0"/>
                </a:lnTo>
                <a:lnTo>
                  <a:pt x="0" y="5231892"/>
                </a:lnTo>
                <a:close/>
              </a:path>
            </a:pathLst>
          </a:custGeom>
          <a:noFill/>
          <a:ln w="381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9" name="Google Shape;1739;p142"/>
          <p:cNvSpPr txBox="1"/>
          <p:nvPr/>
        </p:nvSpPr>
        <p:spPr>
          <a:xfrm>
            <a:off x="984250" y="241300"/>
            <a:ext cx="8774113" cy="1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225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Times New Roman"/>
              <a:buNone/>
            </a:pPr>
            <a:r>
              <a:rPr lang="en-US" sz="4000" b="1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Routine for prim’s Algorithm</a:t>
            </a:r>
            <a:endParaRPr sz="4000" b="0" i="0" u="none" strike="noStrike" cap="none">
              <a:solidFill>
                <a:srgbClr val="2147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0" name="Google Shape;1740;p142"/>
          <p:cNvSpPr txBox="1"/>
          <p:nvPr/>
        </p:nvSpPr>
        <p:spPr>
          <a:xfrm>
            <a:off x="1127125" y="1174750"/>
            <a:ext cx="8208963" cy="518001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95200" rIns="0" bIns="0" anchor="ctr" anchorCtr="0">
            <a:sp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Dijkstra(Table T)</a:t>
            </a: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5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{</a:t>
            </a: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5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Vertex v, w; for( ; ;)</a:t>
            </a: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5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{</a:t>
            </a: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5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v = smallest unknown distance vertex;</a:t>
            </a: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5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if( v = = NotAVertex)   break;</a:t>
            </a: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5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T[v]. kown = True;</a:t>
            </a: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5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for each w adjacent to v if(!T[w].known)</a:t>
            </a: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5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          if(T[v].Dist + C</a:t>
            </a:r>
            <a:r>
              <a:rPr lang="en-US" sz="1400" b="0" i="0" u="none" strike="noStrike" cap="none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vw</a:t>
            </a:r>
            <a:r>
              <a:rPr lang="en-US" sz="14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&lt; T[w]. Dist)</a:t>
            </a: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5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lang="en-US" sz="14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{/* update w*/</a:t>
            </a:r>
            <a:endParaRPr sz="1400" b="0" i="0" u="none" strike="noStrike" cap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5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      Decrease(T[w]. Dist to T[v].Dist + C</a:t>
            </a:r>
            <a:r>
              <a:rPr lang="en-US" sz="1400" b="0" i="0" u="none" strike="noStrike" cap="none" baseline="-25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vw);</a:t>
            </a: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5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     T[w]. path = v;</a:t>
            </a: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5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}  }</a:t>
            </a: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83000"/>
              </a:lnSpc>
              <a:spcBef>
                <a:spcPts val="5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6" name="Google Shape;1746;p143"/>
          <p:cNvSpPr/>
          <p:nvPr/>
        </p:nvSpPr>
        <p:spPr>
          <a:xfrm>
            <a:off x="838200" y="1133475"/>
            <a:ext cx="10515600" cy="5232400"/>
          </a:xfrm>
          <a:custGeom>
            <a:avLst/>
            <a:gdLst/>
            <a:ahLst/>
            <a:cxnLst/>
            <a:rect l="l" t="t" r="r" b="b"/>
            <a:pathLst>
              <a:path w="10515600" h="5232400" extrusionOk="0">
                <a:moveTo>
                  <a:pt x="0" y="5231892"/>
                </a:moveTo>
                <a:lnTo>
                  <a:pt x="10515600" y="5231892"/>
                </a:lnTo>
                <a:lnTo>
                  <a:pt x="10515600" y="0"/>
                </a:lnTo>
                <a:lnTo>
                  <a:pt x="0" y="0"/>
                </a:lnTo>
                <a:lnTo>
                  <a:pt x="0" y="5231892"/>
                </a:lnTo>
                <a:close/>
              </a:path>
            </a:pathLst>
          </a:custGeom>
          <a:noFill/>
          <a:ln w="381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7" name="Google Shape;1747;p143"/>
          <p:cNvSpPr txBox="1"/>
          <p:nvPr/>
        </p:nvSpPr>
        <p:spPr>
          <a:xfrm>
            <a:off x="917575" y="246063"/>
            <a:ext cx="8774113" cy="1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225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Times New Roman"/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</a:t>
            </a:r>
            <a:endParaRPr sz="4000" b="1" i="0" u="none" strike="noStrike" cap="none">
              <a:solidFill>
                <a:srgbClr val="2147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8" name="Google Shape;1748;p143"/>
          <p:cNvSpPr txBox="1"/>
          <p:nvPr/>
        </p:nvSpPr>
        <p:spPr>
          <a:xfrm>
            <a:off x="917575" y="1268413"/>
            <a:ext cx="10218738" cy="954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Dijkstra’s Algorithm, find the shortest distance from source vertex ‘S’ to remaining vertices in the following graph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49" name="Google Shape;1749;p1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59150" y="2365375"/>
            <a:ext cx="4787900" cy="3452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5" name="Google Shape;1755;p144"/>
          <p:cNvSpPr/>
          <p:nvPr/>
        </p:nvSpPr>
        <p:spPr>
          <a:xfrm>
            <a:off x="838200" y="1133475"/>
            <a:ext cx="10515600" cy="5232400"/>
          </a:xfrm>
          <a:custGeom>
            <a:avLst/>
            <a:gdLst/>
            <a:ahLst/>
            <a:cxnLst/>
            <a:rect l="l" t="t" r="r" b="b"/>
            <a:pathLst>
              <a:path w="10515600" h="5232400" extrusionOk="0">
                <a:moveTo>
                  <a:pt x="0" y="5231892"/>
                </a:moveTo>
                <a:lnTo>
                  <a:pt x="10515600" y="5231892"/>
                </a:lnTo>
                <a:lnTo>
                  <a:pt x="10515600" y="0"/>
                </a:lnTo>
                <a:lnTo>
                  <a:pt x="0" y="0"/>
                </a:lnTo>
                <a:lnTo>
                  <a:pt x="0" y="5231892"/>
                </a:lnTo>
                <a:close/>
              </a:path>
            </a:pathLst>
          </a:custGeom>
          <a:noFill/>
          <a:ln w="381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6" name="Google Shape;1756;p144"/>
          <p:cNvSpPr txBox="1"/>
          <p:nvPr/>
        </p:nvSpPr>
        <p:spPr>
          <a:xfrm>
            <a:off x="917575" y="246063"/>
            <a:ext cx="8774113" cy="1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225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Times New Roman"/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 Questions</a:t>
            </a:r>
            <a:endParaRPr sz="4000" b="1" i="0" u="none" strike="noStrike" cap="none">
              <a:solidFill>
                <a:srgbClr val="2147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7" name="Google Shape;1757;p144"/>
          <p:cNvSpPr txBox="1"/>
          <p:nvPr/>
        </p:nvSpPr>
        <p:spPr>
          <a:xfrm>
            <a:off x="982663" y="1874838"/>
            <a:ext cx="9937800" cy="31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AutoNum type="arabicPeriod"/>
            </a:pPr>
            <a:r>
              <a:rPr lang="en-US" sz="2800" b="0" i="0" u="none" strike="noStrike" cap="none">
                <a:solidFill>
                  <a:srgbClr val="3A3A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Dijkstra’s Algorithm is used to solve _____________ problems.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AutoNum type="arabicPeriod"/>
            </a:pPr>
            <a:r>
              <a:rPr lang="en-US" sz="2800" b="0" i="0" u="none" strike="noStrike" cap="none">
                <a:solidFill>
                  <a:srgbClr val="3A3A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___________is the most commonly used data structure for implementing Dijkstra’s Algorithm.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AutoNum type="arabicPeriod"/>
            </a:pPr>
            <a:r>
              <a:rPr lang="en-US" sz="2800" b="0" i="0" u="none" strike="noStrike" cap="none">
                <a:solidFill>
                  <a:srgbClr val="3A3A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__________ is the time complexity of Dijkstra's algorithm.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AutoNum type="arabicPeriod"/>
            </a:pPr>
            <a:r>
              <a:rPr lang="en-US" sz="2800" b="0" i="0" u="none" strike="noStrike" cap="none">
                <a:solidFill>
                  <a:srgbClr val="3A3A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Dijkstra’s Algorithm cannot be applied on ______________ graph.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AutoNum type="arabicPeriod"/>
            </a:pPr>
            <a:r>
              <a:rPr lang="en-US" sz="2800" b="0" i="0" u="none" strike="noStrike" cap="none">
                <a:solidFill>
                  <a:srgbClr val="3A3A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Dijkstra’s Algorithm is based on _______________ approach.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93F9AE-6937-3D9A-7E4C-2817E7F2BE7F}"/>
              </a:ext>
            </a:extLst>
          </p:cNvPr>
          <p:cNvSpPr txBox="1"/>
          <p:nvPr/>
        </p:nvSpPr>
        <p:spPr>
          <a:xfrm>
            <a:off x="576072" y="2875002"/>
            <a:ext cx="947318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dirty="0"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699395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1115</Words>
  <Application>Microsoft Office PowerPoint</Application>
  <PresentationFormat>Widescreen</PresentationFormat>
  <Paragraphs>230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Calibri</vt:lpstr>
      <vt:lpstr>Arial</vt:lpstr>
      <vt:lpstr>Noto Sans</vt:lpstr>
      <vt:lpstr>Algerian</vt:lpstr>
      <vt:lpstr>Palatino Linotype</vt:lpstr>
      <vt:lpstr>Times New Roman</vt:lpstr>
      <vt:lpstr>Office Theme</vt:lpstr>
      <vt:lpstr>     21CSC201J DATA STRUCTURES AND ALGORITHMS</vt:lpstr>
      <vt:lpstr>PowerPoint Presentation</vt:lpstr>
      <vt:lpstr>PowerPoint Presentation</vt:lpstr>
      <vt:lpstr>DIJKSTRA’S ALGORITHM- Example</vt:lpstr>
      <vt:lpstr>DIJKSTRA’S ALGORITHM-Example</vt:lpstr>
      <vt:lpstr>DIJKSTRA’S ALGORITHM- Example</vt:lpstr>
      <vt:lpstr>DIJKSTRA’S ALGORITHM- Example</vt:lpstr>
      <vt:lpstr>DIJKSTRA’S ALGORITHM- Example</vt:lpstr>
      <vt:lpstr>DIJKSTRA’S ALGORITHM- Example</vt:lpstr>
      <vt:lpstr>DIJKSTRA’S ALGORITHM- Example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18CSC201J DATA STRUCTURES AND ALGORITHMS</dc:title>
  <cp:lastModifiedBy>Shobana Nandakumar</cp:lastModifiedBy>
  <cp:revision>2</cp:revision>
  <dcterms:modified xsi:type="dcterms:W3CDTF">2023-08-17T03:15:14Z</dcterms:modified>
</cp:coreProperties>
</file>