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Palatino Linotyp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VgqXmzUOr6BP0AlI5TmLiUBjv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alatinoLinotype-regular.fntdata"/><Relationship Id="rId11" Type="http://schemas.openxmlformats.org/officeDocument/2006/relationships/slide" Target="slides/slide7.xml"/><Relationship Id="rId22" Type="http://schemas.openxmlformats.org/officeDocument/2006/relationships/font" Target="fonts/PalatinoLinotype-italic.fntdata"/><Relationship Id="rId10" Type="http://schemas.openxmlformats.org/officeDocument/2006/relationships/slide" Target="slides/slide6.xml"/><Relationship Id="rId21" Type="http://schemas.openxmlformats.org/officeDocument/2006/relationships/font" Target="fonts/PalatinoLinotype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PalatinoLinotype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slide" Target="slides/slide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2.xml"/><Relationship Id="rId18" Type="http://schemas.openxmlformats.org/officeDocument/2006/relationships/font" Target="fonts/Nuni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2209800" y="562708"/>
            <a:ext cx="8780585" cy="770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5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UNIT 5</a:t>
            </a:r>
            <a:b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What is a graph?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>
            <p:ph idx="1" type="body"/>
          </p:nvPr>
        </p:nvSpPr>
        <p:spPr>
          <a:xfrm>
            <a:off x="698089" y="1371600"/>
            <a:ext cx="10373033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data structure that consists of a set of nodes (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vertices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 and a set of edges that relate the nodes to each other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set of edges describes relationships among the vertices 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9" y="0"/>
            <a:ext cx="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4" y="3428997"/>
            <a:ext cx="12" cy="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9800" y="3070675"/>
            <a:ext cx="4817364" cy="181638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/>
          <p:nvPr/>
        </p:nvSpPr>
        <p:spPr>
          <a:xfrm>
            <a:off x="1729153" y="4777847"/>
            <a:ext cx="900257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graph G can be defined as G = ( V , E ) Where V = {A,B,C,D,E} 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= {(A,B),(A,C)(A,D),(B,D),(C,D),(B,E),(E,D)}.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838200" y="5103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Types of a graph</a:t>
            </a:r>
            <a:b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Directed vs. undirected graphs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908537" y="2672751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When the edges in a graph have no direction, the graph is called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undirected </a:t>
            </a:r>
            <a:r>
              <a:rPr b="1" i="1" lang="en-US" sz="1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–(V1,V2),(V2,V3) &amp; (V3,V1)</a:t>
            </a:r>
            <a:endParaRPr b="1" i="1" sz="1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9" y="0"/>
            <a:ext cx="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1034329" y="1707929"/>
            <a:ext cx="833827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edges in a graph have a direction, the graph is called directed </a:t>
            </a:r>
            <a:r>
              <a:rPr b="1" i="1" lang="en-US" sz="1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–(V1,V2),(V2,V3) &amp; (V3,V1)</a:t>
            </a:r>
            <a:endParaRPr b="1" i="1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3226" y="3859584"/>
            <a:ext cx="4371975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2209800" y="6096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Times New Roman"/>
              <a:buNone/>
            </a:pP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Graph terminology (cont.)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75071" y="1202958"/>
            <a:ext cx="9107129" cy="11532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Cyclic Graph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a graph contains at least one graph cycle, it is considered to be cyclic.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Acyclic Graph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When there are no cycles in a graph, it is called an acyclic graph.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071" y="4054736"/>
            <a:ext cx="236220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2624" y="4054736"/>
            <a:ext cx="26670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1151564" y="5797811"/>
            <a:ext cx="126348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Cyclic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549459" y="5921636"/>
            <a:ext cx="13532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Acyclic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type="title"/>
          </p:nvPr>
        </p:nvSpPr>
        <p:spPr>
          <a:xfrm>
            <a:off x="2209800" y="6096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Times New Roman"/>
              <a:buNone/>
            </a:pP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Graph terminology (cont.)</a:t>
            </a:r>
            <a:endParaRPr/>
          </a:p>
        </p:txBody>
      </p:sp>
      <p:sp>
        <p:nvSpPr>
          <p:cNvPr id="118" name="Google Shape;118;p4"/>
          <p:cNvSpPr txBox="1"/>
          <p:nvPr>
            <p:ph idx="1" type="body"/>
          </p:nvPr>
        </p:nvSpPr>
        <p:spPr>
          <a:xfrm>
            <a:off x="875071" y="1202958"/>
            <a:ext cx="9107129" cy="11532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Weighted Graph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 Graph G= (V, E) is called a labeled or weighted graph because each edge has a value or weight representing the cost of traversing that edge.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2235" y="3641962"/>
            <a:ext cx="335280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2209800" y="6096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Times New Roman"/>
              <a:buNone/>
            </a:pP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Graph terminology (cont.)</a:t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457200" y="1622121"/>
            <a:ext cx="1049054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</a:t>
            </a:r>
            <a:endParaRPr b="0" i="0" sz="28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number of edges incident on a vertex determines its degree. The degree of the vertex is written as degree (v). The in degree of the vertex V is the number of edges entering into vertex V. Similarly the out degree of the vertex V is the number of edges existing fro that vertex V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5739" y="4519309"/>
            <a:ext cx="7111903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22098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Graph implementation</a:t>
            </a:r>
            <a:endParaRPr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713646" y="1769660"/>
            <a:ext cx="1006823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Representations of Graph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Here are the two most common ways to represent a graph 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Adjacency Matrix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Adjacency List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2209800" y="609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Array-based implementation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076250" y="575000"/>
            <a:ext cx="414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Adjacency Matrix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397" y="1066800"/>
            <a:ext cx="10884528" cy="525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22098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Graph implementation (cont.)</a:t>
            </a:r>
            <a:endParaRPr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560438" y="1200754"/>
            <a:ext cx="97163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6"/>
              <a:buChar char="•"/>
            </a:pP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Linked-list implementation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2856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1D array is used to represent the vertices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2856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list is used for each vertex 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which contains the vertices which are adjacent from 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(adjacency list) </a:t>
            </a:r>
            <a:endParaRPr/>
          </a:p>
        </p:txBody>
      </p:sp>
      <p:pic>
        <p:nvPicPr>
          <p:cNvPr descr="Lightbox"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707157"/>
            <a:ext cx="6546281" cy="3053738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  <p:sp>
        <p:nvSpPr>
          <p:cNvPr id="147" name="Google Shape;147;p8"/>
          <p:cNvSpPr/>
          <p:nvPr/>
        </p:nvSpPr>
        <p:spPr>
          <a:xfrm>
            <a:off x="409439" y="2399380"/>
            <a:ext cx="47949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Representation of Undirected Graph to Adjacency list: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22098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Graph implementation (cont.)</a:t>
            </a:r>
            <a:endParaRPr/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560438" y="1200754"/>
            <a:ext cx="97163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6"/>
              <a:buChar char="•"/>
            </a:pPr>
            <a:r>
              <a:rPr lang="en-US" u="sng">
                <a:latin typeface="Times New Roman"/>
                <a:ea typeface="Times New Roman"/>
                <a:cs typeface="Times New Roman"/>
                <a:sym typeface="Times New Roman"/>
              </a:rPr>
              <a:t>Linked-list implementation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2856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1D array is used to represent the vertices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2856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list is used for each vertex 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which contains the vertices which are adjacent from 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(adjacency list) 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136484" y="2412370"/>
            <a:ext cx="45768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Representation of Directed Graph to Adjacency list: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ghtbox"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788763"/>
            <a:ext cx="6962775" cy="324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idx="1" type="body"/>
          </p:nvPr>
        </p:nvSpPr>
        <p:spPr>
          <a:xfrm>
            <a:off x="219300" y="365127"/>
            <a:ext cx="111471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16883"/>
              <a:buNone/>
            </a:pPr>
            <a:r>
              <a:rPr b="1" lang="en-US">
                <a:solidFill>
                  <a:srgbClr val="FF0000"/>
                </a:solidFill>
              </a:rPr>
              <a:t>Matrix: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883"/>
              <a:buNone/>
            </a:pPr>
            <a:r>
              <a:rPr b="1" lang="en-US"/>
              <a:t>Pros:</a:t>
            </a:r>
            <a:endParaRPr/>
          </a:p>
          <a:p>
            <a:pPr indent="-358486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883"/>
              <a:buChar char="•"/>
            </a:pPr>
            <a:r>
              <a:rPr lang="en-US"/>
              <a:t>Simple to implement</a:t>
            </a:r>
            <a:endParaRPr/>
          </a:p>
          <a:p>
            <a:pPr indent="-358486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883"/>
              <a:buChar char="•"/>
            </a:pPr>
            <a:r>
              <a:rPr lang="en-US"/>
              <a:t>Easy and fast to tell if a pair (i,j) is an edge: simply check if A[i][j] is 1 or 0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883"/>
              <a:buNone/>
            </a:pPr>
            <a:r>
              <a:rPr b="1" lang="en-US"/>
              <a:t>Cons:</a:t>
            </a:r>
            <a:endParaRPr/>
          </a:p>
          <a:p>
            <a:pPr indent="-358486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883"/>
              <a:buChar char="•"/>
            </a:pPr>
            <a:r>
              <a:rPr lang="en-US"/>
              <a:t>No matter how few edges the graph has, the matrix takes O(n2) in memory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16883"/>
              <a:buNone/>
            </a:pPr>
            <a:r>
              <a:rPr b="1" lang="en-US">
                <a:solidFill>
                  <a:srgbClr val="FF0000"/>
                </a:solidFill>
              </a:rPr>
              <a:t>LIST: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883"/>
              <a:buNone/>
            </a:pPr>
            <a:r>
              <a:rPr b="1" lang="en-US"/>
              <a:t>Pros:</a:t>
            </a:r>
            <a:endParaRPr/>
          </a:p>
          <a:p>
            <a:pPr indent="-358486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883"/>
              <a:buChar char="•"/>
            </a:pPr>
            <a:r>
              <a:rPr lang="en-US"/>
              <a:t>Saves on space (memory): the representation takes as many memory words as there are nodes and edge.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883"/>
              <a:buNone/>
            </a:pPr>
            <a:r>
              <a:rPr b="1" lang="en-US"/>
              <a:t>Cons:</a:t>
            </a:r>
            <a:endParaRPr/>
          </a:p>
          <a:p>
            <a:pPr indent="-358486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883"/>
              <a:buChar char="•"/>
            </a:pPr>
            <a:r>
              <a:rPr lang="en-US"/>
              <a:t>It can take up to O(n) time to determine if a pair of nodes (i,j) is an edge: one would have to search the linked list L[i], which takes time proportional to the length of L[i].	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883"/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 txBox="1"/>
          <p:nvPr>
            <p:ph type="title"/>
          </p:nvPr>
        </p:nvSpPr>
        <p:spPr>
          <a:xfrm>
            <a:off x="838200" y="-405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Adjacency Matrix and List-Pros and Cons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6400" y="60768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type="title"/>
          </p:nvPr>
        </p:nvSpPr>
        <p:spPr>
          <a:xfrm>
            <a:off x="476518" y="365125"/>
            <a:ext cx="10877282" cy="687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alatino Linotype"/>
              <a:buNone/>
            </a:pPr>
            <a:r>
              <a:rPr b="1" lang="en-US">
                <a:latin typeface="Palatino Linotype"/>
                <a:ea typeface="Palatino Linotype"/>
                <a:cs typeface="Palatino Linotype"/>
                <a:sym typeface="Palatino Linotype"/>
              </a:rPr>
              <a:t>Review Questions</a:t>
            </a:r>
            <a:endParaRPr b="1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476518" y="1124744"/>
            <a:ext cx="10877282" cy="505221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514350" lvl="0" marL="6286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Draw a directed graph with five vertices and seven edges. Exactly one of the edges should be a loop, and do not have any multiple edges.</a:t>
            </a:r>
            <a:endParaRPr/>
          </a:p>
          <a:p>
            <a:pPr indent="-514350" lvl="0" marL="6286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Draw an undirected graph with five edges and four vertices. The vertices should be called v1, v2, v3 and v4--and there must be a path of length three from v1 to v4. Draw a squiggly line along this path from v1 to v4.</a:t>
            </a:r>
            <a:endParaRPr/>
          </a:p>
          <a:p>
            <a:pPr indent="-514350" lvl="0" marL="6286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Draw the edge lists that correspond to the graph from the previous question.</a:t>
            </a:r>
            <a:endParaRPr/>
          </a:p>
          <a:p>
            <a:pPr indent="-514350" lvl="0" marL="6286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What are the benefits of using an external iterator as opposed to an internal iterator?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None/>
            </a:pPr>
            <a:br>
              <a:rPr lang="en-US"/>
            </a:b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2023-08-20T19:52:07Z</dcterms:created>
  <dc:creator>KALAISELVI</dc:creator>
</cp:coreProperties>
</file>