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12192000"/>
  <p:notesSz cx="6858000" cy="9144000"/>
  <p:embeddedFontLst>
    <p:embeddedFont>
      <p:font typeface="Palatino Linotype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hIyEmGV/gEI4cUxee3UM0jiu+e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37438D-D1C9-486A-B940-FC74CAD16E84}">
  <a:tblStyle styleId="{1637438D-D1C9-486A-B940-FC74CAD16E84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alatinoLinotype-regular.fntdata"/><Relationship Id="rId20" Type="http://schemas.openxmlformats.org/officeDocument/2006/relationships/slide" Target="slides/slide14.xml"/><Relationship Id="rId42" Type="http://schemas.openxmlformats.org/officeDocument/2006/relationships/font" Target="fonts/PalatinoLinotype-italic.fntdata"/><Relationship Id="rId41" Type="http://schemas.openxmlformats.org/officeDocument/2006/relationships/font" Target="fonts/PalatinoLinotype-bold.fntdata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font" Target="fonts/PalatinoLinotype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80:notes"/>
          <p:cNvSpPr/>
          <p:nvPr>
            <p:ph idx="2" type="sldImg"/>
          </p:nvPr>
        </p:nvSpPr>
        <p:spPr>
          <a:xfrm>
            <a:off x="381000" y="693738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3" name="Google Shape;73;p80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81:notes"/>
          <p:cNvSpPr/>
          <p:nvPr>
            <p:ph idx="2" type="sldImg"/>
          </p:nvPr>
        </p:nvSpPr>
        <p:spPr>
          <a:xfrm>
            <a:off x="381000" y="693738"/>
            <a:ext cx="609441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9" name="Google Shape;79;p81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82:notes"/>
          <p:cNvSpPr/>
          <p:nvPr>
            <p:ph idx="2" type="sldImg"/>
          </p:nvPr>
        </p:nvSpPr>
        <p:spPr>
          <a:xfrm>
            <a:off x="381000" y="693738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4" name="Google Shape;134;p82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5:notes"/>
          <p:cNvSpPr/>
          <p:nvPr>
            <p:ph idx="2" type="sldImg"/>
          </p:nvPr>
        </p:nvSpPr>
        <p:spPr>
          <a:xfrm>
            <a:off x="381000" y="693738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4" name="Google Shape;144;p25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83:notes"/>
          <p:cNvSpPr/>
          <p:nvPr>
            <p:ph idx="2" type="sldImg"/>
          </p:nvPr>
        </p:nvSpPr>
        <p:spPr>
          <a:xfrm>
            <a:off x="381000" y="693738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3" name="Google Shape;153;p83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84:notes"/>
          <p:cNvSpPr/>
          <p:nvPr>
            <p:ph idx="2" type="sldImg"/>
          </p:nvPr>
        </p:nvSpPr>
        <p:spPr>
          <a:xfrm>
            <a:off x="381000" y="693738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4" name="Google Shape;164;p84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9:notes"/>
          <p:cNvSpPr/>
          <p:nvPr>
            <p:ph idx="2" type="sldImg"/>
          </p:nvPr>
        </p:nvSpPr>
        <p:spPr>
          <a:xfrm>
            <a:off x="381000" y="693738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4" name="Google Shape;174;p29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66:notes"/>
          <p:cNvSpPr/>
          <p:nvPr>
            <p:ph idx="2" type="sldImg"/>
          </p:nvPr>
        </p:nvSpPr>
        <p:spPr>
          <a:xfrm>
            <a:off x="381000" y="693738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2" name="Google Shape;182;p166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29:notes"/>
          <p:cNvSpPr/>
          <p:nvPr>
            <p:ph idx="2" type="sldImg"/>
          </p:nvPr>
        </p:nvSpPr>
        <p:spPr>
          <a:xfrm>
            <a:off x="381000" y="693738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9" name="Google Shape;189;p229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30:notes"/>
          <p:cNvSpPr/>
          <p:nvPr>
            <p:ph idx="2" type="sldImg"/>
          </p:nvPr>
        </p:nvSpPr>
        <p:spPr>
          <a:xfrm>
            <a:off x="381000" y="693738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7" name="Google Shape;197;p230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31:notes"/>
          <p:cNvSpPr/>
          <p:nvPr>
            <p:ph idx="2" type="sldImg"/>
          </p:nvPr>
        </p:nvSpPr>
        <p:spPr>
          <a:xfrm>
            <a:off x="381000" y="693738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6" name="Google Shape;206;p231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32:notes"/>
          <p:cNvSpPr/>
          <p:nvPr>
            <p:ph idx="2" type="sldImg"/>
          </p:nvPr>
        </p:nvSpPr>
        <p:spPr>
          <a:xfrm>
            <a:off x="381000" y="693738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5" name="Google Shape;215;p232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03:notes"/>
          <p:cNvSpPr/>
          <p:nvPr>
            <p:ph idx="2" type="sldImg"/>
          </p:nvPr>
        </p:nvSpPr>
        <p:spPr>
          <a:xfrm>
            <a:off x="381000" y="693738"/>
            <a:ext cx="609441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4" name="Google Shape;224;p103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118:notes"/>
          <p:cNvSpPr/>
          <p:nvPr>
            <p:ph idx="2" type="sldImg"/>
          </p:nvPr>
        </p:nvSpPr>
        <p:spPr>
          <a:xfrm>
            <a:off x="381000" y="693738"/>
            <a:ext cx="609441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4" name="Google Shape;404;p118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233:notes"/>
          <p:cNvSpPr/>
          <p:nvPr>
            <p:ph idx="2" type="sldImg"/>
          </p:nvPr>
        </p:nvSpPr>
        <p:spPr>
          <a:xfrm>
            <a:off x="381000" y="693738"/>
            <a:ext cx="609441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12" name="Google Shape;412;p233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119:notes"/>
          <p:cNvSpPr/>
          <p:nvPr>
            <p:ph idx="2" type="sldImg"/>
          </p:nvPr>
        </p:nvSpPr>
        <p:spPr>
          <a:xfrm>
            <a:off x="381000" y="693738"/>
            <a:ext cx="609441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0" name="Google Shape;420;p119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120:notes"/>
          <p:cNvSpPr/>
          <p:nvPr>
            <p:ph idx="2" type="sldImg"/>
          </p:nvPr>
        </p:nvSpPr>
        <p:spPr>
          <a:xfrm>
            <a:off x="381000" y="693738"/>
            <a:ext cx="609441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9" name="Google Shape;429;p120:notes"/>
          <p:cNvSpPr txBox="1"/>
          <p:nvPr>
            <p:ph idx="1" type="body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2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9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9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2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1" name="Google Shape;41;p2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2" name="Google Shape;42;p2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" name="Google Shape;49;p2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8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57000"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18"/>
          <p:cNvSpPr/>
          <p:nvPr/>
        </p:nvSpPr>
        <p:spPr>
          <a:xfrm>
            <a:off x="10504715" y="230188"/>
            <a:ext cx="1231640" cy="690465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8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5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jpg"/><Relationship Id="rId4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jpg"/><Relationship Id="rId4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Relationship Id="rId4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jpg"/><Relationship Id="rId4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/>
          <p:nvPr>
            <p:ph type="ctrTitle"/>
          </p:nvPr>
        </p:nvSpPr>
        <p:spPr>
          <a:xfrm>
            <a:off x="1534084" y="124717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alatino Linotype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18CSC201J</a:t>
            </a:r>
            <a:b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DATA STRUCTURES AND ALGORITHMS</a:t>
            </a:r>
            <a:endParaRPr/>
          </a:p>
        </p:txBody>
      </p:sp>
      <p:sp>
        <p:nvSpPr>
          <p:cNvPr id="69" name="Google Shape;69;p1"/>
          <p:cNvSpPr txBox="1"/>
          <p:nvPr>
            <p:ph idx="1" type="subTitle"/>
          </p:nvPr>
        </p:nvSpPr>
        <p:spPr>
          <a:xfrm>
            <a:off x="1292781" y="4278327"/>
            <a:ext cx="9626606" cy="1332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UNIT 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i="0" sz="3600" u="none" cap="none" strike="noStrike">
              <a:solidFill>
                <a:srgbClr val="2147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0"/>
          <p:cNvSpPr txBox="1"/>
          <p:nvPr>
            <p:ph idx="4294967295" type="title"/>
          </p:nvPr>
        </p:nvSpPr>
        <p:spPr>
          <a:xfrm>
            <a:off x="1101725" y="2378075"/>
            <a:ext cx="9988550" cy="1262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6275">
            <a:norm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4400"/>
              <a:buNone/>
            </a:pP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Minimum Spanning Tree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1"/>
          <p:cNvSpPr txBox="1"/>
          <p:nvPr>
            <p:ph idx="4294967295" type="title"/>
          </p:nvPr>
        </p:nvSpPr>
        <p:spPr>
          <a:xfrm>
            <a:off x="917575" y="244475"/>
            <a:ext cx="2955925" cy="115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2225">
            <a:normAutofit fontScale="90000"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ct val="122222"/>
              <a:buNone/>
            </a:pP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82" name="Google Shape;82;p81"/>
          <p:cNvSpPr/>
          <p:nvPr/>
        </p:nvSpPr>
        <p:spPr>
          <a:xfrm>
            <a:off x="838200" y="1135063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81"/>
          <p:cNvSpPr/>
          <p:nvPr/>
        </p:nvSpPr>
        <p:spPr>
          <a:xfrm>
            <a:off x="917575" y="1147763"/>
            <a:ext cx="10356850" cy="4748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Spanning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tree (i.e., connected, acyclic graph)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contains all the vertices of the graph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Spanning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Spanning tree with the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sum of weights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minimum spanning tree is a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because it is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acyclic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it is </a:t>
            </a:r>
            <a:r>
              <a:rPr b="1" i="0" lang="en-US" sz="2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spanning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because </a:t>
            </a:r>
            <a:r>
              <a:rPr b="1" i="0" lang="en-US" sz="2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covers every vertex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it is </a:t>
            </a:r>
            <a:r>
              <a:rPr b="1" i="0" lang="en-US" sz="28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because </a:t>
            </a:r>
            <a:r>
              <a:rPr b="1" i="0" lang="en-US" sz="28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covers with minimum cost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4" name="Google Shape;84;p81"/>
          <p:cNvGrpSpPr/>
          <p:nvPr/>
        </p:nvGrpSpPr>
        <p:grpSpPr>
          <a:xfrm>
            <a:off x="3792538" y="4259263"/>
            <a:ext cx="3721100" cy="2108200"/>
            <a:chOff x="1670" y="2241"/>
            <a:chExt cx="2344" cy="1328"/>
          </a:xfrm>
        </p:grpSpPr>
        <p:cxnSp>
          <p:nvCxnSpPr>
            <p:cNvPr id="85" name="Google Shape;85;p81"/>
            <p:cNvCxnSpPr/>
            <p:nvPr/>
          </p:nvCxnSpPr>
          <p:spPr>
            <a:xfrm flipH="1" rot="10800000">
              <a:off x="1881" y="2543"/>
              <a:ext cx="257" cy="252"/>
            </a:xfrm>
            <a:prstGeom prst="straightConnector1">
              <a:avLst/>
            </a:prstGeom>
            <a:noFill/>
            <a:ln cap="flat" cmpd="sng" w="76200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" name="Google Shape;86;p81"/>
            <p:cNvCxnSpPr/>
            <p:nvPr/>
          </p:nvCxnSpPr>
          <p:spPr>
            <a:xfrm>
              <a:off x="2367" y="2440"/>
              <a:ext cx="347" cy="0"/>
            </a:xfrm>
            <a:prstGeom prst="straightConnector1">
              <a:avLst/>
            </a:prstGeom>
            <a:noFill/>
            <a:ln cap="flat" cmpd="sng" w="76200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81"/>
            <p:cNvCxnSpPr/>
            <p:nvPr/>
          </p:nvCxnSpPr>
          <p:spPr>
            <a:xfrm>
              <a:off x="2990" y="2441"/>
              <a:ext cx="347" cy="0"/>
            </a:xfrm>
            <a:prstGeom prst="straightConnector1">
              <a:avLst/>
            </a:prstGeom>
            <a:noFill/>
            <a:ln cap="flat" cmpd="sng" w="76200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" name="Google Shape;88;p81"/>
            <p:cNvCxnSpPr/>
            <p:nvPr/>
          </p:nvCxnSpPr>
          <p:spPr>
            <a:xfrm>
              <a:off x="2373" y="3377"/>
              <a:ext cx="347" cy="0"/>
            </a:xfrm>
            <a:prstGeom prst="straightConnector1">
              <a:avLst/>
            </a:prstGeom>
            <a:noFill/>
            <a:ln cap="flat" cmpd="sng" w="76200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81"/>
            <p:cNvCxnSpPr/>
            <p:nvPr/>
          </p:nvCxnSpPr>
          <p:spPr>
            <a:xfrm>
              <a:off x="2980" y="3386"/>
              <a:ext cx="347" cy="0"/>
            </a:xfrm>
            <a:prstGeom prst="straightConnector1">
              <a:avLst/>
            </a:prstGeom>
            <a:noFill/>
            <a:ln cap="flat" cmpd="sng" w="76200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" name="Google Shape;90;p81"/>
            <p:cNvCxnSpPr/>
            <p:nvPr/>
          </p:nvCxnSpPr>
          <p:spPr>
            <a:xfrm flipH="1">
              <a:off x="2610" y="2552"/>
              <a:ext cx="153" cy="243"/>
            </a:xfrm>
            <a:prstGeom prst="straightConnector1">
              <a:avLst/>
            </a:prstGeom>
            <a:noFill/>
            <a:ln cap="flat" cmpd="sng" w="76200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" name="Google Shape;91;p81"/>
            <p:cNvCxnSpPr/>
            <p:nvPr/>
          </p:nvCxnSpPr>
          <p:spPr>
            <a:xfrm>
              <a:off x="2921" y="2547"/>
              <a:ext cx="459" cy="729"/>
            </a:xfrm>
            <a:prstGeom prst="straightConnector1">
              <a:avLst/>
            </a:prstGeom>
            <a:noFill/>
            <a:ln cap="flat" cmpd="sng" w="76200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" name="Google Shape;92;p81"/>
            <p:cNvCxnSpPr/>
            <p:nvPr/>
          </p:nvCxnSpPr>
          <p:spPr>
            <a:xfrm>
              <a:off x="3555" y="2530"/>
              <a:ext cx="256" cy="274"/>
            </a:xfrm>
            <a:prstGeom prst="straightConnector1">
              <a:avLst/>
            </a:prstGeom>
            <a:noFill/>
            <a:ln cap="flat" cmpd="sng" w="76200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3" name="Google Shape;93;p81"/>
            <p:cNvGrpSpPr/>
            <p:nvPr/>
          </p:nvGrpSpPr>
          <p:grpSpPr>
            <a:xfrm>
              <a:off x="1670" y="2241"/>
              <a:ext cx="2344" cy="1328"/>
              <a:chOff x="3303" y="2273"/>
              <a:chExt cx="2344" cy="1328"/>
            </a:xfrm>
          </p:grpSpPr>
          <p:sp>
            <p:nvSpPr>
              <p:cNvPr id="94" name="Google Shape;94;p81"/>
              <p:cNvSpPr/>
              <p:nvPr/>
            </p:nvSpPr>
            <p:spPr>
              <a:xfrm>
                <a:off x="3303" y="2812"/>
                <a:ext cx="266" cy="265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81"/>
              <p:cNvSpPr/>
              <p:nvPr/>
            </p:nvSpPr>
            <p:spPr>
              <a:xfrm>
                <a:off x="3732" y="2347"/>
                <a:ext cx="266" cy="265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81"/>
              <p:cNvSpPr/>
              <p:nvPr/>
            </p:nvSpPr>
            <p:spPr>
              <a:xfrm>
                <a:off x="4344" y="2347"/>
                <a:ext cx="266" cy="265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81"/>
              <p:cNvSpPr/>
              <p:nvPr/>
            </p:nvSpPr>
            <p:spPr>
              <a:xfrm>
                <a:off x="4956" y="2347"/>
                <a:ext cx="266" cy="265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81"/>
              <p:cNvSpPr/>
              <p:nvPr/>
            </p:nvSpPr>
            <p:spPr>
              <a:xfrm>
                <a:off x="5381" y="2812"/>
                <a:ext cx="266" cy="265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81"/>
              <p:cNvSpPr/>
              <p:nvPr/>
            </p:nvSpPr>
            <p:spPr>
              <a:xfrm>
                <a:off x="3732" y="3278"/>
                <a:ext cx="266" cy="265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81"/>
              <p:cNvSpPr/>
              <p:nvPr/>
            </p:nvSpPr>
            <p:spPr>
              <a:xfrm>
                <a:off x="4344" y="3278"/>
                <a:ext cx="266" cy="265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81"/>
              <p:cNvSpPr/>
              <p:nvPr/>
            </p:nvSpPr>
            <p:spPr>
              <a:xfrm>
                <a:off x="4956" y="3278"/>
                <a:ext cx="266" cy="265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81"/>
              <p:cNvSpPr/>
              <p:nvPr/>
            </p:nvSpPr>
            <p:spPr>
              <a:xfrm>
                <a:off x="4038" y="2814"/>
                <a:ext cx="266" cy="265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3" name="Google Shape;103;p81"/>
              <p:cNvCxnSpPr/>
              <p:nvPr/>
            </p:nvCxnSpPr>
            <p:spPr>
              <a:xfrm>
                <a:off x="3857" y="2615"/>
                <a:ext cx="0" cy="67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81"/>
              <p:cNvCxnSpPr/>
              <p:nvPr/>
            </p:nvCxnSpPr>
            <p:spPr>
              <a:xfrm>
                <a:off x="5092" y="2616"/>
                <a:ext cx="0" cy="67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81"/>
              <p:cNvCxnSpPr/>
              <p:nvPr/>
            </p:nvCxnSpPr>
            <p:spPr>
              <a:xfrm>
                <a:off x="3996" y="2472"/>
                <a:ext cx="347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81"/>
              <p:cNvCxnSpPr/>
              <p:nvPr/>
            </p:nvCxnSpPr>
            <p:spPr>
              <a:xfrm>
                <a:off x="4607" y="2474"/>
                <a:ext cx="347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81"/>
              <p:cNvCxnSpPr/>
              <p:nvPr/>
            </p:nvCxnSpPr>
            <p:spPr>
              <a:xfrm>
                <a:off x="3996" y="3414"/>
                <a:ext cx="347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8" name="Google Shape;108;p81"/>
              <p:cNvCxnSpPr/>
              <p:nvPr/>
            </p:nvCxnSpPr>
            <p:spPr>
              <a:xfrm>
                <a:off x="4614" y="3418"/>
                <a:ext cx="347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" name="Google Shape;109;p81"/>
              <p:cNvCxnSpPr/>
              <p:nvPr/>
            </p:nvCxnSpPr>
            <p:spPr>
              <a:xfrm flipH="1" rot="10800000">
                <a:off x="3510" y="2574"/>
                <a:ext cx="261" cy="26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0" name="Google Shape;110;p81"/>
              <p:cNvCxnSpPr/>
              <p:nvPr/>
            </p:nvCxnSpPr>
            <p:spPr>
              <a:xfrm flipH="1" rot="10800000">
                <a:off x="5190" y="3057"/>
                <a:ext cx="261" cy="26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81"/>
              <p:cNvCxnSpPr/>
              <p:nvPr/>
            </p:nvCxnSpPr>
            <p:spPr>
              <a:xfrm>
                <a:off x="5189" y="2565"/>
                <a:ext cx="256" cy="27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81"/>
              <p:cNvCxnSpPr/>
              <p:nvPr/>
            </p:nvCxnSpPr>
            <p:spPr>
              <a:xfrm>
                <a:off x="3511" y="3042"/>
                <a:ext cx="256" cy="27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3" name="Google Shape;113;p81"/>
              <p:cNvCxnSpPr/>
              <p:nvPr/>
            </p:nvCxnSpPr>
            <p:spPr>
              <a:xfrm>
                <a:off x="4554" y="2583"/>
                <a:ext cx="455" cy="72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4" name="Google Shape;114;p81"/>
              <p:cNvCxnSpPr/>
              <p:nvPr/>
            </p:nvCxnSpPr>
            <p:spPr>
              <a:xfrm>
                <a:off x="4244" y="3056"/>
                <a:ext cx="166" cy="24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81"/>
              <p:cNvCxnSpPr/>
              <p:nvPr/>
            </p:nvCxnSpPr>
            <p:spPr>
              <a:xfrm flipH="1" rot="10800000">
                <a:off x="3960" y="3065"/>
                <a:ext cx="153" cy="24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81"/>
              <p:cNvCxnSpPr/>
              <p:nvPr/>
            </p:nvCxnSpPr>
            <p:spPr>
              <a:xfrm flipH="1" rot="10800000">
                <a:off x="4244" y="2583"/>
                <a:ext cx="157" cy="24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7" name="Google Shape;117;p81"/>
              <p:cNvSpPr txBox="1"/>
              <p:nvPr/>
            </p:nvSpPr>
            <p:spPr>
              <a:xfrm>
                <a:off x="3489" y="2541"/>
                <a:ext cx="187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81"/>
              <p:cNvSpPr txBox="1"/>
              <p:nvPr/>
            </p:nvSpPr>
            <p:spPr>
              <a:xfrm>
                <a:off x="4089" y="2273"/>
                <a:ext cx="187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81"/>
              <p:cNvSpPr txBox="1"/>
              <p:nvPr/>
            </p:nvSpPr>
            <p:spPr>
              <a:xfrm>
                <a:off x="4696" y="2286"/>
                <a:ext cx="187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81"/>
              <p:cNvSpPr txBox="1"/>
              <p:nvPr/>
            </p:nvSpPr>
            <p:spPr>
              <a:xfrm>
                <a:off x="3500" y="3109"/>
                <a:ext cx="187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81"/>
              <p:cNvSpPr txBox="1"/>
              <p:nvPr/>
            </p:nvSpPr>
            <p:spPr>
              <a:xfrm>
                <a:off x="3636" y="2816"/>
                <a:ext cx="258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81"/>
              <p:cNvSpPr txBox="1"/>
              <p:nvPr/>
            </p:nvSpPr>
            <p:spPr>
              <a:xfrm>
                <a:off x="4095" y="3389"/>
                <a:ext cx="187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81"/>
              <p:cNvSpPr txBox="1"/>
              <p:nvPr/>
            </p:nvSpPr>
            <p:spPr>
              <a:xfrm>
                <a:off x="4690" y="3380"/>
                <a:ext cx="187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81"/>
              <p:cNvSpPr txBox="1"/>
              <p:nvPr/>
            </p:nvSpPr>
            <p:spPr>
              <a:xfrm>
                <a:off x="3889" y="3039"/>
                <a:ext cx="187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81"/>
              <p:cNvSpPr txBox="1"/>
              <p:nvPr/>
            </p:nvSpPr>
            <p:spPr>
              <a:xfrm>
                <a:off x="4280" y="2643"/>
                <a:ext cx="187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81"/>
              <p:cNvSpPr txBox="1"/>
              <p:nvPr/>
            </p:nvSpPr>
            <p:spPr>
              <a:xfrm>
                <a:off x="4631" y="2872"/>
                <a:ext cx="187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81"/>
              <p:cNvSpPr txBox="1"/>
              <p:nvPr/>
            </p:nvSpPr>
            <p:spPr>
              <a:xfrm>
                <a:off x="5063" y="2832"/>
                <a:ext cx="258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81"/>
              <p:cNvSpPr txBox="1"/>
              <p:nvPr/>
            </p:nvSpPr>
            <p:spPr>
              <a:xfrm>
                <a:off x="5288" y="2526"/>
                <a:ext cx="187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9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81"/>
              <p:cNvSpPr txBox="1"/>
              <p:nvPr/>
            </p:nvSpPr>
            <p:spPr>
              <a:xfrm>
                <a:off x="5270" y="3133"/>
                <a:ext cx="258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81"/>
              <p:cNvSpPr txBox="1"/>
              <p:nvPr/>
            </p:nvSpPr>
            <p:spPr>
              <a:xfrm>
                <a:off x="4289" y="3025"/>
                <a:ext cx="187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2"/>
          <p:cNvSpPr txBox="1"/>
          <p:nvPr>
            <p:ph idx="4294967295" type="title"/>
          </p:nvPr>
        </p:nvSpPr>
        <p:spPr>
          <a:xfrm>
            <a:off x="917575" y="244475"/>
            <a:ext cx="8994775" cy="663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2225">
            <a:normAutofit fontScale="90000"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ct val="122222"/>
              <a:buNone/>
            </a:pP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Properties of Minimum Spanning Trees</a:t>
            </a:r>
            <a:endParaRPr/>
          </a:p>
        </p:txBody>
      </p:sp>
      <p:sp>
        <p:nvSpPr>
          <p:cNvPr id="137" name="Google Shape;137;p82"/>
          <p:cNvSpPr/>
          <p:nvPr/>
        </p:nvSpPr>
        <p:spPr>
          <a:xfrm>
            <a:off x="838200" y="1135063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2"/>
          <p:cNvSpPr/>
          <p:nvPr/>
        </p:nvSpPr>
        <p:spPr>
          <a:xfrm>
            <a:off x="917575" y="1135063"/>
            <a:ext cx="10356850" cy="5003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675">
            <a:spAutoFit/>
          </a:bodyPr>
          <a:lstStyle/>
          <a:p>
            <a:pPr indent="-533400" lvl="0" marL="533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spanning tree is not unique</a:t>
            </a:r>
            <a:endParaRPr b="1" i="0" sz="1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MST has no cycles – see why</a:t>
            </a:r>
            <a:r>
              <a:rPr b="0" i="0" lang="en-US" sz="28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i="0" lang="en-US" sz="28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take out an edge of a cycle, and still have the  vertices connected while reducing the cost</a:t>
            </a:r>
            <a:endParaRPr b="1" i="0" sz="1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of edges in a MST:</a:t>
            </a:r>
            <a:endParaRPr b="1" i="0" sz="1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|V| - 1 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8925" y="2078038"/>
            <a:ext cx="2765425" cy="136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5063" y="2178050"/>
            <a:ext cx="2198687" cy="1166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idx="4294967295" type="title"/>
          </p:nvPr>
        </p:nvSpPr>
        <p:spPr>
          <a:xfrm>
            <a:off x="917575" y="244475"/>
            <a:ext cx="8994775" cy="663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2225">
            <a:normAutofit fontScale="90000"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ct val="122222"/>
              <a:buNone/>
            </a:pP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Properties of Minimum Spanning Trees</a:t>
            </a:r>
            <a:endParaRPr/>
          </a:p>
        </p:txBody>
      </p:sp>
      <p:sp>
        <p:nvSpPr>
          <p:cNvPr id="147" name="Google Shape;147;p25"/>
          <p:cNvSpPr/>
          <p:nvPr/>
        </p:nvSpPr>
        <p:spPr>
          <a:xfrm>
            <a:off x="838200" y="1135063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3415" y="1558211"/>
            <a:ext cx="8745170" cy="432858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/>
          <p:nvPr/>
        </p:nvSpPr>
        <p:spPr>
          <a:xfrm>
            <a:off x="6407798" y="5461327"/>
            <a:ext cx="455567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D5156"/>
                </a:solidFill>
                <a:latin typeface="arial"/>
                <a:ea typeface="arial"/>
                <a:cs typeface="arial"/>
                <a:sym typeface="arial"/>
              </a:rPr>
              <a:t>A greedy algorithm is </a:t>
            </a:r>
            <a:r>
              <a:rPr b="1" i="0" lang="en-US" sz="14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an approach for solving a problem by selecting the best option available at the moment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3"/>
          <p:cNvSpPr txBox="1"/>
          <p:nvPr>
            <p:ph idx="4294967295" type="title"/>
          </p:nvPr>
        </p:nvSpPr>
        <p:spPr>
          <a:xfrm>
            <a:off x="917575" y="244475"/>
            <a:ext cx="6184900" cy="115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2225">
            <a:norm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4400"/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of MST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83"/>
          <p:cNvSpPr/>
          <p:nvPr/>
        </p:nvSpPr>
        <p:spPr>
          <a:xfrm>
            <a:off x="838200" y="1135063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3"/>
          <p:cNvSpPr/>
          <p:nvPr/>
        </p:nvSpPr>
        <p:spPr>
          <a:xfrm>
            <a:off x="865188" y="1844675"/>
            <a:ext cx="10358437" cy="4880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spAutoFit/>
          </a:bodyPr>
          <a:lstStyle/>
          <a:p>
            <a:pPr indent="0" lvl="0" marL="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spanning tree has direct application in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design of networks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It is used in algorithms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approximating the travelling salesman problem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multi-terminal minimum cut problem and minimum-cost weighted perfect matching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Other practical applications are: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Analysis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Handwriting recognition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segmentation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38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7045" y="3630276"/>
            <a:ext cx="3019847" cy="149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3830" y="3749321"/>
            <a:ext cx="2559778" cy="1252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5263" y="4753579"/>
            <a:ext cx="2488028" cy="1373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4"/>
          <p:cNvSpPr txBox="1"/>
          <p:nvPr>
            <p:ph idx="4294967295" type="title"/>
          </p:nvPr>
        </p:nvSpPr>
        <p:spPr>
          <a:xfrm>
            <a:off x="917575" y="244475"/>
            <a:ext cx="6184900" cy="115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2225">
            <a:norm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4400"/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of MST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84"/>
          <p:cNvSpPr/>
          <p:nvPr/>
        </p:nvSpPr>
        <p:spPr>
          <a:xfrm>
            <a:off x="838200" y="1135063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4"/>
          <p:cNvSpPr/>
          <p:nvPr/>
        </p:nvSpPr>
        <p:spPr>
          <a:xfrm>
            <a:off x="865188" y="1844675"/>
            <a:ext cx="10199687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spAutoFit/>
          </a:bodyPr>
          <a:lstStyle/>
          <a:p>
            <a:pPr indent="-457200" lvl="1" marL="91440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least expensive way to connect a set of cities, terminals, computers, etc.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38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S00369_" id="169" name="Google Shape;16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6888" y="3221038"/>
            <a:ext cx="3021012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sicHyperText" id="170" name="Google Shape;170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2686050"/>
            <a:ext cx="2328863" cy="3036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idx="4294967295" type="title"/>
          </p:nvPr>
        </p:nvSpPr>
        <p:spPr>
          <a:xfrm>
            <a:off x="917575" y="244475"/>
            <a:ext cx="6184900" cy="115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2225">
            <a:norm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4400"/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MST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9"/>
          <p:cNvSpPr/>
          <p:nvPr/>
        </p:nvSpPr>
        <p:spPr>
          <a:xfrm>
            <a:off x="838200" y="1135063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3309" y="1401763"/>
            <a:ext cx="10179919" cy="3683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6"/>
          <p:cNvSpPr/>
          <p:nvPr/>
        </p:nvSpPr>
        <p:spPr>
          <a:xfrm>
            <a:off x="838200" y="1135063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3845" y="1344485"/>
            <a:ext cx="8513175" cy="4813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9"/>
          <p:cNvSpPr/>
          <p:nvPr/>
        </p:nvSpPr>
        <p:spPr>
          <a:xfrm>
            <a:off x="838200" y="1135063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651" y="1144999"/>
            <a:ext cx="8754697" cy="4835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412" y="472258"/>
            <a:ext cx="5820587" cy="552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0"/>
          <p:cNvSpPr/>
          <p:nvPr/>
        </p:nvSpPr>
        <p:spPr>
          <a:xfrm>
            <a:off x="838200" y="1135063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412" y="472258"/>
            <a:ext cx="5820587" cy="55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7298" y="1317480"/>
            <a:ext cx="6582875" cy="1271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58767" y="2482568"/>
            <a:ext cx="8087854" cy="3057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1"/>
          <p:cNvSpPr/>
          <p:nvPr/>
        </p:nvSpPr>
        <p:spPr>
          <a:xfrm>
            <a:off x="838200" y="1135063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412" y="472258"/>
            <a:ext cx="5820587" cy="552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moving Items from a Binary Heap" id="210" name="Google Shape;210;p2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5212" y="1354210"/>
            <a:ext cx="7409964" cy="414958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1"/>
          <p:cNvSpPr txBox="1"/>
          <p:nvPr/>
        </p:nvSpPr>
        <p:spPr>
          <a:xfrm>
            <a:off x="2967135" y="5691673"/>
            <a:ext cx="67180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 HEAP DELETION OF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2"/>
          <p:cNvSpPr/>
          <p:nvPr/>
        </p:nvSpPr>
        <p:spPr>
          <a:xfrm>
            <a:off x="838200" y="1135063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412" y="472258"/>
            <a:ext cx="5820587" cy="552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.1 Binary Heaps" id="219" name="Google Shape;219;p2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1249" y="1403350"/>
            <a:ext cx="742950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2"/>
          <p:cNvSpPr txBox="1"/>
          <p:nvPr/>
        </p:nvSpPr>
        <p:spPr>
          <a:xfrm>
            <a:off x="6189305" y="666076"/>
            <a:ext cx="33932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3"/>
          <p:cNvSpPr/>
          <p:nvPr/>
        </p:nvSpPr>
        <p:spPr>
          <a:xfrm>
            <a:off x="838200" y="1133475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3"/>
          <p:cNvSpPr txBox="1"/>
          <p:nvPr/>
        </p:nvSpPr>
        <p:spPr>
          <a:xfrm>
            <a:off x="917575" y="246063"/>
            <a:ext cx="8774113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i="0" sz="4000" u="none" cap="none" strike="noStrike">
              <a:solidFill>
                <a:srgbClr val="2147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03"/>
          <p:cNvSpPr txBox="1"/>
          <p:nvPr/>
        </p:nvSpPr>
        <p:spPr>
          <a:xfrm>
            <a:off x="982663" y="1874838"/>
            <a:ext cx="9937750" cy="397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Graph with V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Minimum Spanning tree with V-1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1. Sort all the edges in non-decreasing order of their weight.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2. Pick the smallest edge. Check if it forms a cycle with the spanning tree formed so far. If cycle is not formed, include this edge. Else, discard 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3. Repeat step#2 until there are (V-1) edges in the spanning tree.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4"/>
          <p:cNvSpPr/>
          <p:nvPr/>
        </p:nvSpPr>
        <p:spPr>
          <a:xfrm>
            <a:off x="2667000" y="3162300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4"/>
          <p:cNvSpPr/>
          <p:nvPr/>
        </p:nvSpPr>
        <p:spPr>
          <a:xfrm>
            <a:off x="3505200" y="2209800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4"/>
          <p:cNvSpPr/>
          <p:nvPr/>
        </p:nvSpPr>
        <p:spPr>
          <a:xfrm>
            <a:off x="3505200" y="4111625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4"/>
          <p:cNvSpPr/>
          <p:nvPr/>
        </p:nvSpPr>
        <p:spPr>
          <a:xfrm>
            <a:off x="5307013" y="2209800"/>
            <a:ext cx="533400" cy="533400"/>
          </a:xfrm>
          <a:prstGeom prst="ellipse">
            <a:avLst/>
          </a:prstGeom>
          <a:solidFill>
            <a:schemeClr val="dk2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4"/>
          <p:cNvSpPr/>
          <p:nvPr/>
        </p:nvSpPr>
        <p:spPr>
          <a:xfrm>
            <a:off x="5334000" y="4051300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4"/>
          <p:cNvSpPr/>
          <p:nvPr/>
        </p:nvSpPr>
        <p:spPr>
          <a:xfrm>
            <a:off x="6103938" y="3087688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4"/>
          <p:cNvSpPr/>
          <p:nvPr/>
        </p:nvSpPr>
        <p:spPr>
          <a:xfrm>
            <a:off x="7523163" y="2197100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4"/>
          <p:cNvSpPr/>
          <p:nvPr/>
        </p:nvSpPr>
        <p:spPr>
          <a:xfrm>
            <a:off x="7534275" y="4051300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4"/>
          <p:cNvSpPr/>
          <p:nvPr/>
        </p:nvSpPr>
        <p:spPr>
          <a:xfrm>
            <a:off x="8890000" y="3046413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104"/>
          <p:cNvCxnSpPr>
            <a:stCxn id="233" idx="7"/>
            <a:endCxn id="234" idx="3"/>
          </p:cNvCxnSpPr>
          <p:nvPr/>
        </p:nvCxnSpPr>
        <p:spPr>
          <a:xfrm flipH="1" rot="10800000">
            <a:off x="3122285" y="2665015"/>
            <a:ext cx="461100" cy="57540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104"/>
          <p:cNvCxnSpPr>
            <a:stCxn id="235" idx="1"/>
          </p:cNvCxnSpPr>
          <p:nvPr/>
        </p:nvCxnSpPr>
        <p:spPr>
          <a:xfrm rot="10800000">
            <a:off x="3070615" y="3694440"/>
            <a:ext cx="512700" cy="49530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104"/>
          <p:cNvCxnSpPr>
            <a:stCxn id="234" idx="6"/>
            <a:endCxn id="236" idx="2"/>
          </p:cNvCxnSpPr>
          <p:nvPr/>
        </p:nvCxnSpPr>
        <p:spPr>
          <a:xfrm>
            <a:off x="4038600" y="2476500"/>
            <a:ext cx="12684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104"/>
          <p:cNvCxnSpPr/>
          <p:nvPr/>
        </p:nvCxnSpPr>
        <p:spPr>
          <a:xfrm>
            <a:off x="4038600" y="4362450"/>
            <a:ext cx="1268413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104"/>
          <p:cNvCxnSpPr/>
          <p:nvPr/>
        </p:nvCxnSpPr>
        <p:spPr>
          <a:xfrm rot="10800000">
            <a:off x="5791200" y="2590800"/>
            <a:ext cx="512763" cy="493713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104"/>
          <p:cNvCxnSpPr/>
          <p:nvPr/>
        </p:nvCxnSpPr>
        <p:spPr>
          <a:xfrm flipH="1" rot="10800000">
            <a:off x="5810250" y="3592513"/>
            <a:ext cx="461963" cy="576262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104"/>
          <p:cNvCxnSpPr>
            <a:endCxn id="241" idx="2"/>
          </p:cNvCxnSpPr>
          <p:nvPr/>
        </p:nvCxnSpPr>
        <p:spPr>
          <a:xfrm flipH="1" rot="10800000">
            <a:off x="6637300" y="3313113"/>
            <a:ext cx="2252700" cy="4140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104"/>
          <p:cNvCxnSpPr>
            <a:stCxn id="236" idx="6"/>
            <a:endCxn id="239" idx="2"/>
          </p:cNvCxnSpPr>
          <p:nvPr/>
        </p:nvCxnSpPr>
        <p:spPr>
          <a:xfrm flipH="1" rot="10800000">
            <a:off x="5840413" y="2463900"/>
            <a:ext cx="1682700" cy="1260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104"/>
          <p:cNvCxnSpPr/>
          <p:nvPr/>
        </p:nvCxnSpPr>
        <p:spPr>
          <a:xfrm flipH="1" rot="10800000">
            <a:off x="5880100" y="4318000"/>
            <a:ext cx="1684338" cy="11113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104"/>
          <p:cNvCxnSpPr>
            <a:endCxn id="241" idx="1"/>
          </p:cNvCxnSpPr>
          <p:nvPr/>
        </p:nvCxnSpPr>
        <p:spPr>
          <a:xfrm>
            <a:off x="8010815" y="2624428"/>
            <a:ext cx="957300" cy="50010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104"/>
          <p:cNvCxnSpPr>
            <a:endCxn id="241" idx="3"/>
          </p:cNvCxnSpPr>
          <p:nvPr/>
        </p:nvCxnSpPr>
        <p:spPr>
          <a:xfrm flipH="1" rot="10800000">
            <a:off x="8057015" y="3501698"/>
            <a:ext cx="911100" cy="68910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104"/>
          <p:cNvSpPr txBox="1"/>
          <p:nvPr/>
        </p:nvSpPr>
        <p:spPr>
          <a:xfrm>
            <a:off x="3070225" y="2624138"/>
            <a:ext cx="28257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4"/>
          <p:cNvSpPr txBox="1"/>
          <p:nvPr/>
        </p:nvSpPr>
        <p:spPr>
          <a:xfrm>
            <a:off x="2970213" y="3959225"/>
            <a:ext cx="28257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4"/>
          <p:cNvSpPr txBox="1"/>
          <p:nvPr/>
        </p:nvSpPr>
        <p:spPr>
          <a:xfrm>
            <a:off x="4560888" y="4378325"/>
            <a:ext cx="28416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4"/>
          <p:cNvSpPr txBox="1"/>
          <p:nvPr/>
        </p:nvSpPr>
        <p:spPr>
          <a:xfrm>
            <a:off x="4491038" y="2063750"/>
            <a:ext cx="28257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4"/>
          <p:cNvSpPr txBox="1"/>
          <p:nvPr/>
        </p:nvSpPr>
        <p:spPr>
          <a:xfrm>
            <a:off x="5776913" y="2767013"/>
            <a:ext cx="28257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4"/>
          <p:cNvSpPr txBox="1"/>
          <p:nvPr/>
        </p:nvSpPr>
        <p:spPr>
          <a:xfrm>
            <a:off x="5757863" y="3590925"/>
            <a:ext cx="28257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4"/>
          <p:cNvSpPr txBox="1"/>
          <p:nvPr/>
        </p:nvSpPr>
        <p:spPr>
          <a:xfrm>
            <a:off x="6489700" y="2057400"/>
            <a:ext cx="28257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4"/>
          <p:cNvSpPr txBox="1"/>
          <p:nvPr/>
        </p:nvSpPr>
        <p:spPr>
          <a:xfrm>
            <a:off x="7516813" y="2994025"/>
            <a:ext cx="28416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4"/>
          <p:cNvSpPr txBox="1"/>
          <p:nvPr/>
        </p:nvSpPr>
        <p:spPr>
          <a:xfrm>
            <a:off x="6653213" y="3976688"/>
            <a:ext cx="46196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4"/>
          <p:cNvSpPr txBox="1"/>
          <p:nvPr/>
        </p:nvSpPr>
        <p:spPr>
          <a:xfrm>
            <a:off x="8512175" y="2559050"/>
            <a:ext cx="284163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4"/>
          <p:cNvSpPr txBox="1"/>
          <p:nvPr/>
        </p:nvSpPr>
        <p:spPr>
          <a:xfrm>
            <a:off x="8545513" y="3798888"/>
            <a:ext cx="42227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4"/>
          <p:cNvSpPr/>
          <p:nvPr/>
        </p:nvSpPr>
        <p:spPr>
          <a:xfrm>
            <a:off x="1893888" y="5130800"/>
            <a:ext cx="8545512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graph contains 9 vertices and 11 edges. So, the minimum spanning tree formed will be having (9 – 1) = 8 edges.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104"/>
          <p:cNvSpPr/>
          <p:nvPr/>
        </p:nvSpPr>
        <p:spPr>
          <a:xfrm>
            <a:off x="5308600" y="2211388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4"/>
          <p:cNvSpPr txBox="1"/>
          <p:nvPr/>
        </p:nvSpPr>
        <p:spPr>
          <a:xfrm>
            <a:off x="5778500" y="2768600"/>
            <a:ext cx="28257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04"/>
          <p:cNvSpPr txBox="1"/>
          <p:nvPr/>
        </p:nvSpPr>
        <p:spPr>
          <a:xfrm>
            <a:off x="917575" y="246063"/>
            <a:ext cx="8774113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rgbClr val="2147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4"/>
          <p:cNvSpPr/>
          <p:nvPr/>
        </p:nvSpPr>
        <p:spPr>
          <a:xfrm>
            <a:off x="838200" y="1131888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5"/>
          <p:cNvSpPr txBox="1"/>
          <p:nvPr>
            <p:ph type="title"/>
          </p:nvPr>
        </p:nvSpPr>
        <p:spPr>
          <a:xfrm>
            <a:off x="1200150" y="1773238"/>
            <a:ext cx="38100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1428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 the weights of the graph</a:t>
            </a:r>
            <a:endParaRPr/>
          </a:p>
        </p:txBody>
      </p:sp>
      <p:graphicFrame>
        <p:nvGraphicFramePr>
          <p:cNvPr id="274" name="Google Shape;274;p105"/>
          <p:cNvGraphicFramePr/>
          <p:nvPr/>
        </p:nvGraphicFramePr>
        <p:xfrm>
          <a:off x="5735638" y="15224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{1637438D-D1C9-486A-B940-FC74CAD16E84}</a:tableStyleId>
              </a:tblPr>
              <a:tblGrid>
                <a:gridCol w="1211575"/>
                <a:gridCol w="1480825"/>
                <a:gridCol w="1346200"/>
              </a:tblGrid>
              <a:tr h="37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Source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Destination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5" name="Google Shape;275;p105"/>
          <p:cNvSpPr/>
          <p:nvPr/>
        </p:nvSpPr>
        <p:spPr>
          <a:xfrm>
            <a:off x="838200" y="1131888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2730" y="2951163"/>
            <a:ext cx="4139735" cy="192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6"/>
          <p:cNvSpPr/>
          <p:nvPr/>
        </p:nvSpPr>
        <p:spPr>
          <a:xfrm>
            <a:off x="1847850" y="1341438"/>
            <a:ext cx="98139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pick all edges one by one from sorted list of edges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82" name="Google Shape;282;p106"/>
          <p:cNvGraphicFramePr/>
          <p:nvPr/>
        </p:nvGraphicFramePr>
        <p:xfrm>
          <a:off x="1703388" y="2133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{1637438D-D1C9-486A-B940-FC74CAD16E84}</a:tableStyleId>
              </a:tblPr>
              <a:tblGrid>
                <a:gridCol w="604000"/>
                <a:gridCol w="738200"/>
                <a:gridCol w="1116850"/>
              </a:tblGrid>
              <a:tr h="44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Source 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Destination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3" name="Google Shape;283;p106"/>
          <p:cNvSpPr/>
          <p:nvPr/>
        </p:nvSpPr>
        <p:spPr>
          <a:xfrm>
            <a:off x="838200" y="1131888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4813" y="2873375"/>
            <a:ext cx="219075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8058" y="1803400"/>
            <a:ext cx="2456987" cy="987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0" name="Google Shape;290;p107"/>
          <p:cNvGraphicFramePr/>
          <p:nvPr/>
        </p:nvGraphicFramePr>
        <p:xfrm>
          <a:off x="1343025" y="18653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{1637438D-D1C9-486A-B940-FC74CAD16E84}</a:tableStyleId>
              </a:tblPr>
              <a:tblGrid>
                <a:gridCol w="1234700"/>
                <a:gridCol w="1162275"/>
                <a:gridCol w="897100"/>
              </a:tblGrid>
              <a:tr h="44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Source 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Destination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1" name="Google Shape;291;p107"/>
          <p:cNvSpPr/>
          <p:nvPr/>
        </p:nvSpPr>
        <p:spPr>
          <a:xfrm>
            <a:off x="838200" y="1189038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5500" y="1860550"/>
            <a:ext cx="2154238" cy="360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2539" y="1366729"/>
            <a:ext cx="2774352" cy="1115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8" name="Google Shape;298;p108"/>
          <p:cNvGraphicFramePr/>
          <p:nvPr/>
        </p:nvGraphicFramePr>
        <p:xfrm>
          <a:off x="1127125" y="18113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{1637438D-D1C9-486A-B940-FC74CAD16E84}</a:tableStyleId>
              </a:tblPr>
              <a:tblGrid>
                <a:gridCol w="764850"/>
                <a:gridCol w="934825"/>
                <a:gridCol w="849850"/>
              </a:tblGrid>
              <a:tr h="44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Source 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Destination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9" name="Google Shape;299;p108"/>
          <p:cNvSpPr/>
          <p:nvPr/>
        </p:nvSpPr>
        <p:spPr>
          <a:xfrm>
            <a:off x="838200" y="1131888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1588" y="1700213"/>
            <a:ext cx="4867275" cy="3697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96813" y="1206392"/>
            <a:ext cx="2456987" cy="987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6" name="Google Shape;306;p109"/>
          <p:cNvGraphicFramePr/>
          <p:nvPr/>
        </p:nvGraphicFramePr>
        <p:xfrm>
          <a:off x="1427163" y="18494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{1637438D-D1C9-486A-B940-FC74CAD16E84}</a:tableStyleId>
              </a:tblPr>
              <a:tblGrid>
                <a:gridCol w="816300"/>
                <a:gridCol w="997700"/>
                <a:gridCol w="907000"/>
              </a:tblGrid>
              <a:tr h="44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Source 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Destination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</a:tr>
              <a:tr h="30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50" marB="4575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7" name="Google Shape;307;p109"/>
          <p:cNvSpPr/>
          <p:nvPr/>
        </p:nvSpPr>
        <p:spPr>
          <a:xfrm>
            <a:off x="838200" y="1131888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1849438"/>
            <a:ext cx="6181725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5926" y="1131889"/>
            <a:ext cx="1957873" cy="78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4" name="Google Shape;314;p110"/>
          <p:cNvGraphicFramePr/>
          <p:nvPr/>
        </p:nvGraphicFramePr>
        <p:xfrm>
          <a:off x="1125538" y="1968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{1637438D-D1C9-486A-B940-FC74CAD16E84}</a:tableStyleId>
              </a:tblPr>
              <a:tblGrid>
                <a:gridCol w="835350"/>
                <a:gridCol w="1020975"/>
                <a:gridCol w="928150"/>
              </a:tblGrid>
              <a:tr h="44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Source 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Destination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5" name="Google Shape;315;p110"/>
          <p:cNvSpPr/>
          <p:nvPr/>
        </p:nvSpPr>
        <p:spPr>
          <a:xfrm>
            <a:off x="838200" y="1131888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3113" y="1963738"/>
            <a:ext cx="573405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9233" y="4919824"/>
            <a:ext cx="2456987" cy="987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" name="Google Shape;322;p111"/>
          <p:cNvGraphicFramePr/>
          <p:nvPr/>
        </p:nvGraphicFramePr>
        <p:xfrm>
          <a:off x="1143000" y="2149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{1637438D-D1C9-486A-B940-FC74CAD16E84}</a:tableStyleId>
              </a:tblPr>
              <a:tblGrid>
                <a:gridCol w="706650"/>
                <a:gridCol w="603325"/>
                <a:gridCol w="1142725"/>
              </a:tblGrid>
              <a:tr h="44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Source 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Destination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00" marL="9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3" name="Google Shape;323;p111"/>
          <p:cNvSpPr/>
          <p:nvPr/>
        </p:nvSpPr>
        <p:spPr>
          <a:xfrm>
            <a:off x="723900" y="768350"/>
            <a:ext cx="10471150" cy="5883275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8438" y="2149475"/>
            <a:ext cx="6748462" cy="312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7324" y="927769"/>
            <a:ext cx="3889576" cy="156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0" name="Google Shape;330;p112"/>
          <p:cNvGraphicFramePr/>
          <p:nvPr/>
        </p:nvGraphicFramePr>
        <p:xfrm>
          <a:off x="844550" y="18526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{1637438D-D1C9-486A-B940-FC74CAD16E84}</a:tableStyleId>
              </a:tblPr>
              <a:tblGrid>
                <a:gridCol w="762000"/>
                <a:gridCol w="931325"/>
                <a:gridCol w="846675"/>
              </a:tblGrid>
              <a:tr h="44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Source 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Destination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1" name="Google Shape;331;p112"/>
          <p:cNvSpPr/>
          <p:nvPr/>
        </p:nvSpPr>
        <p:spPr>
          <a:xfrm>
            <a:off x="695325" y="788988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2538" y="1817688"/>
            <a:ext cx="7192962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8809" y="4352599"/>
            <a:ext cx="3702646" cy="1488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3"/>
          <p:cNvSpPr txBox="1"/>
          <p:nvPr/>
        </p:nvSpPr>
        <p:spPr>
          <a:xfrm>
            <a:off x="4424363" y="4338638"/>
            <a:ext cx="64436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 is formed because of weight 8. hence it is discarded.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9" name="Google Shape;339;p113"/>
          <p:cNvGraphicFramePr/>
          <p:nvPr/>
        </p:nvGraphicFramePr>
        <p:xfrm>
          <a:off x="917575" y="20812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{1637438D-D1C9-486A-B940-FC74CAD16E84}</a:tableStyleId>
              </a:tblPr>
              <a:tblGrid>
                <a:gridCol w="597875"/>
                <a:gridCol w="730725"/>
                <a:gridCol w="849450"/>
              </a:tblGrid>
              <a:tr h="44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Source 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Destination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0" name="Google Shape;340;p113"/>
          <p:cNvSpPr/>
          <p:nvPr/>
        </p:nvSpPr>
        <p:spPr>
          <a:xfrm>
            <a:off x="704850" y="811213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6163" y="1460500"/>
            <a:ext cx="7143750" cy="2868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6194" y="4903679"/>
            <a:ext cx="3221831" cy="987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4"/>
          <p:cNvSpPr/>
          <p:nvPr/>
        </p:nvSpPr>
        <p:spPr>
          <a:xfrm>
            <a:off x="3852863" y="4295775"/>
            <a:ext cx="63579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 is formed because of weight 9. hence it is discarded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8" name="Google Shape;348;p114"/>
          <p:cNvGraphicFramePr/>
          <p:nvPr/>
        </p:nvGraphicFramePr>
        <p:xfrm>
          <a:off x="1089025" y="14763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{1637438D-D1C9-486A-B940-FC74CAD16E84}</a:tableStyleId>
              </a:tblPr>
              <a:tblGrid>
                <a:gridCol w="600500"/>
                <a:gridCol w="733950"/>
                <a:gridCol w="929350"/>
              </a:tblGrid>
              <a:tr h="442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Source 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Destination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500" marL="91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9" name="Google Shape;349;p114"/>
          <p:cNvSpPr/>
          <p:nvPr/>
        </p:nvSpPr>
        <p:spPr>
          <a:xfrm>
            <a:off x="273050" y="812800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5413" y="1628775"/>
            <a:ext cx="5876925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3507" y="3100355"/>
            <a:ext cx="2456987" cy="987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5"/>
          <p:cNvSpPr/>
          <p:nvPr/>
        </p:nvSpPr>
        <p:spPr>
          <a:xfrm>
            <a:off x="3736975" y="4295775"/>
            <a:ext cx="67024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 is formed because of weight 12. hence it is discarded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" name="Google Shape;357;p115"/>
          <p:cNvGraphicFramePr/>
          <p:nvPr/>
        </p:nvGraphicFramePr>
        <p:xfrm>
          <a:off x="508000" y="14303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{1637438D-D1C9-486A-B940-FC74CAD16E84}</a:tableStyleId>
              </a:tblPr>
              <a:tblGrid>
                <a:gridCol w="777725"/>
                <a:gridCol w="950550"/>
                <a:gridCol w="864125"/>
              </a:tblGrid>
              <a:tr h="44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Source 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Destination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8" name="Google Shape;358;p115"/>
          <p:cNvSpPr/>
          <p:nvPr/>
        </p:nvSpPr>
        <p:spPr>
          <a:xfrm>
            <a:off x="192088" y="822325"/>
            <a:ext cx="10247312" cy="5191125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7650" y="1439863"/>
            <a:ext cx="5535613" cy="1989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42866" y="4695825"/>
            <a:ext cx="2456987" cy="987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6"/>
          <p:cNvSpPr/>
          <p:nvPr/>
        </p:nvSpPr>
        <p:spPr>
          <a:xfrm>
            <a:off x="3814763" y="4295775"/>
            <a:ext cx="63960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 is formed because of weight 12. hence it is discarded.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6" name="Google Shape;366;p116"/>
          <p:cNvGraphicFramePr/>
          <p:nvPr/>
        </p:nvGraphicFramePr>
        <p:xfrm>
          <a:off x="477838" y="1104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{1637438D-D1C9-486A-B940-FC74CAD16E84}</a:tableStyleId>
              </a:tblPr>
              <a:tblGrid>
                <a:gridCol w="835350"/>
                <a:gridCol w="1020975"/>
                <a:gridCol w="928150"/>
              </a:tblGrid>
              <a:tr h="44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Source 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Destination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00" marB="4570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</a:tr>
            </a:tbl>
          </a:graphicData>
        </a:graphic>
      </p:graphicFrame>
      <p:sp>
        <p:nvSpPr>
          <p:cNvPr id="367" name="Google Shape;367;p116"/>
          <p:cNvSpPr/>
          <p:nvPr/>
        </p:nvSpPr>
        <p:spPr>
          <a:xfrm>
            <a:off x="119063" y="812800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1313" y="1412875"/>
            <a:ext cx="5295900" cy="1995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3813" y="4876691"/>
            <a:ext cx="2456987" cy="987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17"/>
          <p:cNvSpPr/>
          <p:nvPr/>
        </p:nvSpPr>
        <p:spPr>
          <a:xfrm>
            <a:off x="5859463" y="3400425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17"/>
          <p:cNvSpPr/>
          <p:nvPr/>
        </p:nvSpPr>
        <p:spPr>
          <a:xfrm>
            <a:off x="6629400" y="2438400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p117"/>
          <p:cNvCxnSpPr/>
          <p:nvPr/>
        </p:nvCxnSpPr>
        <p:spPr>
          <a:xfrm flipH="1" rot="10800000">
            <a:off x="6335713" y="2943225"/>
            <a:ext cx="461962" cy="57467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117"/>
          <p:cNvSpPr txBox="1"/>
          <p:nvPr/>
        </p:nvSpPr>
        <p:spPr>
          <a:xfrm>
            <a:off x="6283325" y="2940050"/>
            <a:ext cx="284163" cy="307736"/>
          </a:xfrm>
          <a:prstGeom prst="rect">
            <a:avLst/>
          </a:prstGeom>
          <a:solidFill>
            <a:srgbClr val="FFC00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p117"/>
          <p:cNvCxnSpPr/>
          <p:nvPr/>
        </p:nvCxnSpPr>
        <p:spPr>
          <a:xfrm rot="10800000">
            <a:off x="6284913" y="1952625"/>
            <a:ext cx="514350" cy="495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117"/>
          <p:cNvSpPr/>
          <p:nvPr/>
        </p:nvSpPr>
        <p:spPr>
          <a:xfrm>
            <a:off x="5802313" y="1574800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17"/>
          <p:cNvSpPr txBox="1"/>
          <p:nvPr/>
        </p:nvSpPr>
        <p:spPr>
          <a:xfrm>
            <a:off x="6272213" y="2130425"/>
            <a:ext cx="284162" cy="307736"/>
          </a:xfrm>
          <a:prstGeom prst="rect">
            <a:avLst/>
          </a:prstGeom>
          <a:solidFill>
            <a:srgbClr val="FFC00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17"/>
          <p:cNvSpPr/>
          <p:nvPr/>
        </p:nvSpPr>
        <p:spPr>
          <a:xfrm>
            <a:off x="3995738" y="1562100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p117"/>
          <p:cNvCxnSpPr>
            <a:stCxn id="381" idx="6"/>
          </p:cNvCxnSpPr>
          <p:nvPr/>
        </p:nvCxnSpPr>
        <p:spPr>
          <a:xfrm>
            <a:off x="4529138" y="1828800"/>
            <a:ext cx="1266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117"/>
          <p:cNvSpPr txBox="1"/>
          <p:nvPr/>
        </p:nvSpPr>
        <p:spPr>
          <a:xfrm>
            <a:off x="4979988" y="1416050"/>
            <a:ext cx="284162" cy="307736"/>
          </a:xfrm>
          <a:prstGeom prst="rect">
            <a:avLst/>
          </a:prstGeom>
          <a:solidFill>
            <a:srgbClr val="FFC00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17"/>
          <p:cNvSpPr/>
          <p:nvPr/>
        </p:nvSpPr>
        <p:spPr>
          <a:xfrm>
            <a:off x="3124200" y="2500313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" name="Google Shape;385;p117"/>
          <p:cNvCxnSpPr>
            <a:stCxn id="384" idx="7"/>
          </p:cNvCxnSpPr>
          <p:nvPr/>
        </p:nvCxnSpPr>
        <p:spPr>
          <a:xfrm flipH="1" rot="10800000">
            <a:off x="3579485" y="2003628"/>
            <a:ext cx="460500" cy="57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117"/>
          <p:cNvSpPr txBox="1"/>
          <p:nvPr/>
        </p:nvSpPr>
        <p:spPr>
          <a:xfrm>
            <a:off x="3527425" y="1962150"/>
            <a:ext cx="282575" cy="307736"/>
          </a:xfrm>
          <a:prstGeom prst="rect">
            <a:avLst/>
          </a:prstGeom>
          <a:solidFill>
            <a:srgbClr val="FFC00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17"/>
          <p:cNvSpPr/>
          <p:nvPr/>
        </p:nvSpPr>
        <p:spPr>
          <a:xfrm>
            <a:off x="8013700" y="1525588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p117"/>
          <p:cNvCxnSpPr>
            <a:endCxn id="387" idx="2"/>
          </p:cNvCxnSpPr>
          <p:nvPr/>
        </p:nvCxnSpPr>
        <p:spPr>
          <a:xfrm flipH="1" rot="10800000">
            <a:off x="6329500" y="1792288"/>
            <a:ext cx="1684200" cy="1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117"/>
          <p:cNvSpPr txBox="1"/>
          <p:nvPr/>
        </p:nvSpPr>
        <p:spPr>
          <a:xfrm>
            <a:off x="6980238" y="1385888"/>
            <a:ext cx="282575" cy="307736"/>
          </a:xfrm>
          <a:prstGeom prst="rect">
            <a:avLst/>
          </a:prstGeom>
          <a:solidFill>
            <a:srgbClr val="FFC00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17"/>
          <p:cNvSpPr/>
          <p:nvPr/>
        </p:nvSpPr>
        <p:spPr>
          <a:xfrm>
            <a:off x="9432925" y="2247900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" name="Google Shape;391;p117"/>
          <p:cNvCxnSpPr>
            <a:endCxn id="390" idx="1"/>
          </p:cNvCxnSpPr>
          <p:nvPr/>
        </p:nvCxnSpPr>
        <p:spPr>
          <a:xfrm>
            <a:off x="8553740" y="1827415"/>
            <a:ext cx="957300" cy="498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p117"/>
          <p:cNvSpPr txBox="1"/>
          <p:nvPr/>
        </p:nvSpPr>
        <p:spPr>
          <a:xfrm>
            <a:off x="9055100" y="1760538"/>
            <a:ext cx="282575" cy="307736"/>
          </a:xfrm>
          <a:prstGeom prst="rect">
            <a:avLst/>
          </a:prstGeom>
          <a:solidFill>
            <a:srgbClr val="FFC00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17"/>
          <p:cNvSpPr/>
          <p:nvPr/>
        </p:nvSpPr>
        <p:spPr>
          <a:xfrm>
            <a:off x="4059238" y="3416300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4" name="Google Shape;394;p117"/>
          <p:cNvCxnSpPr/>
          <p:nvPr/>
        </p:nvCxnSpPr>
        <p:spPr>
          <a:xfrm>
            <a:off x="4592638" y="3667125"/>
            <a:ext cx="126682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117"/>
          <p:cNvSpPr txBox="1"/>
          <p:nvPr/>
        </p:nvSpPr>
        <p:spPr>
          <a:xfrm>
            <a:off x="5114925" y="3683000"/>
            <a:ext cx="282575" cy="307736"/>
          </a:xfrm>
          <a:prstGeom prst="rect">
            <a:avLst/>
          </a:prstGeom>
          <a:solidFill>
            <a:srgbClr val="FFC00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17"/>
          <p:cNvSpPr/>
          <p:nvPr/>
        </p:nvSpPr>
        <p:spPr>
          <a:xfrm>
            <a:off x="8069263" y="3354388"/>
            <a:ext cx="533400" cy="533400"/>
          </a:xfrm>
          <a:prstGeom prst="ellipse">
            <a:avLst/>
          </a:prstGeom>
          <a:solidFill>
            <a:srgbClr val="92D05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7" name="Google Shape;397;p117"/>
          <p:cNvCxnSpPr/>
          <p:nvPr/>
        </p:nvCxnSpPr>
        <p:spPr>
          <a:xfrm flipH="1" rot="10800000">
            <a:off x="6415088" y="3621088"/>
            <a:ext cx="1684337" cy="1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8" name="Google Shape;398;p117"/>
          <p:cNvSpPr txBox="1"/>
          <p:nvPr/>
        </p:nvSpPr>
        <p:spPr>
          <a:xfrm>
            <a:off x="7189788" y="3281363"/>
            <a:ext cx="460375" cy="307736"/>
          </a:xfrm>
          <a:prstGeom prst="rect">
            <a:avLst/>
          </a:prstGeom>
          <a:solidFill>
            <a:srgbClr val="FFC00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17"/>
          <p:cNvSpPr txBox="1"/>
          <p:nvPr/>
        </p:nvSpPr>
        <p:spPr>
          <a:xfrm>
            <a:off x="3689350" y="4602163"/>
            <a:ext cx="6705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Spanning tree generated by Kruskal’s 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17"/>
          <p:cNvSpPr/>
          <p:nvPr/>
        </p:nvSpPr>
        <p:spPr>
          <a:xfrm>
            <a:off x="838200" y="1131888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18"/>
          <p:cNvSpPr/>
          <p:nvPr/>
        </p:nvSpPr>
        <p:spPr>
          <a:xfrm>
            <a:off x="838200" y="1133475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18"/>
          <p:cNvSpPr txBox="1"/>
          <p:nvPr/>
        </p:nvSpPr>
        <p:spPr>
          <a:xfrm>
            <a:off x="917575" y="246063"/>
            <a:ext cx="8774113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i="0" sz="4000" u="none" cap="none" strike="noStrike">
              <a:solidFill>
                <a:srgbClr val="2147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118"/>
          <p:cNvSpPr txBox="1"/>
          <p:nvPr/>
        </p:nvSpPr>
        <p:spPr>
          <a:xfrm>
            <a:off x="917575" y="1241425"/>
            <a:ext cx="9937750" cy="50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kruskal( graph G ) {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int EdgesAccepted;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DisjSet S; // </a:t>
            </a:r>
            <a:r>
              <a:rPr b="0" i="0" lang="en-US" sz="14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US" sz="1400" u="none" cap="none" strike="noStrike">
                <a:solidFill>
                  <a:srgbClr val="040C28"/>
                </a:solidFill>
                <a:latin typeface="Arial"/>
                <a:ea typeface="Arial"/>
                <a:cs typeface="Arial"/>
                <a:sym typeface="Arial"/>
              </a:rPr>
              <a:t>A pair of sets which does not have any common element</a:t>
            </a:r>
            <a:r>
              <a:rPr b="0" i="0" lang="en-US" sz="14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 are called disjoint sets.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PriorityQueue H; vertex u, v; SetType uset, vset; Edge e;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Initialize( S );                           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form a single node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ReadGraphIntoHeapArray( G, H );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BuildHeap( H );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EdgesAccepted = 0;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while( EdgesAccepted </a:t>
            </a:r>
            <a:r>
              <a:rPr b="1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NumVertex-1 )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{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e = DeleteMin( H );     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Selection of minimum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uset = Find( u, S );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vset = Find( v, S );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if( uset != vset ) {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accept the edge */ </a:t>
            </a: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EdgesAccepted++; SetUnion( S, uset, vset );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 }}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33"/>
          <p:cNvSpPr/>
          <p:nvPr/>
        </p:nvSpPr>
        <p:spPr>
          <a:xfrm>
            <a:off x="838200" y="1133475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33"/>
          <p:cNvSpPr txBox="1"/>
          <p:nvPr/>
        </p:nvSpPr>
        <p:spPr>
          <a:xfrm>
            <a:off x="917575" y="246063"/>
            <a:ext cx="8774113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i="0" sz="4000" u="none" cap="none" strike="noStrike">
              <a:solidFill>
                <a:srgbClr val="2147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6" name="Google Shape;416;p2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3809" y="1223654"/>
            <a:ext cx="9364382" cy="4410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19"/>
          <p:cNvSpPr/>
          <p:nvPr/>
        </p:nvSpPr>
        <p:spPr>
          <a:xfrm>
            <a:off x="838200" y="1131888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19"/>
          <p:cNvSpPr txBox="1"/>
          <p:nvPr/>
        </p:nvSpPr>
        <p:spPr>
          <a:xfrm>
            <a:off x="917575" y="246063"/>
            <a:ext cx="8774113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1" i="0" sz="4000" u="none" cap="none" strike="noStrike">
              <a:solidFill>
                <a:srgbClr val="2147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119"/>
          <p:cNvSpPr txBox="1"/>
          <p:nvPr/>
        </p:nvSpPr>
        <p:spPr>
          <a:xfrm>
            <a:off x="1127125" y="1371600"/>
            <a:ext cx="9577388" cy="95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the graph given below to minimum spanning tree using kruskals algorithm.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5" name="Google Shape;425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3975" y="2576513"/>
            <a:ext cx="3890963" cy="28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20"/>
          <p:cNvSpPr/>
          <p:nvPr/>
        </p:nvSpPr>
        <p:spPr>
          <a:xfrm>
            <a:off x="838200" y="1133475"/>
            <a:ext cx="10515600" cy="5232400"/>
          </a:xfrm>
          <a:custGeom>
            <a:rect b="b" l="l" r="r" t="t"/>
            <a:pathLst>
              <a:path extrusionOk="0" h="5232400" w="1051560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cap="flat" cmpd="sng" w="38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20"/>
          <p:cNvSpPr txBox="1"/>
          <p:nvPr/>
        </p:nvSpPr>
        <p:spPr>
          <a:xfrm>
            <a:off x="917575" y="246063"/>
            <a:ext cx="8774113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Questions</a:t>
            </a:r>
            <a:endParaRPr b="1" i="0" sz="4000" u="none" cap="none" strike="noStrike">
              <a:solidFill>
                <a:srgbClr val="2147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120"/>
          <p:cNvSpPr txBox="1"/>
          <p:nvPr/>
        </p:nvSpPr>
        <p:spPr>
          <a:xfrm>
            <a:off x="982663" y="1874838"/>
            <a:ext cx="9937750" cy="397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1.Kruskal’s Algorithm is preferred when the graph is ____and there are ____number of edges in the graph.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2.If all the edge weights are not distinct, then prims and kruskals algorithms _____ always produce the same MST.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cost of both the MST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produced by prims and kruskals algorithm </a:t>
            </a:r>
            <a:r>
              <a:rPr b="0" i="0" lang="en-US" sz="2800" u="none" cap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would always be _____.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737E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‘m’ and ‘n’ be the number of edges and vertices in a graph G, respectively. The time complexity of the kruskals algorithm is ______.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17"/>
          <p:cNvSpPr txBox="1"/>
          <p:nvPr>
            <p:ph idx="1" type="body"/>
          </p:nvPr>
        </p:nvSpPr>
        <p:spPr>
          <a:xfrm>
            <a:off x="838200" y="1825624"/>
            <a:ext cx="10577052" cy="1016841"/>
          </a:xfrm>
          <a:prstGeom prst="rect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References:</a:t>
            </a:r>
            <a:endParaRPr/>
          </a:p>
          <a:p>
            <a:pPr indent="-342900" lvl="0" marL="45720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A.V.Aho, J.E Hopcroft , J.D.Ullman, Data structures and Algorithms, Pearson Education, 2003</a:t>
            </a:r>
            <a:endParaRPr/>
          </a:p>
          <a:p>
            <a:pPr indent="-342900" lvl="0" marL="45720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Reema Thareja, Data Structures Using C, 1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ed., Oxford Higher Education, 2011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varun</dc:creator>
</cp:coreProperties>
</file>