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H2O+E68vRISpZe6ifZGL4YhTd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customschemas.google.com/relationships/presentationmetadata" Target="metadata"/><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8"/>
          <p:cNvSpPr/>
          <p:nvPr>
            <p:ph idx="2" type="pic"/>
          </p:nvPr>
        </p:nvSpPr>
        <p:spPr>
          <a:xfrm>
            <a:off x="5183188" y="987425"/>
            <a:ext cx="6172200" cy="4873625"/>
          </a:xfrm>
          <a:prstGeom prst="rect">
            <a:avLst/>
          </a:prstGeom>
          <a:noFill/>
          <a:ln>
            <a:noFill/>
          </a:ln>
        </p:spPr>
      </p:sp>
      <p:sp>
        <p:nvSpPr>
          <p:cNvPr id="64" name="Google Shape;64;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0000"/>
              </a:buClr>
              <a:buSzPts val="6600"/>
              <a:buFont typeface="Calibri"/>
              <a:buNone/>
            </a:pPr>
            <a:r>
              <a:rPr b="1" i="0" lang="en-IN" sz="6600" u="none" strike="noStrike">
                <a:solidFill>
                  <a:srgbClr val="000000"/>
                </a:solidFill>
                <a:latin typeface="Calibri"/>
                <a:ea typeface="Calibri"/>
                <a:cs typeface="Calibri"/>
                <a:sym typeface="Calibri"/>
              </a:rPr>
              <a:t>Tower of Hanoi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400"/>
              <a:buFont typeface="Arial"/>
              <a:buNone/>
            </a:pPr>
            <a:r>
              <a:rPr b="0" i="0" lang="en-IN">
                <a:solidFill>
                  <a:srgbClr val="000000"/>
                </a:solidFill>
                <a:latin typeface="Arial"/>
                <a:ea typeface="Arial"/>
                <a:cs typeface="Arial"/>
                <a:sym typeface="Arial"/>
              </a:rPr>
              <a:t>Tower of Hanoi</a:t>
            </a:r>
            <a:endParaRPr/>
          </a:p>
        </p:txBody>
      </p:sp>
      <p:sp>
        <p:nvSpPr>
          <p:cNvPr id="90" name="Google Shape;90;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rgbClr val="000000"/>
              </a:buClr>
              <a:buSzPts val="2800"/>
              <a:buChar char="•"/>
            </a:pPr>
            <a:r>
              <a:rPr b="0" i="0" lang="en-IN">
                <a:solidFill>
                  <a:srgbClr val="000000"/>
                </a:solidFill>
                <a:latin typeface="Arial"/>
                <a:ea typeface="Arial"/>
                <a:cs typeface="Arial"/>
                <a:sym typeface="Arial"/>
              </a:rPr>
              <a:t>Tower of Hanoi, is a mathematical puzzle which consists of three towers (pegs) and more than one rings is as depicted −</a:t>
            </a:r>
            <a:endParaRPr/>
          </a:p>
          <a:p>
            <a:pPr indent="-50800" lvl="0" marL="228600" rtl="0" algn="just">
              <a:lnSpc>
                <a:spcPct val="90000"/>
              </a:lnSpc>
              <a:spcBef>
                <a:spcPts val="1000"/>
              </a:spcBef>
              <a:spcAft>
                <a:spcPts val="0"/>
              </a:spcAft>
              <a:buClr>
                <a:schemeClr val="dk1"/>
              </a:buClr>
              <a:buSzPts val="2800"/>
              <a:buNone/>
            </a:pPr>
            <a:r>
              <a:t/>
            </a:r>
            <a:endParaRPr>
              <a:solidFill>
                <a:srgbClr val="000000"/>
              </a:solidFill>
              <a:latin typeface="Arial"/>
              <a:ea typeface="Arial"/>
              <a:cs typeface="Arial"/>
              <a:sym typeface="Arial"/>
            </a:endParaRPr>
          </a:p>
          <a:p>
            <a:pPr indent="-50800" lvl="0" marL="228600" rtl="0" algn="just">
              <a:lnSpc>
                <a:spcPct val="90000"/>
              </a:lnSpc>
              <a:spcBef>
                <a:spcPts val="1000"/>
              </a:spcBef>
              <a:spcAft>
                <a:spcPts val="0"/>
              </a:spcAft>
              <a:buClr>
                <a:schemeClr val="dk1"/>
              </a:buClr>
              <a:buSzPts val="2800"/>
              <a:buNone/>
            </a:pPr>
            <a:r>
              <a:t/>
            </a:r>
            <a:endParaRPr>
              <a:solidFill>
                <a:srgbClr val="000000"/>
              </a:solidFill>
              <a:latin typeface="Arial"/>
              <a:ea typeface="Arial"/>
              <a:cs typeface="Arial"/>
              <a:sym typeface="Arial"/>
            </a:endParaRPr>
          </a:p>
          <a:p>
            <a:pPr indent="-50800" lvl="0" marL="228600" rtl="0" algn="just">
              <a:lnSpc>
                <a:spcPct val="90000"/>
              </a:lnSpc>
              <a:spcBef>
                <a:spcPts val="1000"/>
              </a:spcBef>
              <a:spcAft>
                <a:spcPts val="0"/>
              </a:spcAft>
              <a:buClr>
                <a:schemeClr val="dk1"/>
              </a:buClr>
              <a:buSzPts val="2800"/>
              <a:buNone/>
            </a:pPr>
            <a:r>
              <a:t/>
            </a:r>
            <a:endParaRPr>
              <a:solidFill>
                <a:srgbClr val="000000"/>
              </a:solidFill>
              <a:latin typeface="Arial"/>
              <a:ea typeface="Arial"/>
              <a:cs typeface="Arial"/>
              <a:sym typeface="Arial"/>
            </a:endParaRPr>
          </a:p>
          <a:p>
            <a:pPr indent="-50800" lvl="0" marL="228600" rtl="0" algn="just">
              <a:lnSpc>
                <a:spcPct val="90000"/>
              </a:lnSpc>
              <a:spcBef>
                <a:spcPts val="1000"/>
              </a:spcBef>
              <a:spcAft>
                <a:spcPts val="0"/>
              </a:spcAft>
              <a:buClr>
                <a:schemeClr val="dk1"/>
              </a:buClr>
              <a:buSzPts val="2800"/>
              <a:buNone/>
            </a:pPr>
            <a:r>
              <a:t/>
            </a:r>
            <a:endParaRPr>
              <a:solidFill>
                <a:srgbClr val="000000"/>
              </a:solidFill>
              <a:latin typeface="Arial"/>
              <a:ea typeface="Arial"/>
              <a:cs typeface="Arial"/>
              <a:sym typeface="Arial"/>
            </a:endParaRPr>
          </a:p>
          <a:p>
            <a:pPr indent="-228600" lvl="0" marL="228600" rtl="0" algn="just">
              <a:lnSpc>
                <a:spcPct val="90000"/>
              </a:lnSpc>
              <a:spcBef>
                <a:spcPts val="1000"/>
              </a:spcBef>
              <a:spcAft>
                <a:spcPts val="0"/>
              </a:spcAft>
              <a:buClr>
                <a:srgbClr val="000000"/>
              </a:buClr>
              <a:buSzPts val="2800"/>
              <a:buChar char="•"/>
            </a:pPr>
            <a:r>
              <a:rPr b="0" i="0" lang="en-IN">
                <a:solidFill>
                  <a:srgbClr val="000000"/>
                </a:solidFill>
                <a:latin typeface="Arial"/>
                <a:ea typeface="Arial"/>
                <a:cs typeface="Arial"/>
                <a:sym typeface="Arial"/>
              </a:rPr>
              <a:t>These rings are of different sizes and stacked upon in an ascending order, i.e. the smaller one sits over the larger one. There are other variations of the puzzle where the number of disks increase, but the tower count remains the same.</a:t>
            </a:r>
            <a:endParaRPr/>
          </a:p>
        </p:txBody>
      </p:sp>
      <p:pic>
        <p:nvPicPr>
          <p:cNvPr descr="Tower Of Hanoi" id="91" name="Google Shape;91;p2"/>
          <p:cNvPicPr preferRelativeResize="0"/>
          <p:nvPr/>
        </p:nvPicPr>
        <p:blipFill rotWithShape="1">
          <a:blip r:embed="rId3">
            <a:alphaModFix/>
          </a:blip>
          <a:srcRect b="0" l="0" r="0" t="0"/>
          <a:stretch/>
        </p:blipFill>
        <p:spPr>
          <a:xfrm>
            <a:off x="4072890" y="2748344"/>
            <a:ext cx="5427726" cy="18002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45162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IN"/>
              <a:t>Concept</a:t>
            </a:r>
            <a:endParaRPr b="1"/>
          </a:p>
        </p:txBody>
      </p:sp>
      <p:sp>
        <p:nvSpPr>
          <p:cNvPr id="97" name="Google Shape;97;p3"/>
          <p:cNvSpPr txBox="1"/>
          <p:nvPr>
            <p:ph idx="1" type="body"/>
          </p:nvPr>
        </p:nvSpPr>
        <p:spPr>
          <a:xfrm>
            <a:off x="838200" y="976544"/>
            <a:ext cx="10515600" cy="561956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There are three pegs say A, B and C.</a:t>
            </a:r>
            <a:endParaRPr/>
          </a:p>
          <a:p>
            <a:pPr indent="-228600" lvl="0" marL="228600" rtl="0" algn="l">
              <a:lnSpc>
                <a:spcPct val="90000"/>
              </a:lnSpc>
              <a:spcBef>
                <a:spcPts val="1000"/>
              </a:spcBef>
              <a:spcAft>
                <a:spcPts val="0"/>
              </a:spcAft>
              <a:buClr>
                <a:schemeClr val="dk1"/>
              </a:buClr>
              <a:buSzPts val="2800"/>
              <a:buChar char="•"/>
            </a:pPr>
            <a:r>
              <a:rPr lang="en-IN"/>
              <a:t>The different diameters of n discs are placed one above the other.</a:t>
            </a:r>
            <a:endParaRPr/>
          </a:p>
          <a:p>
            <a:pPr indent="-228600" lvl="0" marL="228600" rtl="0" algn="l">
              <a:lnSpc>
                <a:spcPct val="90000"/>
              </a:lnSpc>
              <a:spcBef>
                <a:spcPts val="1000"/>
              </a:spcBef>
              <a:spcAft>
                <a:spcPts val="0"/>
              </a:spcAft>
              <a:buClr>
                <a:schemeClr val="dk1"/>
              </a:buClr>
              <a:buSzPts val="2800"/>
              <a:buChar char="•"/>
            </a:pPr>
            <a:r>
              <a:rPr lang="en-IN"/>
              <a:t>Peg A is Source peg, Peg B is intermediate or temporary peg and peg C is destination peg.</a:t>
            </a:r>
            <a:endParaRPr/>
          </a:p>
          <a:p>
            <a:pPr indent="-228600" lvl="0" marL="228600" rtl="0" algn="l">
              <a:lnSpc>
                <a:spcPct val="90000"/>
              </a:lnSpc>
              <a:spcBef>
                <a:spcPts val="1000"/>
              </a:spcBef>
              <a:spcAft>
                <a:spcPts val="0"/>
              </a:spcAft>
              <a:buClr>
                <a:schemeClr val="dk1"/>
              </a:buClr>
              <a:buSzPts val="2800"/>
              <a:buChar char="•"/>
            </a:pPr>
            <a:r>
              <a:rPr lang="en-IN"/>
              <a:t>The problem is to shift all discs from Peg A to Peg C by making temporary Peg</a:t>
            </a:r>
            <a:endParaRPr/>
          </a:p>
          <a:p>
            <a:pPr indent="-228600" lvl="0" marL="228600" rtl="0" algn="l">
              <a:lnSpc>
                <a:spcPct val="90000"/>
              </a:lnSpc>
              <a:spcBef>
                <a:spcPts val="1000"/>
              </a:spcBef>
              <a:spcAft>
                <a:spcPts val="0"/>
              </a:spcAft>
              <a:buClr>
                <a:schemeClr val="dk1"/>
              </a:buClr>
              <a:buSzPts val="2800"/>
              <a:buChar char="•"/>
            </a:pPr>
            <a:r>
              <a:rPr lang="en-IN"/>
              <a:t>The rules to be followed while transferring the disc are:</a:t>
            </a:r>
            <a:endParaRPr/>
          </a:p>
          <a:p>
            <a:pPr indent="-228600" lvl="1" marL="685800" rtl="0" algn="l">
              <a:lnSpc>
                <a:spcPct val="90000"/>
              </a:lnSpc>
              <a:spcBef>
                <a:spcPts val="500"/>
              </a:spcBef>
              <a:spcAft>
                <a:spcPts val="0"/>
              </a:spcAft>
              <a:buClr>
                <a:schemeClr val="dk1"/>
              </a:buClr>
              <a:buSzPts val="2400"/>
              <a:buChar char="•"/>
            </a:pPr>
            <a:r>
              <a:rPr lang="en-IN"/>
              <a:t>Only one disk can be moved among the towers at any given time.</a:t>
            </a:r>
            <a:endParaRPr/>
          </a:p>
          <a:p>
            <a:pPr indent="-228600" lvl="1" marL="685800" rtl="0" algn="l">
              <a:lnSpc>
                <a:spcPct val="90000"/>
              </a:lnSpc>
              <a:spcBef>
                <a:spcPts val="500"/>
              </a:spcBef>
              <a:spcAft>
                <a:spcPts val="0"/>
              </a:spcAft>
              <a:buClr>
                <a:schemeClr val="dk1"/>
              </a:buClr>
              <a:buSzPts val="2400"/>
              <a:buChar char="•"/>
            </a:pPr>
            <a:r>
              <a:rPr lang="en-IN"/>
              <a:t>Only the "top" disk can be removed.</a:t>
            </a:r>
            <a:endParaRPr/>
          </a:p>
          <a:p>
            <a:pPr indent="-228600" lvl="1" marL="685800" rtl="0" algn="l">
              <a:lnSpc>
                <a:spcPct val="90000"/>
              </a:lnSpc>
              <a:spcBef>
                <a:spcPts val="500"/>
              </a:spcBef>
              <a:spcAft>
                <a:spcPts val="0"/>
              </a:spcAft>
              <a:buClr>
                <a:schemeClr val="dk1"/>
              </a:buClr>
              <a:buSzPts val="2400"/>
              <a:buChar char="•"/>
            </a:pPr>
            <a:r>
              <a:rPr lang="en-IN"/>
              <a:t>No large disk can sit over a small disk.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45162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IN"/>
              <a:t>The initial setup is</a:t>
            </a:r>
            <a:endParaRPr b="1"/>
          </a:p>
        </p:txBody>
      </p:sp>
      <p:sp>
        <p:nvSpPr>
          <p:cNvPr id="103" name="Google Shape;103;p4"/>
          <p:cNvSpPr txBox="1"/>
          <p:nvPr>
            <p:ph idx="1" type="body"/>
          </p:nvPr>
        </p:nvSpPr>
        <p:spPr>
          <a:xfrm>
            <a:off x="838200" y="976544"/>
            <a:ext cx="10515600" cy="5619565"/>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IN"/>
              <a:t>After transferring all the disc to peg C from peg A,</a:t>
            </a:r>
            <a:endParaRPr/>
          </a:p>
        </p:txBody>
      </p:sp>
      <p:pic>
        <p:nvPicPr>
          <p:cNvPr id="104" name="Google Shape;104;p4"/>
          <p:cNvPicPr preferRelativeResize="0"/>
          <p:nvPr/>
        </p:nvPicPr>
        <p:blipFill rotWithShape="1">
          <a:blip r:embed="rId3">
            <a:alphaModFix/>
          </a:blip>
          <a:srcRect b="0" l="0" r="0" t="0"/>
          <a:stretch/>
        </p:blipFill>
        <p:spPr>
          <a:xfrm>
            <a:off x="1634534" y="1082038"/>
            <a:ext cx="7289442" cy="1696674"/>
          </a:xfrm>
          <a:prstGeom prst="rect">
            <a:avLst/>
          </a:prstGeom>
          <a:noFill/>
          <a:ln>
            <a:noFill/>
          </a:ln>
        </p:spPr>
      </p:pic>
      <p:pic>
        <p:nvPicPr>
          <p:cNvPr id="105" name="Google Shape;105;p4"/>
          <p:cNvPicPr preferRelativeResize="0"/>
          <p:nvPr/>
        </p:nvPicPr>
        <p:blipFill rotWithShape="1">
          <a:blip r:embed="rId4">
            <a:alphaModFix/>
          </a:blip>
          <a:srcRect b="0" l="0" r="0" t="0"/>
          <a:stretch/>
        </p:blipFill>
        <p:spPr>
          <a:xfrm>
            <a:off x="1982263" y="3530118"/>
            <a:ext cx="6593983" cy="208820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11" name="Google Shape;11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12" name="Google Shape;112;p5"/>
          <p:cNvPicPr preferRelativeResize="0"/>
          <p:nvPr/>
        </p:nvPicPr>
        <p:blipFill rotWithShape="1">
          <a:blip r:embed="rId3">
            <a:alphaModFix/>
          </a:blip>
          <a:srcRect b="0" l="0" r="0" t="0"/>
          <a:stretch/>
        </p:blipFill>
        <p:spPr>
          <a:xfrm>
            <a:off x="838200" y="0"/>
            <a:ext cx="11102788"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idx="1" type="body"/>
          </p:nvPr>
        </p:nvSpPr>
        <p:spPr>
          <a:xfrm>
            <a:off x="838200" y="88776"/>
            <a:ext cx="10515600" cy="6631619"/>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18" name="Google Shape;118;p6"/>
          <p:cNvPicPr preferRelativeResize="0"/>
          <p:nvPr/>
        </p:nvPicPr>
        <p:blipFill rotWithShape="1">
          <a:blip r:embed="rId3">
            <a:alphaModFix/>
          </a:blip>
          <a:srcRect b="0" l="0" r="0" t="0"/>
          <a:stretch/>
        </p:blipFill>
        <p:spPr>
          <a:xfrm>
            <a:off x="2756794" y="110711"/>
            <a:ext cx="6305550" cy="1167412"/>
          </a:xfrm>
          <a:prstGeom prst="rect">
            <a:avLst/>
          </a:prstGeom>
          <a:noFill/>
          <a:ln>
            <a:noFill/>
          </a:ln>
        </p:spPr>
      </p:pic>
      <p:pic>
        <p:nvPicPr>
          <p:cNvPr id="119" name="Google Shape;119;p6"/>
          <p:cNvPicPr preferRelativeResize="0"/>
          <p:nvPr/>
        </p:nvPicPr>
        <p:blipFill rotWithShape="1">
          <a:blip r:embed="rId4">
            <a:alphaModFix/>
          </a:blip>
          <a:srcRect b="0" l="0" r="0" t="0"/>
          <a:stretch/>
        </p:blipFill>
        <p:spPr>
          <a:xfrm>
            <a:off x="2324053" y="1360712"/>
            <a:ext cx="5324475" cy="3655172"/>
          </a:xfrm>
          <a:prstGeom prst="rect">
            <a:avLst/>
          </a:prstGeom>
          <a:noFill/>
          <a:ln>
            <a:noFill/>
          </a:ln>
        </p:spPr>
      </p:pic>
      <p:pic>
        <p:nvPicPr>
          <p:cNvPr id="120" name="Google Shape;120;p6"/>
          <p:cNvPicPr preferRelativeResize="0"/>
          <p:nvPr/>
        </p:nvPicPr>
        <p:blipFill rotWithShape="1">
          <a:blip r:embed="rId5">
            <a:alphaModFix/>
          </a:blip>
          <a:srcRect b="0" l="0" r="0" t="0"/>
          <a:stretch/>
        </p:blipFill>
        <p:spPr>
          <a:xfrm>
            <a:off x="2324053" y="5015884"/>
            <a:ext cx="5191125" cy="176020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7"/>
          <p:cNvSpPr txBox="1"/>
          <p:nvPr>
            <p:ph type="title"/>
          </p:nvPr>
        </p:nvSpPr>
        <p:spPr>
          <a:xfrm>
            <a:off x="838200" y="294101"/>
            <a:ext cx="10515600" cy="77121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0000"/>
              </a:buClr>
              <a:buSzPct val="100000"/>
              <a:buFont typeface="Arial"/>
              <a:buNone/>
            </a:pPr>
            <a:r>
              <a:rPr b="0" i="0" lang="en-IN">
                <a:solidFill>
                  <a:srgbClr val="000000"/>
                </a:solidFill>
                <a:latin typeface="Arial"/>
                <a:ea typeface="Arial"/>
                <a:cs typeface="Arial"/>
                <a:sym typeface="Arial"/>
              </a:rPr>
              <a:t>Algorithm for Tower of Hanoi can be driven as follows −</a:t>
            </a:r>
            <a:endParaRPr/>
          </a:p>
        </p:txBody>
      </p:sp>
      <p:sp>
        <p:nvSpPr>
          <p:cNvPr id="126" name="Google Shape;126;p7"/>
          <p:cNvSpPr txBox="1"/>
          <p:nvPr>
            <p:ph idx="1" type="body"/>
          </p:nvPr>
        </p:nvSpPr>
        <p:spPr>
          <a:xfrm>
            <a:off x="717875" y="1314163"/>
            <a:ext cx="10515600" cy="50052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rPr lang="en-IN"/>
              <a:t>START</a:t>
            </a:r>
            <a:endParaRPr/>
          </a:p>
          <a:p>
            <a:pPr indent="0" lvl="0" marL="0" rtl="0" algn="l">
              <a:lnSpc>
                <a:spcPct val="90000"/>
              </a:lnSpc>
              <a:spcBef>
                <a:spcPts val="1000"/>
              </a:spcBef>
              <a:spcAft>
                <a:spcPts val="0"/>
              </a:spcAft>
              <a:buClr>
                <a:schemeClr val="dk1"/>
              </a:buClr>
              <a:buSzPct val="100000"/>
              <a:buNone/>
            </a:pPr>
            <a:r>
              <a:rPr lang="en-IN"/>
              <a:t>Procedure Hanoi(disk, source, dest, temp)</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IN"/>
              <a:t>   IF disk == 1, THEN</a:t>
            </a:r>
            <a:endParaRPr/>
          </a:p>
          <a:p>
            <a:pPr indent="0" lvl="0" marL="0" rtl="0" algn="l">
              <a:lnSpc>
                <a:spcPct val="90000"/>
              </a:lnSpc>
              <a:spcBef>
                <a:spcPts val="1000"/>
              </a:spcBef>
              <a:spcAft>
                <a:spcPts val="0"/>
              </a:spcAft>
              <a:buClr>
                <a:schemeClr val="dk1"/>
              </a:buClr>
              <a:buSzPct val="100000"/>
              <a:buNone/>
            </a:pPr>
            <a:r>
              <a:rPr lang="en-IN"/>
              <a:t>      move disk from source to dest             </a:t>
            </a:r>
            <a:endParaRPr/>
          </a:p>
          <a:p>
            <a:pPr indent="0" lvl="0" marL="0" rtl="0" algn="l">
              <a:lnSpc>
                <a:spcPct val="90000"/>
              </a:lnSpc>
              <a:spcBef>
                <a:spcPts val="1000"/>
              </a:spcBef>
              <a:spcAft>
                <a:spcPts val="0"/>
              </a:spcAft>
              <a:buClr>
                <a:schemeClr val="dk1"/>
              </a:buClr>
              <a:buSzPct val="100000"/>
              <a:buNone/>
            </a:pPr>
            <a:r>
              <a:rPr lang="en-IN"/>
              <a:t>   ELSE</a:t>
            </a:r>
            <a:endParaRPr/>
          </a:p>
          <a:p>
            <a:pPr indent="0" lvl="0" marL="0" rtl="0" algn="l">
              <a:lnSpc>
                <a:spcPct val="90000"/>
              </a:lnSpc>
              <a:spcBef>
                <a:spcPts val="1000"/>
              </a:spcBef>
              <a:spcAft>
                <a:spcPts val="0"/>
              </a:spcAft>
              <a:buClr>
                <a:schemeClr val="dk1"/>
              </a:buClr>
              <a:buSzPct val="100000"/>
              <a:buNone/>
            </a:pPr>
            <a:r>
              <a:rPr lang="en-IN"/>
              <a:t>      Hanoi(disk - 1, source, temp, dest)     // Step 1</a:t>
            </a:r>
            <a:endParaRPr/>
          </a:p>
          <a:p>
            <a:pPr indent="0" lvl="0" marL="0" rtl="0" algn="l">
              <a:lnSpc>
                <a:spcPct val="90000"/>
              </a:lnSpc>
              <a:spcBef>
                <a:spcPts val="1000"/>
              </a:spcBef>
              <a:spcAft>
                <a:spcPts val="0"/>
              </a:spcAft>
              <a:buClr>
                <a:schemeClr val="dk1"/>
              </a:buClr>
              <a:buSzPct val="100000"/>
              <a:buNone/>
            </a:pPr>
            <a:r>
              <a:rPr lang="en-IN"/>
              <a:t>      move disk from source to dest          // Step 2</a:t>
            </a:r>
            <a:endParaRPr/>
          </a:p>
          <a:p>
            <a:pPr indent="0" lvl="0" marL="0" rtl="0" algn="l">
              <a:lnSpc>
                <a:spcPct val="90000"/>
              </a:lnSpc>
              <a:spcBef>
                <a:spcPts val="1000"/>
              </a:spcBef>
              <a:spcAft>
                <a:spcPts val="0"/>
              </a:spcAft>
              <a:buClr>
                <a:schemeClr val="dk1"/>
              </a:buClr>
              <a:buSzPct val="100000"/>
              <a:buNone/>
            </a:pPr>
            <a:r>
              <a:rPr lang="en-IN"/>
              <a:t>      Hanoi(disk - 1, temp, dest, source)     // Step 3</a:t>
            </a:r>
            <a:endParaRPr/>
          </a:p>
          <a:p>
            <a:pPr indent="0" lvl="0" marL="0" rtl="0" algn="l">
              <a:lnSpc>
                <a:spcPct val="90000"/>
              </a:lnSpc>
              <a:spcBef>
                <a:spcPts val="1000"/>
              </a:spcBef>
              <a:spcAft>
                <a:spcPts val="0"/>
              </a:spcAft>
              <a:buClr>
                <a:schemeClr val="dk1"/>
              </a:buClr>
              <a:buSzPct val="100000"/>
              <a:buNone/>
            </a:pPr>
            <a:r>
              <a:rPr lang="en-IN"/>
              <a:t>   END IF</a:t>
            </a:r>
            <a:endParaRPr/>
          </a:p>
          <a:p>
            <a:pPr indent="0" lvl="0" marL="0" rtl="0" algn="l">
              <a:lnSpc>
                <a:spcPct val="90000"/>
              </a:lnSpc>
              <a:spcBef>
                <a:spcPts val="1000"/>
              </a:spcBef>
              <a:spcAft>
                <a:spcPts val="0"/>
              </a:spcAft>
              <a:buClr>
                <a:schemeClr val="dk1"/>
              </a:buClr>
              <a:buSzPct val="100000"/>
              <a:buNone/>
            </a:pPr>
            <a:r>
              <a:rPr lang="en-IN"/>
              <a:t>   </a:t>
            </a:r>
            <a:endParaRPr/>
          </a:p>
          <a:p>
            <a:pPr indent="0" lvl="0" marL="0" rtl="0" algn="l">
              <a:lnSpc>
                <a:spcPct val="90000"/>
              </a:lnSpc>
              <a:spcBef>
                <a:spcPts val="1000"/>
              </a:spcBef>
              <a:spcAft>
                <a:spcPts val="0"/>
              </a:spcAft>
              <a:buClr>
                <a:schemeClr val="dk1"/>
              </a:buClr>
              <a:buSzPct val="100000"/>
              <a:buNone/>
            </a:pPr>
            <a:r>
              <a:rPr lang="en-IN"/>
              <a:t>END Procedure</a:t>
            </a:r>
            <a:endParaRPr/>
          </a:p>
          <a:p>
            <a:pPr indent="0" lvl="0" marL="0" rtl="0" algn="l">
              <a:lnSpc>
                <a:spcPct val="90000"/>
              </a:lnSpc>
              <a:spcBef>
                <a:spcPts val="1000"/>
              </a:spcBef>
              <a:spcAft>
                <a:spcPts val="0"/>
              </a:spcAft>
              <a:buClr>
                <a:schemeClr val="dk1"/>
              </a:buClr>
              <a:buSzPct val="100000"/>
              <a:buNone/>
            </a:pPr>
            <a:r>
              <a:rPr lang="en-IN"/>
              <a:t>STOP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8"/>
          <p:cNvPicPr preferRelativeResize="0"/>
          <p:nvPr/>
        </p:nvPicPr>
        <p:blipFill rotWithShape="1">
          <a:blip r:embed="rId3">
            <a:alphaModFix/>
          </a:blip>
          <a:srcRect b="0" l="0" r="0" t="0"/>
          <a:stretch/>
        </p:blipFill>
        <p:spPr>
          <a:xfrm>
            <a:off x="1039582" y="876387"/>
            <a:ext cx="10180182" cy="497756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2021-09-01T06:19:55Z</dcterms:created>
  <dc:creator>Nagendra prabhu Selvaraj</dc:creator>
</cp:coreProperties>
</file>