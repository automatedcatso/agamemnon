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COpW8YdkzUTZPkqa700k/wa+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8" name="Google Shape;88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9" name="Google Shape;8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6" name="Google Shape;96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8" name="Google Shape;9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" name="Google Shape;104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5" name="Google Shape;10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2" name="Google Shape;11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18000"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codesdope.com/course/data-structures-stacks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exploredatabase.com/2018/01/stack-abstract-data-type-data-structure.html" TargetMode="External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btechsmartclass.com/data_structures/stack-using-linked-list.html" TargetMode="External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33" name="Google Shape;133;p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5313" y="69755"/>
              <a:ext cx="9013825" cy="6692265"/>
            </a:xfrm>
            <a:custGeom>
              <a:rect b="b" l="l" r="r" t="t"/>
              <a:pathLst>
                <a:path extrusionOk="0" h="6692265" w="9013825">
                  <a:moveTo>
                    <a:pt x="0" y="329858"/>
                  </a:moveTo>
                  <a:lnTo>
                    <a:pt x="3576" y="281114"/>
                  </a:lnTo>
                  <a:lnTo>
                    <a:pt x="13965" y="234591"/>
                  </a:lnTo>
                  <a:lnTo>
                    <a:pt x="30657" y="190798"/>
                  </a:lnTo>
                  <a:lnTo>
                    <a:pt x="53142" y="150247"/>
                  </a:lnTo>
                  <a:lnTo>
                    <a:pt x="80908" y="113447"/>
                  </a:lnTo>
                  <a:lnTo>
                    <a:pt x="113446" y="80908"/>
                  </a:lnTo>
                  <a:lnTo>
                    <a:pt x="150246" y="53142"/>
                  </a:lnTo>
                  <a:lnTo>
                    <a:pt x="190798" y="30658"/>
                  </a:lnTo>
                  <a:lnTo>
                    <a:pt x="234590" y="13965"/>
                  </a:lnTo>
                  <a:lnTo>
                    <a:pt x="281114" y="3576"/>
                  </a:lnTo>
                  <a:lnTo>
                    <a:pt x="329858" y="0"/>
                  </a:lnTo>
                  <a:lnTo>
                    <a:pt x="8683513" y="0"/>
                  </a:lnTo>
                  <a:lnTo>
                    <a:pt x="8732255" y="3576"/>
                  </a:lnTo>
                  <a:lnTo>
                    <a:pt x="8778779" y="13965"/>
                  </a:lnTo>
                  <a:lnTo>
                    <a:pt x="8822571" y="30657"/>
                  </a:lnTo>
                  <a:lnTo>
                    <a:pt x="8863123" y="53142"/>
                  </a:lnTo>
                  <a:lnTo>
                    <a:pt x="8899923" y="80908"/>
                  </a:lnTo>
                  <a:lnTo>
                    <a:pt x="8932461" y="113446"/>
                  </a:lnTo>
                  <a:lnTo>
                    <a:pt x="8960228" y="150246"/>
                  </a:lnTo>
                  <a:lnTo>
                    <a:pt x="8982712" y="190798"/>
                  </a:lnTo>
                  <a:lnTo>
                    <a:pt x="8999404" y="234590"/>
                  </a:lnTo>
                  <a:lnTo>
                    <a:pt x="9009794" y="281114"/>
                  </a:lnTo>
                  <a:lnTo>
                    <a:pt x="9013370" y="329858"/>
                  </a:lnTo>
                  <a:lnTo>
                    <a:pt x="9013372" y="6362342"/>
                  </a:lnTo>
                  <a:lnTo>
                    <a:pt x="9009794" y="6411086"/>
                  </a:lnTo>
                  <a:lnTo>
                    <a:pt x="8999404" y="6457609"/>
                  </a:lnTo>
                  <a:lnTo>
                    <a:pt x="8982712" y="6501402"/>
                  </a:lnTo>
                  <a:lnTo>
                    <a:pt x="8960228" y="6541953"/>
                  </a:lnTo>
                  <a:lnTo>
                    <a:pt x="8932462" y="6578753"/>
                  </a:lnTo>
                  <a:lnTo>
                    <a:pt x="8899923" y="6611291"/>
                  </a:lnTo>
                  <a:lnTo>
                    <a:pt x="8863123" y="6639058"/>
                  </a:lnTo>
                  <a:lnTo>
                    <a:pt x="8822572" y="6661542"/>
                  </a:lnTo>
                  <a:lnTo>
                    <a:pt x="8778780" y="6678235"/>
                  </a:lnTo>
                  <a:lnTo>
                    <a:pt x="8732256" y="6688624"/>
                  </a:lnTo>
                  <a:lnTo>
                    <a:pt x="8683512" y="6692201"/>
                  </a:lnTo>
                  <a:lnTo>
                    <a:pt x="329858" y="6692201"/>
                  </a:lnTo>
                  <a:lnTo>
                    <a:pt x="281114" y="6688624"/>
                  </a:lnTo>
                  <a:lnTo>
                    <a:pt x="234591" y="6678235"/>
                  </a:lnTo>
                  <a:lnTo>
                    <a:pt x="190798" y="6661543"/>
                  </a:lnTo>
                  <a:lnTo>
                    <a:pt x="150247" y="6639058"/>
                  </a:lnTo>
                  <a:lnTo>
                    <a:pt x="113447" y="6611292"/>
                  </a:lnTo>
                  <a:lnTo>
                    <a:pt x="80908" y="6578753"/>
                  </a:lnTo>
                  <a:lnTo>
                    <a:pt x="53142" y="6541953"/>
                  </a:lnTo>
                  <a:lnTo>
                    <a:pt x="30657" y="6501402"/>
                  </a:lnTo>
                  <a:lnTo>
                    <a:pt x="13965" y="6457609"/>
                  </a:lnTo>
                  <a:lnTo>
                    <a:pt x="3576" y="6411086"/>
                  </a:lnTo>
                  <a:lnTo>
                    <a:pt x="0" y="6362342"/>
                  </a:lnTo>
                  <a:lnTo>
                    <a:pt x="0" y="32985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2931" y="1396719"/>
              <a:ext cx="9022080" cy="120650"/>
            </a:xfrm>
            <a:custGeom>
              <a:rect b="b" l="l" r="r" t="t"/>
              <a:pathLst>
                <a:path extrusionOk="0" h="120650" w="9022080">
                  <a:moveTo>
                    <a:pt x="9021536" y="120580"/>
                  </a:moveTo>
                  <a:lnTo>
                    <a:pt x="0" y="120580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20580"/>
                  </a:lnTo>
                  <a:close/>
                </a:path>
              </a:pathLst>
            </a:custGeom>
            <a:solidFill>
              <a:srgbClr val="E6B1A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62931" y="2976648"/>
              <a:ext cx="9022080" cy="111125"/>
            </a:xfrm>
            <a:custGeom>
              <a:rect b="b" l="l" r="r" t="t"/>
              <a:pathLst>
                <a:path extrusionOk="0" h="111125" w="9022080">
                  <a:moveTo>
                    <a:pt x="9021536" y="110532"/>
                  </a:moveTo>
                  <a:lnTo>
                    <a:pt x="0" y="110532"/>
                  </a:lnTo>
                  <a:lnTo>
                    <a:pt x="0" y="0"/>
                  </a:lnTo>
                  <a:lnTo>
                    <a:pt x="9021536" y="0"/>
                  </a:lnTo>
                  <a:lnTo>
                    <a:pt x="9021536" y="110532"/>
                  </a:lnTo>
                  <a:close/>
                </a:path>
              </a:pathLst>
            </a:custGeom>
            <a:solidFill>
              <a:srgbClr val="9184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"/>
          <p:cNvSpPr txBox="1"/>
          <p:nvPr/>
        </p:nvSpPr>
        <p:spPr>
          <a:xfrm>
            <a:off x="62931" y="1517300"/>
            <a:ext cx="9022200" cy="1148100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txBody>
          <a:bodyPr anchorCtr="0" anchor="t" bIns="0" lIns="0" spcFirstLastPara="1" rIns="0" wrap="square" tIns="34925">
            <a:spAutoFit/>
          </a:bodyPr>
          <a:lstStyle/>
          <a:p>
            <a:pPr indent="-3164840" lvl="0" marL="4088129" marR="93726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21CSC201J – </a:t>
            </a: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4840" lvl="0" marL="4088129" marR="937260" rtl="0" algn="ctr">
              <a:lnSpc>
                <a:spcPct val="150000"/>
              </a:lnSpc>
              <a:spcBef>
                <a:spcPts val="2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III- STACK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8" name="Google Shape;138;p1"/>
          <p:cNvGrpSpPr/>
          <p:nvPr/>
        </p:nvGrpSpPr>
        <p:grpSpPr>
          <a:xfrm>
            <a:off x="93804" y="304800"/>
            <a:ext cx="5345572" cy="5906864"/>
            <a:chOff x="81109" y="190500"/>
            <a:chExt cx="5345572" cy="5906864"/>
          </a:xfrm>
        </p:grpSpPr>
        <p:sp>
          <p:nvSpPr>
            <p:cNvPr id="139" name="Google Shape;139;p1"/>
            <p:cNvSpPr/>
            <p:nvPr/>
          </p:nvSpPr>
          <p:spPr>
            <a:xfrm>
              <a:off x="3136900" y="3721100"/>
              <a:ext cx="2289781" cy="237626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81109" y="190500"/>
              <a:ext cx="1040810" cy="108011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1"/>
          <p:cNvSpPr txBox="1"/>
          <p:nvPr/>
        </p:nvSpPr>
        <p:spPr>
          <a:xfrm>
            <a:off x="1013898" y="448342"/>
            <a:ext cx="8164738" cy="41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43" name="Google Shape;143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350275" y="68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ADT</a:t>
            </a:r>
            <a:endParaRPr sz="4000"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Abstract Data Type (ADT) </a:t>
            </a:r>
            <a:endParaRPr/>
          </a:p>
          <a:p>
            <a:pPr indent="-121284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 is a mathematical model for </a:t>
            </a:r>
            <a:r>
              <a:rPr b="1" lang="en-US"/>
              <a:t>data types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An </a:t>
            </a:r>
            <a:r>
              <a:rPr b="1" lang="en-US"/>
              <a:t>abstract data type</a:t>
            </a:r>
            <a:r>
              <a:rPr lang="en-US"/>
              <a:t> is </a:t>
            </a:r>
            <a:r>
              <a:rPr b="1" lang="en-US"/>
              <a:t>defined</a:t>
            </a:r>
            <a:r>
              <a:rPr lang="en-US"/>
              <a:t> by its behavior (semantics) from the point of view of a user, of the </a:t>
            </a:r>
            <a:r>
              <a:rPr b="1" lang="en-US"/>
              <a:t>data</a:t>
            </a:r>
            <a:r>
              <a:rPr lang="en-US"/>
              <a:t>, specifically in terms of possible values, possible operations on </a:t>
            </a:r>
            <a:r>
              <a:rPr b="1" lang="en-US"/>
              <a:t>data</a:t>
            </a:r>
            <a:r>
              <a:rPr lang="en-US"/>
              <a:t> of this </a:t>
            </a:r>
            <a:r>
              <a:rPr b="1" lang="en-US"/>
              <a:t>type</a:t>
            </a:r>
            <a:r>
              <a:rPr lang="en-US"/>
              <a:t>, and the behavior of these operations. Set of values and set of operations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00FF00"/>
                </a:highlight>
              </a:rPr>
              <a:t>A stack is an ADT </a:t>
            </a:r>
            <a:endParaRPr>
              <a:highlight>
                <a:srgbClr val="00FF00"/>
              </a:highlight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 follows </a:t>
            </a:r>
            <a:r>
              <a:rPr b="1" lang="en-US">
                <a:solidFill>
                  <a:srgbClr val="C00000"/>
                </a:solidFill>
              </a:rPr>
              <a:t>Last In First Out (LIFO) </a:t>
            </a:r>
            <a:r>
              <a:rPr lang="en-US"/>
              <a:t>methodology perform operations push, pop, etc. </a:t>
            </a:r>
            <a:endParaRPr/>
          </a:p>
        </p:txBody>
      </p:sp>
      <p:sp>
        <p:nvSpPr>
          <p:cNvPr id="151" name="Google Shape;151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52" name="Google Shape;15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What is STACK?</a:t>
            </a:r>
            <a:endParaRPr sz="4000"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Diagram Reference : http://www.firmcodes.com/write-a-c-program-to-implement-a-stack-using-an-array-and-linked-list/</a:t>
            </a:r>
            <a:endParaRPr sz="10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Stack works on “</a:t>
            </a:r>
            <a:r>
              <a:rPr lang="en-US" sz="2600">
                <a:solidFill>
                  <a:srgbClr val="C00000"/>
                </a:solidFill>
              </a:rPr>
              <a:t>Last in First out</a:t>
            </a:r>
            <a:r>
              <a:rPr lang="en-US" sz="2600"/>
              <a:t>” or “</a:t>
            </a:r>
            <a:r>
              <a:rPr lang="en-US" sz="2600">
                <a:solidFill>
                  <a:srgbClr val="C00000"/>
                </a:solidFill>
              </a:rPr>
              <a:t>First in Last Out</a:t>
            </a:r>
            <a:r>
              <a:rPr lang="en-US" sz="2600"/>
              <a:t>”, principle.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Plates placed one over another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 plate at the top is removed first &amp; the bottommost plate kept longest period of time.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So, it follows LIFO/FILO order.</a:t>
            </a:r>
            <a:br>
              <a:rPr lang="en-US" sz="2600"/>
            </a:b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160" name="Google Shape;16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61" name="Google Shape;16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571" y="1295400"/>
            <a:ext cx="5653106" cy="123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Example</a:t>
            </a:r>
            <a:endParaRPr sz="4000"/>
          </a:p>
        </p:txBody>
      </p:sp>
      <p:sp>
        <p:nvSpPr>
          <p:cNvPr id="169" name="Google Shape;16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0" lvl="0" marL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Diagram Reference: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https://www.codesdope.com/course/data-structures-stacks/</a:t>
            </a:r>
            <a:endParaRPr sz="11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highlight>
                  <a:srgbClr val="00FF00"/>
                </a:highlight>
              </a:rPr>
              <a:t>Always new items are added at top of the stack and also removed from the top of the stack only. 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Entry and Exit at same point</a:t>
            </a:r>
            <a:endParaRPr/>
          </a:p>
        </p:txBody>
      </p:sp>
      <p:sp>
        <p:nvSpPr>
          <p:cNvPr id="170" name="Google Shape;17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71" name="Google Shape;17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172" name="Google Shape;17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676400"/>
            <a:ext cx="45720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– Data Structure</a:t>
            </a:r>
            <a:endParaRPr sz="4000"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Stack is a </a:t>
            </a:r>
            <a:r>
              <a:rPr b="1" lang="en-US">
                <a:solidFill>
                  <a:srgbClr val="C00000"/>
                </a:solidFill>
                <a:highlight>
                  <a:srgbClr val="00FF00"/>
                </a:highlight>
              </a:rPr>
              <a:t>Linear Data Structure</a:t>
            </a:r>
            <a:r>
              <a:rPr b="1" lang="en-US">
                <a:solidFill>
                  <a:srgbClr val="C00000"/>
                </a:solidFill>
              </a:rPr>
              <a:t>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Follows a particular order to perform the operations.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order are  either</a:t>
            </a:r>
            <a:endParaRPr/>
          </a:p>
          <a:p>
            <a:pPr indent="0" lvl="1" marL="4572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LIFO(Last In First Out) </a:t>
            </a:r>
            <a:endParaRPr/>
          </a:p>
          <a:p>
            <a:pPr indent="0" lvl="1" marL="4572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OR</a:t>
            </a:r>
            <a:endParaRPr/>
          </a:p>
          <a:p>
            <a:pPr indent="0" lvl="1" marL="4572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FILO(First In Last Out).</a:t>
            </a:r>
            <a:endParaRPr/>
          </a:p>
        </p:txBody>
      </p:sp>
      <p:sp>
        <p:nvSpPr>
          <p:cNvPr id="180" name="Google Shape;18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81" name="Google Shape;18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- Operations</a:t>
            </a:r>
            <a:endParaRPr sz="4000"/>
          </a:p>
        </p:txBody>
      </p:sp>
      <p:sp>
        <p:nvSpPr>
          <p:cNvPr id="188" name="Google Shape;188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/>
              <a:t>TWO PRIMARY OPERATIONS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push</a:t>
            </a:r>
            <a:endParaRPr sz="26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Pushing (storing) an element on the stack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highlight>
                  <a:srgbClr val="00FF00"/>
                </a:highlight>
              </a:rPr>
              <a:t>If the stack is full, Overflow condition is enabled.</a:t>
            </a:r>
            <a:endParaRPr sz="2400">
              <a:highlight>
                <a:srgbClr val="00FF00"/>
              </a:highlight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>
                <a:highlight>
                  <a:srgbClr val="00FF00"/>
                </a:highlight>
              </a:rPr>
              <a:t>Pop</a:t>
            </a:r>
            <a:endParaRPr>
              <a:highlight>
                <a:srgbClr val="00FF00"/>
              </a:highlight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Removing (accessing) an element from the stack.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highlight>
                  <a:srgbClr val="00FF00"/>
                </a:highlight>
              </a:rPr>
              <a:t>The elements  are popped in the decreasing order. </a:t>
            </a:r>
            <a:endParaRPr>
              <a:highlight>
                <a:srgbClr val="00FF00"/>
              </a:highlight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highlight>
                  <a:srgbClr val="00FF00"/>
                </a:highlight>
              </a:rPr>
              <a:t>If the stack is empty, Underflow condition enabled</a:t>
            </a:r>
            <a:r>
              <a:rPr lang="en-US" sz="2600">
                <a:highlight>
                  <a:srgbClr val="00FF00"/>
                </a:highlight>
              </a:rPr>
              <a:t>.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189" name="Google Shape;18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90" name="Google Shape;19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– Additional Functionality</a:t>
            </a:r>
            <a:endParaRPr sz="4000"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For effective utilization of the stack, Status of the stack should be checked. For that additional functionality is of the stack is given below</a:t>
            </a:r>
            <a:endParaRPr b="1" sz="26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Peek or Top</a:t>
            </a:r>
            <a:r>
              <a:rPr lang="en-US" sz="2600"/>
              <a:t> 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highlight>
                  <a:srgbClr val="00FF00"/>
                </a:highlight>
              </a:rPr>
              <a:t>Accessing the top element. Without removing the top element. </a:t>
            </a:r>
            <a:endParaRPr sz="2400">
              <a:highlight>
                <a:srgbClr val="00FF00"/>
              </a:highlight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isFull </a:t>
            </a:r>
            <a:endParaRPr sz="26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highlight>
                  <a:srgbClr val="00FF00"/>
                </a:highlight>
              </a:rPr>
              <a:t>check if stack is full.</a:t>
            </a:r>
            <a:endParaRPr>
              <a:highlight>
                <a:srgbClr val="00FF00"/>
              </a:highlight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isEmpty</a:t>
            </a:r>
            <a:r>
              <a:rPr lang="en-US" sz="2600"/>
              <a:t> </a:t>
            </a:r>
            <a:endParaRPr sz="26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check if stack is empty.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198" name="Google Shape;19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199" name="Google Shape;19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Operation Example</a:t>
            </a:r>
            <a:endParaRPr sz="4000"/>
          </a:p>
        </p:txBody>
      </p:sp>
      <p:sp>
        <p:nvSpPr>
          <p:cNvPr id="206" name="Google Shape;20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08" name="Google Shape;20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09" name="Google Shape;20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05507"/>
            <a:ext cx="38100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286000"/>
            <a:ext cx="3744116" cy="2562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17" name="Google Shape;21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18" name="Google Shape;21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9"/>
          <p:cNvSpPr txBox="1"/>
          <p:nvPr>
            <p:ph idx="4294967295" type="title"/>
          </p:nvPr>
        </p:nvSpPr>
        <p:spPr>
          <a:xfrm>
            <a:off x="685800" y="2362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Implementation - Array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- Array</a:t>
            </a:r>
            <a:endParaRPr sz="4000"/>
          </a:p>
        </p:txBody>
      </p:sp>
      <p:sp>
        <p:nvSpPr>
          <p:cNvPr id="225" name="Google Shape;22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highlight>
                  <a:srgbClr val="00FF00"/>
                </a:highlight>
              </a:rPr>
              <a:t>One dimensional array is enough to implement the stack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highlight>
                <a:srgbClr val="00FF00"/>
              </a:highlight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highlight>
                  <a:srgbClr val="00FF00"/>
                </a:highlight>
              </a:rPr>
              <a:t>Array size always fixed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Easy to implement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Create fixed size one dimensional array </a:t>
            </a:r>
            <a:endParaRPr sz="2600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insert or delete the elements into the array using </a:t>
            </a:r>
            <a:r>
              <a:rPr b="1" lang="en-US" sz="2400"/>
              <a:t>LIFO principle</a:t>
            </a:r>
            <a:r>
              <a:rPr lang="en-US" sz="2400"/>
              <a:t> using the variable </a:t>
            </a:r>
            <a:r>
              <a:rPr b="1" lang="en-US" sz="2400"/>
              <a:t>'top‘</a:t>
            </a:r>
            <a:endParaRPr sz="2400"/>
          </a:p>
        </p:txBody>
      </p:sp>
      <p:sp>
        <p:nvSpPr>
          <p:cNvPr id="226" name="Google Shape;22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27" name="Google Shape;22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28" name="Google Shape;22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- </a:t>
            </a:r>
            <a:r>
              <a:rPr b="1" i="1" lang="en-US" sz="4000" u="sng">
                <a:solidFill>
                  <a:srgbClr val="C00000"/>
                </a:solidFill>
              </a:rPr>
              <a:t>top</a:t>
            </a:r>
            <a:endParaRPr/>
          </a:p>
        </p:txBody>
      </p:sp>
      <p:sp>
        <p:nvSpPr>
          <p:cNvPr id="234" name="Google Shape;23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About </a:t>
            </a:r>
            <a:r>
              <a:rPr b="1" i="1" lang="en-US" sz="2600" u="sng">
                <a:solidFill>
                  <a:srgbClr val="C00000"/>
                </a:solidFill>
              </a:rPr>
              <a:t>top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i="1" sz="2600" u="sng">
              <a:solidFill>
                <a:srgbClr val="C00000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030A0"/>
              </a:buClr>
              <a:buSzPts val="2600"/>
              <a:buChar char="–"/>
            </a:pPr>
            <a:r>
              <a:rPr lang="en-US" sz="2600">
                <a:solidFill>
                  <a:srgbClr val="7030A0"/>
                </a:solidFill>
                <a:highlight>
                  <a:srgbClr val="00FF00"/>
                </a:highlight>
              </a:rPr>
              <a:t>Initial value of the top is -1</a:t>
            </a:r>
            <a:endParaRPr sz="2600">
              <a:solidFill>
                <a:srgbClr val="7030A0"/>
              </a:solidFill>
              <a:highlight>
                <a:srgbClr val="00FF00"/>
              </a:highlight>
            </a:endParaRPr>
          </a:p>
          <a:p>
            <a:pPr indent="-1206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7030A0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030A0"/>
              </a:buClr>
              <a:buSzPts val="2600"/>
              <a:buChar char="–"/>
            </a:pPr>
            <a:r>
              <a:rPr lang="en-US" sz="2600">
                <a:solidFill>
                  <a:srgbClr val="7030A0"/>
                </a:solidFill>
                <a:highlight>
                  <a:srgbClr val="00FF00"/>
                </a:highlight>
              </a:rPr>
              <a:t>To insert a value into the stack, increment the top value by one and then insert</a:t>
            </a:r>
            <a:endParaRPr sz="2600">
              <a:solidFill>
                <a:srgbClr val="7030A0"/>
              </a:solidFill>
              <a:highlight>
                <a:srgbClr val="00FF00"/>
              </a:highlight>
            </a:endParaRPr>
          </a:p>
          <a:p>
            <a:pPr indent="-1206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7030A0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030A0"/>
              </a:buClr>
              <a:buSzPts val="2600"/>
              <a:buChar char="–"/>
            </a:pPr>
            <a:r>
              <a:rPr lang="en-US" sz="2600">
                <a:solidFill>
                  <a:srgbClr val="7030A0"/>
                </a:solidFill>
                <a:highlight>
                  <a:srgbClr val="00FF00"/>
                </a:highlight>
              </a:rPr>
              <a:t>To delete a value from the stack, delete the top value and decrement the top value by one</a:t>
            </a:r>
            <a:endParaRPr sz="2600">
              <a:solidFill>
                <a:srgbClr val="7030A0"/>
              </a:solidFill>
              <a:highlight>
                <a:srgbClr val="00FF00"/>
              </a:highlight>
            </a:endParaRPr>
          </a:p>
        </p:txBody>
      </p:sp>
      <p:sp>
        <p:nvSpPr>
          <p:cNvPr id="235" name="Google Shape;23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36" name="Google Shape;23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37" name="Google Shape;23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Steps to create an empty stack</a:t>
            </a:r>
            <a:endParaRPr/>
          </a:p>
        </p:txBody>
      </p:sp>
      <p:sp>
        <p:nvSpPr>
          <p:cNvPr id="243" name="Google Shape;24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/>
              <a:t>Declare the functions like push, pop, display etc. need to implement the stack.</a:t>
            </a:r>
            <a:endParaRPr/>
          </a:p>
          <a:p>
            <a:pPr indent="-3492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sz="2600"/>
          </a:p>
          <a:p>
            <a:pPr indent="-5143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/>
              <a:t>Declare one dimensional array with fixed size</a:t>
            </a:r>
            <a:endParaRPr/>
          </a:p>
          <a:p>
            <a:pPr indent="-3492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sz="2600"/>
          </a:p>
          <a:p>
            <a:pPr indent="-514350" lvl="0" marL="51435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/>
              <a:t>Declare a integer variable </a:t>
            </a:r>
            <a:r>
              <a:rPr b="1" lang="en-US" sz="2600"/>
              <a:t>'top'</a:t>
            </a:r>
            <a:r>
              <a:rPr lang="en-US" sz="2600"/>
              <a:t> and initialize it with </a:t>
            </a:r>
            <a:r>
              <a:rPr b="1" lang="en-US" sz="2600"/>
              <a:t>'-1'</a:t>
            </a:r>
            <a:r>
              <a:rPr lang="en-US" sz="2600"/>
              <a:t>. (</a:t>
            </a:r>
            <a:r>
              <a:rPr b="1" lang="en-US" sz="2600"/>
              <a:t>int top = -1</a:t>
            </a:r>
            <a:r>
              <a:rPr lang="en-US" sz="2600"/>
              <a:t>)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244" name="Google Shape;24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45" name="Google Shape;24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46" name="Google Shape;24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br>
              <a:rPr b="1" lang="en-US" sz="4000"/>
            </a:br>
            <a:r>
              <a:rPr b="1" lang="en-US" sz="4000"/>
              <a:t>push(Value) </a:t>
            </a:r>
            <a:br>
              <a:rPr b="1" lang="en-US" sz="4000"/>
            </a:br>
            <a:r>
              <a:rPr b="1" lang="en-US" sz="4000"/>
              <a:t>Inserting value into the stack</a:t>
            </a:r>
            <a:br>
              <a:rPr b="1" lang="en-US" sz="4000"/>
            </a:br>
            <a:endParaRPr sz="4000"/>
          </a:p>
        </p:txBody>
      </p:sp>
      <p:sp>
        <p:nvSpPr>
          <p:cNvPr id="252" name="Google Shape;25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push() is a function used to insert a new element into stack at </a:t>
            </a:r>
            <a:r>
              <a:rPr b="1" lang="en-US" sz="2600"/>
              <a:t>top</a:t>
            </a:r>
            <a:r>
              <a:rPr lang="en-US" sz="2600"/>
              <a:t> position. </a:t>
            </a:r>
            <a:endParaRPr sz="2600"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US" sz="2600">
                <a:solidFill>
                  <a:srgbClr val="C00000"/>
                </a:solidFill>
                <a:highlight>
                  <a:srgbClr val="00FF00"/>
                </a:highlight>
              </a:rPr>
              <a:t>Push function takes one integer value as parameter</a:t>
            </a:r>
            <a:endParaRPr>
              <a:highlight>
                <a:srgbClr val="00FF00"/>
              </a:highlight>
            </a:endParaRPr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highlight>
                  <a:srgbClr val="00FF00"/>
                </a:highlight>
              </a:rPr>
              <a:t>Check whether </a:t>
            </a:r>
            <a:r>
              <a:rPr b="1" lang="en-US" sz="2400">
                <a:highlight>
                  <a:srgbClr val="00FF00"/>
                </a:highlight>
              </a:rPr>
              <a:t>stack</a:t>
            </a:r>
            <a:r>
              <a:rPr lang="en-US" sz="2400">
                <a:highlight>
                  <a:srgbClr val="00FF00"/>
                </a:highlight>
              </a:rPr>
              <a:t> is </a:t>
            </a:r>
            <a:r>
              <a:rPr b="1" lang="en-US" sz="2400">
                <a:highlight>
                  <a:srgbClr val="00FF00"/>
                </a:highlight>
              </a:rPr>
              <a:t>FULL</a:t>
            </a:r>
            <a:r>
              <a:rPr lang="en-US" sz="2400">
                <a:highlight>
                  <a:srgbClr val="00FF00"/>
                </a:highlight>
              </a:rPr>
              <a:t> based on (</a:t>
            </a:r>
            <a:r>
              <a:rPr b="1" lang="en-US" sz="2400">
                <a:highlight>
                  <a:srgbClr val="00FF00"/>
                </a:highlight>
              </a:rPr>
              <a:t>top == SIZE-1</a:t>
            </a:r>
            <a:r>
              <a:rPr lang="en-US" sz="2400">
                <a:highlight>
                  <a:srgbClr val="00FF00"/>
                </a:highlight>
              </a:rPr>
              <a:t>)</a:t>
            </a:r>
            <a:endParaRPr>
              <a:highlight>
                <a:srgbClr val="00FF00"/>
              </a:highlight>
            </a:endParaRPr>
          </a:p>
          <a:p>
            <a:pPr indent="-3619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highlight>
                <a:srgbClr val="00FF00"/>
              </a:highlight>
            </a:endParaRPr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If stack is </a:t>
            </a:r>
            <a:r>
              <a:rPr b="1" lang="en-US" sz="2400"/>
              <a:t>FULL</a:t>
            </a:r>
            <a:r>
              <a:rPr lang="en-US" sz="2400"/>
              <a:t>, then display </a:t>
            </a:r>
            <a:r>
              <a:rPr b="1" lang="en-US" sz="2400"/>
              <a:t>"Stack is FULL Not able to Insert element” </a:t>
            </a:r>
            <a:r>
              <a:rPr lang="en-US" sz="2400"/>
              <a:t> and terminate the function.</a:t>
            </a:r>
            <a:endParaRPr/>
          </a:p>
          <a:p>
            <a:pPr indent="-3619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highlight>
                  <a:srgbClr val="00FF00"/>
                </a:highlight>
              </a:rPr>
              <a:t>If stack is </a:t>
            </a:r>
            <a:r>
              <a:rPr b="1" lang="en-US" sz="2400">
                <a:highlight>
                  <a:srgbClr val="00FF00"/>
                </a:highlight>
              </a:rPr>
              <a:t>NOT FULL</a:t>
            </a:r>
            <a:r>
              <a:rPr lang="en-US" sz="2400">
                <a:highlight>
                  <a:srgbClr val="00FF00"/>
                </a:highlight>
              </a:rPr>
              <a:t>, then increment </a:t>
            </a:r>
            <a:r>
              <a:rPr b="1" lang="en-US" sz="2400">
                <a:highlight>
                  <a:srgbClr val="00FF00"/>
                </a:highlight>
              </a:rPr>
              <a:t>top</a:t>
            </a:r>
            <a:r>
              <a:rPr lang="en-US" sz="2400">
                <a:highlight>
                  <a:srgbClr val="00FF00"/>
                </a:highlight>
              </a:rPr>
              <a:t> value by one (</a:t>
            </a:r>
            <a:r>
              <a:rPr b="1" lang="en-US" sz="2400">
                <a:highlight>
                  <a:srgbClr val="00FF00"/>
                </a:highlight>
              </a:rPr>
              <a:t>top=top+1</a:t>
            </a:r>
            <a:r>
              <a:rPr lang="en-US" sz="2400">
                <a:highlight>
                  <a:srgbClr val="00FF00"/>
                </a:highlight>
              </a:rPr>
              <a:t>) and set (</a:t>
            </a:r>
            <a:r>
              <a:rPr b="1" lang="en-US" sz="2400">
                <a:highlight>
                  <a:srgbClr val="00FF00"/>
                </a:highlight>
              </a:rPr>
              <a:t>stack[top] = value</a:t>
            </a:r>
            <a:r>
              <a:rPr lang="en-US" sz="2400">
                <a:highlight>
                  <a:srgbClr val="00FF00"/>
                </a:highlight>
              </a:rPr>
              <a:t>)</a:t>
            </a:r>
            <a:endParaRPr>
              <a:highlight>
                <a:srgbClr val="00FF00"/>
              </a:highlight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highlight>
                <a:srgbClr val="00FF00"/>
              </a:highlight>
            </a:endParaRPr>
          </a:p>
        </p:txBody>
      </p:sp>
      <p:sp>
        <p:nvSpPr>
          <p:cNvPr id="253" name="Google Shape;25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54" name="Google Shape;25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55" name="Google Shape;25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143758" y="336025"/>
            <a:ext cx="1839350" cy="1721475"/>
          </a:xfrm>
          <a:custGeom>
            <a:rect b="b" l="l" r="r" t="t"/>
            <a:pathLst>
              <a:path extrusionOk="0" h="68859" w="73574">
                <a:moveTo>
                  <a:pt x="43127" y="0"/>
                </a:moveTo>
                <a:cubicBezTo>
                  <a:pt x="42076" y="14711"/>
                  <a:pt x="37164" y="29443"/>
                  <a:pt x="29686" y="42156"/>
                </a:cubicBezTo>
                <a:cubicBezTo>
                  <a:pt x="27452" y="45953"/>
                  <a:pt x="24689" y="49417"/>
                  <a:pt x="22354" y="53153"/>
                </a:cubicBezTo>
                <a:cubicBezTo>
                  <a:pt x="21484" y="54545"/>
                  <a:pt x="19910" y="59072"/>
                  <a:pt x="19910" y="57430"/>
                </a:cubicBezTo>
                <a:cubicBezTo>
                  <a:pt x="19910" y="53787"/>
                  <a:pt x="22889" y="50758"/>
                  <a:pt x="24798" y="47655"/>
                </a:cubicBezTo>
                <a:cubicBezTo>
                  <a:pt x="30630" y="38177"/>
                  <a:pt x="36953" y="28983"/>
                  <a:pt x="43738" y="20162"/>
                </a:cubicBezTo>
                <a:cubicBezTo>
                  <a:pt x="46570" y="16481"/>
                  <a:pt x="49504" y="12879"/>
                  <a:pt x="52291" y="9164"/>
                </a:cubicBezTo>
                <a:cubicBezTo>
                  <a:pt x="52882" y="8375"/>
                  <a:pt x="55879" y="3666"/>
                  <a:pt x="55957" y="3666"/>
                </a:cubicBezTo>
                <a:cubicBezTo>
                  <a:pt x="59215" y="3666"/>
                  <a:pt x="56671" y="10262"/>
                  <a:pt x="55957" y="13441"/>
                </a:cubicBezTo>
                <a:cubicBezTo>
                  <a:pt x="52881" y="27142"/>
                  <a:pt x="48562" y="40790"/>
                  <a:pt x="41905" y="53153"/>
                </a:cubicBezTo>
                <a:cubicBezTo>
                  <a:pt x="39065" y="58427"/>
                  <a:pt x="35753" y="63581"/>
                  <a:pt x="31518" y="67816"/>
                </a:cubicBezTo>
                <a:cubicBezTo>
                  <a:pt x="31213" y="68122"/>
                  <a:pt x="30907" y="68859"/>
                  <a:pt x="30907" y="68427"/>
                </a:cubicBezTo>
                <a:cubicBezTo>
                  <a:pt x="30907" y="55392"/>
                  <a:pt x="42215" y="44781"/>
                  <a:pt x="49847" y="34214"/>
                </a:cubicBezTo>
                <a:cubicBezTo>
                  <a:pt x="51878" y="31402"/>
                  <a:pt x="53594" y="28055"/>
                  <a:pt x="56568" y="26271"/>
                </a:cubicBezTo>
                <a:cubicBezTo>
                  <a:pt x="58060" y="25376"/>
                  <a:pt x="62814" y="25525"/>
                  <a:pt x="61455" y="24438"/>
                </a:cubicBezTo>
                <a:cubicBezTo>
                  <a:pt x="50685" y="15823"/>
                  <a:pt x="35122" y="16175"/>
                  <a:pt x="21743" y="12830"/>
                </a:cubicBezTo>
                <a:cubicBezTo>
                  <a:pt x="16471" y="11512"/>
                  <a:pt x="11209" y="10108"/>
                  <a:pt x="5858" y="9164"/>
                </a:cubicBezTo>
                <a:cubicBezTo>
                  <a:pt x="4042" y="8844"/>
                  <a:pt x="1663" y="7248"/>
                  <a:pt x="360" y="8553"/>
                </a:cubicBezTo>
                <a:cubicBezTo>
                  <a:pt x="-1079" y="9994"/>
                  <a:pt x="3540" y="11109"/>
                  <a:pt x="5247" y="12219"/>
                </a:cubicBezTo>
                <a:cubicBezTo>
                  <a:pt x="11516" y="16294"/>
                  <a:pt x="18215" y="19671"/>
                  <a:pt x="24798" y="23216"/>
                </a:cubicBezTo>
                <a:cubicBezTo>
                  <a:pt x="36053" y="29277"/>
                  <a:pt x="47280" y="35491"/>
                  <a:pt x="57790" y="42767"/>
                </a:cubicBezTo>
                <a:cubicBezTo>
                  <a:pt x="61412" y="45275"/>
                  <a:pt x="65224" y="47508"/>
                  <a:pt x="68787" y="50099"/>
                </a:cubicBezTo>
                <a:cubicBezTo>
                  <a:pt x="70306" y="51203"/>
                  <a:pt x="74885" y="53309"/>
                  <a:pt x="73064" y="53764"/>
                </a:cubicBezTo>
                <a:cubicBezTo>
                  <a:pt x="67304" y="55204"/>
                  <a:pt x="61177" y="53052"/>
                  <a:pt x="55346" y="51931"/>
                </a:cubicBezTo>
                <a:cubicBezTo>
                  <a:pt x="41107" y="49194"/>
                  <a:pt x="27078" y="43989"/>
                  <a:pt x="12579" y="4398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/>
              <a:t>pop() –</a:t>
            </a:r>
            <a:br>
              <a:rPr b="1" lang="en-US" sz="4000"/>
            </a:br>
            <a:r>
              <a:rPr b="1" lang="en-US" sz="4000"/>
              <a:t>Delete a value from the Stack</a:t>
            </a:r>
            <a:endParaRPr/>
          </a:p>
        </p:txBody>
      </p:sp>
      <p:sp>
        <p:nvSpPr>
          <p:cNvPr id="262" name="Google Shape;26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pop() is a function used to delete an element from the stack from </a:t>
            </a:r>
            <a:r>
              <a:rPr b="1" lang="en-US" sz="2600"/>
              <a:t>top</a:t>
            </a:r>
            <a:r>
              <a:rPr lang="en-US" sz="2600"/>
              <a:t> position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US" sz="2600">
                <a:solidFill>
                  <a:srgbClr val="C00000"/>
                </a:solidFill>
                <a:highlight>
                  <a:srgbClr val="00FF00"/>
                </a:highlight>
              </a:rPr>
              <a:t>Pop function does not take any value as parameter</a:t>
            </a:r>
            <a:endParaRPr sz="2600">
              <a:highlight>
                <a:srgbClr val="00FF00"/>
              </a:highlight>
            </a:endParaRPr>
          </a:p>
          <a:p>
            <a:pPr indent="-514350" lvl="1" marL="9715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highlight>
                  <a:srgbClr val="00FF00"/>
                </a:highlight>
              </a:rPr>
              <a:t>Check whether </a:t>
            </a:r>
            <a:r>
              <a:rPr b="1" lang="en-US" sz="2400">
                <a:highlight>
                  <a:srgbClr val="00FF00"/>
                </a:highlight>
              </a:rPr>
              <a:t>stack</a:t>
            </a:r>
            <a:r>
              <a:rPr lang="en-US" sz="2400">
                <a:highlight>
                  <a:srgbClr val="00FF00"/>
                </a:highlight>
              </a:rPr>
              <a:t> is </a:t>
            </a:r>
            <a:r>
              <a:rPr b="1" lang="en-US" sz="2400">
                <a:highlight>
                  <a:srgbClr val="00FF00"/>
                </a:highlight>
              </a:rPr>
              <a:t>EMPTY</a:t>
            </a:r>
            <a:r>
              <a:rPr lang="en-US" sz="2400">
                <a:highlight>
                  <a:srgbClr val="00FF00"/>
                </a:highlight>
              </a:rPr>
              <a:t> using (</a:t>
            </a:r>
            <a:r>
              <a:rPr b="1" lang="en-US" sz="2400">
                <a:highlight>
                  <a:srgbClr val="00FF00"/>
                </a:highlight>
              </a:rPr>
              <a:t>top == -1</a:t>
            </a:r>
            <a:r>
              <a:rPr lang="en-US" sz="2400">
                <a:highlight>
                  <a:srgbClr val="00FF00"/>
                </a:highlight>
              </a:rPr>
              <a:t>)</a:t>
            </a:r>
            <a:endParaRPr>
              <a:highlight>
                <a:srgbClr val="00FF00"/>
              </a:highlight>
            </a:endParaRPr>
          </a:p>
          <a:p>
            <a:pPr indent="-361950" lvl="1" marL="9715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highlight>
                <a:srgbClr val="00FF00"/>
              </a:highlight>
            </a:endParaRPr>
          </a:p>
          <a:p>
            <a:pPr indent="-514350" lvl="1" marL="9715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If stack is </a:t>
            </a:r>
            <a:r>
              <a:rPr b="1" lang="en-US" sz="2400"/>
              <a:t>EMPTY</a:t>
            </a:r>
            <a:r>
              <a:rPr lang="en-US" sz="2400"/>
              <a:t>, then display </a:t>
            </a:r>
            <a:r>
              <a:rPr b="1" lang="en-US" sz="2400"/>
              <a:t>"Stack is EMPTY No elements to delete"</a:t>
            </a:r>
            <a:r>
              <a:rPr lang="en-US" sz="2400"/>
              <a:t> and terminate the function</a:t>
            </a:r>
            <a:endParaRPr/>
          </a:p>
          <a:p>
            <a:pPr indent="-361950" lvl="1" marL="9715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514350" lvl="1" marL="9715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If stack is </a:t>
            </a:r>
            <a:r>
              <a:rPr b="1" lang="en-US" sz="2400"/>
              <a:t>NOT EMPTY</a:t>
            </a:r>
            <a:r>
              <a:rPr lang="en-US" sz="2400"/>
              <a:t>, then delete </a:t>
            </a:r>
            <a:r>
              <a:rPr b="1" lang="en-US" sz="2400"/>
              <a:t>stack[top]</a:t>
            </a:r>
            <a:r>
              <a:rPr lang="en-US" sz="2400"/>
              <a:t> and decrement </a:t>
            </a:r>
            <a:r>
              <a:rPr b="1" lang="en-US" sz="2400"/>
              <a:t>top</a:t>
            </a:r>
            <a:r>
              <a:rPr lang="en-US" sz="2400"/>
              <a:t> value by one (</a:t>
            </a:r>
            <a:r>
              <a:rPr b="1" lang="en-US" sz="2400"/>
              <a:t>top=top-1</a:t>
            </a:r>
            <a:r>
              <a:rPr lang="en-US" sz="2400"/>
              <a:t>)</a:t>
            </a:r>
            <a:endParaRPr sz="2400"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263" name="Google Shape;26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64" name="Google Shape;26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65" name="Google Shape;26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br>
              <a:rPr b="1" lang="en-US" sz="4000"/>
            </a:br>
            <a:r>
              <a:rPr b="1" lang="en-US" sz="4000"/>
              <a:t>display() </a:t>
            </a:r>
            <a:br>
              <a:rPr b="1" lang="en-US" sz="4000"/>
            </a:br>
            <a:r>
              <a:rPr b="1" lang="en-US" sz="4000"/>
              <a:t>Displays the elements of a Stack</a:t>
            </a:r>
            <a:br>
              <a:rPr b="1" lang="en-US" sz="4000"/>
            </a:br>
            <a:endParaRPr sz="4000"/>
          </a:p>
        </p:txBody>
      </p:sp>
      <p:sp>
        <p:nvSpPr>
          <p:cNvPr id="271" name="Google Shape;27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display() – function used to Display the elements of a Stack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/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Check whether </a:t>
            </a:r>
            <a:r>
              <a:rPr b="1" lang="en-US" sz="2400"/>
              <a:t>stack</a:t>
            </a:r>
            <a:r>
              <a:rPr lang="en-US" sz="2400"/>
              <a:t> is </a:t>
            </a:r>
            <a:r>
              <a:rPr b="1" lang="en-US" sz="2400"/>
              <a:t>EMPTY based on</a:t>
            </a:r>
            <a:r>
              <a:rPr lang="en-US" sz="2400"/>
              <a:t> (</a:t>
            </a:r>
            <a:r>
              <a:rPr b="1" lang="en-US" sz="2400"/>
              <a:t>top == -1</a:t>
            </a:r>
            <a:r>
              <a:rPr lang="en-US" sz="2400"/>
              <a:t>)</a:t>
            </a:r>
            <a:endParaRPr/>
          </a:p>
          <a:p>
            <a:pPr indent="-3619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If stack is </a:t>
            </a:r>
            <a:r>
              <a:rPr b="1" lang="en-US" sz="2400"/>
              <a:t>EMPTY</a:t>
            </a:r>
            <a:r>
              <a:rPr lang="en-US" sz="2400"/>
              <a:t>, then display </a:t>
            </a:r>
            <a:r>
              <a:rPr b="1" lang="en-US" sz="2400"/>
              <a:t>"Stack is EMPTY"</a:t>
            </a:r>
            <a:r>
              <a:rPr lang="en-US" sz="2400"/>
              <a:t> and terminate the function</a:t>
            </a:r>
            <a:endParaRPr/>
          </a:p>
          <a:p>
            <a:pPr indent="-3619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51435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highlight>
                  <a:srgbClr val="00FF00"/>
                </a:highlight>
              </a:rPr>
              <a:t>If stack is </a:t>
            </a:r>
            <a:r>
              <a:rPr b="1" lang="en-US" sz="2400">
                <a:highlight>
                  <a:srgbClr val="00FF00"/>
                </a:highlight>
              </a:rPr>
              <a:t>NOT EMPTY</a:t>
            </a:r>
            <a:r>
              <a:rPr lang="en-US" sz="2400">
                <a:highlight>
                  <a:srgbClr val="00FF00"/>
                </a:highlight>
              </a:rPr>
              <a:t>,  display the value in decreasing order of array</a:t>
            </a:r>
            <a:endParaRPr sz="2400"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272" name="Google Shape;27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73" name="Google Shape;27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74" name="Google Shape;27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Push Example</a:t>
            </a:r>
            <a:endParaRPr sz="4000"/>
          </a:p>
        </p:txBody>
      </p:sp>
      <p:sp>
        <p:nvSpPr>
          <p:cNvPr id="280" name="Google Shape;280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Diagram reference :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http://www.exploredatabase.com/2018/01/stack-abstract-data-type-data-structure.html</a:t>
            </a:r>
            <a:endParaRPr sz="1000"/>
          </a:p>
        </p:txBody>
      </p:sp>
      <p:sp>
        <p:nvSpPr>
          <p:cNvPr id="281" name="Google Shape;28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82" name="Google Shape;28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Institute of Science and Technology</a:t>
            </a:r>
            <a:endParaRPr/>
          </a:p>
        </p:txBody>
      </p:sp>
      <p:sp>
        <p:nvSpPr>
          <p:cNvPr id="283" name="Google Shape;28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0700" y="1450295"/>
            <a:ext cx="5562600" cy="38938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6"/>
          <p:cNvSpPr/>
          <p:nvPr/>
        </p:nvSpPr>
        <p:spPr>
          <a:xfrm>
            <a:off x="240670" y="748425"/>
            <a:ext cx="1459275" cy="2546275"/>
          </a:xfrm>
          <a:custGeom>
            <a:rect b="b" l="l" r="r" t="t"/>
            <a:pathLst>
              <a:path extrusionOk="0" h="101851" w="58371">
                <a:moveTo>
                  <a:pt x="29474" y="0"/>
                </a:moveTo>
                <a:cubicBezTo>
                  <a:pt x="29474" y="24856"/>
                  <a:pt x="24681" y="49574"/>
                  <a:pt x="19699" y="73926"/>
                </a:cubicBezTo>
                <a:cubicBezTo>
                  <a:pt x="17897" y="82734"/>
                  <a:pt x="15067" y="91329"/>
                  <a:pt x="13589" y="100197"/>
                </a:cubicBezTo>
                <a:cubicBezTo>
                  <a:pt x="13489" y="100800"/>
                  <a:pt x="13157" y="101851"/>
                  <a:pt x="13589" y="101419"/>
                </a:cubicBezTo>
                <a:cubicBezTo>
                  <a:pt x="18166" y="96842"/>
                  <a:pt x="19155" y="89721"/>
                  <a:pt x="21532" y="83701"/>
                </a:cubicBezTo>
                <a:cubicBezTo>
                  <a:pt x="26226" y="71811"/>
                  <a:pt x="30789" y="59850"/>
                  <a:pt x="36195" y="48266"/>
                </a:cubicBezTo>
                <a:cubicBezTo>
                  <a:pt x="38313" y="43727"/>
                  <a:pt x="40459" y="39191"/>
                  <a:pt x="42915" y="34825"/>
                </a:cubicBezTo>
                <a:cubicBezTo>
                  <a:pt x="74496" y="-21323"/>
                  <a:pt x="29413" y="58148"/>
                  <a:pt x="46581" y="28104"/>
                </a:cubicBezTo>
                <a:cubicBezTo>
                  <a:pt x="47086" y="27220"/>
                  <a:pt x="48909" y="24770"/>
                  <a:pt x="48414" y="25660"/>
                </a:cubicBezTo>
                <a:cubicBezTo>
                  <a:pt x="40540" y="39833"/>
                  <a:pt x="29829" y="52319"/>
                  <a:pt x="22143" y="66594"/>
                </a:cubicBezTo>
                <a:cubicBezTo>
                  <a:pt x="-2311" y="112010"/>
                  <a:pt x="29106" y="53727"/>
                  <a:pt x="12367" y="85534"/>
                </a:cubicBezTo>
                <a:cubicBezTo>
                  <a:pt x="11167" y="87813"/>
                  <a:pt x="8103" y="91044"/>
                  <a:pt x="9924" y="92865"/>
                </a:cubicBezTo>
                <a:cubicBezTo>
                  <a:pt x="10185" y="93126"/>
                  <a:pt x="8354" y="94282"/>
                  <a:pt x="14200" y="89811"/>
                </a:cubicBezTo>
                <a:cubicBezTo>
                  <a:pt x="30799" y="77117"/>
                  <a:pt x="9210" y="93761"/>
                  <a:pt x="28863" y="78203"/>
                </a:cubicBezTo>
                <a:cubicBezTo>
                  <a:pt x="33782" y="74309"/>
                  <a:pt x="39118" y="70970"/>
                  <a:pt x="44137" y="67205"/>
                </a:cubicBezTo>
                <a:cubicBezTo>
                  <a:pt x="45087" y="66492"/>
                  <a:pt x="46836" y="64962"/>
                  <a:pt x="45970" y="64150"/>
                </a:cubicBezTo>
                <a:cubicBezTo>
                  <a:pt x="37461" y="56173"/>
                  <a:pt x="25383" y="52800"/>
                  <a:pt x="14200" y="49487"/>
                </a:cubicBezTo>
                <a:cubicBezTo>
                  <a:pt x="10364" y="48351"/>
                  <a:pt x="6539" y="47091"/>
                  <a:pt x="2592" y="46433"/>
                </a:cubicBezTo>
                <a:cubicBezTo>
                  <a:pt x="1387" y="46232"/>
                  <a:pt x="-148" y="45247"/>
                  <a:pt x="148" y="46433"/>
                </a:cubicBezTo>
                <a:cubicBezTo>
                  <a:pt x="180" y="46561"/>
                  <a:pt x="9512" y="54013"/>
                  <a:pt x="9924" y="54375"/>
                </a:cubicBezTo>
                <a:cubicBezTo>
                  <a:pt x="18283" y="61730"/>
                  <a:pt x="26967" y="68709"/>
                  <a:pt x="35584" y="75759"/>
                </a:cubicBezTo>
                <a:cubicBezTo>
                  <a:pt x="38818" y="78405"/>
                  <a:pt x="41642" y="81517"/>
                  <a:pt x="44748" y="84312"/>
                </a:cubicBezTo>
                <a:cubicBezTo>
                  <a:pt x="45818" y="85275"/>
                  <a:pt x="49001" y="86568"/>
                  <a:pt x="47803" y="87367"/>
                </a:cubicBezTo>
                <a:cubicBezTo>
                  <a:pt x="41843" y="91340"/>
                  <a:pt x="33863" y="84016"/>
                  <a:pt x="27030" y="81868"/>
                </a:cubicBezTo>
                <a:cubicBezTo>
                  <a:pt x="18595" y="79217"/>
                  <a:pt x="9278" y="79102"/>
                  <a:pt x="1370" y="75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Stack Pop Example</a:t>
            </a:r>
            <a:endParaRPr sz="4000"/>
          </a:p>
        </p:txBody>
      </p:sp>
      <p:sp>
        <p:nvSpPr>
          <p:cNvPr id="291" name="Google Shape;29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293" name="Google Shape;29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294" name="Google Shape;29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5" name="Google Shape;2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518" y="1676400"/>
            <a:ext cx="58674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000"/>
              <a:t>Another Example of  Stack</a:t>
            </a:r>
            <a:br>
              <a:rPr lang="en-US" sz="4000"/>
            </a:br>
            <a:r>
              <a:rPr lang="en-US" sz="4000"/>
              <a:t>Push &amp; Pop</a:t>
            </a:r>
            <a:endParaRPr sz="4000"/>
          </a:p>
        </p:txBody>
      </p:sp>
      <p:sp>
        <p:nvSpPr>
          <p:cNvPr id="301" name="Google Shape;301;p18"/>
          <p:cNvSpPr txBox="1"/>
          <p:nvPr>
            <p:ph idx="1" type="body"/>
          </p:nvPr>
        </p:nvSpPr>
        <p:spPr>
          <a:xfrm>
            <a:off x="457200" y="1600200"/>
            <a:ext cx="8229600" cy="475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-279400" lvl="0" marL="3429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 Image Reference : https://www.hackerearth.com/practice/notes/stacks-and-queues/</a:t>
            </a:r>
            <a:endParaRPr/>
          </a:p>
        </p:txBody>
      </p:sp>
      <p:sp>
        <p:nvSpPr>
          <p:cNvPr id="302" name="Google Shape;30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303" name="Google Shape;30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04" name="Google Shape;30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524001"/>
            <a:ext cx="6934200" cy="4572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chemeClr val="lt2"/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/>
              <a:t>Cons Stack - Array</a:t>
            </a:r>
            <a:endParaRPr sz="4000"/>
          </a:p>
        </p:txBody>
      </p:sp>
      <p:sp>
        <p:nvSpPr>
          <p:cNvPr id="311" name="Google Shape;3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US" sz="2600">
                <a:solidFill>
                  <a:srgbClr val="C00000"/>
                </a:solidFill>
              </a:rPr>
              <a:t>The </a:t>
            </a:r>
            <a:r>
              <a:rPr lang="en-US" sz="2600">
                <a:solidFill>
                  <a:srgbClr val="C00000"/>
                </a:solidFill>
                <a:highlight>
                  <a:srgbClr val="00FF00"/>
                </a:highlight>
              </a:rPr>
              <a:t>size of the array should be mentioned at the beginning of the implementation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C00000"/>
              </a:solidFill>
              <a:highlight>
                <a:srgbClr val="00FF00"/>
              </a:highlight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Char char="•"/>
            </a:pPr>
            <a:r>
              <a:rPr lang="en-US" sz="2600">
                <a:solidFill>
                  <a:srgbClr val="C00000"/>
                </a:solidFill>
                <a:highlight>
                  <a:srgbClr val="00FF00"/>
                </a:highlight>
              </a:rPr>
              <a:t>If more memory needed or less memory needed that time this array implementation is not useful</a:t>
            </a:r>
            <a:endParaRPr>
              <a:highlight>
                <a:srgbClr val="00FF00"/>
              </a:highlight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rgbClr val="C00000"/>
              </a:solidFill>
            </a:endParaRPr>
          </a:p>
        </p:txBody>
      </p:sp>
      <p:sp>
        <p:nvSpPr>
          <p:cNvPr id="312" name="Google Shape;3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9/22/2020</a:t>
            </a:r>
            <a:endParaRPr/>
          </a:p>
        </p:txBody>
      </p:sp>
      <p:sp>
        <p:nvSpPr>
          <p:cNvPr id="313" name="Google Shape;31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20" name="Google Shape;32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21" name="Google Shape;32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20"/>
          <p:cNvSpPr txBox="1"/>
          <p:nvPr>
            <p:ph idx="4294967295" type="title"/>
          </p:nvPr>
        </p:nvSpPr>
        <p:spPr>
          <a:xfrm>
            <a:off x="685800" y="2362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/>
              <a:t>Stack Implementation – Linked List</a:t>
            </a:r>
            <a:endParaRPr sz="4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Pros Stack – Linked List</a:t>
            </a:r>
            <a:endParaRPr sz="4000"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600">
                <a:solidFill>
                  <a:srgbClr val="7030A0"/>
                </a:solidFill>
              </a:rPr>
              <a:t>A stack data structure can be implemented by using a linked list 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600">
              <a:solidFill>
                <a:srgbClr val="7030A0"/>
              </a:solidFill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600">
                <a:solidFill>
                  <a:srgbClr val="7030A0"/>
                </a:solidFill>
              </a:rPr>
              <a:t>The</a:t>
            </a:r>
            <a:r>
              <a:rPr lang="en-US" sz="2600">
                <a:solidFill>
                  <a:srgbClr val="7030A0"/>
                </a:solidFill>
                <a:highlight>
                  <a:srgbClr val="00FF00"/>
                </a:highlight>
              </a:rPr>
              <a:t> stack implemented using linked list can work for the variable size of data. So, there is no need to fix the size at the beginning of the implementation</a:t>
            </a:r>
            <a:r>
              <a:rPr lang="en-US" sz="2600">
                <a:solidFill>
                  <a:srgbClr val="7030A0"/>
                </a:solidFill>
              </a:rPr>
              <a:t> </a:t>
            </a:r>
            <a:endParaRPr sz="2600">
              <a:solidFill>
                <a:srgbClr val="7030A0"/>
              </a:solidFill>
            </a:endParaRPr>
          </a:p>
        </p:txBody>
      </p:sp>
      <p:sp>
        <p:nvSpPr>
          <p:cNvPr id="329" name="Google Shape;32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30" name="Google Shape;3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Stack – Linked list</a:t>
            </a:r>
            <a:endParaRPr/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281425" y="1600200"/>
            <a:ext cx="8405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>
                <a:highlight>
                  <a:srgbClr val="00FF00"/>
                </a:highlight>
              </a:rPr>
              <a:t>Dynamic Memory allocation of Linked list is followed </a:t>
            </a:r>
            <a:endParaRPr>
              <a:highlight>
                <a:srgbClr val="00FF00"/>
              </a:highlight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The </a:t>
            </a:r>
            <a:r>
              <a:rPr lang="en-US">
                <a:highlight>
                  <a:srgbClr val="00FF00"/>
                </a:highlight>
              </a:rPr>
              <a:t>nodes are  scattered and non-contiguously in the memory </a:t>
            </a:r>
            <a:endParaRPr>
              <a:highlight>
                <a:srgbClr val="00FF00"/>
              </a:highlight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>
                <a:highlight>
                  <a:srgbClr val="00FF00"/>
                </a:highlight>
              </a:rPr>
              <a:t>Each node contains a pointer to its immediate successor node in the stack </a:t>
            </a:r>
            <a:endParaRPr>
              <a:highlight>
                <a:srgbClr val="00FF00"/>
              </a:highlight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>
                <a:highlight>
                  <a:srgbClr val="00FF00"/>
                </a:highlight>
              </a:rPr>
              <a:t>Stack is said to be overflown if the space left in the memory heap is not enough to create a node</a:t>
            </a:r>
            <a:endParaRPr>
              <a:highlight>
                <a:srgbClr val="00FF00"/>
              </a:highlight>
            </a:endParaRPr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338" name="Google Shape;33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39" name="Google Shape;33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40" name="Google Shape;34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Stack – Linked list</a:t>
            </a:r>
            <a:endParaRPr sz="4000"/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600"/>
              <a:t>In linked list implementation of a stack, every new element is inserted as '</a:t>
            </a:r>
            <a:r>
              <a:rPr b="1" lang="en-US" sz="2600"/>
              <a:t>top</a:t>
            </a:r>
            <a:r>
              <a:rPr lang="en-US" sz="2600"/>
              <a:t>' element. </a:t>
            </a:r>
            <a:endParaRPr sz="2600"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600">
                <a:highlight>
                  <a:srgbClr val="00FF00"/>
                </a:highlight>
              </a:rPr>
              <a:t>That means every newly inserted element is pointed by '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'. </a:t>
            </a:r>
            <a:endParaRPr sz="2600">
              <a:highlight>
                <a:srgbClr val="00FF00"/>
              </a:highlight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600">
                <a:highlight>
                  <a:srgbClr val="00FF00"/>
                </a:highlight>
              </a:rPr>
              <a:t>To remove an element from the stack, simply remove the node which is pointed by '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' by moving '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' to its previous node in the list. </a:t>
            </a:r>
            <a:endParaRPr sz="2600">
              <a:highlight>
                <a:srgbClr val="00FF00"/>
              </a:highlight>
            </a:endParaRPr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800">
                <a:highlight>
                  <a:srgbClr val="00FF00"/>
                </a:highlight>
              </a:rPr>
              <a:t>The </a:t>
            </a:r>
            <a:r>
              <a:rPr b="1" lang="en-US" sz="2800">
                <a:highlight>
                  <a:srgbClr val="00FF00"/>
                </a:highlight>
              </a:rPr>
              <a:t>next</a:t>
            </a:r>
            <a:r>
              <a:rPr lang="en-US" sz="2800">
                <a:highlight>
                  <a:srgbClr val="00FF00"/>
                </a:highlight>
              </a:rPr>
              <a:t> field of the </a:t>
            </a:r>
            <a:r>
              <a:rPr b="1" lang="en-US" sz="2800">
                <a:solidFill>
                  <a:srgbClr val="C00000"/>
                </a:solidFill>
                <a:highlight>
                  <a:srgbClr val="00FF00"/>
                </a:highlight>
              </a:rPr>
              <a:t>First</a:t>
            </a:r>
            <a:r>
              <a:rPr lang="en-US" sz="2800">
                <a:highlight>
                  <a:srgbClr val="00FF00"/>
                </a:highlight>
              </a:rPr>
              <a:t> element must be always </a:t>
            </a:r>
            <a:r>
              <a:rPr b="1" lang="en-US" sz="2800">
                <a:highlight>
                  <a:srgbClr val="00FF00"/>
                </a:highlight>
              </a:rPr>
              <a:t>NULL</a:t>
            </a:r>
            <a:r>
              <a:rPr lang="en-US" sz="2600">
                <a:highlight>
                  <a:srgbClr val="00FF00"/>
                </a:highlight>
              </a:rPr>
              <a:t>.</a:t>
            </a:r>
            <a:endParaRPr sz="2600">
              <a:highlight>
                <a:srgbClr val="00FF00"/>
              </a:highlight>
            </a:endParaRPr>
          </a:p>
        </p:txBody>
      </p:sp>
      <p:sp>
        <p:nvSpPr>
          <p:cNvPr id="347" name="Google Shape;3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48" name="Google Shape;3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49" name="Google Shape;3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Example Stack – Linked List</a:t>
            </a:r>
            <a:endParaRPr sz="4000"/>
          </a:p>
        </p:txBody>
      </p:sp>
      <p:sp>
        <p:nvSpPr>
          <p:cNvPr id="355" name="Google Shape;3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1100"/>
              <a:t>Diagram Reference :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http://www.btechsmartclass.com/data_structures/stack-using-linked-list.html</a:t>
            </a:r>
            <a:endParaRPr sz="1100"/>
          </a:p>
        </p:txBody>
      </p:sp>
      <p:sp>
        <p:nvSpPr>
          <p:cNvPr id="356" name="Google Shape;35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57" name="Google Shape;35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58" name="Google Shape;35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ata Structures Tutorials - Stack Using Linked List with an ..." id="359" name="Google Shape;3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2057400"/>
            <a:ext cx="39624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/>
              <a:t>Create Node – Linked List</a:t>
            </a:r>
            <a:endParaRPr sz="4000"/>
          </a:p>
        </p:txBody>
      </p:sp>
      <p:sp>
        <p:nvSpPr>
          <p:cNvPr id="365" name="Google Shape;365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/>
              <a:t>Include all the </a:t>
            </a:r>
            <a:r>
              <a:rPr b="1" lang="en-US" sz="2600"/>
              <a:t>header files</a:t>
            </a:r>
            <a:r>
              <a:rPr lang="en-US" sz="2600"/>
              <a:t> which are used in the program. And declare all the </a:t>
            </a:r>
            <a:r>
              <a:rPr b="1" lang="en-US" sz="2600"/>
              <a:t>user defined functions</a:t>
            </a:r>
            <a:endParaRPr sz="26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>
                <a:highlight>
                  <a:srgbClr val="00FF00"/>
                </a:highlight>
              </a:rPr>
              <a:t>Define a '</a:t>
            </a:r>
            <a:r>
              <a:rPr b="1" lang="en-US" sz="2600">
                <a:highlight>
                  <a:srgbClr val="00FF00"/>
                </a:highlight>
              </a:rPr>
              <a:t>Node</a:t>
            </a:r>
            <a:r>
              <a:rPr lang="en-US" sz="2600">
                <a:highlight>
                  <a:srgbClr val="00FF00"/>
                </a:highlight>
              </a:rPr>
              <a:t>' structure with two members </a:t>
            </a:r>
            <a:r>
              <a:rPr b="1" lang="en-US" sz="2600">
                <a:highlight>
                  <a:srgbClr val="00FF00"/>
                </a:highlight>
              </a:rPr>
              <a:t>data</a:t>
            </a:r>
            <a:r>
              <a:rPr lang="en-US" sz="2600">
                <a:highlight>
                  <a:srgbClr val="00FF00"/>
                </a:highlight>
              </a:rPr>
              <a:t> and </a:t>
            </a:r>
            <a:r>
              <a:rPr b="1" lang="en-US" sz="2600">
                <a:highlight>
                  <a:srgbClr val="00FF00"/>
                </a:highlight>
              </a:rPr>
              <a:t>next</a:t>
            </a:r>
            <a:endParaRPr sz="2600">
              <a:highlight>
                <a:srgbClr val="00FF00"/>
              </a:highlight>
            </a:endParaRPr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>
                <a:highlight>
                  <a:srgbClr val="00FF00"/>
                </a:highlight>
              </a:rPr>
              <a:t>Define a </a:t>
            </a:r>
            <a:r>
              <a:rPr b="1" lang="en-US" sz="2600">
                <a:highlight>
                  <a:srgbClr val="00FF00"/>
                </a:highlight>
              </a:rPr>
              <a:t>Node</a:t>
            </a:r>
            <a:r>
              <a:rPr lang="en-US" sz="2600">
                <a:highlight>
                  <a:srgbClr val="00FF00"/>
                </a:highlight>
              </a:rPr>
              <a:t> pointer '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' and set it to </a:t>
            </a:r>
            <a:r>
              <a:rPr b="1" lang="en-US" sz="2600">
                <a:highlight>
                  <a:srgbClr val="00FF00"/>
                </a:highlight>
              </a:rPr>
              <a:t>NULL</a:t>
            </a:r>
            <a:endParaRPr sz="2600">
              <a:highlight>
                <a:srgbClr val="00FF00"/>
              </a:highlight>
            </a:endParaRPr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/>
              <a:t>Implement the </a:t>
            </a:r>
            <a:r>
              <a:rPr b="1" lang="en-US" sz="2600"/>
              <a:t>main</a:t>
            </a:r>
            <a:r>
              <a:rPr lang="en-US" sz="2600"/>
              <a:t> method by displaying Menu with list of operations and make suitable function calls in the </a:t>
            </a:r>
            <a:r>
              <a:rPr b="1" lang="en-US" sz="2600"/>
              <a:t>main</a:t>
            </a:r>
            <a:r>
              <a:rPr lang="en-US" sz="2600"/>
              <a:t> method</a:t>
            </a:r>
            <a:endParaRPr sz="2600"/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600"/>
          </a:p>
        </p:txBody>
      </p:sp>
      <p:sp>
        <p:nvSpPr>
          <p:cNvPr id="366" name="Google Shape;36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67" name="Google Shape;36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68" name="Google Shape;36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000"/>
              <a:t>push(value) </a:t>
            </a:r>
            <a:br>
              <a:rPr b="1" lang="en-US" sz="4000"/>
            </a:br>
            <a:r>
              <a:rPr b="1" lang="en-US" sz="4000"/>
              <a:t>Inserting an element into the Stack</a:t>
            </a:r>
            <a:endParaRPr/>
          </a:p>
        </p:txBody>
      </p:sp>
      <p:sp>
        <p:nvSpPr>
          <p:cNvPr id="374" name="Google Shape;37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>
                <a:highlight>
                  <a:srgbClr val="00FF00"/>
                </a:highlight>
              </a:rPr>
              <a:t>Create a </a:t>
            </a:r>
            <a:r>
              <a:rPr b="1" lang="en-US" sz="2600">
                <a:highlight>
                  <a:srgbClr val="00FF00"/>
                </a:highlight>
              </a:rPr>
              <a:t>newNode</a:t>
            </a:r>
            <a:r>
              <a:rPr lang="en-US" sz="2600">
                <a:highlight>
                  <a:srgbClr val="00FF00"/>
                </a:highlight>
              </a:rPr>
              <a:t> with given value</a:t>
            </a:r>
            <a:endParaRPr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600">
              <a:highlight>
                <a:srgbClr val="00FF00"/>
              </a:highlight>
            </a:endParaRPr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>
                <a:highlight>
                  <a:srgbClr val="00FF00"/>
                </a:highlight>
              </a:rPr>
              <a:t>Check whether stack is </a:t>
            </a:r>
            <a:r>
              <a:rPr b="1" lang="en-US" sz="2600">
                <a:highlight>
                  <a:srgbClr val="00FF00"/>
                </a:highlight>
              </a:rPr>
              <a:t>Empty</a:t>
            </a:r>
            <a:r>
              <a:rPr lang="en-US" sz="2600">
                <a:highlight>
                  <a:srgbClr val="00FF00"/>
                </a:highlight>
              </a:rPr>
              <a:t> (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 == </a:t>
            </a:r>
            <a:r>
              <a:rPr b="1" lang="en-US" sz="2600">
                <a:highlight>
                  <a:srgbClr val="00FF00"/>
                </a:highlight>
              </a:rPr>
              <a:t>NULL</a:t>
            </a:r>
            <a:r>
              <a:rPr lang="en-US" sz="2600">
                <a:highlight>
                  <a:srgbClr val="00FF00"/>
                </a:highlight>
              </a:rPr>
              <a:t>)</a:t>
            </a:r>
            <a:endParaRPr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600">
              <a:highlight>
                <a:srgbClr val="00FF00"/>
              </a:highlight>
            </a:endParaRPr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/>
              <a:t>If it is </a:t>
            </a:r>
            <a:r>
              <a:rPr b="1" lang="en-US" sz="2600">
                <a:highlight>
                  <a:srgbClr val="00FF00"/>
                </a:highlight>
              </a:rPr>
              <a:t>Empty</a:t>
            </a:r>
            <a:r>
              <a:rPr lang="en-US" sz="2600"/>
              <a:t>, then </a:t>
            </a:r>
            <a:r>
              <a:rPr lang="en-US" sz="2600">
                <a:highlight>
                  <a:srgbClr val="00FF00"/>
                </a:highlight>
              </a:rPr>
              <a:t>set </a:t>
            </a:r>
            <a:r>
              <a:rPr b="1" lang="en-US" sz="2600">
                <a:highlight>
                  <a:srgbClr val="00FF00"/>
                </a:highlight>
              </a:rPr>
              <a:t>newNode → next</a:t>
            </a:r>
            <a:r>
              <a:rPr lang="en-US" sz="2600">
                <a:highlight>
                  <a:srgbClr val="00FF00"/>
                </a:highlight>
              </a:rPr>
              <a:t> = </a:t>
            </a:r>
            <a:r>
              <a:rPr b="1" lang="en-US" sz="2600">
                <a:highlight>
                  <a:srgbClr val="00FF00"/>
                </a:highlight>
              </a:rPr>
              <a:t>NULL</a:t>
            </a:r>
            <a:endParaRPr sz="2600"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6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/>
              <a:t>If it is </a:t>
            </a:r>
            <a:r>
              <a:rPr b="1" lang="en-US" sz="2600">
                <a:highlight>
                  <a:srgbClr val="00FF00"/>
                </a:highlight>
              </a:rPr>
              <a:t>Not Empty</a:t>
            </a:r>
            <a:r>
              <a:rPr lang="en-US" sz="2600">
                <a:highlight>
                  <a:srgbClr val="00FF00"/>
                </a:highlight>
              </a:rPr>
              <a:t>, </a:t>
            </a:r>
            <a:r>
              <a:rPr lang="en-US" sz="2600"/>
              <a:t>then </a:t>
            </a:r>
            <a:r>
              <a:rPr lang="en-US" sz="2600">
                <a:highlight>
                  <a:srgbClr val="00FF00"/>
                </a:highlight>
              </a:rPr>
              <a:t>set </a:t>
            </a:r>
            <a:r>
              <a:rPr b="1" lang="en-US" sz="2600">
                <a:highlight>
                  <a:srgbClr val="00FF00"/>
                </a:highlight>
              </a:rPr>
              <a:t>newNode → next</a:t>
            </a:r>
            <a:r>
              <a:rPr lang="en-US" sz="2600">
                <a:highlight>
                  <a:srgbClr val="00FF00"/>
                </a:highlight>
              </a:rPr>
              <a:t> = 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endParaRPr sz="2600"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6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600"/>
              <a:t>Finally, set </a:t>
            </a:r>
            <a:r>
              <a:rPr b="1" lang="en-US" sz="2600">
                <a:highlight>
                  <a:srgbClr val="00FF00"/>
                </a:highlight>
              </a:rPr>
              <a:t>top</a:t>
            </a:r>
            <a:r>
              <a:rPr lang="en-US" sz="2600">
                <a:highlight>
                  <a:srgbClr val="00FF00"/>
                </a:highlight>
              </a:rPr>
              <a:t> = </a:t>
            </a:r>
            <a:r>
              <a:rPr b="1" lang="en-US" sz="2600">
                <a:highlight>
                  <a:srgbClr val="00FF00"/>
                </a:highlight>
              </a:rPr>
              <a:t>newNode</a:t>
            </a:r>
            <a:endParaRPr sz="2600">
              <a:highlight>
                <a:srgbClr val="00FF00"/>
              </a:highlight>
            </a:endParaRPr>
          </a:p>
          <a:p>
            <a:pPr indent="-2286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600"/>
          </a:p>
        </p:txBody>
      </p:sp>
      <p:sp>
        <p:nvSpPr>
          <p:cNvPr id="375" name="Google Shape;3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76" name="Google Shape;3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77" name="Google Shape;3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br>
              <a:rPr b="1" lang="en-US" sz="4000"/>
            </a:br>
            <a:r>
              <a:rPr b="1" lang="en-US" sz="4000"/>
              <a:t>pop()</a:t>
            </a:r>
            <a:br>
              <a:rPr b="1" lang="en-US" sz="4000"/>
            </a:br>
            <a:r>
              <a:rPr b="1" lang="en-US" sz="4000"/>
              <a:t>Deleting an Element from a Stack</a:t>
            </a:r>
            <a:br>
              <a:rPr b="1" lang="en-US" sz="4000"/>
            </a:br>
            <a:endParaRPr sz="4000"/>
          </a:p>
        </p:txBody>
      </p:sp>
      <p:sp>
        <p:nvSpPr>
          <p:cNvPr id="383" name="Google Shape;38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400"/>
              <a:t>Check whether </a:t>
            </a:r>
            <a:r>
              <a:rPr b="1" lang="en-US" sz="2400"/>
              <a:t>stack</a:t>
            </a:r>
            <a:r>
              <a:rPr lang="en-US" sz="2400"/>
              <a:t> is </a:t>
            </a:r>
            <a:r>
              <a:rPr b="1" lang="en-US" sz="2400"/>
              <a:t>Empty</a:t>
            </a:r>
            <a:r>
              <a:rPr lang="en-US" sz="2400"/>
              <a:t> (</a:t>
            </a:r>
            <a:r>
              <a:rPr b="1" lang="en-US" sz="2400"/>
              <a:t>top == NULL</a:t>
            </a:r>
            <a:r>
              <a:rPr lang="en-US" sz="2400"/>
              <a:t>)</a:t>
            </a:r>
            <a:endParaRPr/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400"/>
              <a:t>If it is </a:t>
            </a:r>
            <a:r>
              <a:rPr b="1" lang="en-US" sz="2400"/>
              <a:t>Empty</a:t>
            </a:r>
            <a:r>
              <a:rPr lang="en-US" sz="2400"/>
              <a:t>, then display </a:t>
            </a:r>
            <a:r>
              <a:rPr b="1" lang="en-US" sz="2400"/>
              <a:t>"Stack is Empty!!! Deletion is not possible!!!"</a:t>
            </a:r>
            <a:r>
              <a:rPr lang="en-US" sz="2400"/>
              <a:t> and terminate the function</a:t>
            </a:r>
            <a:endParaRPr/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400"/>
              <a:t>If it is </a:t>
            </a:r>
            <a:r>
              <a:rPr b="1" lang="en-US" sz="2400">
                <a:highlight>
                  <a:srgbClr val="00FF00"/>
                </a:highlight>
              </a:rPr>
              <a:t>Not Empty</a:t>
            </a:r>
            <a:r>
              <a:rPr lang="en-US" sz="2400">
                <a:highlight>
                  <a:srgbClr val="00FF00"/>
                </a:highlight>
              </a:rPr>
              <a:t>, then define a </a:t>
            </a:r>
            <a:r>
              <a:rPr b="1" lang="en-US" sz="2400">
                <a:highlight>
                  <a:srgbClr val="00FF00"/>
                </a:highlight>
              </a:rPr>
              <a:t>Node</a:t>
            </a:r>
            <a:r>
              <a:rPr lang="en-US" sz="2400">
                <a:highlight>
                  <a:srgbClr val="00FF00"/>
                </a:highlight>
              </a:rPr>
              <a:t> pointer '</a:t>
            </a:r>
            <a:r>
              <a:rPr b="1" lang="en-US" sz="2400">
                <a:highlight>
                  <a:srgbClr val="00FF00"/>
                </a:highlight>
              </a:rPr>
              <a:t>temp</a:t>
            </a:r>
            <a:r>
              <a:rPr lang="en-US" sz="2400">
                <a:highlight>
                  <a:srgbClr val="00FF00"/>
                </a:highlight>
              </a:rPr>
              <a:t>' and set it to '</a:t>
            </a:r>
            <a:r>
              <a:rPr b="1" lang="en-US" sz="2400">
                <a:highlight>
                  <a:srgbClr val="00FF00"/>
                </a:highlight>
              </a:rPr>
              <a:t>top</a:t>
            </a:r>
            <a:r>
              <a:rPr lang="en-US" sz="2400">
                <a:highlight>
                  <a:srgbClr val="00FF00"/>
                </a:highlight>
              </a:rPr>
              <a:t>‘</a:t>
            </a:r>
            <a:endParaRPr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highlight>
                <a:srgbClr val="00FF00"/>
              </a:highlight>
            </a:endParaRPr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400"/>
              <a:t>Then set </a:t>
            </a:r>
            <a:r>
              <a:rPr lang="en-US" sz="2400">
                <a:highlight>
                  <a:srgbClr val="00FF00"/>
                </a:highlight>
              </a:rPr>
              <a:t>'</a:t>
            </a:r>
            <a:r>
              <a:rPr b="1" lang="en-US" sz="2400">
                <a:highlight>
                  <a:srgbClr val="00FF00"/>
                </a:highlight>
              </a:rPr>
              <a:t>top</a:t>
            </a:r>
            <a:r>
              <a:rPr lang="en-US" sz="2400">
                <a:highlight>
                  <a:srgbClr val="00FF00"/>
                </a:highlight>
              </a:rPr>
              <a:t> = </a:t>
            </a:r>
            <a:r>
              <a:rPr b="1" lang="en-US" sz="2400">
                <a:highlight>
                  <a:srgbClr val="00FF00"/>
                </a:highlight>
              </a:rPr>
              <a:t>top → next</a:t>
            </a:r>
            <a:r>
              <a:rPr lang="en-US" sz="2400">
                <a:highlight>
                  <a:srgbClr val="00FF00"/>
                </a:highlight>
              </a:rPr>
              <a:t>‘</a:t>
            </a:r>
            <a:endParaRPr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400"/>
              <a:t>Finally, </a:t>
            </a:r>
            <a:r>
              <a:rPr lang="en-US" sz="2400">
                <a:highlight>
                  <a:srgbClr val="00FF00"/>
                </a:highlight>
              </a:rPr>
              <a:t>delete '</a:t>
            </a:r>
            <a:r>
              <a:rPr b="1" lang="en-US" sz="2400">
                <a:highlight>
                  <a:srgbClr val="00FF00"/>
                </a:highlight>
              </a:rPr>
              <a:t>temp</a:t>
            </a:r>
            <a:r>
              <a:rPr lang="en-US" sz="2400">
                <a:highlight>
                  <a:srgbClr val="00FF00"/>
                </a:highlight>
              </a:rPr>
              <a:t>'. (</a:t>
            </a:r>
            <a:r>
              <a:rPr b="1" lang="en-US" sz="2400">
                <a:highlight>
                  <a:srgbClr val="00FF00"/>
                </a:highlight>
              </a:rPr>
              <a:t>free(temp)</a:t>
            </a:r>
            <a:r>
              <a:rPr lang="en-US" sz="2400">
                <a:highlight>
                  <a:srgbClr val="00FF00"/>
                </a:highlight>
              </a:rPr>
              <a:t>)</a:t>
            </a:r>
            <a:endParaRPr sz="2400"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384" name="Google Shape;38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85" name="Google Shape;38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br>
              <a:rPr b="1" lang="en-US" sz="4000"/>
            </a:br>
            <a:r>
              <a:rPr b="1" lang="en-US" sz="4000"/>
              <a:t>display()  </a:t>
            </a:r>
            <a:br>
              <a:rPr b="1" lang="en-US" sz="4000"/>
            </a:br>
            <a:r>
              <a:rPr b="1" lang="en-US" sz="4000"/>
              <a:t>Displaying stack of elements</a:t>
            </a:r>
            <a:br>
              <a:rPr b="1" lang="en-US" sz="4000"/>
            </a:br>
            <a:endParaRPr sz="4000"/>
          </a:p>
        </p:txBody>
      </p:sp>
      <p:sp>
        <p:nvSpPr>
          <p:cNvPr id="391" name="Google Shape;39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500"/>
              <a:t>Check whether stack is </a:t>
            </a:r>
            <a:r>
              <a:rPr b="1" lang="en-US" sz="2500"/>
              <a:t>Empty</a:t>
            </a:r>
            <a:r>
              <a:rPr lang="en-US" sz="2500"/>
              <a:t> (</a:t>
            </a:r>
            <a:r>
              <a:rPr b="1" lang="en-US" sz="2500"/>
              <a:t>top</a:t>
            </a:r>
            <a:r>
              <a:rPr lang="en-US" sz="2500"/>
              <a:t> == </a:t>
            </a:r>
            <a:r>
              <a:rPr b="1" lang="en-US" sz="2500"/>
              <a:t>NULL</a:t>
            </a:r>
            <a:r>
              <a:rPr lang="en-US" sz="2500"/>
              <a:t>)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500"/>
              <a:t>If it is </a:t>
            </a:r>
            <a:r>
              <a:rPr b="1" lang="en-US" sz="2500"/>
              <a:t>Empty</a:t>
            </a:r>
            <a:r>
              <a:rPr lang="en-US" sz="2500"/>
              <a:t>, then display </a:t>
            </a:r>
            <a:r>
              <a:rPr b="1" lang="en-US" sz="2500"/>
              <a:t>'Stack is Empty!!!'</a:t>
            </a:r>
            <a:r>
              <a:rPr lang="en-US" sz="2500"/>
              <a:t> and terminate the function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500"/>
              <a:t>If it is </a:t>
            </a:r>
            <a:r>
              <a:rPr b="1" lang="en-US" sz="2500">
                <a:highlight>
                  <a:srgbClr val="00FF00"/>
                </a:highlight>
              </a:rPr>
              <a:t>Not Empty</a:t>
            </a:r>
            <a:r>
              <a:rPr lang="en-US" sz="2500">
                <a:highlight>
                  <a:srgbClr val="00FF00"/>
                </a:highlight>
              </a:rPr>
              <a:t>, then define a Node pointer </a:t>
            </a:r>
            <a:r>
              <a:rPr b="1" lang="en-US" sz="2500">
                <a:highlight>
                  <a:srgbClr val="00FF00"/>
                </a:highlight>
              </a:rPr>
              <a:t>'temp'</a:t>
            </a:r>
            <a:r>
              <a:rPr lang="en-US" sz="2500">
                <a:highlight>
                  <a:srgbClr val="00FF00"/>
                </a:highlight>
              </a:rPr>
              <a:t> and initialize with </a:t>
            </a:r>
            <a:r>
              <a:rPr b="1" lang="en-US" sz="2500">
                <a:highlight>
                  <a:srgbClr val="00FF00"/>
                </a:highlight>
              </a:rPr>
              <a:t>top</a:t>
            </a:r>
            <a:endParaRPr sz="2500">
              <a:highlight>
                <a:srgbClr val="00FF00"/>
              </a:highlight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500"/>
              <a:t>Display </a:t>
            </a:r>
            <a:r>
              <a:rPr lang="en-US" sz="2500">
                <a:highlight>
                  <a:srgbClr val="00FF00"/>
                </a:highlight>
              </a:rPr>
              <a:t>'</a:t>
            </a:r>
            <a:r>
              <a:rPr b="1" lang="en-US" sz="2500">
                <a:highlight>
                  <a:srgbClr val="00FF00"/>
                </a:highlight>
              </a:rPr>
              <a:t>temp → data</a:t>
            </a:r>
            <a:r>
              <a:rPr lang="en-US" sz="2500">
                <a:highlight>
                  <a:srgbClr val="00FF00"/>
                </a:highlight>
              </a:rPr>
              <a:t> ---&gt;' and move it to the next node. Repeat the same until </a:t>
            </a:r>
            <a:r>
              <a:rPr b="1" lang="en-US" sz="2500">
                <a:highlight>
                  <a:srgbClr val="00FF00"/>
                </a:highlight>
              </a:rPr>
              <a:t>temp</a:t>
            </a:r>
            <a:r>
              <a:rPr lang="en-US" sz="2500">
                <a:highlight>
                  <a:srgbClr val="00FF00"/>
                </a:highlight>
              </a:rPr>
              <a:t> reaches to the first node in the stack. (</a:t>
            </a:r>
            <a:r>
              <a:rPr b="1" lang="en-US" sz="2500">
                <a:highlight>
                  <a:srgbClr val="00FF00"/>
                </a:highlight>
              </a:rPr>
              <a:t>temp → next</a:t>
            </a:r>
            <a:r>
              <a:rPr lang="en-US" sz="2500">
                <a:highlight>
                  <a:srgbClr val="00FF00"/>
                </a:highlight>
              </a:rPr>
              <a:t> != </a:t>
            </a:r>
            <a:r>
              <a:rPr b="1" lang="en-US" sz="2500">
                <a:highlight>
                  <a:srgbClr val="00FF00"/>
                </a:highlight>
              </a:rPr>
              <a:t>NULL</a:t>
            </a:r>
            <a:r>
              <a:rPr lang="en-US" sz="2500">
                <a:highlight>
                  <a:srgbClr val="00FF00"/>
                </a:highlight>
              </a:rPr>
              <a:t>)</a:t>
            </a:r>
            <a:endParaRPr sz="2500">
              <a:highlight>
                <a:srgbClr val="00FF00"/>
              </a:highlight>
            </a:endParaRPr>
          </a:p>
          <a:p>
            <a:pPr indent="-4572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AutoNum type="arabicPeriod"/>
            </a:pPr>
            <a:r>
              <a:rPr lang="en-US" sz="2500">
                <a:highlight>
                  <a:srgbClr val="00FF00"/>
                </a:highlight>
              </a:rPr>
              <a:t>Finally! Display '</a:t>
            </a:r>
            <a:r>
              <a:rPr b="1" lang="en-US" sz="2500">
                <a:highlight>
                  <a:srgbClr val="00FF00"/>
                </a:highlight>
              </a:rPr>
              <a:t>temp → data</a:t>
            </a:r>
            <a:r>
              <a:rPr lang="en-US" sz="2500">
                <a:highlight>
                  <a:srgbClr val="00FF00"/>
                </a:highlight>
              </a:rPr>
              <a:t> ---&gt; </a:t>
            </a:r>
            <a:r>
              <a:rPr b="1" lang="en-US" sz="2500">
                <a:highlight>
                  <a:srgbClr val="00FF00"/>
                </a:highlight>
              </a:rPr>
              <a:t>NULL</a:t>
            </a:r>
            <a:r>
              <a:rPr lang="en-US" sz="2500">
                <a:highlight>
                  <a:srgbClr val="00FF00"/>
                </a:highlight>
              </a:rPr>
              <a:t>'</a:t>
            </a:r>
            <a:endParaRPr sz="2500">
              <a:highlight>
                <a:srgbClr val="00FF00"/>
              </a:highlight>
            </a:endParaRPr>
          </a:p>
          <a:p>
            <a:pPr indent="-3111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500">
              <a:highlight>
                <a:srgbClr val="00FF00"/>
              </a:highlight>
            </a:endParaRPr>
          </a:p>
        </p:txBody>
      </p:sp>
      <p:sp>
        <p:nvSpPr>
          <p:cNvPr id="392" name="Google Shape;39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7/24/2023</a:t>
            </a:r>
            <a:endParaRPr/>
          </a:p>
        </p:txBody>
      </p:sp>
      <p:sp>
        <p:nvSpPr>
          <p:cNvPr id="393" name="Google Shape;39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SRM Institutue of Science and Technology</a:t>
            </a:r>
            <a:endParaRPr/>
          </a:p>
        </p:txBody>
      </p:sp>
      <p:sp>
        <p:nvSpPr>
          <p:cNvPr id="394" name="Google Shape;39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