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Palatino Linotype"/>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40" roundtripDataSignature="AMtx7mjRSuSMqRumYh5OsXb9GzFZt2OS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alatinoLinotype-bold.fntdata"/><Relationship Id="rId14" Type="http://schemas.openxmlformats.org/officeDocument/2006/relationships/slide" Target="slides/slide9.xml"/><Relationship Id="rId36" Type="http://schemas.openxmlformats.org/officeDocument/2006/relationships/font" Target="fonts/PalatinoLinotype-regular.fntdata"/><Relationship Id="rId17" Type="http://schemas.openxmlformats.org/officeDocument/2006/relationships/slide" Target="slides/slide12.xml"/><Relationship Id="rId39" Type="http://schemas.openxmlformats.org/officeDocument/2006/relationships/font" Target="fonts/PalatinoLinotype-boldItalic.fntdata"/><Relationship Id="rId16" Type="http://schemas.openxmlformats.org/officeDocument/2006/relationships/slide" Target="slides/slide11.xml"/><Relationship Id="rId38" Type="http://schemas.openxmlformats.org/officeDocument/2006/relationships/font" Target="fonts/PalatinoLinotype-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 name="Google Shape;6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5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5" name="Google Shape;2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2" name="Shape 32"/>
        <p:cNvGrpSpPr/>
        <p:nvPr/>
      </p:nvGrpSpPr>
      <p:grpSpPr>
        <a:xfrm>
          <a:off x="0" y="0"/>
          <a:ext cx="0" cy="0"/>
          <a:chOff x="0" y="0"/>
          <a:chExt cx="0" cy="0"/>
        </a:xfrm>
      </p:grpSpPr>
      <p:sp>
        <p:nvSpPr>
          <p:cNvPr id="33" name="Google Shape;33;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5" name="Google Shape;35;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 name="Google Shape;36;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9"/>
          <p:cNvSpPr/>
          <p:nvPr>
            <p:ph idx="2" type="pic"/>
          </p:nvPr>
        </p:nvSpPr>
        <p:spPr>
          <a:xfrm>
            <a:off x="5183188" y="987425"/>
            <a:ext cx="6172200" cy="4873625"/>
          </a:xfrm>
          <a:prstGeom prst="rect">
            <a:avLst/>
          </a:prstGeom>
          <a:noFill/>
          <a:ln>
            <a:noFill/>
          </a:ln>
        </p:spPr>
      </p:sp>
      <p:sp>
        <p:nvSpPr>
          <p:cNvPr id="42" name="Google Shape;42;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6" name="Shape 46"/>
        <p:cNvGrpSpPr/>
        <p:nvPr/>
      </p:nvGrpSpPr>
      <p:grpSpPr>
        <a:xfrm>
          <a:off x="0" y="0"/>
          <a:ext cx="0" cy="0"/>
          <a:chOff x="0" y="0"/>
          <a:chExt cx="0" cy="0"/>
        </a:xfrm>
      </p:grpSpPr>
      <p:sp>
        <p:nvSpPr>
          <p:cNvPr id="47" name="Google Shape;47;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2" name="Shape 52"/>
        <p:cNvGrpSpPr/>
        <p:nvPr/>
      </p:nvGrpSpPr>
      <p:grpSpPr>
        <a:xfrm>
          <a:off x="0" y="0"/>
          <a:ext cx="0" cy="0"/>
          <a:chOff x="0" y="0"/>
          <a:chExt cx="0" cy="0"/>
        </a:xfrm>
      </p:grpSpPr>
      <p:sp>
        <p:nvSpPr>
          <p:cNvPr id="53" name="Google Shape;53;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51"/>
          <p:cNvSpPr/>
          <p:nvPr/>
        </p:nvSpPr>
        <p:spPr>
          <a:xfrm>
            <a:off x="10504715" y="230188"/>
            <a:ext cx="1231640" cy="690465"/>
          </a:xfrm>
          <a:prstGeom prst="rect">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title"/>
          </p:nvPr>
        </p:nvSpPr>
        <p:spPr>
          <a:xfrm>
            <a:off x="838200" y="1635986"/>
            <a:ext cx="10515600" cy="28895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alatino Linotype"/>
              <a:buNone/>
            </a:pPr>
            <a:r>
              <a:rPr b="1" lang="en-US" sz="6000">
                <a:latin typeface="Palatino Linotype"/>
                <a:ea typeface="Palatino Linotype"/>
                <a:cs typeface="Palatino Linotype"/>
                <a:sym typeface="Palatino Linotype"/>
              </a:rPr>
              <a:t>21CSC201 J - Data Structures and Algorithms</a:t>
            </a:r>
            <a:endParaRPr b="1" sz="6000">
              <a:latin typeface="Palatino Linotype"/>
              <a:ea typeface="Palatino Linotype"/>
              <a:cs typeface="Palatino Linotype"/>
              <a:sym typeface="Palatino Linotype"/>
            </a:endParaRPr>
          </a:p>
          <a:p>
            <a:pPr indent="0" lvl="0" marL="0" rtl="0" algn="ctr">
              <a:lnSpc>
                <a:spcPct val="90000"/>
              </a:lnSpc>
              <a:spcBef>
                <a:spcPts val="0"/>
              </a:spcBef>
              <a:spcAft>
                <a:spcPts val="0"/>
              </a:spcAft>
              <a:buClr>
                <a:schemeClr val="dk1"/>
              </a:buClr>
              <a:buSzPct val="100000"/>
              <a:buFont typeface="Palatino Linotype"/>
              <a:buNone/>
            </a:pPr>
            <a:r>
              <a:t/>
            </a:r>
            <a:endParaRPr b="1" sz="6000">
              <a:latin typeface="Palatino Linotype"/>
              <a:ea typeface="Palatino Linotype"/>
              <a:cs typeface="Palatino Linotype"/>
              <a:sym typeface="Palatino Linotype"/>
            </a:endParaRPr>
          </a:p>
          <a:p>
            <a:pPr indent="0" lvl="0" marL="0" rtl="0" algn="ctr">
              <a:lnSpc>
                <a:spcPct val="90000"/>
              </a:lnSpc>
              <a:spcBef>
                <a:spcPts val="0"/>
              </a:spcBef>
              <a:spcAft>
                <a:spcPts val="0"/>
              </a:spcAft>
              <a:buClr>
                <a:schemeClr val="dk1"/>
              </a:buClr>
              <a:buSzPct val="100000"/>
              <a:buFont typeface="Palatino Linotype"/>
              <a:buNone/>
            </a:pPr>
            <a:r>
              <a:rPr b="1" lang="en-US" sz="6000">
                <a:latin typeface="Palatino Linotype"/>
                <a:ea typeface="Palatino Linotype"/>
                <a:cs typeface="Palatino Linotype"/>
                <a:sym typeface="Palatino Linotype"/>
              </a:rPr>
              <a:t>Unit -III - </a:t>
            </a:r>
            <a:r>
              <a:rPr b="1" lang="en-US" sz="6000">
                <a:latin typeface="Palatino Linotype"/>
                <a:ea typeface="Palatino Linotype"/>
                <a:cs typeface="Palatino Linotype"/>
                <a:sym typeface="Palatino Linotype"/>
              </a:rPr>
              <a:t>PRIORITY QUEUE</a:t>
            </a:r>
            <a:br>
              <a:rPr b="1" lang="en-US" sz="6000">
                <a:latin typeface="Palatino Linotype"/>
                <a:ea typeface="Palatino Linotype"/>
                <a:cs typeface="Palatino Linotype"/>
                <a:sym typeface="Palatino Linotype"/>
              </a:rPr>
            </a:br>
            <a:endParaRPr b="1" sz="6000">
              <a:latin typeface="Palatino Linotype"/>
              <a:ea typeface="Palatino Linotype"/>
              <a:cs typeface="Palatino Linotype"/>
              <a:sym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Definition</a:t>
            </a:r>
            <a:endParaRPr/>
          </a:p>
        </p:txBody>
      </p:sp>
      <p:pic>
        <p:nvPicPr>
          <p:cNvPr id="68" name="Google Shape;68;p2"/>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69" name="Google Shape;69;p2"/>
          <p:cNvSpPr/>
          <p:nvPr/>
        </p:nvSpPr>
        <p:spPr>
          <a:xfrm>
            <a:off x="1066800" y="1524000"/>
            <a:ext cx="10210800" cy="440120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 priority queue is an abstract data type that behaves similarly to the normal queue except that each element has some priority, i.e., the element with the highest priority would come first in a priority queue.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 priority of the elements in a priority queue will determine the order in which elements are removed from the priority queue.</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 priority queue supports only comparable elements, which means that the elements are either arranged in an ascending or descending order.</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For example, suppose we have some values like 1, 3, 4, 8, 14, 22 inserted in a priority queue with an ordering imposed on the values is from least to the greatest.</a:t>
            </a:r>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 Therefore, the 1 number would be having the highest priority while 22 will be having the lowest priority.</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Characteristics of priority queue</a:t>
            </a:r>
            <a:endParaRPr/>
          </a:p>
        </p:txBody>
      </p:sp>
      <p:pic>
        <p:nvPicPr>
          <p:cNvPr id="75" name="Google Shape;75;p3"/>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76" name="Google Shape;76;p3"/>
          <p:cNvSpPr/>
          <p:nvPr/>
        </p:nvSpPr>
        <p:spPr>
          <a:xfrm>
            <a:off x="1066800" y="1828800"/>
            <a:ext cx="10287000" cy="2862322"/>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Every element in a priority queue has some priority associated with it.</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An element with the higher priority will be deleted before the deletion of the lesser priority.</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If two elements in a priority queue have the same priority, they will be arranged using the FIFO principle.</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Types of priority Queue</a:t>
            </a:r>
            <a:endParaRPr/>
          </a:p>
        </p:txBody>
      </p:sp>
      <p:pic>
        <p:nvPicPr>
          <p:cNvPr id="82" name="Google Shape;82;p4"/>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83" name="Google Shape;83;p4"/>
          <p:cNvSpPr/>
          <p:nvPr/>
        </p:nvSpPr>
        <p:spPr>
          <a:xfrm>
            <a:off x="838200" y="1690700"/>
            <a:ext cx="9601200" cy="200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There are two types of priority queue:</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Ascending order priority queue:</a:t>
            </a:r>
            <a:r>
              <a:rPr b="0" i="0" lang="en-US" sz="2000" u="none" cap="none" strike="noStrike">
                <a:solidFill>
                  <a:srgbClr val="000000"/>
                </a:solidFill>
                <a:latin typeface="Arial"/>
                <a:ea typeface="Arial"/>
                <a:cs typeface="Arial"/>
                <a:sym typeface="Arial"/>
              </a:rPr>
              <a:t> In ascending order priority queue, a lower priority number is given as a higher priority in a priority. </a:t>
            </a:r>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For example, we take the numbers from 1 to 5 arranged in an ascending order like 1,2,3,4,5; therefore, the smallest number, i.e., 1 is given as the highest priority in a priority queue.</a:t>
            </a:r>
            <a:endParaRPr b="0" i="0" sz="2000" u="none" cap="none" strike="noStrike">
              <a:solidFill>
                <a:srgbClr val="000000"/>
              </a:solidFill>
              <a:latin typeface="Arial"/>
              <a:ea typeface="Arial"/>
              <a:cs typeface="Arial"/>
              <a:sym typeface="Arial"/>
            </a:endParaRPr>
          </a:p>
        </p:txBody>
      </p:sp>
      <p:pic>
        <p:nvPicPr>
          <p:cNvPr id="84" name="Google Shape;84;p4"/>
          <p:cNvPicPr preferRelativeResize="0"/>
          <p:nvPr/>
        </p:nvPicPr>
        <p:blipFill rotWithShape="1">
          <a:blip r:embed="rId4">
            <a:alphaModFix/>
          </a:blip>
          <a:srcRect b="0" l="0" r="0" t="0"/>
          <a:stretch/>
        </p:blipFill>
        <p:spPr>
          <a:xfrm>
            <a:off x="1981200" y="3733800"/>
            <a:ext cx="8143875" cy="243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90" name="Google Shape;90;p5"/>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91" name="Google Shape;91;p5"/>
          <p:cNvSpPr/>
          <p:nvPr/>
        </p:nvSpPr>
        <p:spPr>
          <a:xfrm>
            <a:off x="914400" y="1981200"/>
            <a:ext cx="10363200"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Descending order priority queue:</a:t>
            </a:r>
            <a:r>
              <a:rPr b="0" i="0" lang="en-US" sz="2000" u="none" cap="none" strike="noStrike">
                <a:solidFill>
                  <a:srgbClr val="000000"/>
                </a:solidFill>
                <a:latin typeface="Arial"/>
                <a:ea typeface="Arial"/>
                <a:cs typeface="Arial"/>
                <a:sym typeface="Arial"/>
              </a:rPr>
              <a:t> In descending order priority queue, a higher priority number is given as a higher priority in a priority.</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 For example, we take the numbers from 1 to 5 arranged in descending order like 5, 4, 3, 2, 1; therefore, the largest number, i.e., 5 is given as the highest priority in a priority queue.</a:t>
            </a:r>
            <a:endParaRPr b="0" i="0" sz="2000" u="none" cap="none" strike="noStrike">
              <a:solidFill>
                <a:srgbClr val="000000"/>
              </a:solidFill>
              <a:latin typeface="Arial"/>
              <a:ea typeface="Arial"/>
              <a:cs typeface="Arial"/>
              <a:sym typeface="Arial"/>
            </a:endParaRPr>
          </a:p>
        </p:txBody>
      </p:sp>
      <p:pic>
        <p:nvPicPr>
          <p:cNvPr id="92" name="Google Shape;92;p5"/>
          <p:cNvPicPr preferRelativeResize="0"/>
          <p:nvPr/>
        </p:nvPicPr>
        <p:blipFill rotWithShape="1">
          <a:blip r:embed="rId4">
            <a:alphaModFix/>
          </a:blip>
          <a:srcRect b="0" l="0" r="0" t="0"/>
          <a:stretch/>
        </p:blipFill>
        <p:spPr>
          <a:xfrm>
            <a:off x="1447800" y="3733800"/>
            <a:ext cx="8124825" cy="23002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838200" y="4572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03030"/>
              </a:buClr>
              <a:buSzPts val="4400"/>
              <a:buNone/>
            </a:pPr>
            <a:r>
              <a:rPr lang="en-US"/>
              <a:t>Representation of priority queue</a:t>
            </a:r>
            <a:br>
              <a:rPr lang="en-US"/>
            </a:br>
            <a:endParaRPr/>
          </a:p>
        </p:txBody>
      </p:sp>
      <p:pic>
        <p:nvPicPr>
          <p:cNvPr id="98" name="Google Shape;98;p6"/>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99" name="Google Shape;99;p6"/>
          <p:cNvSpPr/>
          <p:nvPr/>
        </p:nvSpPr>
        <p:spPr>
          <a:xfrm>
            <a:off x="1066800" y="1600200"/>
            <a:ext cx="4900200" cy="370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Now, we will see how to represent the priority queue through a one-way list.</a:t>
            </a:r>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We will create the priority queue by using the list given below in which </a:t>
            </a:r>
            <a:r>
              <a:rPr b="1" i="0" lang="en-US" sz="2000" u="none" cap="none" strike="noStrike">
                <a:solidFill>
                  <a:srgbClr val="000000"/>
                </a:solidFill>
                <a:latin typeface="Arial"/>
                <a:ea typeface="Arial"/>
                <a:cs typeface="Arial"/>
                <a:sym typeface="Arial"/>
              </a:rPr>
              <a:t>INFO</a:t>
            </a:r>
            <a:r>
              <a:rPr b="0" i="0" lang="en-US" sz="2000" u="none" cap="none" strike="noStrike">
                <a:solidFill>
                  <a:srgbClr val="000000"/>
                </a:solidFill>
                <a:latin typeface="Arial"/>
                <a:ea typeface="Arial"/>
                <a:cs typeface="Arial"/>
                <a:sym typeface="Arial"/>
              </a:rPr>
              <a:t> list contains the data elements, </a:t>
            </a:r>
            <a:r>
              <a:rPr b="1" i="0" lang="en-US" sz="2000" u="none" cap="none" strike="noStrike">
                <a:solidFill>
                  <a:srgbClr val="000000"/>
                </a:solidFill>
                <a:latin typeface="Arial"/>
                <a:ea typeface="Arial"/>
                <a:cs typeface="Arial"/>
                <a:sym typeface="Arial"/>
              </a:rPr>
              <a:t>PRN</a:t>
            </a:r>
            <a:r>
              <a:rPr b="0" i="0" lang="en-US" sz="2000" u="none" cap="none" strike="noStrike">
                <a:solidFill>
                  <a:srgbClr val="000000"/>
                </a:solidFill>
                <a:latin typeface="Arial"/>
                <a:ea typeface="Arial"/>
                <a:cs typeface="Arial"/>
                <a:sym typeface="Arial"/>
              </a:rPr>
              <a:t> list contains the priority numbers of each data element available in the </a:t>
            </a:r>
            <a:r>
              <a:rPr b="1" i="0" lang="en-US" sz="2000" u="none" cap="none" strike="noStrike">
                <a:solidFill>
                  <a:srgbClr val="000000"/>
                </a:solidFill>
                <a:latin typeface="Arial"/>
                <a:ea typeface="Arial"/>
                <a:cs typeface="Arial"/>
                <a:sym typeface="Arial"/>
              </a:rPr>
              <a:t>INFO</a:t>
            </a:r>
            <a:r>
              <a:rPr b="0" i="0" lang="en-US" sz="2000" u="none" cap="none" strike="noStrike">
                <a:solidFill>
                  <a:srgbClr val="000000"/>
                </a:solidFill>
                <a:latin typeface="Arial"/>
                <a:ea typeface="Arial"/>
                <a:cs typeface="Arial"/>
                <a:sym typeface="Arial"/>
              </a:rPr>
              <a:t> list, and LINK basically contains the address of the next node.</a:t>
            </a:r>
            <a:endParaRPr b="0" i="0" sz="2000" u="none" cap="none" strike="noStrike">
              <a:solidFill>
                <a:srgbClr val="000000"/>
              </a:solidFill>
              <a:latin typeface="Arial"/>
              <a:ea typeface="Arial"/>
              <a:cs typeface="Arial"/>
              <a:sym typeface="Arial"/>
            </a:endParaRPr>
          </a:p>
        </p:txBody>
      </p:sp>
      <p:pic>
        <p:nvPicPr>
          <p:cNvPr id="100" name="Google Shape;100;p6"/>
          <p:cNvPicPr preferRelativeResize="0"/>
          <p:nvPr/>
        </p:nvPicPr>
        <p:blipFill rotWithShape="1">
          <a:blip r:embed="rId4">
            <a:alphaModFix/>
          </a:blip>
          <a:srcRect b="0" l="0" r="0" t="0"/>
          <a:stretch/>
        </p:blipFill>
        <p:spPr>
          <a:xfrm>
            <a:off x="6324600" y="1600200"/>
            <a:ext cx="4800600" cy="403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Step by step procedure</a:t>
            </a:r>
            <a:endParaRPr/>
          </a:p>
        </p:txBody>
      </p:sp>
      <p:pic>
        <p:nvPicPr>
          <p:cNvPr id="106" name="Google Shape;106;p7"/>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07" name="Google Shape;107;p7"/>
          <p:cNvSpPr/>
          <p:nvPr/>
        </p:nvSpPr>
        <p:spPr>
          <a:xfrm>
            <a:off x="914400" y="1787900"/>
            <a:ext cx="10785600" cy="4362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In the case of priority queue, lower priority number is considered the higher priority, i.e.,</a:t>
            </a:r>
            <a:r>
              <a:rPr b="0" i="0" lang="en-US" sz="2000" u="none" cap="none" strike="noStrike">
                <a:solidFill>
                  <a:srgbClr val="000000"/>
                </a:solidFill>
                <a:latin typeface="Arial"/>
                <a:ea typeface="Arial"/>
                <a:cs typeface="Arial"/>
                <a:sym typeface="Arial"/>
              </a:rPr>
              <a:t> lower priority number = higher priority.</a:t>
            </a:r>
            <a:endParaRPr/>
          </a:p>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Step 1:</a:t>
            </a:r>
            <a:r>
              <a:rPr b="0" i="0" lang="en-US" sz="2000" u="none" cap="none" strike="noStrike">
                <a:solidFill>
                  <a:srgbClr val="000000"/>
                </a:solidFill>
                <a:latin typeface="Arial"/>
                <a:ea typeface="Arial"/>
                <a:cs typeface="Arial"/>
                <a:sym typeface="Arial"/>
              </a:rPr>
              <a:t> In the list, lower priority number is 1, whose data value is 333, so it will be inserted in the list as shown in the below diagram:</a:t>
            </a:r>
            <a:endParaRPr/>
          </a:p>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Step 2:</a:t>
            </a:r>
            <a:r>
              <a:rPr b="0" i="0" lang="en-US" sz="2000" u="none" cap="none" strike="noStrike">
                <a:solidFill>
                  <a:srgbClr val="000000"/>
                </a:solidFill>
                <a:latin typeface="Arial"/>
                <a:ea typeface="Arial"/>
                <a:cs typeface="Arial"/>
                <a:sym typeface="Arial"/>
              </a:rPr>
              <a:t> After inserting 333, priority number 2 is having a higher priority, and data values associated with this priority are 222 and 111. So, this data will be inserted based on the FIFO principle; therefore 222 will be added first and then 111.</a:t>
            </a:r>
            <a:endParaRPr/>
          </a:p>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Step 3:</a:t>
            </a:r>
            <a:r>
              <a:rPr b="0" i="0" lang="en-US" sz="2000" u="none" cap="none" strike="noStrike">
                <a:solidFill>
                  <a:srgbClr val="000000"/>
                </a:solidFill>
                <a:latin typeface="Arial"/>
                <a:ea typeface="Arial"/>
                <a:cs typeface="Arial"/>
                <a:sym typeface="Arial"/>
              </a:rPr>
              <a:t> After inserting the elements of priority 2, the next higher priority number is 4 and data elements associated with 4 priority numbers are 444, 555, 777. In this case, elements would be inserted based on the FIFO principle; therefore, 444 will be added first, then 555, and then 777.</a:t>
            </a:r>
            <a:endParaRPr/>
          </a:p>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Step 4:</a:t>
            </a:r>
            <a:r>
              <a:rPr b="0" i="0" lang="en-US" sz="2000" u="none" cap="none" strike="noStrike">
                <a:solidFill>
                  <a:srgbClr val="000000"/>
                </a:solidFill>
                <a:latin typeface="Arial"/>
                <a:ea typeface="Arial"/>
                <a:cs typeface="Arial"/>
                <a:sym typeface="Arial"/>
              </a:rPr>
              <a:t> After inserting the elements of priority 4, the next higher priority number is 5, and the value associated with priority 5 is 666, so it will be inserted at the end of the queue.</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113" name="Google Shape;113;p8"/>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14" name="Google Shape;114;p8"/>
          <p:cNvPicPr preferRelativeResize="0"/>
          <p:nvPr/>
        </p:nvPicPr>
        <p:blipFill rotWithShape="1">
          <a:blip r:embed="rId4">
            <a:alphaModFix/>
          </a:blip>
          <a:srcRect b="0" l="0" r="0" t="0"/>
          <a:stretch/>
        </p:blipFill>
        <p:spPr>
          <a:xfrm>
            <a:off x="990600" y="2209800"/>
            <a:ext cx="10220325" cy="2524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03030"/>
              </a:buClr>
              <a:buSzPts val="4400"/>
              <a:buNone/>
            </a:pPr>
            <a:r>
              <a:rPr lang="en-US"/>
              <a:t>Implementation of Priority Queue</a:t>
            </a:r>
            <a:br>
              <a:rPr lang="en-US"/>
            </a:br>
            <a:endParaRPr/>
          </a:p>
        </p:txBody>
      </p:sp>
      <p:pic>
        <p:nvPicPr>
          <p:cNvPr id="120" name="Google Shape;120;p9"/>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21" name="Google Shape;121;p9"/>
          <p:cNvSpPr/>
          <p:nvPr/>
        </p:nvSpPr>
        <p:spPr>
          <a:xfrm>
            <a:off x="838200" y="2057401"/>
            <a:ext cx="10591800" cy="255454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 priority queue can be implemented in four ways that include arrays, linked list, heap data structure and binary search tree.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 heap data structure is the most efficient way of implementing the priority queue, so we will implement the priority queue using a heap data structure in this topic.</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 Now, first we understand the reason why heap is the most efficient way among all the other data structures.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br>
              <a:rPr b="1" lang="en-US"/>
            </a:br>
            <a:br>
              <a:rPr b="1" lang="en-US"/>
            </a:br>
            <a:r>
              <a:rPr b="1" lang="en-US"/>
              <a:t>Analysis of complexities using different implementations</a:t>
            </a:r>
            <a:br>
              <a:rPr lang="en-US"/>
            </a:br>
            <a:br>
              <a:rPr lang="en-US"/>
            </a:br>
            <a:endParaRPr/>
          </a:p>
        </p:txBody>
      </p:sp>
      <p:pic>
        <p:nvPicPr>
          <p:cNvPr id="127" name="Google Shape;127;p10"/>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28" name="Google Shape;128;p10"/>
          <p:cNvPicPr preferRelativeResize="0"/>
          <p:nvPr/>
        </p:nvPicPr>
        <p:blipFill rotWithShape="1">
          <a:blip r:embed="rId4">
            <a:alphaModFix/>
          </a:blip>
          <a:srcRect b="0" l="0" r="0" t="0"/>
          <a:stretch/>
        </p:blipFill>
        <p:spPr>
          <a:xfrm>
            <a:off x="762000" y="1752600"/>
            <a:ext cx="10125075" cy="2181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03030"/>
              </a:buClr>
              <a:buSzPts val="4400"/>
              <a:buNone/>
            </a:pPr>
            <a:r>
              <a:rPr lang="en-US"/>
              <a:t>What is Heap?</a:t>
            </a:r>
            <a:br>
              <a:rPr lang="en-US"/>
            </a:br>
            <a:endParaRPr/>
          </a:p>
        </p:txBody>
      </p:sp>
      <p:pic>
        <p:nvPicPr>
          <p:cNvPr id="134" name="Google Shape;134;p11"/>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35" name="Google Shape;135;p11"/>
          <p:cNvSpPr/>
          <p:nvPr/>
        </p:nvSpPr>
        <p:spPr>
          <a:xfrm>
            <a:off x="990600" y="1447800"/>
            <a:ext cx="10363200" cy="49244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 heap is a tree-based data structure that forms a complete binary tree, and satisfies the heap property.</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 If A is a parent node of B, then A is ordered with respect to the node B for all nodes A and B in a heap.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means that the value of the parent node could be more than or equal to the value of the child node, or the value of the parent node could be less than or equal to the value of the child node.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Therefore, we can say that there are two types of heaps:</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Max heap:</a:t>
            </a:r>
            <a:r>
              <a:rPr b="0" i="0" lang="en-US" sz="2000" u="none" cap="none" strike="noStrike">
                <a:solidFill>
                  <a:srgbClr val="000000"/>
                </a:solidFill>
                <a:latin typeface="Arial"/>
                <a:ea typeface="Arial"/>
                <a:cs typeface="Arial"/>
                <a:sym typeface="Arial"/>
              </a:rPr>
              <a:t> The max heap is a heap in which the value of the parent node is greater than the value of the child nodes. </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Min heap:</a:t>
            </a:r>
            <a:r>
              <a:rPr b="0" i="0" lang="en-US" sz="2000" u="none" cap="none" strike="noStrike">
                <a:solidFill>
                  <a:srgbClr val="000000"/>
                </a:solidFill>
                <a:latin typeface="Arial"/>
                <a:ea typeface="Arial"/>
                <a:cs typeface="Arial"/>
                <a:sym typeface="Arial"/>
              </a:rPr>
              <a:t> The min heap is a heap in which the value of the parent node is less than the value of the child nodes. </a:t>
            </a: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Maxheap</a:t>
            </a:r>
            <a:endParaRPr/>
          </a:p>
        </p:txBody>
      </p:sp>
      <p:pic>
        <p:nvPicPr>
          <p:cNvPr id="141" name="Google Shape;141;p12"/>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42" name="Google Shape;142;p12"/>
          <p:cNvPicPr preferRelativeResize="0"/>
          <p:nvPr/>
        </p:nvPicPr>
        <p:blipFill rotWithShape="1">
          <a:blip r:embed="rId4">
            <a:alphaModFix/>
          </a:blip>
          <a:srcRect b="0" l="0" r="0" t="0"/>
          <a:stretch/>
        </p:blipFill>
        <p:spPr>
          <a:xfrm>
            <a:off x="2590800" y="1905000"/>
            <a:ext cx="6934200" cy="4257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Minheap</a:t>
            </a:r>
            <a:endParaRPr/>
          </a:p>
        </p:txBody>
      </p:sp>
      <p:pic>
        <p:nvPicPr>
          <p:cNvPr id="148" name="Google Shape;148;p13"/>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49" name="Google Shape;149;p13"/>
          <p:cNvPicPr preferRelativeResize="0"/>
          <p:nvPr/>
        </p:nvPicPr>
        <p:blipFill rotWithShape="1">
          <a:blip r:embed="rId4">
            <a:alphaModFix/>
          </a:blip>
          <a:srcRect b="0" l="0" r="0" t="0"/>
          <a:stretch/>
        </p:blipFill>
        <p:spPr>
          <a:xfrm>
            <a:off x="2362200" y="1676400"/>
            <a:ext cx="6896100" cy="419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03030"/>
              </a:buClr>
              <a:buSzPts val="4400"/>
              <a:buNone/>
            </a:pPr>
            <a:r>
              <a:rPr lang="en-US"/>
              <a:t>Priority Queue Operations</a:t>
            </a:r>
            <a:br>
              <a:rPr lang="en-US"/>
            </a:br>
            <a:endParaRPr/>
          </a:p>
        </p:txBody>
      </p:sp>
      <p:pic>
        <p:nvPicPr>
          <p:cNvPr id="155" name="Google Shape;155;p14"/>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56" name="Google Shape;156;p14"/>
          <p:cNvSpPr/>
          <p:nvPr/>
        </p:nvSpPr>
        <p:spPr>
          <a:xfrm>
            <a:off x="914400" y="1524000"/>
            <a:ext cx="6096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common operations that we can perform on a priority queue are insertion, deletion and peek. Let's see how we can maintain the heap data structure.</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Inserting the element in a priority queue (max heap)</a:t>
            </a:r>
            <a:endParaRPr b="0" i="0" sz="1400" u="none" cap="none" strike="noStrike">
              <a:solidFill>
                <a:srgbClr val="000000"/>
              </a:solidFill>
              <a:latin typeface="Arial"/>
              <a:ea typeface="Arial"/>
              <a:cs typeface="Arial"/>
              <a:sym typeface="Arial"/>
            </a:endParaRPr>
          </a:p>
        </p:txBody>
      </p:sp>
      <p:sp>
        <p:nvSpPr>
          <p:cNvPr id="157" name="Google Shape;157;p14"/>
          <p:cNvSpPr/>
          <p:nvPr/>
        </p:nvSpPr>
        <p:spPr>
          <a:xfrm>
            <a:off x="990600" y="2590800"/>
            <a:ext cx="6096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If we insert an element in a priority queue, it will move to the empty slot by looking from top to bottom and left to right.</a:t>
            </a:r>
            <a:endParaRPr b="0" i="0" sz="1400" u="none" cap="none" strike="noStrike">
              <a:solidFill>
                <a:srgbClr val="000000"/>
              </a:solidFill>
              <a:latin typeface="Arial"/>
              <a:ea typeface="Arial"/>
              <a:cs typeface="Arial"/>
              <a:sym typeface="Arial"/>
            </a:endParaRPr>
          </a:p>
        </p:txBody>
      </p:sp>
      <p:sp>
        <p:nvSpPr>
          <p:cNvPr id="158" name="Google Shape;158;p14"/>
          <p:cNvSpPr/>
          <p:nvPr/>
        </p:nvSpPr>
        <p:spPr>
          <a:xfrm>
            <a:off x="1066800" y="3352800"/>
            <a:ext cx="6096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If the element is not in a correct place then it is compared with the parent node; if it is found out of order, elements are swapped. This process continues until the element is placed in a correct position.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164" name="Google Shape;164;p15"/>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65" name="Google Shape;165;p15"/>
          <p:cNvPicPr preferRelativeResize="0"/>
          <p:nvPr/>
        </p:nvPicPr>
        <p:blipFill rotWithShape="1">
          <a:blip r:embed="rId4">
            <a:alphaModFix/>
          </a:blip>
          <a:srcRect b="0" l="0" r="0" t="0"/>
          <a:stretch/>
        </p:blipFill>
        <p:spPr>
          <a:xfrm>
            <a:off x="304800" y="2286000"/>
            <a:ext cx="5291137" cy="3686175"/>
          </a:xfrm>
          <a:prstGeom prst="rect">
            <a:avLst/>
          </a:prstGeom>
          <a:noFill/>
          <a:ln>
            <a:noFill/>
          </a:ln>
        </p:spPr>
      </p:pic>
      <p:pic>
        <p:nvPicPr>
          <p:cNvPr id="166" name="Google Shape;166;p15"/>
          <p:cNvPicPr preferRelativeResize="0"/>
          <p:nvPr/>
        </p:nvPicPr>
        <p:blipFill rotWithShape="1">
          <a:blip r:embed="rId5">
            <a:alphaModFix/>
          </a:blip>
          <a:srcRect b="0" l="0" r="0" t="0"/>
          <a:stretch/>
        </p:blipFill>
        <p:spPr>
          <a:xfrm>
            <a:off x="6400800" y="2209800"/>
            <a:ext cx="4344099" cy="3590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172" name="Google Shape;172;p16"/>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73" name="Google Shape;173;p16"/>
          <p:cNvSpPr/>
          <p:nvPr/>
        </p:nvSpPr>
        <p:spPr>
          <a:xfrm>
            <a:off x="838200" y="2133600"/>
            <a:ext cx="10591800" cy="317009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Removing the minimum element from the priority queue</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As we know that in a max heap, the maximum element is the root node.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When we remove the root node, it creates an empty slot. The last inserted element will be added in this empty slot.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Then, this element is compared with the child nodes, i.e., left-child and right child, and swap with the smaller of the two. </a:t>
            </a:r>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keeps moving down the tree until the heap property is restored</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03030"/>
              </a:buClr>
              <a:buSzPts val="4400"/>
              <a:buNone/>
            </a:pPr>
            <a:r>
              <a:rPr lang="en-US"/>
              <a:t>Applications of Priority queue</a:t>
            </a:r>
            <a:br>
              <a:rPr lang="en-US"/>
            </a:br>
            <a:endParaRPr/>
          </a:p>
        </p:txBody>
      </p:sp>
      <p:pic>
        <p:nvPicPr>
          <p:cNvPr id="179" name="Google Shape;179;p17"/>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180" name="Google Shape;180;p17"/>
          <p:cNvSpPr/>
          <p:nvPr/>
        </p:nvSpPr>
        <p:spPr>
          <a:xfrm>
            <a:off x="1066800" y="1600200"/>
            <a:ext cx="9220200"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is used in the Dijkstra's shortest path algorithm.</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is used in prim's algorithm</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is used in data compression techniques like Huffman code.</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is used in heap sort.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It is also used in operating system like priority scheduling, load balancing and interrupt handling.</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Min Heap - Example </a:t>
            </a:r>
            <a:endParaRPr/>
          </a:p>
        </p:txBody>
      </p:sp>
      <p:pic>
        <p:nvPicPr>
          <p:cNvPr id="186" name="Google Shape;186;p18"/>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87" name="Google Shape;187;p18"/>
          <p:cNvPicPr preferRelativeResize="0"/>
          <p:nvPr/>
        </p:nvPicPr>
        <p:blipFill rotWithShape="1">
          <a:blip r:embed="rId4">
            <a:alphaModFix/>
          </a:blip>
          <a:srcRect b="0" l="0" r="0" t="0"/>
          <a:stretch/>
        </p:blipFill>
        <p:spPr>
          <a:xfrm>
            <a:off x="533400" y="1600200"/>
            <a:ext cx="10122017" cy="4410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Insert the value 5</a:t>
            </a:r>
            <a:endParaRPr/>
          </a:p>
        </p:txBody>
      </p:sp>
      <p:pic>
        <p:nvPicPr>
          <p:cNvPr id="193" name="Google Shape;193;p19"/>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194" name="Google Shape;194;p19"/>
          <p:cNvPicPr preferRelativeResize="0"/>
          <p:nvPr/>
        </p:nvPicPr>
        <p:blipFill rotWithShape="1">
          <a:blip r:embed="rId4">
            <a:alphaModFix/>
          </a:blip>
          <a:srcRect b="0" l="0" r="0" t="0"/>
          <a:stretch/>
        </p:blipFill>
        <p:spPr>
          <a:xfrm>
            <a:off x="1930400" y="1651000"/>
            <a:ext cx="8331200" cy="3556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200" name="Google Shape;200;p20"/>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201" name="Google Shape;201;p20"/>
          <p:cNvPicPr preferRelativeResize="0"/>
          <p:nvPr/>
        </p:nvPicPr>
        <p:blipFill rotWithShape="1">
          <a:blip r:embed="rId4">
            <a:alphaModFix/>
          </a:blip>
          <a:srcRect b="0" l="0" r="0" t="0"/>
          <a:stretch/>
        </p:blipFill>
        <p:spPr>
          <a:xfrm>
            <a:off x="1295400" y="1981200"/>
            <a:ext cx="8629650" cy="3594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Delete ‘5’</a:t>
            </a:r>
            <a:endParaRPr/>
          </a:p>
        </p:txBody>
      </p:sp>
      <p:pic>
        <p:nvPicPr>
          <p:cNvPr id="207" name="Google Shape;207;p21"/>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208" name="Google Shape;208;p21"/>
          <p:cNvPicPr preferRelativeResize="0"/>
          <p:nvPr/>
        </p:nvPicPr>
        <p:blipFill rotWithShape="1">
          <a:blip r:embed="rId4">
            <a:alphaModFix/>
          </a:blip>
          <a:srcRect b="0" l="0" r="0" t="0"/>
          <a:stretch/>
        </p:blipFill>
        <p:spPr>
          <a:xfrm>
            <a:off x="990600" y="1752600"/>
            <a:ext cx="8235950" cy="321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Program</a:t>
            </a:r>
            <a:endParaRPr/>
          </a:p>
        </p:txBody>
      </p:sp>
      <p:pic>
        <p:nvPicPr>
          <p:cNvPr id="214" name="Google Shape;214;p22"/>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15" name="Google Shape;215;p22"/>
          <p:cNvSpPr/>
          <p:nvPr/>
        </p:nvSpPr>
        <p:spPr>
          <a:xfrm>
            <a:off x="1066800" y="1600200"/>
            <a:ext cx="6096000" cy="4801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#include &lt;stdio.h&gt;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#include &lt;stdio.h&gt;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heap[40];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size=-1;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retrieving the parent node of the child node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parent(</a:t>
            </a: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i)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r>
              <a:rPr b="1" i="0" lang="en-US" sz="1800" u="none" cap="none" strike="noStrike">
                <a:solidFill>
                  <a:srgbClr val="000000"/>
                </a:solidFill>
                <a:latin typeface="Arial"/>
                <a:ea typeface="Arial"/>
                <a:cs typeface="Arial"/>
                <a:sym typeface="Arial"/>
              </a:rPr>
              <a:t>return</a:t>
            </a:r>
            <a:r>
              <a:rPr b="0" i="0" lang="en-US" sz="1800" u="none" cap="none" strike="noStrike">
                <a:solidFill>
                  <a:srgbClr val="000000"/>
                </a:solidFill>
                <a:latin typeface="Arial"/>
                <a:ea typeface="Arial"/>
                <a:cs typeface="Arial"/>
                <a:sym typeface="Arial"/>
              </a:rPr>
              <a:t> (i - 1) / 2;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retrieving the left child of the parent node.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left_child(</a:t>
            </a:r>
            <a:r>
              <a:rPr b="1" i="0" lang="en-US" sz="1800" u="none" cap="none" strike="noStrike">
                <a:solidFill>
                  <a:srgbClr val="000000"/>
                </a:solidFill>
                <a:latin typeface="Arial"/>
                <a:ea typeface="Arial"/>
                <a:cs typeface="Arial"/>
                <a:sym typeface="Arial"/>
              </a:rPr>
              <a:t>int</a:t>
            </a:r>
            <a:r>
              <a:rPr b="0" i="0" lang="en-US" sz="1800" u="none" cap="none" strike="noStrike">
                <a:solidFill>
                  <a:srgbClr val="000000"/>
                </a:solidFill>
                <a:latin typeface="Arial"/>
                <a:ea typeface="Arial"/>
                <a:cs typeface="Arial"/>
                <a:sym typeface="Arial"/>
              </a:rPr>
              <a:t> i)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r>
              <a:rPr b="1" i="0" lang="en-US" sz="1800" u="none" cap="none" strike="noStrike">
                <a:solidFill>
                  <a:srgbClr val="000000"/>
                </a:solidFill>
                <a:latin typeface="Arial"/>
                <a:ea typeface="Arial"/>
                <a:cs typeface="Arial"/>
                <a:sym typeface="Arial"/>
              </a:rPr>
              <a:t>return</a:t>
            </a:r>
            <a:r>
              <a:rPr b="0" i="0" lang="en-US" sz="1800" u="none" cap="none" strike="noStrike">
                <a:solidFill>
                  <a:srgbClr val="000000"/>
                </a:solidFill>
                <a:latin typeface="Arial"/>
                <a:ea typeface="Arial"/>
                <a:cs typeface="Arial"/>
                <a:sym typeface="Arial"/>
              </a:rPr>
              <a:t> i+1;   </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rPr lang="en-US"/>
              <a:t>Program</a:t>
            </a:r>
            <a:endParaRPr/>
          </a:p>
        </p:txBody>
      </p:sp>
      <p:pic>
        <p:nvPicPr>
          <p:cNvPr id="221" name="Google Shape;221;p23"/>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22" name="Google Shape;222;p23"/>
          <p:cNvSpPr/>
          <p:nvPr/>
        </p:nvSpPr>
        <p:spPr>
          <a:xfrm>
            <a:off x="1143000" y="1676400"/>
            <a:ext cx="6096000"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retrieving the right child of the parent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right_child(</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return</a:t>
            </a:r>
            <a:r>
              <a:rPr b="0" i="0" lang="en-US" sz="1400" u="none" cap="none" strike="noStrike">
                <a:solidFill>
                  <a:srgbClr val="000000"/>
                </a:solidFill>
                <a:latin typeface="Arial"/>
                <a:ea typeface="Arial"/>
                <a:cs typeface="Arial"/>
                <a:sym typeface="Arial"/>
              </a:rPr>
              <a:t> i+2;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Returning the element having the highest priority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get_Max()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return</a:t>
            </a:r>
            <a:r>
              <a:rPr b="0" i="0" lang="en-US" sz="1400" u="none" cap="none" strike="noStrike">
                <a:solidFill>
                  <a:srgbClr val="000000"/>
                </a:solidFill>
                <a:latin typeface="Arial"/>
                <a:ea typeface="Arial"/>
                <a:cs typeface="Arial"/>
                <a:sym typeface="Arial"/>
              </a:rPr>
              <a:t> heap[0];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//Returning the element having the minimum priority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get_Min()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return</a:t>
            </a:r>
            <a:r>
              <a:rPr b="0" i="0" lang="en-US" sz="1400" u="none" cap="none" strike="noStrike">
                <a:solidFill>
                  <a:srgbClr val="000000"/>
                </a:solidFill>
                <a:latin typeface="Arial"/>
                <a:ea typeface="Arial"/>
                <a:cs typeface="Arial"/>
                <a:sym typeface="Arial"/>
              </a:rPr>
              <a:t> heap[size];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228" name="Google Shape;228;p24"/>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29" name="Google Shape;229;p24"/>
          <p:cNvSpPr/>
          <p:nvPr/>
        </p:nvSpPr>
        <p:spPr>
          <a:xfrm>
            <a:off x="762000" y="1828800"/>
            <a:ext cx="60960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function to move the node up the tree in order to restore the heap property.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void</a:t>
            </a:r>
            <a:r>
              <a:rPr b="0" i="0" lang="en-US" sz="1400" u="none" cap="none" strike="noStrike">
                <a:solidFill>
                  <a:srgbClr val="000000"/>
                </a:solidFill>
                <a:latin typeface="Arial"/>
                <a:ea typeface="Arial"/>
                <a:cs typeface="Arial"/>
                <a:sym typeface="Arial"/>
              </a:rPr>
              <a:t> moveUp(</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while</a:t>
            </a:r>
            <a:r>
              <a:rPr b="0" i="0" lang="en-US" sz="1400" u="none" cap="none" strike="noStrike">
                <a:solidFill>
                  <a:srgbClr val="000000"/>
                </a:solidFill>
                <a:latin typeface="Arial"/>
                <a:ea typeface="Arial"/>
                <a:cs typeface="Arial"/>
                <a:sym typeface="Arial"/>
              </a:rPr>
              <a:t> (i &gt; 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swapping parent node with a child node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(heap[parent(i)] &lt; heap[i])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temp;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temp=heap[parent(i)];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heap[parent(i)]=heap[i];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heap[i]=temp;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updating the value of i to i/2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i=i/2;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5"/>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35" name="Google Shape;235;p25"/>
          <p:cNvSpPr/>
          <p:nvPr/>
        </p:nvSpPr>
        <p:spPr>
          <a:xfrm>
            <a:off x="1676400" y="304800"/>
            <a:ext cx="6096000" cy="63401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//function to move the node down the tree in order to restore the heap property.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void</a:t>
            </a:r>
            <a:r>
              <a:rPr b="0" i="0" lang="en-US" sz="1400" u="none" cap="none" strike="noStrike">
                <a:solidFill>
                  <a:srgbClr val="000000"/>
                </a:solidFill>
                <a:latin typeface="Arial"/>
                <a:ea typeface="Arial"/>
                <a:cs typeface="Arial"/>
                <a:sym typeface="Arial"/>
              </a:rPr>
              <a:t> moveDown(</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index = 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getting the location of the Left Child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left = left_child(k);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 (left &lt;= size &amp;&amp; heap[left] &gt; heap[index])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index = left;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getting the location of the Right Child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right = right_child(k);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 (right &lt;= size &amp;&amp; heap[right] &gt; heap[index])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index = right;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If k is not equal to index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 (k != index)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temp;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temp=heap[index];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heap[index]=heap[k];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heap[k]=temp;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moveDown(index);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rgbClr val="303030"/>
              </a:buClr>
              <a:buSzPts val="4400"/>
              <a:buFont typeface="Palatino Linotype"/>
              <a:buNone/>
            </a:pPr>
            <a:r>
              <a:t/>
            </a:r>
            <a:endParaRPr/>
          </a:p>
        </p:txBody>
      </p:sp>
      <p:pic>
        <p:nvPicPr>
          <p:cNvPr id="241" name="Google Shape;241;p26"/>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42" name="Google Shape;242;p26"/>
          <p:cNvSpPr/>
          <p:nvPr/>
        </p:nvSpPr>
        <p:spPr>
          <a:xfrm>
            <a:off x="838200" y="2057400"/>
            <a:ext cx="6096000"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Removing the element of maximum priority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void</a:t>
            </a:r>
            <a:r>
              <a:rPr b="0" i="0" lang="en-US" sz="1400" u="none" cap="none" strike="noStrike">
                <a:solidFill>
                  <a:srgbClr val="000000"/>
                </a:solidFill>
                <a:latin typeface="Arial"/>
                <a:ea typeface="Arial"/>
                <a:cs typeface="Arial"/>
                <a:sym typeface="Arial"/>
              </a:rPr>
              <a:t> removeMax()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r= heap[0];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heap[0]=heap[size];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size=size-1;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moveDown(0);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//inserting the element in a priority queue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void</a:t>
            </a:r>
            <a:r>
              <a:rPr b="0" i="0" lang="en-US" sz="1400" u="none" cap="none" strike="noStrike">
                <a:solidFill>
                  <a:srgbClr val="000000"/>
                </a:solidFill>
                <a:latin typeface="Arial"/>
                <a:ea typeface="Arial"/>
                <a:cs typeface="Arial"/>
                <a:sym typeface="Arial"/>
              </a:rPr>
              <a:t> insert(</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size = size + 1;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heap[size] = p;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move Up to maintain heap property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moveUp(size);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7"/>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48" name="Google Shape;248;p27"/>
          <p:cNvSpPr/>
          <p:nvPr/>
        </p:nvSpPr>
        <p:spPr>
          <a:xfrm>
            <a:off x="685800" y="685800"/>
            <a:ext cx="6096000" cy="54784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//Removing the element from the priority queue at a given index i.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void</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delete</a:t>
            </a:r>
            <a:r>
              <a:rPr b="0" i="0" lang="en-US" sz="1400" u="none" cap="none" strike="noStrike">
                <a:solidFill>
                  <a:srgbClr val="000000"/>
                </a:solidFill>
                <a:latin typeface="Arial"/>
                <a:ea typeface="Arial"/>
                <a:cs typeface="Arial"/>
                <a:sym typeface="Arial"/>
              </a:rPr>
              <a:t>(</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heap[i] = heap[0] + 1;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move the node stored at ith location is shifted to the root node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moveUp(i);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Removing the node having maximum priority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removeMax();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main()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Inserting the elements in a priority queue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insert(20);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insert(19);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insert(21);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insert(18);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insert(12);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insert(17);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insert(15);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insert(16);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insert(14);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i=0;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29"/>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54" name="Google Shape;254;p29"/>
          <p:cNvSpPr/>
          <p:nvPr/>
        </p:nvSpPr>
        <p:spPr>
          <a:xfrm>
            <a:off x="685800" y="609600"/>
            <a:ext cx="9067800" cy="41857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printf("Elements in a priority queue are :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for</a:t>
            </a:r>
            <a:r>
              <a:rPr b="0" i="0" lang="en-US" sz="1400" u="none" cap="none" strike="noStrike">
                <a:solidFill>
                  <a:srgbClr val="000000"/>
                </a:solidFill>
                <a:latin typeface="Arial"/>
                <a:ea typeface="Arial"/>
                <a:cs typeface="Arial"/>
                <a:sym typeface="Arial"/>
              </a:rPr>
              <a:t>(</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i=0;i&lt;=size;i++)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printf("%d ",heap[i]);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delete</a:t>
            </a:r>
            <a:r>
              <a:rPr b="0" i="0" lang="en-US" sz="1400" u="none" cap="none" strike="noStrike">
                <a:solidFill>
                  <a:srgbClr val="000000"/>
                </a:solidFill>
                <a:latin typeface="Arial"/>
                <a:ea typeface="Arial"/>
                <a:cs typeface="Arial"/>
                <a:sym typeface="Arial"/>
              </a:rPr>
              <a:t>(2); // deleting the element whose index is 2.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printf("\nElements in a priority queue after deleting the element are :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for</a:t>
            </a:r>
            <a:r>
              <a:rPr b="0" i="0" lang="en-US" sz="1400" u="none" cap="none" strike="noStrike">
                <a:solidFill>
                  <a:srgbClr val="000000"/>
                </a:solidFill>
                <a:latin typeface="Arial"/>
                <a:ea typeface="Arial"/>
                <a:cs typeface="Arial"/>
                <a:sym typeface="Arial"/>
              </a:rPr>
              <a:t>(</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i=0;i&lt;=size;i++)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printf("%d ",heap[i]);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max=get_Max();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printf("\nThe element which is having the highest priority is %d: ",max);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int</a:t>
            </a:r>
            <a:r>
              <a:rPr b="0" i="0" lang="en-US" sz="1400" u="none" cap="none" strike="noStrike">
                <a:solidFill>
                  <a:srgbClr val="000000"/>
                </a:solidFill>
                <a:latin typeface="Arial"/>
                <a:ea typeface="Arial"/>
                <a:cs typeface="Arial"/>
                <a:sym typeface="Arial"/>
              </a:rPr>
              <a:t> min=get_Min();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printf("\nThe element which is having the minimum priority is : %d",min);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return</a:t>
            </a:r>
            <a:r>
              <a:rPr b="0" i="0" lang="en-US" sz="1400" u="none" cap="none" strike="noStrike">
                <a:solidFill>
                  <a:srgbClr val="000000"/>
                </a:solidFill>
                <a:latin typeface="Arial"/>
                <a:ea typeface="Arial"/>
                <a:cs typeface="Arial"/>
                <a:sym typeface="Arial"/>
              </a:rPr>
              <a:t> 0;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1"/>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sp>
        <p:nvSpPr>
          <p:cNvPr id="260" name="Google Shape;260;p31"/>
          <p:cNvSpPr/>
          <p:nvPr/>
        </p:nvSpPr>
        <p:spPr>
          <a:xfrm>
            <a:off x="762000" y="990600"/>
            <a:ext cx="9753600" cy="35394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int parent(int i):</a:t>
            </a:r>
            <a:r>
              <a:rPr b="0" i="0" lang="en-US" sz="1600" u="none" cap="none" strike="noStrike">
                <a:solidFill>
                  <a:srgbClr val="000000"/>
                </a:solidFill>
                <a:latin typeface="Arial"/>
                <a:ea typeface="Arial"/>
                <a:cs typeface="Arial"/>
                <a:sym typeface="Arial"/>
              </a:rPr>
              <a:t> This function returns the index of the parent node of a child node, i.e., i.</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int left_child(int i):</a:t>
            </a:r>
            <a:r>
              <a:rPr b="0" i="0" lang="en-US" sz="1600" u="none" cap="none" strike="noStrike">
                <a:solidFill>
                  <a:srgbClr val="000000"/>
                </a:solidFill>
                <a:latin typeface="Arial"/>
                <a:ea typeface="Arial"/>
                <a:cs typeface="Arial"/>
                <a:sym typeface="Arial"/>
              </a:rPr>
              <a:t> This function returns the index of the left child of a given index, i.e., i.</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int right_child(int i):</a:t>
            </a:r>
            <a:r>
              <a:rPr b="0" i="0" lang="en-US" sz="1600" u="none" cap="none" strike="noStrike">
                <a:solidFill>
                  <a:srgbClr val="000000"/>
                </a:solidFill>
                <a:latin typeface="Arial"/>
                <a:ea typeface="Arial"/>
                <a:cs typeface="Arial"/>
                <a:sym typeface="Arial"/>
              </a:rPr>
              <a:t> This function returns the index of the right child of a given index, i.e., i.</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void moveUp(int i):</a:t>
            </a:r>
            <a:r>
              <a:rPr b="0" i="0" lang="en-US" sz="1600" u="none" cap="none" strike="noStrike">
                <a:solidFill>
                  <a:srgbClr val="000000"/>
                </a:solidFill>
                <a:latin typeface="Arial"/>
                <a:ea typeface="Arial"/>
                <a:cs typeface="Arial"/>
                <a:sym typeface="Arial"/>
              </a:rPr>
              <a:t> This function will keep moving the node up the tree until the heap property is restored.</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void moveDown(int i):</a:t>
            </a:r>
            <a:r>
              <a:rPr b="0" i="0" lang="en-US" sz="1600" u="none" cap="none" strike="noStrike">
                <a:solidFill>
                  <a:srgbClr val="000000"/>
                </a:solidFill>
                <a:latin typeface="Arial"/>
                <a:ea typeface="Arial"/>
                <a:cs typeface="Arial"/>
                <a:sym typeface="Arial"/>
              </a:rPr>
              <a:t> This function will keep moving the node down the tree until the heap property is restored.</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void removeMax():</a:t>
            </a:r>
            <a:r>
              <a:rPr b="0" i="0" lang="en-US" sz="1600" u="none" cap="none" strike="noStrike">
                <a:solidFill>
                  <a:srgbClr val="000000"/>
                </a:solidFill>
                <a:latin typeface="Arial"/>
                <a:ea typeface="Arial"/>
                <a:cs typeface="Arial"/>
                <a:sym typeface="Arial"/>
              </a:rPr>
              <a:t> This function removes the element which is having the highest priority.</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void insert(int p):</a:t>
            </a:r>
            <a:r>
              <a:rPr b="0" i="0" lang="en-US" sz="1600" u="none" cap="none" strike="noStrike">
                <a:solidFill>
                  <a:srgbClr val="000000"/>
                </a:solidFill>
                <a:latin typeface="Arial"/>
                <a:ea typeface="Arial"/>
                <a:cs typeface="Arial"/>
                <a:sym typeface="Arial"/>
              </a:rPr>
              <a:t> It inserts the element in a priority queue which is passed as an argument in a function</a:t>
            </a:r>
            <a:r>
              <a:rPr b="1" i="0" lang="en-US"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void delete(int i):</a:t>
            </a:r>
            <a:r>
              <a:rPr b="0" i="0" lang="en-US" sz="1600" u="none" cap="none" strike="noStrike">
                <a:solidFill>
                  <a:srgbClr val="000000"/>
                </a:solidFill>
                <a:latin typeface="Arial"/>
                <a:ea typeface="Arial"/>
                <a:cs typeface="Arial"/>
                <a:sym typeface="Arial"/>
              </a:rPr>
              <a:t> It deletes the element from a priority queue at a given index.</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int get_Max():</a:t>
            </a:r>
            <a:r>
              <a:rPr b="0" i="0" lang="en-US" sz="1600" u="none" cap="none" strike="noStrike">
                <a:solidFill>
                  <a:srgbClr val="000000"/>
                </a:solidFill>
                <a:latin typeface="Arial"/>
                <a:ea typeface="Arial"/>
                <a:cs typeface="Arial"/>
                <a:sym typeface="Arial"/>
              </a:rPr>
              <a:t> It returns the element which is having the highest priority, and we know that in max heap, the root node contains the element which has the largest value, and highest priority.</a:t>
            </a:r>
            <a:endParaRPr/>
          </a:p>
          <a:p>
            <a:pPr indent="0" lvl="0" marL="0" marR="0" rtl="0" algn="just">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int get_Min():</a:t>
            </a:r>
            <a:r>
              <a:rPr b="0" i="0" lang="en-US" sz="1600" u="none" cap="none" strike="noStrike">
                <a:solidFill>
                  <a:srgbClr val="000000"/>
                </a:solidFill>
                <a:latin typeface="Arial"/>
                <a:ea typeface="Arial"/>
                <a:cs typeface="Arial"/>
                <a:sym typeface="Arial"/>
              </a:rPr>
              <a:t> It returns the element which is having the minimum priority, and we know that in max heap, the last node contains the element which has the smallest value, and lowest priority.</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2"/>
          <p:cNvPicPr preferRelativeResize="0"/>
          <p:nvPr/>
        </p:nvPicPr>
        <p:blipFill rotWithShape="1">
          <a:blip r:embed="rId3">
            <a:alphaModFix/>
          </a:blip>
          <a:srcRect b="0" l="0" r="0" t="0"/>
          <a:stretch/>
        </p:blipFill>
        <p:spPr>
          <a:xfrm>
            <a:off x="10067925" y="0"/>
            <a:ext cx="2124075" cy="914400"/>
          </a:xfrm>
          <a:prstGeom prst="rect">
            <a:avLst/>
          </a:prstGeom>
          <a:noFill/>
          <a:ln>
            <a:noFill/>
          </a:ln>
        </p:spPr>
      </p:pic>
      <p:pic>
        <p:nvPicPr>
          <p:cNvPr id="266" name="Google Shape;266;p32"/>
          <p:cNvPicPr preferRelativeResize="0"/>
          <p:nvPr/>
        </p:nvPicPr>
        <p:blipFill rotWithShape="1">
          <a:blip r:embed="rId4">
            <a:alphaModFix/>
          </a:blip>
          <a:srcRect b="0" l="0" r="0" t="0"/>
          <a:stretch/>
        </p:blipFill>
        <p:spPr>
          <a:xfrm>
            <a:off x="838200" y="838200"/>
            <a:ext cx="7296150" cy="3057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VTECH</dc:creator>
</cp:coreProperties>
</file>