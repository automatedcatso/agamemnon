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932">
          <p15:clr>
            <a:srgbClr val="000000"/>
          </p15:clr>
        </p15:guide>
      </p15:sldGuideLst>
    </p:ext>
    <p:ext uri="GoogleSlidesCustomDataVersion2">
      <go:slidesCustomData xmlns:go="http://customooxmlschemas.google.com/" r:id="rId27" roundtripDataSignature="AMtx7mj8eFzvtNAiTww3378MQ1eRg4WR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3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4" name="Google Shape;9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1" name="Google Shape;10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9" name="Google Shape;1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6" name="Google Shape;13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3" name="Google Shape;14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9" name="Google Shape;14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5" name="Google Shape;15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1" name="Google Shape;16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7" name="Google Shape;16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3" name="Google Shape;17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9" name="Google Shape;17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5" name="Google Shape;18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1" name="Google Shape;1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7" name="Google Shape;19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4" name="Google Shape;20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10" name="Google Shape;21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16" name="Google Shape;21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p:nvPr>
            <p:ph idx="2" type="pic"/>
          </p:nvPr>
        </p:nvSpPr>
        <p:spPr>
          <a:xfrm>
            <a:off x="1792288" y="612775"/>
            <a:ext cx="5486400" cy="4114800"/>
          </a:xfrm>
          <a:prstGeom prst="rect">
            <a:avLst/>
          </a:prstGeom>
          <a:noFill/>
          <a:ln>
            <a:noFill/>
          </a:ln>
        </p:spPr>
      </p:sp>
      <p:sp>
        <p:nvSpPr>
          <p:cNvPr id="30" name="Google Shape;30;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1" name="Google Shape;3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2" name="Google Shape;52;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3" name="Google Shape;53;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9" name="Google Shape;59;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0" name="Google Shape;60;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1" name="Google Shape;61;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2" name="Google Shape;6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8" name="Google Shape;68;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290830" y="0"/>
            <a:ext cx="8853170" cy="6794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IN" sz="3600"/>
              <a:t>21CSC201J_Data Structures And Algorithms</a:t>
            </a:r>
            <a:endParaRPr sz="3600"/>
          </a:p>
        </p:txBody>
      </p:sp>
      <p:pic>
        <p:nvPicPr>
          <p:cNvPr id="89" name="Google Shape;89;p1"/>
          <p:cNvPicPr preferRelativeResize="0"/>
          <p:nvPr/>
        </p:nvPicPr>
        <p:blipFill rotWithShape="1">
          <a:blip r:embed="rId3">
            <a:alphaModFix/>
          </a:blip>
          <a:srcRect b="0" l="0" r="0" t="0"/>
          <a:stretch/>
        </p:blipFill>
        <p:spPr>
          <a:xfrm>
            <a:off x="633730" y="3502025"/>
            <a:ext cx="4272915" cy="2778760"/>
          </a:xfrm>
          <a:prstGeom prst="rect">
            <a:avLst/>
          </a:prstGeom>
          <a:noFill/>
          <a:ln cap="flat" cmpd="sng" w="28575">
            <a:solidFill>
              <a:srgbClr val="FF0000"/>
            </a:solidFill>
            <a:prstDash val="solid"/>
            <a:round/>
            <a:headEnd len="sm" w="sm" type="none"/>
            <a:tailEnd len="sm" w="sm" type="none"/>
          </a:ln>
        </p:spPr>
      </p:pic>
      <p:pic>
        <p:nvPicPr>
          <p:cNvPr id="90" name="Google Shape;90;p1"/>
          <p:cNvPicPr preferRelativeResize="0"/>
          <p:nvPr/>
        </p:nvPicPr>
        <p:blipFill rotWithShape="1">
          <a:blip r:embed="rId4">
            <a:alphaModFix/>
          </a:blip>
          <a:srcRect b="0" l="0" r="0" t="0"/>
          <a:stretch/>
        </p:blipFill>
        <p:spPr>
          <a:xfrm>
            <a:off x="2035810" y="1208405"/>
            <a:ext cx="5072380" cy="1653540"/>
          </a:xfrm>
          <a:prstGeom prst="rect">
            <a:avLst/>
          </a:prstGeom>
          <a:noFill/>
          <a:ln cap="flat" cmpd="sng" w="28575">
            <a:solidFill>
              <a:srgbClr val="FF0000"/>
            </a:solidFill>
            <a:prstDash val="solid"/>
            <a:round/>
            <a:headEnd len="sm" w="sm" type="none"/>
            <a:tailEnd len="sm" w="sm" type="none"/>
          </a:ln>
        </p:spPr>
      </p:pic>
      <p:pic>
        <p:nvPicPr>
          <p:cNvPr id="91" name="Google Shape;91;p1"/>
          <p:cNvPicPr preferRelativeResize="0"/>
          <p:nvPr/>
        </p:nvPicPr>
        <p:blipFill rotWithShape="1">
          <a:blip r:embed="rId5">
            <a:alphaModFix/>
          </a:blip>
          <a:srcRect b="0" l="0" r="0" t="0"/>
          <a:stretch/>
        </p:blipFill>
        <p:spPr>
          <a:xfrm>
            <a:off x="5254625" y="3502660"/>
            <a:ext cx="3618865" cy="2778125"/>
          </a:xfrm>
          <a:prstGeom prst="rect">
            <a:avLst/>
          </a:prstGeom>
          <a:noFill/>
          <a:ln cap="flat" cmpd="sng" w="28575">
            <a:solidFill>
              <a:srgbClr val="FF0000"/>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 type="body"/>
          </p:nvPr>
        </p:nvSpPr>
        <p:spPr>
          <a:xfrm>
            <a:off x="457200" y="1226820"/>
            <a:ext cx="8229600" cy="2320925"/>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3200"/>
              <a:buChar char="•"/>
            </a:pPr>
            <a:r>
              <a:rPr lang="en-IN" sz="2400"/>
              <a:t>A queue is a data structure that models/enforces the </a:t>
            </a:r>
            <a:r>
              <a:rPr b="1" lang="en-IN" sz="2400"/>
              <a:t>first-come first-serve</a:t>
            </a:r>
            <a:r>
              <a:rPr lang="en-IN" sz="2400"/>
              <a:t> order, or equivalently the </a:t>
            </a:r>
            <a:r>
              <a:rPr b="1" lang="en-IN" sz="2400"/>
              <a:t>first-in first-out</a:t>
            </a:r>
            <a:r>
              <a:rPr lang="en-IN" sz="2400"/>
              <a:t> (FIFO) order.</a:t>
            </a:r>
            <a:endParaRPr sz="2400"/>
          </a:p>
          <a:p>
            <a:pPr indent="-342900" lvl="0" marL="342900" rtl="0" algn="just">
              <a:lnSpc>
                <a:spcPct val="80000"/>
              </a:lnSpc>
              <a:spcBef>
                <a:spcPts val="640"/>
              </a:spcBef>
              <a:spcAft>
                <a:spcPts val="0"/>
              </a:spcAft>
              <a:buClr>
                <a:schemeClr val="dk1"/>
              </a:buClr>
              <a:buSzPts val="3200"/>
              <a:buNone/>
            </a:pPr>
            <a:r>
              <a:t/>
            </a:r>
            <a:endParaRPr sz="2400"/>
          </a:p>
          <a:p>
            <a:pPr indent="-342900" lvl="0" marL="342900" rtl="0" algn="just">
              <a:lnSpc>
                <a:spcPct val="90000"/>
              </a:lnSpc>
              <a:spcBef>
                <a:spcPts val="640"/>
              </a:spcBef>
              <a:spcAft>
                <a:spcPts val="0"/>
              </a:spcAft>
              <a:buClr>
                <a:schemeClr val="dk1"/>
              </a:buClr>
              <a:buSzPts val="3200"/>
              <a:buChar char="•"/>
            </a:pPr>
            <a:r>
              <a:rPr lang="en-IN" sz="2400"/>
              <a:t>A waiting line is a good real-life example of a queue. (In fact, the British word for “line” is “queue”.)</a:t>
            </a:r>
            <a:endParaRPr sz="2400"/>
          </a:p>
          <a:p>
            <a:pPr indent="-342900" lvl="0" marL="342900" rtl="0" algn="just">
              <a:lnSpc>
                <a:spcPct val="90000"/>
              </a:lnSpc>
              <a:spcBef>
                <a:spcPts val="640"/>
              </a:spcBef>
              <a:spcAft>
                <a:spcPts val="0"/>
              </a:spcAft>
              <a:buClr>
                <a:schemeClr val="dk1"/>
              </a:buClr>
              <a:buSzPts val="3200"/>
              <a:buNone/>
            </a:pPr>
            <a:r>
              <a:t/>
            </a:r>
            <a:endParaRPr sz="2400"/>
          </a:p>
        </p:txBody>
      </p:sp>
      <p:pic>
        <p:nvPicPr>
          <p:cNvPr descr="download (1).jpg" id="97" name="Google Shape;97;p2"/>
          <p:cNvPicPr preferRelativeResize="0"/>
          <p:nvPr/>
        </p:nvPicPr>
        <p:blipFill rotWithShape="1">
          <a:blip r:embed="rId3">
            <a:alphaModFix/>
          </a:blip>
          <a:srcRect b="0" l="0" r="0" t="0"/>
          <a:stretch/>
        </p:blipFill>
        <p:spPr>
          <a:xfrm>
            <a:off x="266700" y="3547745"/>
            <a:ext cx="8686800" cy="3096260"/>
          </a:xfrm>
          <a:prstGeom prst="rect">
            <a:avLst/>
          </a:prstGeom>
          <a:noFill/>
          <a:ln>
            <a:noFill/>
          </a:ln>
        </p:spPr>
      </p:pic>
      <p:sp>
        <p:nvSpPr>
          <p:cNvPr id="98" name="Google Shape;98;p2"/>
          <p:cNvSpPr/>
          <p:nvPr/>
        </p:nvSpPr>
        <p:spPr>
          <a:xfrm>
            <a:off x="2247900" y="73660"/>
            <a:ext cx="4648200" cy="767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IN" sz="4400" u="none" cap="none" strike="noStrike">
                <a:solidFill>
                  <a:schemeClr val="dk1"/>
                </a:solidFill>
                <a:latin typeface="Calibri"/>
                <a:ea typeface="Calibri"/>
                <a:cs typeface="Calibri"/>
                <a:sym typeface="Calibri"/>
              </a:rPr>
              <a:t>QUEUES</a:t>
            </a:r>
            <a:endParaRPr b="0" i="0" sz="4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382905" y="-3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t>DEQUES (Double Ended Queue)</a:t>
            </a:r>
            <a:endParaRPr/>
          </a:p>
        </p:txBody>
      </p:sp>
      <p:sp>
        <p:nvSpPr>
          <p:cNvPr id="104" name="Google Shape;104;p3"/>
          <p:cNvSpPr txBox="1"/>
          <p:nvPr>
            <p:ph idx="1" type="body"/>
          </p:nvPr>
        </p:nvSpPr>
        <p:spPr>
          <a:xfrm>
            <a:off x="457200" y="994410"/>
            <a:ext cx="8229600" cy="51130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IN" sz="2400"/>
              <a:t>Elements can be added or removed at either ends.</a:t>
            </a:r>
            <a:endParaRPr sz="2400"/>
          </a:p>
          <a:p>
            <a:pPr indent="-342900" lvl="0" marL="342900" rtl="0" algn="just">
              <a:lnSpc>
                <a:spcPct val="100000"/>
              </a:lnSpc>
              <a:spcBef>
                <a:spcPts val="0"/>
              </a:spcBef>
              <a:spcAft>
                <a:spcPts val="0"/>
              </a:spcAft>
              <a:buClr>
                <a:schemeClr val="dk1"/>
              </a:buClr>
              <a:buSzPts val="3200"/>
              <a:buChar char="•"/>
            </a:pPr>
            <a:r>
              <a:rPr lang="en-IN" sz="2400"/>
              <a:t>It is a generalized version of the linear queue in which both the insertion and deletion can be performed at both the ends.</a:t>
            </a:r>
            <a:endParaRPr sz="2400"/>
          </a:p>
          <a:p>
            <a:pPr indent="-139700" lvl="0" marL="342900" rtl="0" algn="just">
              <a:lnSpc>
                <a:spcPct val="100000"/>
              </a:lnSpc>
              <a:spcBef>
                <a:spcPts val="0"/>
              </a:spcBef>
              <a:spcAft>
                <a:spcPts val="0"/>
              </a:spcAft>
              <a:buClr>
                <a:schemeClr val="dk1"/>
              </a:buClr>
              <a:buSzPts val="3200"/>
              <a:buNone/>
            </a:pPr>
            <a:r>
              <a:t/>
            </a:r>
            <a:endParaRPr sz="2400"/>
          </a:p>
        </p:txBody>
      </p:sp>
      <p:pic>
        <p:nvPicPr>
          <p:cNvPr id="105" name="Google Shape;105;p3"/>
          <p:cNvPicPr preferRelativeResize="0"/>
          <p:nvPr/>
        </p:nvPicPr>
        <p:blipFill rotWithShape="1">
          <a:blip r:embed="rId3">
            <a:alphaModFix/>
          </a:blip>
          <a:srcRect b="0" l="0" r="0" t="0"/>
          <a:stretch/>
        </p:blipFill>
        <p:spPr>
          <a:xfrm>
            <a:off x="1990090" y="2677160"/>
            <a:ext cx="5609590" cy="1568450"/>
          </a:xfrm>
          <a:prstGeom prst="rect">
            <a:avLst/>
          </a:prstGeom>
          <a:noFill/>
          <a:ln cap="flat" cmpd="sng" w="28575">
            <a:solidFill>
              <a:srgbClr val="FF0000"/>
            </a:solidFill>
            <a:prstDash val="solid"/>
            <a:round/>
            <a:headEnd len="sm" w="sm" type="none"/>
            <a:tailEnd len="sm" w="sm" type="none"/>
          </a:ln>
        </p:spPr>
      </p:pic>
      <p:pic>
        <p:nvPicPr>
          <p:cNvPr descr="C:\Users\dwharder\Desktop\deq.png" id="106" name="Google Shape;106;p3"/>
          <p:cNvPicPr preferRelativeResize="0"/>
          <p:nvPr/>
        </p:nvPicPr>
        <p:blipFill rotWithShape="1">
          <a:blip r:embed="rId4">
            <a:alphaModFix/>
          </a:blip>
          <a:srcRect b="0" l="0" r="0" t="0"/>
          <a:stretch/>
        </p:blipFill>
        <p:spPr>
          <a:xfrm>
            <a:off x="2047240" y="4521835"/>
            <a:ext cx="5749290" cy="1216660"/>
          </a:xfrm>
          <a:prstGeom prst="rect">
            <a:avLst/>
          </a:prstGeom>
          <a:noFill/>
          <a:ln cap="flat" cmpd="sng" w="28575">
            <a:solidFill>
              <a:srgbClr val="FF0000"/>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1409700" y="0"/>
            <a:ext cx="6492240" cy="56705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000"/>
              <a:buNone/>
            </a:pPr>
            <a:r>
              <a:rPr lang="en-IN" sz="3200"/>
              <a:t>Properties of Deque</a:t>
            </a:r>
            <a:endParaRPr sz="3200"/>
          </a:p>
        </p:txBody>
      </p:sp>
      <p:sp>
        <p:nvSpPr>
          <p:cNvPr id="112" name="Google Shape;112;p4"/>
          <p:cNvSpPr txBox="1"/>
          <p:nvPr>
            <p:ph idx="1" type="body"/>
          </p:nvPr>
        </p:nvSpPr>
        <p:spPr>
          <a:xfrm>
            <a:off x="629920" y="857250"/>
            <a:ext cx="8223885" cy="5761355"/>
          </a:xfrm>
          <a:prstGeom prst="rect">
            <a:avLst/>
          </a:prstGeom>
          <a:noFill/>
          <a:ln>
            <a:noFill/>
          </a:ln>
        </p:spPr>
        <p:txBody>
          <a:bodyPr anchorCtr="0" anchor="t" bIns="45700" lIns="91425" spcFirstLastPara="1" rIns="91425" wrap="square" tIns="45700">
            <a:normAutofit/>
          </a:bodyPr>
          <a:lstStyle/>
          <a:p>
            <a:pPr indent="-285750" lvl="0" marL="514350" rtl="0" algn="l">
              <a:lnSpc>
                <a:spcPct val="100000"/>
              </a:lnSpc>
              <a:spcBef>
                <a:spcPts val="280"/>
              </a:spcBef>
              <a:spcAft>
                <a:spcPts val="0"/>
              </a:spcAft>
              <a:buSzPts val="1400"/>
              <a:buFont typeface="Arial"/>
              <a:buChar char="•"/>
            </a:pPr>
            <a:r>
              <a:rPr lang="en-IN" sz="2400"/>
              <a:t>A Deque can perform both the Insertion and Deletion based on the Last in First Out (LIFO) principle.</a:t>
            </a:r>
            <a:endParaRPr sz="2400"/>
          </a:p>
        </p:txBody>
      </p:sp>
      <p:pic>
        <p:nvPicPr>
          <p:cNvPr id="113" name="Google Shape;113;p4"/>
          <p:cNvPicPr preferRelativeResize="0"/>
          <p:nvPr>
            <p:ph idx="2" type="pic"/>
          </p:nvPr>
        </p:nvPicPr>
        <p:blipFill rotWithShape="1">
          <a:blip r:embed="rId3">
            <a:alphaModFix/>
          </a:blip>
          <a:srcRect b="0" l="0" r="0" t="0"/>
          <a:stretch/>
        </p:blipFill>
        <p:spPr>
          <a:xfrm>
            <a:off x="2071370" y="2389505"/>
            <a:ext cx="5949315" cy="2828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1409700" y="0"/>
            <a:ext cx="6492240" cy="56705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000"/>
              <a:buNone/>
            </a:pPr>
            <a:r>
              <a:rPr lang="en-IN" sz="3200"/>
              <a:t>Properties of Deque</a:t>
            </a:r>
            <a:endParaRPr sz="3200"/>
          </a:p>
        </p:txBody>
      </p:sp>
      <p:sp>
        <p:nvSpPr>
          <p:cNvPr id="119" name="Google Shape;119;p5"/>
          <p:cNvSpPr txBox="1"/>
          <p:nvPr>
            <p:ph idx="1" type="body"/>
          </p:nvPr>
        </p:nvSpPr>
        <p:spPr>
          <a:xfrm>
            <a:off x="629920" y="857250"/>
            <a:ext cx="8223885" cy="5761355"/>
          </a:xfrm>
          <a:prstGeom prst="rect">
            <a:avLst/>
          </a:prstGeom>
          <a:noFill/>
          <a:ln>
            <a:noFill/>
          </a:ln>
        </p:spPr>
        <p:txBody>
          <a:bodyPr anchorCtr="0" anchor="t" bIns="45700" lIns="91425" spcFirstLastPara="1" rIns="91425" wrap="square" tIns="45700">
            <a:normAutofit/>
          </a:bodyPr>
          <a:lstStyle/>
          <a:p>
            <a:pPr indent="-285750" lvl="0" marL="514350" rtl="0" algn="l">
              <a:lnSpc>
                <a:spcPct val="100000"/>
              </a:lnSpc>
              <a:spcBef>
                <a:spcPts val="280"/>
              </a:spcBef>
              <a:spcAft>
                <a:spcPts val="0"/>
              </a:spcAft>
              <a:buSzPts val="1400"/>
              <a:buFont typeface="Arial"/>
              <a:buChar char="•"/>
            </a:pPr>
            <a:r>
              <a:rPr lang="en-IN" sz="2400"/>
              <a:t>A Deque can also perform the Insertion and Deletion based on First in First Out (FIFO) principle.</a:t>
            </a:r>
            <a:endParaRPr sz="2400"/>
          </a:p>
        </p:txBody>
      </p:sp>
      <p:pic>
        <p:nvPicPr>
          <p:cNvPr id="120" name="Google Shape;120;p5"/>
          <p:cNvPicPr preferRelativeResize="0"/>
          <p:nvPr/>
        </p:nvPicPr>
        <p:blipFill rotWithShape="1">
          <a:blip r:embed="rId3">
            <a:alphaModFix/>
          </a:blip>
          <a:srcRect b="0" l="0" r="0" t="0"/>
          <a:stretch/>
        </p:blipFill>
        <p:spPr>
          <a:xfrm>
            <a:off x="1505585" y="2183130"/>
            <a:ext cx="5946140" cy="25488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idx="1" type="body"/>
          </p:nvPr>
        </p:nvSpPr>
        <p:spPr>
          <a:xfrm>
            <a:off x="356870" y="1673860"/>
            <a:ext cx="8329930" cy="2663825"/>
          </a:xfrm>
          <a:prstGeom prst="rect">
            <a:avLst/>
          </a:prstGeom>
          <a:noFill/>
          <a:ln>
            <a:noFill/>
          </a:ln>
        </p:spPr>
        <p:txBody>
          <a:bodyPr anchorCtr="0" anchor="t" bIns="45700" lIns="91425" spcFirstLastPara="1" rIns="91425" wrap="square" tIns="45700">
            <a:normAutofit lnSpcReduction="20000"/>
          </a:bodyPr>
          <a:lstStyle/>
          <a:p>
            <a:pPr indent="-514350" lvl="0" marL="514350" rtl="0" algn="l">
              <a:lnSpc>
                <a:spcPct val="140000"/>
              </a:lnSpc>
              <a:spcBef>
                <a:spcPts val="560"/>
              </a:spcBef>
              <a:spcAft>
                <a:spcPts val="0"/>
              </a:spcAft>
              <a:buClr>
                <a:schemeClr val="dk1"/>
              </a:buClr>
              <a:buSzPts val="2800"/>
              <a:buFont typeface="Noto Sans Symbols"/>
              <a:buChar char="❑"/>
            </a:pPr>
            <a:r>
              <a:rPr lang="en-IN" sz="2800">
                <a:latin typeface="Times New Roman"/>
                <a:ea typeface="Times New Roman"/>
                <a:cs typeface="Times New Roman"/>
                <a:sym typeface="Times New Roman"/>
              </a:rPr>
              <a:t>Input restricted Deque </a:t>
            </a:r>
            <a:endParaRPr sz="2800">
              <a:latin typeface="Times New Roman"/>
              <a:ea typeface="Times New Roman"/>
              <a:cs typeface="Times New Roman"/>
              <a:sym typeface="Times New Roman"/>
            </a:endParaRPr>
          </a:p>
          <a:p>
            <a:pPr indent="-342900" lvl="0" marL="342900" rtl="0" algn="l">
              <a:lnSpc>
                <a:spcPct val="140000"/>
              </a:lnSpc>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514350" lvl="0" marL="514350" rtl="0" algn="l">
              <a:lnSpc>
                <a:spcPct val="140000"/>
              </a:lnSpc>
              <a:spcBef>
                <a:spcPts val="560"/>
              </a:spcBef>
              <a:spcAft>
                <a:spcPts val="0"/>
              </a:spcAft>
              <a:buClr>
                <a:schemeClr val="dk1"/>
              </a:buClr>
              <a:buSzPts val="2800"/>
              <a:buFont typeface="Noto Sans Symbols"/>
              <a:buChar char="❑"/>
            </a:pPr>
            <a:r>
              <a:rPr lang="en-IN" sz="2800">
                <a:latin typeface="Times New Roman"/>
                <a:ea typeface="Times New Roman"/>
                <a:cs typeface="Times New Roman"/>
                <a:sym typeface="Times New Roman"/>
              </a:rPr>
              <a:t>Output restricted Deque</a:t>
            </a:r>
            <a:endParaRPr sz="2800">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sz="2800">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sz="2800">
              <a:latin typeface="Times New Roman"/>
              <a:ea typeface="Times New Roman"/>
              <a:cs typeface="Times New Roman"/>
              <a:sym typeface="Times New Roman"/>
            </a:endParaRPr>
          </a:p>
        </p:txBody>
      </p:sp>
      <p:sp>
        <p:nvSpPr>
          <p:cNvPr id="126" name="Google Shape;126;p6"/>
          <p:cNvSpPr txBox="1"/>
          <p:nvPr>
            <p:ph type="title"/>
          </p:nvPr>
        </p:nvSpPr>
        <p:spPr>
          <a:xfrm>
            <a:off x="1409700" y="0"/>
            <a:ext cx="6492240" cy="56705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IN" sz="3200"/>
              <a:t>Types of Deque</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idx="1" type="body"/>
          </p:nvPr>
        </p:nvSpPr>
        <p:spPr>
          <a:xfrm>
            <a:off x="407323" y="929305"/>
            <a:ext cx="8329642" cy="5197493"/>
          </a:xfrm>
          <a:prstGeom prst="rect">
            <a:avLst/>
          </a:prstGeom>
          <a:noFill/>
          <a:ln>
            <a:noFill/>
          </a:ln>
        </p:spPr>
        <p:txBody>
          <a:bodyPr anchorCtr="0" anchor="t" bIns="45700" lIns="91425" spcFirstLastPara="1" rIns="91425" wrap="square" tIns="45700">
            <a:normAutofit lnSpcReduction="20000"/>
          </a:bodyPr>
          <a:lstStyle/>
          <a:p>
            <a:pPr indent="-514350" lvl="0" marL="514350" rtl="0" algn="l">
              <a:lnSpc>
                <a:spcPct val="140000"/>
              </a:lnSpc>
              <a:spcBef>
                <a:spcPts val="560"/>
              </a:spcBef>
              <a:spcAft>
                <a:spcPts val="0"/>
              </a:spcAft>
              <a:buClr>
                <a:schemeClr val="dk1"/>
              </a:buClr>
              <a:buSzPts val="2800"/>
              <a:buFont typeface="Noto Sans Symbols"/>
              <a:buChar char="❑"/>
            </a:pPr>
            <a:r>
              <a:rPr b="1" lang="en-IN" sz="2800">
                <a:latin typeface="Times New Roman"/>
                <a:ea typeface="Times New Roman"/>
                <a:cs typeface="Times New Roman"/>
                <a:sym typeface="Times New Roman"/>
              </a:rPr>
              <a:t>Input restricted Deque </a:t>
            </a:r>
            <a:endParaRPr b="1" sz="2800">
              <a:latin typeface="Times New Roman"/>
              <a:ea typeface="Times New Roman"/>
              <a:cs typeface="Times New Roman"/>
              <a:sym typeface="Times New Roman"/>
            </a:endParaRPr>
          </a:p>
          <a:p>
            <a:pPr indent="-342900" lvl="0" marL="342900" rtl="0" algn="l">
              <a:lnSpc>
                <a:spcPct val="140000"/>
              </a:lnSpc>
              <a:spcBef>
                <a:spcPts val="560"/>
              </a:spcBef>
              <a:spcAft>
                <a:spcPts val="0"/>
              </a:spcAft>
              <a:buClr>
                <a:schemeClr val="dk1"/>
              </a:buClr>
              <a:buSzPts val="2800"/>
              <a:buChar char="•"/>
            </a:pPr>
            <a:r>
              <a:rPr lang="en-IN" sz="2400">
                <a:latin typeface="Times New Roman"/>
                <a:ea typeface="Times New Roman"/>
                <a:cs typeface="Times New Roman"/>
                <a:sym typeface="Times New Roman"/>
              </a:rPr>
              <a:t>It is Deque that has certain restrictions for inserting an element.</a:t>
            </a:r>
            <a:endParaRPr sz="2400">
              <a:latin typeface="Times New Roman"/>
              <a:ea typeface="Times New Roman"/>
              <a:cs typeface="Times New Roman"/>
              <a:sym typeface="Times New Roman"/>
            </a:endParaRPr>
          </a:p>
          <a:p>
            <a:pPr indent="-342900" lvl="0" marL="342900" rtl="0" algn="l">
              <a:lnSpc>
                <a:spcPct val="140000"/>
              </a:lnSpc>
              <a:spcBef>
                <a:spcPts val="480"/>
              </a:spcBef>
              <a:spcAft>
                <a:spcPts val="0"/>
              </a:spcAft>
              <a:buClr>
                <a:schemeClr val="dk1"/>
              </a:buClr>
              <a:buSzPts val="2400"/>
              <a:buChar char="•"/>
            </a:pPr>
            <a:r>
              <a:rPr lang="en-IN" sz="2400">
                <a:latin typeface="Times New Roman"/>
                <a:ea typeface="Times New Roman"/>
                <a:cs typeface="Times New Roman"/>
                <a:sym typeface="Times New Roman"/>
              </a:rPr>
              <a:t>Elements can be inserted from one end.</a:t>
            </a:r>
            <a:endParaRPr sz="2400">
              <a:latin typeface="Times New Roman"/>
              <a:ea typeface="Times New Roman"/>
              <a:cs typeface="Times New Roman"/>
              <a:sym typeface="Times New Roman"/>
            </a:endParaRPr>
          </a:p>
          <a:p>
            <a:pPr indent="-342900" lvl="0" marL="342900" rtl="0" algn="l">
              <a:lnSpc>
                <a:spcPct val="140000"/>
              </a:lnSpc>
              <a:spcBef>
                <a:spcPts val="480"/>
              </a:spcBef>
              <a:spcAft>
                <a:spcPts val="0"/>
              </a:spcAft>
              <a:buClr>
                <a:schemeClr val="dk1"/>
              </a:buClr>
              <a:buSzPts val="2400"/>
              <a:buChar char="•"/>
            </a:pPr>
            <a:r>
              <a:rPr lang="en-IN" sz="2400">
                <a:latin typeface="Times New Roman"/>
                <a:ea typeface="Times New Roman"/>
                <a:cs typeface="Times New Roman"/>
                <a:sym typeface="Times New Roman"/>
              </a:rPr>
              <a:t>Elements can be removed at both the ends.</a:t>
            </a:r>
            <a:endParaRPr sz="2400">
              <a:latin typeface="Times New Roman"/>
              <a:ea typeface="Times New Roman"/>
              <a:cs typeface="Times New Roman"/>
              <a:sym typeface="Times New Roman"/>
            </a:endParaRPr>
          </a:p>
          <a:p>
            <a:pPr indent="-342900" lvl="0" marL="342900" rtl="0" algn="l">
              <a:lnSpc>
                <a:spcPct val="140000"/>
              </a:lnSpc>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l">
              <a:lnSpc>
                <a:spcPct val="140000"/>
              </a:lnSpc>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
        <p:nvSpPr>
          <p:cNvPr id="132" name="Google Shape;132;p7"/>
          <p:cNvSpPr txBox="1"/>
          <p:nvPr>
            <p:ph type="title"/>
          </p:nvPr>
        </p:nvSpPr>
        <p:spPr>
          <a:xfrm>
            <a:off x="1409700" y="0"/>
            <a:ext cx="6492240" cy="56705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IN" sz="3200">
                <a:latin typeface="Times New Roman"/>
                <a:ea typeface="Times New Roman"/>
                <a:cs typeface="Times New Roman"/>
                <a:sym typeface="Times New Roman"/>
              </a:rPr>
              <a:t>Input restricted Deque</a:t>
            </a:r>
            <a:endParaRPr sz="3200">
              <a:latin typeface="Times New Roman"/>
              <a:ea typeface="Times New Roman"/>
              <a:cs typeface="Times New Roman"/>
              <a:sym typeface="Times New Roman"/>
            </a:endParaRPr>
          </a:p>
        </p:txBody>
      </p:sp>
      <p:pic>
        <p:nvPicPr>
          <p:cNvPr id="133" name="Google Shape;133;p7"/>
          <p:cNvPicPr preferRelativeResize="0"/>
          <p:nvPr/>
        </p:nvPicPr>
        <p:blipFill rotWithShape="1">
          <a:blip r:embed="rId3">
            <a:alphaModFix/>
          </a:blip>
          <a:srcRect b="0" l="0" r="0" t="0"/>
          <a:stretch/>
        </p:blipFill>
        <p:spPr>
          <a:xfrm>
            <a:off x="1940560" y="3177540"/>
            <a:ext cx="6247130" cy="2948940"/>
          </a:xfrm>
          <a:prstGeom prst="rect">
            <a:avLst/>
          </a:prstGeom>
          <a:noFill/>
          <a:ln cap="flat" cmpd="sng" w="28575">
            <a:solidFill>
              <a:srgbClr val="FF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idx="1" type="body"/>
          </p:nvPr>
        </p:nvSpPr>
        <p:spPr>
          <a:xfrm>
            <a:off x="357158" y="928670"/>
            <a:ext cx="8329642" cy="5197493"/>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40000"/>
              </a:lnSpc>
              <a:spcBef>
                <a:spcPts val="560"/>
              </a:spcBef>
              <a:spcAft>
                <a:spcPts val="0"/>
              </a:spcAft>
              <a:buClr>
                <a:schemeClr val="dk1"/>
              </a:buClr>
              <a:buSzPts val="2800"/>
              <a:buNone/>
            </a:pPr>
            <a:r>
              <a:rPr b="1" lang="en-IN" sz="2800">
                <a:latin typeface="Times New Roman"/>
                <a:ea typeface="Times New Roman"/>
                <a:cs typeface="Times New Roman"/>
                <a:sym typeface="Times New Roman"/>
              </a:rPr>
              <a:t>Output restricted Deque</a:t>
            </a:r>
            <a:endParaRPr b="1" sz="2800">
              <a:latin typeface="Times New Roman"/>
              <a:ea typeface="Times New Roman"/>
              <a:cs typeface="Times New Roman"/>
              <a:sym typeface="Times New Roman"/>
            </a:endParaRPr>
          </a:p>
          <a:p>
            <a:pPr indent="-342900" lvl="0" marL="342900" rtl="0" algn="l">
              <a:lnSpc>
                <a:spcPct val="140000"/>
              </a:lnSpc>
              <a:spcBef>
                <a:spcPts val="480"/>
              </a:spcBef>
              <a:spcAft>
                <a:spcPts val="0"/>
              </a:spcAft>
              <a:buClr>
                <a:schemeClr val="dk1"/>
              </a:buClr>
              <a:buSzPts val="2400"/>
              <a:buChar char="•"/>
            </a:pPr>
            <a:r>
              <a:rPr lang="en-IN" sz="2400">
                <a:latin typeface="Times New Roman"/>
                <a:ea typeface="Times New Roman"/>
                <a:cs typeface="Times New Roman"/>
                <a:sym typeface="Times New Roman"/>
              </a:rPr>
              <a:t>It is Deque that has certain restrictions for removing an element from deque.</a:t>
            </a:r>
            <a:endParaRPr sz="2400">
              <a:latin typeface="Times New Roman"/>
              <a:ea typeface="Times New Roman"/>
              <a:cs typeface="Times New Roman"/>
              <a:sym typeface="Times New Roman"/>
            </a:endParaRPr>
          </a:p>
          <a:p>
            <a:pPr indent="-342900" lvl="0" marL="342900" rtl="0" algn="l">
              <a:lnSpc>
                <a:spcPct val="140000"/>
              </a:lnSpc>
              <a:spcBef>
                <a:spcPts val="480"/>
              </a:spcBef>
              <a:spcAft>
                <a:spcPts val="0"/>
              </a:spcAft>
              <a:buClr>
                <a:schemeClr val="dk1"/>
              </a:buClr>
              <a:buSzPts val="2400"/>
              <a:buChar char="•"/>
            </a:pPr>
            <a:r>
              <a:rPr lang="en-IN" sz="2400">
                <a:latin typeface="Times New Roman"/>
                <a:ea typeface="Times New Roman"/>
                <a:cs typeface="Times New Roman"/>
                <a:sym typeface="Times New Roman"/>
              </a:rPr>
              <a:t>Elements can be removed from one end.</a:t>
            </a:r>
            <a:endParaRPr sz="2400">
              <a:latin typeface="Times New Roman"/>
              <a:ea typeface="Times New Roman"/>
              <a:cs typeface="Times New Roman"/>
              <a:sym typeface="Times New Roman"/>
            </a:endParaRPr>
          </a:p>
          <a:p>
            <a:pPr indent="-342900" lvl="0" marL="342900" rtl="0" algn="l">
              <a:lnSpc>
                <a:spcPct val="140000"/>
              </a:lnSpc>
              <a:spcBef>
                <a:spcPts val="480"/>
              </a:spcBef>
              <a:spcAft>
                <a:spcPts val="0"/>
              </a:spcAft>
              <a:buClr>
                <a:schemeClr val="dk1"/>
              </a:buClr>
              <a:buSzPts val="2400"/>
              <a:buChar char="•"/>
            </a:pPr>
            <a:r>
              <a:rPr lang="en-IN" sz="2400">
                <a:latin typeface="Times New Roman"/>
                <a:ea typeface="Times New Roman"/>
                <a:cs typeface="Times New Roman"/>
                <a:sym typeface="Times New Roman"/>
              </a:rPr>
              <a:t>Elements can be inserted at both the ends.</a:t>
            </a:r>
            <a:endParaRPr sz="2400">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l">
              <a:lnSpc>
                <a:spcPct val="9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
        <p:nvSpPr>
          <p:cNvPr id="139" name="Google Shape;139;p8"/>
          <p:cNvSpPr txBox="1"/>
          <p:nvPr>
            <p:ph type="title"/>
          </p:nvPr>
        </p:nvSpPr>
        <p:spPr>
          <a:xfrm>
            <a:off x="1409700" y="0"/>
            <a:ext cx="6492240" cy="56705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IN" sz="3200">
                <a:latin typeface="Times New Roman"/>
                <a:ea typeface="Times New Roman"/>
                <a:cs typeface="Times New Roman"/>
                <a:sym typeface="Times New Roman"/>
              </a:rPr>
              <a:t>Output restricted Deque</a:t>
            </a:r>
            <a:endParaRPr sz="3200">
              <a:latin typeface="Times New Roman"/>
              <a:ea typeface="Times New Roman"/>
              <a:cs typeface="Times New Roman"/>
              <a:sym typeface="Times New Roman"/>
            </a:endParaRPr>
          </a:p>
        </p:txBody>
      </p:sp>
      <p:pic>
        <p:nvPicPr>
          <p:cNvPr id="140" name="Google Shape;140;p8"/>
          <p:cNvPicPr preferRelativeResize="0"/>
          <p:nvPr/>
        </p:nvPicPr>
        <p:blipFill rotWithShape="1">
          <a:blip r:embed="rId3">
            <a:alphaModFix/>
          </a:blip>
          <a:srcRect b="0" l="0" r="0" t="0"/>
          <a:stretch/>
        </p:blipFill>
        <p:spPr>
          <a:xfrm>
            <a:off x="1409700" y="3808095"/>
            <a:ext cx="5946775" cy="2568575"/>
          </a:xfrm>
          <a:prstGeom prst="rect">
            <a:avLst/>
          </a:prstGeom>
          <a:noFill/>
          <a:ln cap="flat" cmpd="sng" w="28575">
            <a:solidFill>
              <a:srgbClr val="FF0000"/>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idx="1" type="body"/>
          </p:nvPr>
        </p:nvSpPr>
        <p:spPr>
          <a:xfrm>
            <a:off x="499745" y="1248410"/>
            <a:ext cx="8229600" cy="5306695"/>
          </a:xfrm>
          <a:prstGeom prst="rect">
            <a:avLst/>
          </a:prstGeom>
          <a:noFill/>
          <a:ln>
            <a:noFill/>
          </a:ln>
        </p:spPr>
        <p:txBody>
          <a:bodyPr anchorCtr="0" anchor="t" bIns="45700" lIns="91425" spcFirstLastPara="1" rIns="91425" wrap="square" tIns="45700">
            <a:normAutofit/>
          </a:bodyPr>
          <a:lstStyle/>
          <a:p>
            <a:pPr indent="-457200" lvl="0" marL="457200" rtl="0" algn="just">
              <a:lnSpc>
                <a:spcPct val="100000"/>
              </a:lnSpc>
              <a:spcBef>
                <a:spcPts val="0"/>
              </a:spcBef>
              <a:spcAft>
                <a:spcPts val="0"/>
              </a:spcAft>
              <a:buClr>
                <a:schemeClr val="dk1"/>
              </a:buClr>
              <a:buSzPts val="3200"/>
              <a:buChar char="•"/>
            </a:pPr>
            <a:r>
              <a:rPr lang="en-IN" sz="2400"/>
              <a:t>The basic operations that can be performed on Deque are </a:t>
            </a:r>
            <a:endParaRPr sz="2400"/>
          </a:p>
          <a:p>
            <a:pPr indent="0" lvl="0" marL="0" rtl="0" algn="just">
              <a:lnSpc>
                <a:spcPct val="100000"/>
              </a:lnSpc>
              <a:spcBef>
                <a:spcPts val="0"/>
              </a:spcBef>
              <a:spcAft>
                <a:spcPts val="0"/>
              </a:spcAft>
              <a:buClr>
                <a:schemeClr val="dk1"/>
              </a:buClr>
              <a:buSzPts val="3200"/>
              <a:buNone/>
            </a:pPr>
            <a:r>
              <a:rPr lang="en-IN" sz="2400">
                <a:latin typeface="Times New Roman"/>
                <a:ea typeface="Times New Roman"/>
                <a:cs typeface="Times New Roman"/>
                <a:sym typeface="Times New Roman"/>
              </a:rPr>
              <a:t>	1. Insertion at front</a:t>
            </a:r>
            <a:endParaRPr sz="24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200"/>
              <a:buNone/>
            </a:pPr>
            <a:r>
              <a:rPr lang="en-IN" sz="2400">
                <a:latin typeface="Times New Roman"/>
                <a:ea typeface="Times New Roman"/>
                <a:cs typeface="Times New Roman"/>
                <a:sym typeface="Times New Roman"/>
              </a:rPr>
              <a:t>	2. Insertion at rear</a:t>
            </a:r>
            <a:endParaRPr sz="24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200"/>
              <a:buNone/>
            </a:pPr>
            <a:r>
              <a:rPr lang="en-IN" sz="2400">
                <a:latin typeface="Times New Roman"/>
                <a:ea typeface="Times New Roman"/>
                <a:cs typeface="Times New Roman"/>
                <a:sym typeface="Times New Roman"/>
              </a:rPr>
              <a:t>	3. Deletion at front	</a:t>
            </a:r>
            <a:endParaRPr sz="24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200"/>
              <a:buNone/>
            </a:pPr>
            <a:r>
              <a:rPr lang="en-IN" sz="2400">
                <a:latin typeface="Times New Roman"/>
                <a:ea typeface="Times New Roman"/>
                <a:cs typeface="Times New Roman"/>
                <a:sym typeface="Times New Roman"/>
              </a:rPr>
              <a:t>	4. Deletion at rear </a:t>
            </a:r>
            <a:endParaRPr sz="2400">
              <a:latin typeface="Times New Roman"/>
              <a:ea typeface="Times New Roman"/>
              <a:cs typeface="Times New Roman"/>
              <a:sym typeface="Times New Roman"/>
            </a:endParaRPr>
          </a:p>
        </p:txBody>
      </p:sp>
      <p:sp>
        <p:nvSpPr>
          <p:cNvPr id="146" name="Google Shape;146;p9"/>
          <p:cNvSpPr txBox="1"/>
          <p:nvPr>
            <p:ph type="title"/>
          </p:nvPr>
        </p:nvSpPr>
        <p:spPr>
          <a:xfrm>
            <a:off x="1409700" y="0"/>
            <a:ext cx="6492240" cy="56705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IN" sz="3200">
                <a:latin typeface="Times New Roman"/>
                <a:ea typeface="Times New Roman"/>
                <a:cs typeface="Times New Roman"/>
                <a:sym typeface="Times New Roman"/>
              </a:rPr>
              <a:t>Operations in Deque</a:t>
            </a:r>
            <a:endParaRPr sz="3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457171" y="53637"/>
            <a:ext cx="8229600" cy="78581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Times New Roman"/>
              <a:buNone/>
            </a:pPr>
            <a:r>
              <a:rPr lang="en-IN" sz="3200">
                <a:latin typeface="Times New Roman"/>
                <a:ea typeface="Times New Roman"/>
                <a:cs typeface="Times New Roman"/>
                <a:sym typeface="Times New Roman"/>
              </a:rPr>
              <a:t>Insertion at Front</a:t>
            </a:r>
            <a:endParaRPr b="1" sz="3200">
              <a:solidFill>
                <a:schemeClr val="dk1"/>
              </a:solidFill>
              <a:latin typeface="Times New Roman"/>
              <a:ea typeface="Times New Roman"/>
              <a:cs typeface="Times New Roman"/>
              <a:sym typeface="Times New Roman"/>
            </a:endParaRPr>
          </a:p>
        </p:txBody>
      </p:sp>
      <p:pic>
        <p:nvPicPr>
          <p:cNvPr id="152" name="Google Shape;152;p10"/>
          <p:cNvPicPr preferRelativeResize="0"/>
          <p:nvPr/>
        </p:nvPicPr>
        <p:blipFill rotWithShape="1">
          <a:blip r:embed="rId3">
            <a:alphaModFix/>
          </a:blip>
          <a:srcRect b="0" l="0" r="0" t="0"/>
          <a:stretch/>
        </p:blipFill>
        <p:spPr>
          <a:xfrm>
            <a:off x="1590675" y="988060"/>
            <a:ext cx="6467475" cy="547497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1107733" y="299"/>
            <a:ext cx="6929486" cy="704104"/>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Times New Roman"/>
              <a:buNone/>
            </a:pPr>
            <a:r>
              <a:rPr lang="en-IN" sz="3200">
                <a:latin typeface="Times New Roman"/>
                <a:ea typeface="Times New Roman"/>
                <a:cs typeface="Times New Roman"/>
                <a:sym typeface="Times New Roman"/>
              </a:rPr>
              <a:t>Routine to insert an element at Front end</a:t>
            </a:r>
            <a:endParaRPr sz="3200">
              <a:latin typeface="Times New Roman"/>
              <a:ea typeface="Times New Roman"/>
              <a:cs typeface="Times New Roman"/>
              <a:sym typeface="Times New Roman"/>
            </a:endParaRPr>
          </a:p>
        </p:txBody>
      </p:sp>
      <p:sp>
        <p:nvSpPr>
          <p:cNvPr id="158" name="Google Shape;158;p11"/>
          <p:cNvSpPr txBox="1"/>
          <p:nvPr>
            <p:ph idx="1" type="body"/>
          </p:nvPr>
        </p:nvSpPr>
        <p:spPr>
          <a:xfrm>
            <a:off x="457200" y="626110"/>
            <a:ext cx="8517890" cy="5868670"/>
          </a:xfrm>
          <a:prstGeom prst="rect">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None/>
            </a:pPr>
            <a:r>
              <a:t/>
            </a:r>
            <a:endParaRPr sz="2000"/>
          </a:p>
          <a:p>
            <a:pPr indent="0" lvl="0" marL="0" rtl="0" algn="l">
              <a:lnSpc>
                <a:spcPct val="100000"/>
              </a:lnSpc>
              <a:spcBef>
                <a:spcPts val="0"/>
              </a:spcBef>
              <a:spcAft>
                <a:spcPts val="0"/>
              </a:spcAft>
              <a:buClr>
                <a:schemeClr val="dk1"/>
              </a:buClr>
              <a:buSzPts val="3200"/>
              <a:buNone/>
            </a:pPr>
            <a:r>
              <a:rPr lang="en-IN" sz="2000"/>
              <a:t>void Insert_Front ( int X, DEQUE DQ )</a:t>
            </a:r>
            <a:endParaRPr sz="2000"/>
          </a:p>
          <a:p>
            <a:pPr indent="0" lvl="0" marL="0" rtl="0" algn="l">
              <a:lnSpc>
                <a:spcPct val="100000"/>
              </a:lnSpc>
              <a:spcBef>
                <a:spcPts val="0"/>
              </a:spcBef>
              <a:spcAft>
                <a:spcPts val="0"/>
              </a:spcAft>
              <a:buClr>
                <a:schemeClr val="dk1"/>
              </a:buClr>
              <a:buSzPts val="3200"/>
              <a:buNone/>
            </a:pPr>
            <a:r>
              <a:rPr lang="en-IN" sz="2000"/>
              <a:t>{</a:t>
            </a:r>
            <a:endParaRPr sz="2000"/>
          </a:p>
          <a:p>
            <a:pPr indent="0" lvl="0" marL="0" rtl="0" algn="l">
              <a:lnSpc>
                <a:spcPct val="100000"/>
              </a:lnSpc>
              <a:spcBef>
                <a:spcPts val="0"/>
              </a:spcBef>
              <a:spcAft>
                <a:spcPts val="0"/>
              </a:spcAft>
              <a:buClr>
                <a:schemeClr val="dk1"/>
              </a:buClr>
              <a:buSzPts val="3200"/>
              <a:buNone/>
            </a:pPr>
            <a:r>
              <a:rPr lang="en-IN" sz="2000"/>
              <a:t>	if( Front = = 0 )</a:t>
            </a:r>
            <a:endParaRPr sz="2000"/>
          </a:p>
          <a:p>
            <a:pPr indent="0" lvl="0" marL="0" rtl="0" algn="l">
              <a:lnSpc>
                <a:spcPct val="100000"/>
              </a:lnSpc>
              <a:spcBef>
                <a:spcPts val="0"/>
              </a:spcBef>
              <a:spcAft>
                <a:spcPts val="0"/>
              </a:spcAft>
              <a:buClr>
                <a:schemeClr val="dk1"/>
              </a:buClr>
              <a:buSzPts val="3200"/>
              <a:buNone/>
            </a:pPr>
            <a:r>
              <a:rPr lang="en-IN" sz="2000"/>
              <a:t>		Error(“Element present in Front!!!!! Insertion not possible”);</a:t>
            </a:r>
            <a:endParaRPr sz="2000"/>
          </a:p>
          <a:p>
            <a:pPr indent="0" lvl="0" marL="0" rtl="0" algn="l">
              <a:lnSpc>
                <a:spcPct val="100000"/>
              </a:lnSpc>
              <a:spcBef>
                <a:spcPts val="0"/>
              </a:spcBef>
              <a:spcAft>
                <a:spcPts val="0"/>
              </a:spcAft>
              <a:buClr>
                <a:schemeClr val="dk1"/>
              </a:buClr>
              <a:buSzPts val="3200"/>
              <a:buNone/>
            </a:pPr>
            <a:r>
              <a:rPr lang="en-IN" sz="2000"/>
              <a:t>	else if(Front = = -1)</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2000"/>
              <a:t>Front = Front + 1;</a:t>
            </a:r>
            <a:endParaRPr sz="2000"/>
          </a:p>
          <a:p>
            <a:pPr indent="0" lvl="2" marL="1371600" rtl="0" algn="l">
              <a:lnSpc>
                <a:spcPct val="100000"/>
              </a:lnSpc>
              <a:spcBef>
                <a:spcPts val="0"/>
              </a:spcBef>
              <a:spcAft>
                <a:spcPts val="0"/>
              </a:spcAft>
              <a:buClr>
                <a:schemeClr val="dk1"/>
              </a:buClr>
              <a:buSzPts val="3200"/>
              <a:buNone/>
            </a:pPr>
            <a:r>
              <a:rPr lang="en-IN" sz="2000"/>
              <a:t>Rear = Rear + 1;</a:t>
            </a:r>
            <a:endParaRPr sz="2000"/>
          </a:p>
          <a:p>
            <a:pPr indent="0" lvl="2" marL="1371600" rtl="0" algn="l">
              <a:lnSpc>
                <a:spcPct val="100000"/>
              </a:lnSpc>
              <a:spcBef>
                <a:spcPts val="0"/>
              </a:spcBef>
              <a:spcAft>
                <a:spcPts val="0"/>
              </a:spcAft>
              <a:buClr>
                <a:schemeClr val="dk1"/>
              </a:buClr>
              <a:buSzPts val="3200"/>
              <a:buNone/>
            </a:pPr>
            <a:r>
              <a:rPr lang="en-IN" sz="2000"/>
              <a:t>DQ[Front] = X;</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0" marL="0" rtl="0" algn="l">
              <a:lnSpc>
                <a:spcPct val="100000"/>
              </a:lnSpc>
              <a:spcBef>
                <a:spcPts val="0"/>
              </a:spcBef>
              <a:spcAft>
                <a:spcPts val="0"/>
              </a:spcAft>
              <a:buClr>
                <a:schemeClr val="dk1"/>
              </a:buClr>
              <a:buSzPts val="3200"/>
              <a:buNone/>
            </a:pPr>
            <a:r>
              <a:rPr lang="en-IN" sz="2000"/>
              <a:t>	else</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2000"/>
              <a:t>Front = Front - 1;</a:t>
            </a:r>
            <a:endParaRPr sz="2000"/>
          </a:p>
          <a:p>
            <a:pPr indent="0" lvl="2" marL="1371600" rtl="0" algn="l">
              <a:lnSpc>
                <a:spcPct val="100000"/>
              </a:lnSpc>
              <a:spcBef>
                <a:spcPts val="0"/>
              </a:spcBef>
              <a:spcAft>
                <a:spcPts val="0"/>
              </a:spcAft>
              <a:buClr>
                <a:schemeClr val="dk1"/>
              </a:buClr>
              <a:buSzPts val="3200"/>
              <a:buNone/>
            </a:pPr>
            <a:r>
              <a:rPr lang="en-IN" sz="2000"/>
              <a:t>DQ[Front] = X;</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0" marL="0" rtl="0" algn="l">
              <a:lnSpc>
                <a:spcPct val="100000"/>
              </a:lnSpc>
              <a:spcBef>
                <a:spcPts val="0"/>
              </a:spcBef>
              <a:spcAft>
                <a:spcPts val="0"/>
              </a:spcAft>
              <a:buClr>
                <a:schemeClr val="dk1"/>
              </a:buClr>
              <a:buSzPts val="3200"/>
              <a:buNone/>
            </a:pPr>
            <a:r>
              <a:rPr lang="en-IN" sz="2000"/>
              <a:t>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txBox="1"/>
          <p:nvPr/>
        </p:nvSpPr>
        <p:spPr>
          <a:xfrm>
            <a:off x="980098" y="10459"/>
            <a:ext cx="6929486" cy="704104"/>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3200"/>
              <a:buFont typeface="Times New Roman"/>
              <a:buNone/>
            </a:pPr>
            <a:r>
              <a:rPr b="0" i="0" lang="en-IN" sz="3200" u="none" cap="none" strike="noStrike">
                <a:solidFill>
                  <a:schemeClr val="dk1"/>
                </a:solidFill>
                <a:latin typeface="Times New Roman"/>
                <a:ea typeface="Times New Roman"/>
                <a:cs typeface="Times New Roman"/>
                <a:sym typeface="Times New Roman"/>
              </a:rPr>
              <a:t>Insertion at Rear</a:t>
            </a:r>
            <a:endParaRPr b="1" i="0" sz="3200" u="none" cap="none" strike="noStrike">
              <a:solidFill>
                <a:schemeClr val="dk1"/>
              </a:solidFill>
              <a:latin typeface="Times New Roman"/>
              <a:ea typeface="Times New Roman"/>
              <a:cs typeface="Times New Roman"/>
              <a:sym typeface="Times New Roman"/>
            </a:endParaRPr>
          </a:p>
        </p:txBody>
      </p:sp>
      <p:pic>
        <p:nvPicPr>
          <p:cNvPr id="164" name="Google Shape;164;p12"/>
          <p:cNvPicPr preferRelativeResize="0"/>
          <p:nvPr>
            <p:ph idx="2" type="pic"/>
          </p:nvPr>
        </p:nvPicPr>
        <p:blipFill rotWithShape="1">
          <a:blip r:embed="rId3">
            <a:alphaModFix/>
          </a:blip>
          <a:srcRect b="0" l="0" r="0" t="0"/>
          <a:stretch/>
        </p:blipFill>
        <p:spPr>
          <a:xfrm>
            <a:off x="539115" y="859790"/>
            <a:ext cx="6846570" cy="53314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idx="1" type="body"/>
          </p:nvPr>
        </p:nvSpPr>
        <p:spPr>
          <a:xfrm>
            <a:off x="522605" y="737870"/>
            <a:ext cx="8517890" cy="5934075"/>
          </a:xfrm>
          <a:prstGeom prst="rect">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None/>
            </a:pPr>
            <a:r>
              <a:t/>
            </a:r>
            <a:endParaRPr sz="2000"/>
          </a:p>
          <a:p>
            <a:pPr indent="0" lvl="0" marL="0" rtl="0" algn="l">
              <a:lnSpc>
                <a:spcPct val="100000"/>
              </a:lnSpc>
              <a:spcBef>
                <a:spcPts val="0"/>
              </a:spcBef>
              <a:spcAft>
                <a:spcPts val="0"/>
              </a:spcAft>
              <a:buClr>
                <a:schemeClr val="dk1"/>
              </a:buClr>
              <a:buSzPts val="3200"/>
              <a:buNone/>
            </a:pPr>
            <a:r>
              <a:rPr lang="en-IN" sz="2000"/>
              <a:t>void Insert_Rear (int X, DEQUE DQ)</a:t>
            </a:r>
            <a:endParaRPr sz="2000"/>
          </a:p>
          <a:p>
            <a:pPr indent="0" lvl="0" marL="0" rtl="0" algn="l">
              <a:lnSpc>
                <a:spcPct val="100000"/>
              </a:lnSpc>
              <a:spcBef>
                <a:spcPts val="0"/>
              </a:spcBef>
              <a:spcAft>
                <a:spcPts val="0"/>
              </a:spcAft>
              <a:buClr>
                <a:schemeClr val="dk1"/>
              </a:buClr>
              <a:buSzPts val="3200"/>
              <a:buNone/>
            </a:pPr>
            <a:r>
              <a:rPr lang="en-IN" sz="2000"/>
              <a:t>{</a:t>
            </a:r>
            <a:endParaRPr sz="2000"/>
          </a:p>
          <a:p>
            <a:pPr indent="0" lvl="0" marL="0" rtl="0" algn="l">
              <a:lnSpc>
                <a:spcPct val="100000"/>
              </a:lnSpc>
              <a:spcBef>
                <a:spcPts val="0"/>
              </a:spcBef>
              <a:spcAft>
                <a:spcPts val="0"/>
              </a:spcAft>
              <a:buClr>
                <a:schemeClr val="dk1"/>
              </a:buClr>
              <a:buSzPts val="3200"/>
              <a:buNone/>
            </a:pPr>
            <a:r>
              <a:rPr lang="en-IN" sz="2000"/>
              <a:t>	if( Rear = = Arraysize - 1)</a:t>
            </a:r>
            <a:endParaRPr sz="2000"/>
          </a:p>
          <a:p>
            <a:pPr indent="0" lvl="0" marL="0" rtl="0" algn="l">
              <a:lnSpc>
                <a:spcPct val="100000"/>
              </a:lnSpc>
              <a:spcBef>
                <a:spcPts val="0"/>
              </a:spcBef>
              <a:spcAft>
                <a:spcPts val="0"/>
              </a:spcAft>
              <a:buClr>
                <a:schemeClr val="dk1"/>
              </a:buClr>
              <a:buSzPts val="3200"/>
              <a:buNone/>
            </a:pPr>
            <a:r>
              <a:rPr lang="en-IN" sz="2000"/>
              <a:t>		Error(“Full Queue!!!! Insertion not possible”);</a:t>
            </a:r>
            <a:endParaRPr sz="2000"/>
          </a:p>
          <a:p>
            <a:pPr indent="0" lvl="0" marL="0" rtl="0" algn="l">
              <a:lnSpc>
                <a:spcPct val="100000"/>
              </a:lnSpc>
              <a:spcBef>
                <a:spcPts val="0"/>
              </a:spcBef>
              <a:spcAft>
                <a:spcPts val="0"/>
              </a:spcAft>
              <a:buClr>
                <a:schemeClr val="dk1"/>
              </a:buClr>
              <a:buSzPts val="3200"/>
              <a:buNone/>
            </a:pPr>
            <a:r>
              <a:rPr lang="en-IN" sz="2000"/>
              <a:t>	else if( Rear = = -1)</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2000"/>
              <a:t>Front = Front + 1;</a:t>
            </a:r>
            <a:endParaRPr sz="2000"/>
          </a:p>
          <a:p>
            <a:pPr indent="0" lvl="2" marL="1371600" rtl="0" algn="l">
              <a:lnSpc>
                <a:spcPct val="100000"/>
              </a:lnSpc>
              <a:spcBef>
                <a:spcPts val="0"/>
              </a:spcBef>
              <a:spcAft>
                <a:spcPts val="0"/>
              </a:spcAft>
              <a:buClr>
                <a:schemeClr val="dk1"/>
              </a:buClr>
              <a:buSzPts val="3200"/>
              <a:buNone/>
            </a:pPr>
            <a:r>
              <a:rPr lang="en-IN" sz="2000"/>
              <a:t>Rear = Rear + 1;</a:t>
            </a:r>
            <a:endParaRPr sz="2000"/>
          </a:p>
          <a:p>
            <a:pPr indent="0" lvl="2" marL="1371600" rtl="0" algn="l">
              <a:lnSpc>
                <a:spcPct val="100000"/>
              </a:lnSpc>
              <a:spcBef>
                <a:spcPts val="0"/>
              </a:spcBef>
              <a:spcAft>
                <a:spcPts val="0"/>
              </a:spcAft>
              <a:buClr>
                <a:schemeClr val="dk1"/>
              </a:buClr>
              <a:buSzPts val="3200"/>
              <a:buNone/>
            </a:pPr>
            <a:r>
              <a:rPr lang="en-IN" sz="2000"/>
              <a:t>DQ[ Rear ] = X;</a:t>
            </a:r>
            <a:endParaRPr sz="1500"/>
          </a:p>
          <a:p>
            <a:pPr indent="0" lvl="0" marL="0" rtl="0" algn="l">
              <a:lnSpc>
                <a:spcPct val="100000"/>
              </a:lnSpc>
              <a:spcBef>
                <a:spcPts val="0"/>
              </a:spcBef>
              <a:spcAft>
                <a:spcPts val="0"/>
              </a:spcAft>
              <a:buClr>
                <a:schemeClr val="dk1"/>
              </a:buClr>
              <a:buSzPts val="3200"/>
              <a:buNone/>
            </a:pPr>
            <a:r>
              <a:rPr lang="en-IN" sz="2000"/>
              <a:t>	}</a:t>
            </a:r>
            <a:endParaRPr sz="2000"/>
          </a:p>
          <a:p>
            <a:pPr indent="0" lvl="0" marL="0" rtl="0" algn="l">
              <a:lnSpc>
                <a:spcPct val="100000"/>
              </a:lnSpc>
              <a:spcBef>
                <a:spcPts val="0"/>
              </a:spcBef>
              <a:spcAft>
                <a:spcPts val="0"/>
              </a:spcAft>
              <a:buClr>
                <a:schemeClr val="dk1"/>
              </a:buClr>
              <a:buSzPts val="3200"/>
              <a:buNone/>
            </a:pPr>
            <a:r>
              <a:rPr lang="en-IN" sz="2000"/>
              <a:t>	else</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2000"/>
              <a:t>Rear = Rear + 1;</a:t>
            </a:r>
            <a:endParaRPr sz="2000"/>
          </a:p>
          <a:p>
            <a:pPr indent="0" lvl="2" marL="1371600" rtl="0" algn="l">
              <a:lnSpc>
                <a:spcPct val="100000"/>
              </a:lnSpc>
              <a:spcBef>
                <a:spcPts val="0"/>
              </a:spcBef>
              <a:spcAft>
                <a:spcPts val="0"/>
              </a:spcAft>
              <a:buClr>
                <a:schemeClr val="dk1"/>
              </a:buClr>
              <a:buSzPts val="3200"/>
              <a:buNone/>
            </a:pPr>
            <a:r>
              <a:rPr lang="en-IN" sz="2000"/>
              <a:t>DQ[ Rear ] = X;</a:t>
            </a:r>
            <a:endParaRPr sz="2000"/>
          </a:p>
          <a:p>
            <a:pPr indent="0" lvl="0" marL="0" rtl="0" algn="l">
              <a:lnSpc>
                <a:spcPct val="100000"/>
              </a:lnSpc>
              <a:spcBef>
                <a:spcPts val="0"/>
              </a:spcBef>
              <a:spcAft>
                <a:spcPts val="0"/>
              </a:spcAft>
              <a:buClr>
                <a:schemeClr val="dk1"/>
              </a:buClr>
              <a:buSzPts val="3200"/>
              <a:buNone/>
            </a:pPr>
            <a:r>
              <a:rPr lang="en-IN" sz="2000"/>
              <a:t>	} </a:t>
            </a:r>
            <a:endParaRPr sz="2000"/>
          </a:p>
          <a:p>
            <a:pPr indent="0" lvl="0" marL="0" rtl="0" algn="l">
              <a:lnSpc>
                <a:spcPct val="100000"/>
              </a:lnSpc>
              <a:spcBef>
                <a:spcPts val="0"/>
              </a:spcBef>
              <a:spcAft>
                <a:spcPts val="0"/>
              </a:spcAft>
              <a:buClr>
                <a:schemeClr val="dk1"/>
              </a:buClr>
              <a:buSzPts val="3200"/>
              <a:buNone/>
            </a:pPr>
            <a:r>
              <a:rPr lang="en-IN" sz="2000"/>
              <a:t>}</a:t>
            </a:r>
            <a:endParaRPr sz="2000"/>
          </a:p>
        </p:txBody>
      </p:sp>
      <p:sp>
        <p:nvSpPr>
          <p:cNvPr id="170" name="Google Shape;170;p13"/>
          <p:cNvSpPr txBox="1"/>
          <p:nvPr>
            <p:ph type="title"/>
          </p:nvPr>
        </p:nvSpPr>
        <p:spPr>
          <a:xfrm>
            <a:off x="522605" y="60325"/>
            <a:ext cx="8229600" cy="51943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IN" sz="3600"/>
              <a:t>Routine to insert an element at Rear end</a:t>
            </a:r>
            <a:endParaRPr sz="3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type="title"/>
          </p:nvPr>
        </p:nvSpPr>
        <p:spPr>
          <a:xfrm>
            <a:off x="285720" y="77450"/>
            <a:ext cx="8229600" cy="71437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Times New Roman"/>
              <a:buNone/>
            </a:pPr>
            <a:r>
              <a:rPr lang="en-IN" sz="3200">
                <a:latin typeface="Times New Roman"/>
                <a:ea typeface="Times New Roman"/>
                <a:cs typeface="Times New Roman"/>
                <a:sym typeface="Times New Roman"/>
              </a:rPr>
              <a:t>Delete at front</a:t>
            </a:r>
            <a:endParaRPr b="1" sz="3200">
              <a:solidFill>
                <a:schemeClr val="dk1"/>
              </a:solidFill>
              <a:latin typeface="Times New Roman"/>
              <a:ea typeface="Times New Roman"/>
              <a:cs typeface="Times New Roman"/>
              <a:sym typeface="Times New Roman"/>
            </a:endParaRPr>
          </a:p>
        </p:txBody>
      </p:sp>
      <p:pic>
        <p:nvPicPr>
          <p:cNvPr id="176" name="Google Shape;176;p14"/>
          <p:cNvPicPr preferRelativeResize="0"/>
          <p:nvPr/>
        </p:nvPicPr>
        <p:blipFill rotWithShape="1">
          <a:blip r:embed="rId3">
            <a:alphaModFix/>
          </a:blip>
          <a:srcRect b="0" l="0" r="0" t="0"/>
          <a:stretch/>
        </p:blipFill>
        <p:spPr>
          <a:xfrm>
            <a:off x="1352550" y="935355"/>
            <a:ext cx="5394960" cy="5880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1107733" y="299"/>
            <a:ext cx="6929486" cy="70410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Times New Roman"/>
              <a:buNone/>
            </a:pPr>
            <a:r>
              <a:rPr lang="en-IN" sz="3200">
                <a:latin typeface="Times New Roman"/>
                <a:ea typeface="Times New Roman"/>
                <a:cs typeface="Times New Roman"/>
                <a:sym typeface="Times New Roman"/>
              </a:rPr>
              <a:t>Routine to delete an element from Front end</a:t>
            </a:r>
            <a:endParaRPr sz="3200">
              <a:latin typeface="Times New Roman"/>
              <a:ea typeface="Times New Roman"/>
              <a:cs typeface="Times New Roman"/>
              <a:sym typeface="Times New Roman"/>
            </a:endParaRPr>
          </a:p>
        </p:txBody>
      </p:sp>
      <p:sp>
        <p:nvSpPr>
          <p:cNvPr id="182" name="Google Shape;182;p15"/>
          <p:cNvSpPr txBox="1"/>
          <p:nvPr>
            <p:ph idx="1" type="body"/>
          </p:nvPr>
        </p:nvSpPr>
        <p:spPr>
          <a:xfrm>
            <a:off x="457200" y="626110"/>
            <a:ext cx="8517890" cy="5868670"/>
          </a:xfrm>
          <a:prstGeom prst="rect">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None/>
            </a:pPr>
            <a:r>
              <a:t/>
            </a:r>
            <a:endParaRPr sz="2000"/>
          </a:p>
          <a:p>
            <a:pPr indent="0" lvl="0" marL="0" rtl="0" algn="l">
              <a:lnSpc>
                <a:spcPct val="100000"/>
              </a:lnSpc>
              <a:spcBef>
                <a:spcPts val="0"/>
              </a:spcBef>
              <a:spcAft>
                <a:spcPts val="0"/>
              </a:spcAft>
              <a:buClr>
                <a:schemeClr val="dk1"/>
              </a:buClr>
              <a:buSzPts val="3200"/>
              <a:buNone/>
            </a:pPr>
            <a:r>
              <a:rPr lang="en-IN" sz="2000"/>
              <a:t>void Delete_Front(DEQUE DQ)</a:t>
            </a:r>
            <a:endParaRPr sz="2000"/>
          </a:p>
          <a:p>
            <a:pPr indent="0" lvl="0" marL="0" rtl="0" algn="l">
              <a:lnSpc>
                <a:spcPct val="100000"/>
              </a:lnSpc>
              <a:spcBef>
                <a:spcPts val="0"/>
              </a:spcBef>
              <a:spcAft>
                <a:spcPts val="0"/>
              </a:spcAft>
              <a:buClr>
                <a:schemeClr val="dk1"/>
              </a:buClr>
              <a:buSzPts val="3200"/>
              <a:buNone/>
            </a:pPr>
            <a:r>
              <a:rPr lang="en-IN" sz="2000"/>
              <a:t>{</a:t>
            </a:r>
            <a:endParaRPr sz="2000"/>
          </a:p>
          <a:p>
            <a:pPr indent="0" lvl="0" marL="0" rtl="0" algn="l">
              <a:lnSpc>
                <a:spcPct val="100000"/>
              </a:lnSpc>
              <a:spcBef>
                <a:spcPts val="0"/>
              </a:spcBef>
              <a:spcAft>
                <a:spcPts val="0"/>
              </a:spcAft>
              <a:buClr>
                <a:schemeClr val="dk1"/>
              </a:buClr>
              <a:buSzPts val="3200"/>
              <a:buNone/>
            </a:pPr>
            <a:r>
              <a:rPr lang="en-IN" sz="2000"/>
              <a:t>	if(Front = = - 1)</a:t>
            </a:r>
            <a:endParaRPr sz="2000"/>
          </a:p>
          <a:p>
            <a:pPr indent="0" lvl="0" marL="0" rtl="0" algn="l">
              <a:lnSpc>
                <a:spcPct val="100000"/>
              </a:lnSpc>
              <a:spcBef>
                <a:spcPts val="0"/>
              </a:spcBef>
              <a:spcAft>
                <a:spcPts val="0"/>
              </a:spcAft>
              <a:buClr>
                <a:schemeClr val="dk1"/>
              </a:buClr>
              <a:buSzPts val="3200"/>
              <a:buNone/>
            </a:pPr>
            <a:r>
              <a:rPr lang="en-IN" sz="2000"/>
              <a:t>		Error(“Empty queue!!!! Deletion not possible”);</a:t>
            </a:r>
            <a:endParaRPr sz="2000"/>
          </a:p>
          <a:p>
            <a:pPr indent="0" lvl="0" marL="0" rtl="0" algn="l">
              <a:lnSpc>
                <a:spcPct val="100000"/>
              </a:lnSpc>
              <a:spcBef>
                <a:spcPts val="0"/>
              </a:spcBef>
              <a:spcAft>
                <a:spcPts val="0"/>
              </a:spcAft>
              <a:buClr>
                <a:schemeClr val="dk1"/>
              </a:buClr>
              <a:buSzPts val="3200"/>
              <a:buNone/>
            </a:pPr>
            <a:r>
              <a:rPr lang="en-IN" sz="2000"/>
              <a:t>	else if( Front = = Rear )</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2000"/>
              <a:t>X = DQ[ Front];</a:t>
            </a:r>
            <a:endParaRPr sz="2000"/>
          </a:p>
          <a:p>
            <a:pPr indent="0" lvl="2" marL="1371600" rtl="0" algn="l">
              <a:lnSpc>
                <a:spcPct val="100000"/>
              </a:lnSpc>
              <a:spcBef>
                <a:spcPts val="0"/>
              </a:spcBef>
              <a:spcAft>
                <a:spcPts val="0"/>
              </a:spcAft>
              <a:buClr>
                <a:schemeClr val="dk1"/>
              </a:buClr>
              <a:buSzPts val="3200"/>
              <a:buNone/>
            </a:pPr>
            <a:r>
              <a:rPr lang="en-IN" sz="2000"/>
              <a:t>Front = - 1;</a:t>
            </a:r>
            <a:endParaRPr sz="2000"/>
          </a:p>
          <a:p>
            <a:pPr indent="0" lvl="2" marL="1371600" rtl="0" algn="l">
              <a:lnSpc>
                <a:spcPct val="100000"/>
              </a:lnSpc>
              <a:spcBef>
                <a:spcPts val="0"/>
              </a:spcBef>
              <a:spcAft>
                <a:spcPts val="0"/>
              </a:spcAft>
              <a:buClr>
                <a:schemeClr val="dk1"/>
              </a:buClr>
              <a:buSzPts val="3200"/>
              <a:buNone/>
            </a:pPr>
            <a:r>
              <a:rPr lang="en-IN" sz="2000"/>
              <a:t>Rear = - 1;</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0" marL="0" rtl="0" algn="l">
              <a:lnSpc>
                <a:spcPct val="100000"/>
              </a:lnSpc>
              <a:spcBef>
                <a:spcPts val="0"/>
              </a:spcBef>
              <a:spcAft>
                <a:spcPts val="0"/>
              </a:spcAft>
              <a:buClr>
                <a:schemeClr val="dk1"/>
              </a:buClr>
              <a:buSzPts val="3200"/>
              <a:buNone/>
            </a:pPr>
            <a:r>
              <a:rPr lang="en-IN" sz="2000"/>
              <a:t>	else</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1800"/>
              <a:t>X = DQ [ Front ];</a:t>
            </a:r>
            <a:endParaRPr sz="1800"/>
          </a:p>
          <a:p>
            <a:pPr indent="0" lvl="2" marL="1371600" rtl="0" algn="l">
              <a:lnSpc>
                <a:spcPct val="100000"/>
              </a:lnSpc>
              <a:spcBef>
                <a:spcPts val="0"/>
              </a:spcBef>
              <a:spcAft>
                <a:spcPts val="0"/>
              </a:spcAft>
              <a:buClr>
                <a:schemeClr val="dk1"/>
              </a:buClr>
              <a:buSzPts val="3200"/>
              <a:buNone/>
            </a:pPr>
            <a:r>
              <a:rPr lang="en-IN" sz="1800"/>
              <a:t>Front = Front + 1;</a:t>
            </a:r>
            <a:endParaRPr sz="1800"/>
          </a:p>
          <a:p>
            <a:pPr indent="0" lvl="0" marL="0" rtl="0" algn="l">
              <a:lnSpc>
                <a:spcPct val="100000"/>
              </a:lnSpc>
              <a:spcBef>
                <a:spcPts val="0"/>
              </a:spcBef>
              <a:spcAft>
                <a:spcPts val="0"/>
              </a:spcAft>
              <a:buClr>
                <a:schemeClr val="dk1"/>
              </a:buClr>
              <a:buSzPts val="3200"/>
              <a:buNone/>
            </a:pPr>
            <a:r>
              <a:rPr lang="en-IN" sz="2000"/>
              <a:t>	} </a:t>
            </a:r>
            <a:endParaRPr sz="2000"/>
          </a:p>
          <a:p>
            <a:pPr indent="0" lvl="0" marL="0" rtl="0" algn="l">
              <a:lnSpc>
                <a:spcPct val="100000"/>
              </a:lnSpc>
              <a:spcBef>
                <a:spcPts val="0"/>
              </a:spcBef>
              <a:spcAft>
                <a:spcPts val="0"/>
              </a:spcAft>
              <a:buClr>
                <a:schemeClr val="dk1"/>
              </a:buClr>
              <a:buSzPts val="3200"/>
              <a:buNone/>
            </a:pPr>
            <a:r>
              <a:rPr lang="en-IN" sz="2000"/>
              <a:t>}</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152400" y="265430"/>
            <a:ext cx="8229600" cy="93218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Times New Roman"/>
              <a:buNone/>
            </a:pPr>
            <a:r>
              <a:rPr lang="en-IN" sz="3200">
                <a:latin typeface="Times New Roman"/>
                <a:ea typeface="Times New Roman"/>
                <a:cs typeface="Times New Roman"/>
                <a:sym typeface="Times New Roman"/>
              </a:rPr>
              <a:t>Delete at rear</a:t>
            </a:r>
            <a:br>
              <a:rPr b="1" lang="en-IN" sz="3200">
                <a:solidFill>
                  <a:schemeClr val="dk1"/>
                </a:solidFill>
                <a:latin typeface="Times New Roman"/>
                <a:ea typeface="Times New Roman"/>
                <a:cs typeface="Times New Roman"/>
                <a:sym typeface="Times New Roman"/>
              </a:rPr>
            </a:br>
            <a:endParaRPr b="1" sz="3200">
              <a:solidFill>
                <a:schemeClr val="dk1"/>
              </a:solidFill>
              <a:latin typeface="Times New Roman"/>
              <a:ea typeface="Times New Roman"/>
              <a:cs typeface="Times New Roman"/>
              <a:sym typeface="Times New Roman"/>
            </a:endParaRPr>
          </a:p>
        </p:txBody>
      </p:sp>
      <p:pic>
        <p:nvPicPr>
          <p:cNvPr id="188" name="Google Shape;188;p16"/>
          <p:cNvPicPr preferRelativeResize="0"/>
          <p:nvPr/>
        </p:nvPicPr>
        <p:blipFill rotWithShape="1">
          <a:blip r:embed="rId3">
            <a:alphaModFix/>
          </a:blip>
          <a:srcRect b="0" l="0" r="0" t="0"/>
          <a:stretch/>
        </p:blipFill>
        <p:spPr>
          <a:xfrm>
            <a:off x="1076960" y="1776730"/>
            <a:ext cx="7383145" cy="2670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1107733" y="299"/>
            <a:ext cx="6929486" cy="70410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Times New Roman"/>
              <a:buNone/>
            </a:pPr>
            <a:r>
              <a:rPr lang="en-IN" sz="3200">
                <a:latin typeface="Times New Roman"/>
                <a:ea typeface="Times New Roman"/>
                <a:cs typeface="Times New Roman"/>
                <a:sym typeface="Times New Roman"/>
              </a:rPr>
              <a:t>Routine to delete an element from Rear end</a:t>
            </a:r>
            <a:endParaRPr sz="3200">
              <a:latin typeface="Times New Roman"/>
              <a:ea typeface="Times New Roman"/>
              <a:cs typeface="Times New Roman"/>
              <a:sym typeface="Times New Roman"/>
            </a:endParaRPr>
          </a:p>
        </p:txBody>
      </p:sp>
      <p:sp>
        <p:nvSpPr>
          <p:cNvPr id="194" name="Google Shape;194;p17"/>
          <p:cNvSpPr txBox="1"/>
          <p:nvPr>
            <p:ph idx="1" type="body"/>
          </p:nvPr>
        </p:nvSpPr>
        <p:spPr>
          <a:xfrm>
            <a:off x="457200" y="626110"/>
            <a:ext cx="8517890" cy="5868670"/>
          </a:xfrm>
          <a:prstGeom prst="rect">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None/>
            </a:pPr>
            <a:r>
              <a:t/>
            </a:r>
            <a:endParaRPr sz="2000"/>
          </a:p>
          <a:p>
            <a:pPr indent="0" lvl="0" marL="0" rtl="0" algn="l">
              <a:lnSpc>
                <a:spcPct val="100000"/>
              </a:lnSpc>
              <a:spcBef>
                <a:spcPts val="0"/>
              </a:spcBef>
              <a:spcAft>
                <a:spcPts val="0"/>
              </a:spcAft>
              <a:buClr>
                <a:schemeClr val="dk1"/>
              </a:buClr>
              <a:buSzPts val="3200"/>
              <a:buNone/>
            </a:pPr>
            <a:r>
              <a:rPr lang="en-IN" sz="2000"/>
              <a:t>void Delete_Rear(DEQUE DQ)</a:t>
            </a:r>
            <a:endParaRPr sz="2000"/>
          </a:p>
          <a:p>
            <a:pPr indent="0" lvl="0" marL="0" rtl="0" algn="l">
              <a:lnSpc>
                <a:spcPct val="100000"/>
              </a:lnSpc>
              <a:spcBef>
                <a:spcPts val="0"/>
              </a:spcBef>
              <a:spcAft>
                <a:spcPts val="0"/>
              </a:spcAft>
              <a:buClr>
                <a:schemeClr val="dk1"/>
              </a:buClr>
              <a:buSzPts val="3200"/>
              <a:buNone/>
            </a:pPr>
            <a:r>
              <a:rPr lang="en-IN" sz="2000"/>
              <a:t>{</a:t>
            </a:r>
            <a:endParaRPr sz="2000"/>
          </a:p>
          <a:p>
            <a:pPr indent="0" lvl="0" marL="0" rtl="0" algn="l">
              <a:lnSpc>
                <a:spcPct val="100000"/>
              </a:lnSpc>
              <a:spcBef>
                <a:spcPts val="0"/>
              </a:spcBef>
              <a:spcAft>
                <a:spcPts val="0"/>
              </a:spcAft>
              <a:buClr>
                <a:schemeClr val="dk1"/>
              </a:buClr>
              <a:buSzPts val="3200"/>
              <a:buNone/>
            </a:pPr>
            <a:r>
              <a:rPr lang="en-IN" sz="2000"/>
              <a:t>	if( Rear = = - 1)</a:t>
            </a:r>
            <a:endParaRPr sz="2000"/>
          </a:p>
          <a:p>
            <a:pPr indent="0" lvl="0" marL="0" rtl="0" algn="l">
              <a:lnSpc>
                <a:spcPct val="100000"/>
              </a:lnSpc>
              <a:spcBef>
                <a:spcPts val="0"/>
              </a:spcBef>
              <a:spcAft>
                <a:spcPts val="0"/>
              </a:spcAft>
              <a:buClr>
                <a:schemeClr val="dk1"/>
              </a:buClr>
              <a:buSzPts val="3200"/>
              <a:buNone/>
            </a:pPr>
            <a:r>
              <a:rPr lang="en-IN" sz="2000"/>
              <a:t>		Error(“Empty queue!!!! Deletion not possible”);</a:t>
            </a:r>
            <a:endParaRPr sz="2000"/>
          </a:p>
          <a:p>
            <a:pPr indent="0" lvl="0" marL="0" rtl="0" algn="l">
              <a:lnSpc>
                <a:spcPct val="100000"/>
              </a:lnSpc>
              <a:spcBef>
                <a:spcPts val="0"/>
              </a:spcBef>
              <a:spcAft>
                <a:spcPts val="0"/>
              </a:spcAft>
              <a:buClr>
                <a:schemeClr val="dk1"/>
              </a:buClr>
              <a:buSzPts val="3200"/>
              <a:buNone/>
            </a:pPr>
            <a:r>
              <a:rPr lang="en-IN" sz="2000"/>
              <a:t>	else if( Front = = Rear )</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2" marL="1371600" rtl="0" algn="l">
              <a:lnSpc>
                <a:spcPct val="100000"/>
              </a:lnSpc>
              <a:spcBef>
                <a:spcPts val="0"/>
              </a:spcBef>
              <a:spcAft>
                <a:spcPts val="0"/>
              </a:spcAft>
              <a:buClr>
                <a:schemeClr val="dk1"/>
              </a:buClr>
              <a:buSzPts val="3200"/>
              <a:buNone/>
            </a:pPr>
            <a:r>
              <a:rPr lang="en-IN" sz="1800"/>
              <a:t>X = DQ[ Rear ];</a:t>
            </a:r>
            <a:endParaRPr sz="1800"/>
          </a:p>
          <a:p>
            <a:pPr indent="0" lvl="2" marL="1371600" rtl="0" algn="l">
              <a:lnSpc>
                <a:spcPct val="100000"/>
              </a:lnSpc>
              <a:spcBef>
                <a:spcPts val="0"/>
              </a:spcBef>
              <a:spcAft>
                <a:spcPts val="0"/>
              </a:spcAft>
              <a:buClr>
                <a:schemeClr val="dk1"/>
              </a:buClr>
              <a:buSzPts val="3200"/>
              <a:buNone/>
            </a:pPr>
            <a:r>
              <a:rPr lang="en-IN" sz="1800"/>
              <a:t>Front = - 1;</a:t>
            </a:r>
            <a:endParaRPr sz="1800"/>
          </a:p>
          <a:p>
            <a:pPr indent="0" lvl="2" marL="1371600" rtl="0" algn="l">
              <a:lnSpc>
                <a:spcPct val="100000"/>
              </a:lnSpc>
              <a:spcBef>
                <a:spcPts val="0"/>
              </a:spcBef>
              <a:spcAft>
                <a:spcPts val="0"/>
              </a:spcAft>
              <a:buClr>
                <a:schemeClr val="dk1"/>
              </a:buClr>
              <a:buSzPts val="3200"/>
              <a:buNone/>
            </a:pPr>
            <a:r>
              <a:rPr lang="en-IN" sz="1800"/>
              <a:t>Rear = - 1;</a:t>
            </a:r>
            <a:endParaRPr sz="1800"/>
          </a:p>
          <a:p>
            <a:pPr indent="0" lvl="0" marL="0" rtl="0" algn="l">
              <a:lnSpc>
                <a:spcPct val="100000"/>
              </a:lnSpc>
              <a:spcBef>
                <a:spcPts val="0"/>
              </a:spcBef>
              <a:spcAft>
                <a:spcPts val="0"/>
              </a:spcAft>
              <a:buClr>
                <a:schemeClr val="dk1"/>
              </a:buClr>
              <a:buSzPts val="3200"/>
              <a:buNone/>
            </a:pPr>
            <a:r>
              <a:rPr lang="en-IN" sz="2000"/>
              <a:t>	}</a:t>
            </a:r>
            <a:endParaRPr sz="2000"/>
          </a:p>
          <a:p>
            <a:pPr indent="0" lvl="0" marL="0" rtl="0" algn="l">
              <a:lnSpc>
                <a:spcPct val="100000"/>
              </a:lnSpc>
              <a:spcBef>
                <a:spcPts val="0"/>
              </a:spcBef>
              <a:spcAft>
                <a:spcPts val="0"/>
              </a:spcAft>
              <a:buClr>
                <a:schemeClr val="dk1"/>
              </a:buClr>
              <a:buSzPts val="3200"/>
              <a:buNone/>
            </a:pPr>
            <a:r>
              <a:rPr lang="en-IN" sz="2000"/>
              <a:t>	else</a:t>
            </a:r>
            <a:endParaRPr sz="2000"/>
          </a:p>
          <a:p>
            <a:pPr indent="0" lvl="0" marL="0" rtl="0" algn="l">
              <a:lnSpc>
                <a:spcPct val="100000"/>
              </a:lnSpc>
              <a:spcBef>
                <a:spcPts val="0"/>
              </a:spcBef>
              <a:spcAft>
                <a:spcPts val="0"/>
              </a:spcAft>
              <a:buClr>
                <a:schemeClr val="dk1"/>
              </a:buClr>
              <a:buSzPts val="3200"/>
              <a:buNone/>
            </a:pPr>
            <a:r>
              <a:rPr lang="en-IN" sz="2000"/>
              <a:t>	{</a:t>
            </a:r>
            <a:endParaRPr sz="2000"/>
          </a:p>
          <a:p>
            <a:pPr indent="0" lvl="0" marL="0" rtl="0" algn="l">
              <a:lnSpc>
                <a:spcPct val="100000"/>
              </a:lnSpc>
              <a:spcBef>
                <a:spcPts val="0"/>
              </a:spcBef>
              <a:spcAft>
                <a:spcPts val="0"/>
              </a:spcAft>
              <a:buClr>
                <a:schemeClr val="dk1"/>
              </a:buClr>
              <a:buSzPts val="3200"/>
              <a:buNone/>
            </a:pPr>
            <a:r>
              <a:rPr lang="en-IN" sz="2000"/>
              <a:t>		X = DQ[ Rear ];</a:t>
            </a:r>
            <a:endParaRPr sz="2000"/>
          </a:p>
          <a:p>
            <a:pPr indent="0" lvl="0" marL="0" rtl="0" algn="l">
              <a:lnSpc>
                <a:spcPct val="100000"/>
              </a:lnSpc>
              <a:spcBef>
                <a:spcPts val="0"/>
              </a:spcBef>
              <a:spcAft>
                <a:spcPts val="0"/>
              </a:spcAft>
              <a:buClr>
                <a:schemeClr val="dk1"/>
              </a:buClr>
              <a:buSzPts val="3200"/>
              <a:buNone/>
            </a:pPr>
            <a:r>
              <a:rPr lang="en-IN" sz="2000"/>
              <a:t>		Rear = Rear - 1;</a:t>
            </a:r>
            <a:endParaRPr sz="2000"/>
          </a:p>
          <a:p>
            <a:pPr indent="0" lvl="0" marL="0" rtl="0" algn="l">
              <a:lnSpc>
                <a:spcPct val="100000"/>
              </a:lnSpc>
              <a:spcBef>
                <a:spcPts val="0"/>
              </a:spcBef>
              <a:spcAft>
                <a:spcPts val="0"/>
              </a:spcAft>
              <a:buClr>
                <a:schemeClr val="dk1"/>
              </a:buClr>
              <a:buSzPts val="3200"/>
              <a:buNone/>
            </a:pPr>
            <a:r>
              <a:rPr lang="en-IN" sz="2000"/>
              <a:t>	} </a:t>
            </a:r>
            <a:endParaRPr sz="2000"/>
          </a:p>
          <a:p>
            <a:pPr indent="0" lvl="0" marL="0" rtl="0" algn="l">
              <a:lnSpc>
                <a:spcPct val="100000"/>
              </a:lnSpc>
              <a:spcBef>
                <a:spcPts val="0"/>
              </a:spcBef>
              <a:spcAft>
                <a:spcPts val="0"/>
              </a:spcAft>
              <a:buClr>
                <a:schemeClr val="dk1"/>
              </a:buClr>
              <a:buSzPts val="3200"/>
              <a:buNone/>
            </a:pPr>
            <a:r>
              <a:rPr lang="en-IN" sz="2000"/>
              <a:t>}</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428596" y="500042"/>
            <a:ext cx="8301038" cy="8469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APPLICATIONS OF DEQUE</a:t>
            </a:r>
            <a:endParaRPr b="1" sz="3200">
              <a:solidFill>
                <a:schemeClr val="dk1"/>
              </a:solidFill>
              <a:latin typeface="Times New Roman"/>
              <a:ea typeface="Times New Roman"/>
              <a:cs typeface="Times New Roman"/>
              <a:sym typeface="Times New Roman"/>
            </a:endParaRPr>
          </a:p>
        </p:txBody>
      </p:sp>
      <p:sp>
        <p:nvSpPr>
          <p:cNvPr id="200" name="Google Shape;200;p18"/>
          <p:cNvSpPr txBox="1"/>
          <p:nvPr>
            <p:ph idx="1" type="body"/>
          </p:nvPr>
        </p:nvSpPr>
        <p:spPr>
          <a:xfrm>
            <a:off x="357158" y="1571612"/>
            <a:ext cx="8329642" cy="475298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None/>
            </a:pPr>
            <a:r>
              <a:rPr b="1" lang="en-IN" sz="2400">
                <a:latin typeface="Times New Roman"/>
                <a:ea typeface="Times New Roman"/>
                <a:cs typeface="Times New Roman"/>
                <a:sym typeface="Times New Roman"/>
              </a:rPr>
              <a:t>Palindrome-checker</a:t>
            </a:r>
            <a:endParaRPr b="1" sz="2400">
              <a:latin typeface="Times New Roman"/>
              <a:ea typeface="Times New Roman"/>
              <a:cs typeface="Times New Roman"/>
              <a:sym typeface="Times New Roman"/>
            </a:endParaRPr>
          </a:p>
          <a:p>
            <a:pPr indent="-139700" lvl="0" marL="342900" rtl="0" algn="l">
              <a:lnSpc>
                <a:spcPct val="100000"/>
              </a:lnSpc>
              <a:spcBef>
                <a:spcPts val="640"/>
              </a:spcBef>
              <a:spcAft>
                <a:spcPts val="0"/>
              </a:spcAft>
              <a:buClr>
                <a:schemeClr val="dk1"/>
              </a:buClr>
              <a:buSzPts val="3200"/>
              <a:buNone/>
            </a:pPr>
            <a:r>
              <a:t/>
            </a:r>
            <a:endParaRPr b="1" sz="2400">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None/>
            </a:pPr>
            <a:r>
              <a:rPr lang="en-IN"/>
              <a:t>      </a:t>
            </a:r>
            <a:endParaRPr/>
          </a:p>
          <a:p>
            <a:pPr indent="-3429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None/>
            </a:pPr>
            <a:r>
              <a:t/>
            </a:r>
            <a:endParaRPr/>
          </a:p>
        </p:txBody>
      </p:sp>
      <p:pic>
        <p:nvPicPr>
          <p:cNvPr id="201" name="Google Shape;201;p18"/>
          <p:cNvPicPr preferRelativeResize="0"/>
          <p:nvPr/>
        </p:nvPicPr>
        <p:blipFill rotWithShape="1">
          <a:blip r:embed="rId3">
            <a:alphaModFix/>
          </a:blip>
          <a:srcRect b="0" l="0" r="0" t="0"/>
          <a:stretch/>
        </p:blipFill>
        <p:spPr>
          <a:xfrm>
            <a:off x="571472" y="2214554"/>
            <a:ext cx="7858180" cy="3898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457200" y="274638"/>
            <a:ext cx="8229600" cy="939784"/>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APPLICATIONS OF DEQUE</a:t>
            </a:r>
            <a:endParaRPr b="1" sz="3200">
              <a:solidFill>
                <a:schemeClr val="dk1"/>
              </a:solidFill>
              <a:latin typeface="Times New Roman"/>
              <a:ea typeface="Times New Roman"/>
              <a:cs typeface="Times New Roman"/>
              <a:sym typeface="Times New Roman"/>
            </a:endParaRPr>
          </a:p>
        </p:txBody>
      </p:sp>
      <p:sp>
        <p:nvSpPr>
          <p:cNvPr id="207" name="Google Shape;207;p19"/>
          <p:cNvSpPr txBox="1"/>
          <p:nvPr>
            <p:ph idx="1" type="body"/>
          </p:nvPr>
        </p:nvSpPr>
        <p:spPr>
          <a:xfrm>
            <a:off x="428596" y="1285860"/>
            <a:ext cx="8072494" cy="5357850"/>
          </a:xfrm>
          <a:prstGeom prst="rect">
            <a:avLst/>
          </a:prstGeom>
          <a:noFill/>
          <a:ln>
            <a:noFill/>
          </a:ln>
        </p:spPr>
        <p:txBody>
          <a:bodyPr anchorCtr="0" anchor="t" bIns="45700" lIns="91425" spcFirstLastPara="1" rIns="91425" wrap="square" tIns="45700">
            <a:normAutofit/>
          </a:bodyPr>
          <a:lstStyle/>
          <a:p>
            <a:pPr indent="-342900" lvl="0" marL="342900" rtl="0" algn="just">
              <a:lnSpc>
                <a:spcPct val="150000"/>
              </a:lnSpc>
              <a:spcBef>
                <a:spcPts val="0"/>
              </a:spcBef>
              <a:spcAft>
                <a:spcPts val="0"/>
              </a:spcAft>
              <a:buClr>
                <a:schemeClr val="dk1"/>
              </a:buClr>
              <a:buSzPts val="2400"/>
              <a:buNone/>
            </a:pPr>
            <a:r>
              <a:rPr b="1" lang="en-IN" sz="2000">
                <a:latin typeface="Times New Roman"/>
                <a:ea typeface="Times New Roman"/>
                <a:cs typeface="Times New Roman"/>
                <a:sym typeface="Times New Roman"/>
              </a:rPr>
              <a:t>A-Steal job scheduling algorithm</a:t>
            </a:r>
            <a:endParaRPr b="1" sz="2000">
              <a:latin typeface="Times New Roman"/>
              <a:ea typeface="Times New Roman"/>
              <a:cs typeface="Times New Roman"/>
              <a:sym typeface="Times New Roman"/>
            </a:endParaRPr>
          </a:p>
          <a:p>
            <a:pPr indent="-342900" lvl="0" marL="342900" rtl="0" algn="just">
              <a:lnSpc>
                <a:spcPct val="150000"/>
              </a:lnSpc>
              <a:spcBef>
                <a:spcPts val="480"/>
              </a:spcBef>
              <a:spcAft>
                <a:spcPts val="0"/>
              </a:spcAft>
              <a:buClr>
                <a:schemeClr val="dk1"/>
              </a:buClr>
              <a:buSzPts val="2400"/>
              <a:buChar char="•"/>
            </a:pPr>
            <a:r>
              <a:rPr lang="en-IN" sz="2000">
                <a:latin typeface="Times New Roman"/>
                <a:ea typeface="Times New Roman"/>
                <a:cs typeface="Times New Roman"/>
                <a:sym typeface="Times New Roman"/>
              </a:rPr>
              <a:t>The A-Steal algorithm implements task scheduling for several processors(multiprocessor scheduling).</a:t>
            </a:r>
            <a:endParaRPr sz="2000">
              <a:latin typeface="Times New Roman"/>
              <a:ea typeface="Times New Roman"/>
              <a:cs typeface="Times New Roman"/>
              <a:sym typeface="Times New Roman"/>
            </a:endParaRPr>
          </a:p>
          <a:p>
            <a:pPr indent="-342900" lvl="0" marL="342900" rtl="0" algn="just">
              <a:lnSpc>
                <a:spcPct val="150000"/>
              </a:lnSpc>
              <a:spcBef>
                <a:spcPts val="480"/>
              </a:spcBef>
              <a:spcAft>
                <a:spcPts val="0"/>
              </a:spcAft>
              <a:buClr>
                <a:schemeClr val="dk1"/>
              </a:buClr>
              <a:buSzPts val="2400"/>
              <a:buChar char="•"/>
            </a:pPr>
            <a:r>
              <a:rPr lang="en-IN" sz="2000">
                <a:latin typeface="Times New Roman"/>
                <a:ea typeface="Times New Roman"/>
                <a:cs typeface="Times New Roman"/>
                <a:sym typeface="Times New Roman"/>
              </a:rPr>
              <a:t>The processor gets the ﬁrst element from the deque.</a:t>
            </a:r>
            <a:endParaRPr sz="2000">
              <a:latin typeface="Times New Roman"/>
              <a:ea typeface="Times New Roman"/>
              <a:cs typeface="Times New Roman"/>
              <a:sym typeface="Times New Roman"/>
            </a:endParaRPr>
          </a:p>
          <a:p>
            <a:pPr indent="-342900" lvl="0" marL="342900" rtl="0" algn="just">
              <a:lnSpc>
                <a:spcPct val="150000"/>
              </a:lnSpc>
              <a:spcBef>
                <a:spcPts val="480"/>
              </a:spcBef>
              <a:spcAft>
                <a:spcPts val="0"/>
              </a:spcAft>
              <a:buClr>
                <a:schemeClr val="dk1"/>
              </a:buClr>
              <a:buSzPts val="2400"/>
              <a:buChar char="•"/>
            </a:pPr>
            <a:r>
              <a:rPr lang="en-IN" sz="2000">
                <a:latin typeface="Times New Roman"/>
                <a:ea typeface="Times New Roman"/>
                <a:cs typeface="Times New Roman"/>
                <a:sym typeface="Times New Roman"/>
              </a:rPr>
              <a:t>When one of the processor completes execution of its own threads it can steal a thread from another processor.</a:t>
            </a:r>
            <a:endParaRPr sz="2000">
              <a:latin typeface="Times New Roman"/>
              <a:ea typeface="Times New Roman"/>
              <a:cs typeface="Times New Roman"/>
              <a:sym typeface="Times New Roman"/>
            </a:endParaRPr>
          </a:p>
          <a:p>
            <a:pPr indent="-342900" lvl="0" marL="342900" rtl="0" algn="just">
              <a:lnSpc>
                <a:spcPct val="150000"/>
              </a:lnSpc>
              <a:spcBef>
                <a:spcPts val="480"/>
              </a:spcBef>
              <a:spcAft>
                <a:spcPts val="0"/>
              </a:spcAft>
              <a:buClr>
                <a:schemeClr val="dk1"/>
              </a:buClr>
              <a:buSzPts val="2400"/>
              <a:buChar char="•"/>
            </a:pPr>
            <a:r>
              <a:rPr lang="en-IN" sz="2000">
                <a:latin typeface="Times New Roman"/>
                <a:ea typeface="Times New Roman"/>
                <a:cs typeface="Times New Roman"/>
                <a:sym typeface="Times New Roman"/>
              </a:rPr>
              <a:t> It gets the last element from the deque of another processor and executes it.</a:t>
            </a:r>
            <a:endParaRPr sz="2000">
              <a:latin typeface="Times New Roman"/>
              <a:ea typeface="Times New Roman"/>
              <a:cs typeface="Times New Roman"/>
              <a:sym typeface="Times New Roman"/>
            </a:endParaRPr>
          </a:p>
          <a:p>
            <a:pPr indent="-342900" lvl="0" marL="342900" rtl="0" algn="just">
              <a:lnSpc>
                <a:spcPct val="150000"/>
              </a:lnSpc>
              <a:spcBef>
                <a:spcPts val="480"/>
              </a:spcBef>
              <a:spcAft>
                <a:spcPts val="0"/>
              </a:spcAft>
              <a:buClr>
                <a:schemeClr val="dk1"/>
              </a:buClr>
              <a:buSzPts val="2400"/>
              <a:buNone/>
            </a:pPr>
            <a:r>
              <a:t/>
            </a:r>
            <a:endParaRPr sz="20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type="title"/>
          </p:nvPr>
        </p:nvSpPr>
        <p:spPr>
          <a:xfrm>
            <a:off x="457200" y="153353"/>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t> </a:t>
            </a:r>
            <a:r>
              <a:rPr b="1" lang="en-IN" sz="2200">
                <a:solidFill>
                  <a:schemeClr val="dk1"/>
                </a:solidFill>
                <a:latin typeface="Times New Roman"/>
                <a:ea typeface="Times New Roman"/>
                <a:cs typeface="Times New Roman"/>
                <a:sym typeface="Times New Roman"/>
              </a:rPr>
              <a:t>OTHER APPLICATIONS OF DEQUE</a:t>
            </a:r>
            <a:endParaRPr b="1" sz="2200">
              <a:solidFill>
                <a:schemeClr val="dk1"/>
              </a:solidFill>
              <a:latin typeface="Times New Roman"/>
              <a:ea typeface="Times New Roman"/>
              <a:cs typeface="Times New Roman"/>
              <a:sym typeface="Times New Roman"/>
            </a:endParaRPr>
          </a:p>
        </p:txBody>
      </p:sp>
      <p:sp>
        <p:nvSpPr>
          <p:cNvPr id="213" name="Google Shape;213;p20"/>
          <p:cNvSpPr txBox="1"/>
          <p:nvPr>
            <p:ph idx="1" type="body"/>
          </p:nvPr>
        </p:nvSpPr>
        <p:spPr>
          <a:xfrm>
            <a:off x="457200" y="1600200"/>
            <a:ext cx="8229600" cy="3538855"/>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n-IN" sz="2400">
                <a:latin typeface="Times New Roman"/>
                <a:ea typeface="Times New Roman"/>
                <a:cs typeface="Times New Roman"/>
                <a:sym typeface="Times New Roman"/>
              </a:rPr>
              <a:t>Undo-Redo</a:t>
            </a:r>
            <a:r>
              <a:rPr lang="en-IN" sz="2400">
                <a:latin typeface="Times New Roman"/>
                <a:ea typeface="Times New Roman"/>
                <a:cs typeface="Times New Roman"/>
                <a:sym typeface="Times New Roman"/>
              </a:rPr>
              <a:t> operations in Software applications.</a:t>
            </a:r>
            <a:endParaRPr sz="2400">
              <a:latin typeface="Times New Roman"/>
              <a:ea typeface="Times New Roman"/>
              <a:cs typeface="Times New Roman"/>
              <a:sym typeface="Times New Roman"/>
            </a:endParaRPr>
          </a:p>
          <a:p>
            <a:pPr indent="-342900" lvl="0" marL="342900" rtl="0" algn="just">
              <a:lnSpc>
                <a:spcPct val="100000"/>
              </a:lnSpc>
              <a:spcBef>
                <a:spcPts val="640"/>
              </a:spcBef>
              <a:spcAft>
                <a:spcPts val="0"/>
              </a:spcAft>
              <a:buClr>
                <a:schemeClr val="dk1"/>
              </a:buClr>
              <a:buSzPts val="3200"/>
              <a:buChar char="•"/>
            </a:pPr>
            <a:r>
              <a:rPr b="1" lang="en-IN" sz="2400">
                <a:latin typeface="Times New Roman"/>
                <a:ea typeface="Times New Roman"/>
                <a:cs typeface="Times New Roman"/>
                <a:sym typeface="Times New Roman"/>
              </a:rPr>
              <a:t>Storing a web browser's history</a:t>
            </a:r>
            <a:r>
              <a:rPr lang="en-IN" sz="2400">
                <a:latin typeface="Times New Roman"/>
                <a:ea typeface="Times New Roman"/>
                <a:cs typeface="Times New Roman"/>
                <a:sym typeface="Times New Roman"/>
              </a:rPr>
              <a:t>. Recently visited URLs are added to the front of the deque, and the URL at the back of the deque is removed after some specified number of insertions at the front.</a:t>
            </a:r>
            <a:endParaRPr sz="2400">
              <a:latin typeface="Times New Roman"/>
              <a:ea typeface="Times New Roman"/>
              <a:cs typeface="Times New Roman"/>
              <a:sym typeface="Times New Roman"/>
            </a:endParaRPr>
          </a:p>
          <a:p>
            <a:pPr indent="-139700" lvl="0" marL="342900" rtl="0" algn="l">
              <a:lnSpc>
                <a:spcPct val="100000"/>
              </a:lnSpc>
              <a:spcBef>
                <a:spcPts val="640"/>
              </a:spcBef>
              <a:spcAft>
                <a:spcPts val="0"/>
              </a:spcAft>
              <a:buClr>
                <a:schemeClr val="dk1"/>
              </a:buClr>
              <a:buSzPts val="3200"/>
              <a:buNone/>
            </a:pPr>
            <a:r>
              <a:t/>
            </a:r>
            <a:endParaRPr sz="2400">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None/>
            </a:pPr>
            <a:r>
              <a:t/>
            </a:r>
            <a:endParaRPr sz="24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21"/>
          <p:cNvPicPr preferRelativeResize="0"/>
          <p:nvPr>
            <p:ph idx="2" type="pic"/>
          </p:nvPr>
        </p:nvPicPr>
        <p:blipFill rotWithShape="1">
          <a:blip r:embed="rId3">
            <a:alphaModFix/>
          </a:blip>
          <a:srcRect b="0" l="0" r="0" t="0"/>
          <a:stretch/>
        </p:blipFill>
        <p:spPr>
          <a:xfrm>
            <a:off x="-614060" y="-3253065"/>
            <a:ext cx="7258050" cy="573913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2016-07-05T07:56:00Z</dcterms:created>
  <dc:creator>EDVIN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55FCF8D7021D4C9DB2E64B6466A9764E</vt:lpwstr>
  </property>
  <property fmtid="{D5CDD505-2E9C-101B-9397-08002B2CF9AE}" pid="3" name="KSOProductBuildVer">
    <vt:lpwstr>1033-11.2.0.11537</vt:lpwstr>
  </property>
</Properties>
</file>