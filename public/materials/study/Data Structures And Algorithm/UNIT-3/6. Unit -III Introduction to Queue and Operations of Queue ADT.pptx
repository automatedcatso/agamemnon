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Palatino Linotype"/>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5" roundtripDataSignature="AMtx7miXqXFb7+9WN9nBWfW+aNwqDHg2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42A067-1ACE-4340-A103-8379F7FA6FA7}">
  <a:tblStyle styleId="{B442A067-1ACE-4340-A103-8379F7FA6FA7}"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alatinoLinotype-bold.fntdata"/><Relationship Id="rId21" Type="http://schemas.openxmlformats.org/officeDocument/2006/relationships/font" Target="fonts/PalatinoLinotype-regular.fntdata"/><Relationship Id="rId24" Type="http://schemas.openxmlformats.org/officeDocument/2006/relationships/font" Target="fonts/PalatinoLinotype-boldItalic.fntdata"/><Relationship Id="rId23" Type="http://schemas.openxmlformats.org/officeDocument/2006/relationships/font" Target="fonts/PalatinoLinotype-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p:nvPr>
            <p:ph idx="2" type="pic"/>
          </p:nvPr>
        </p:nvSpPr>
        <p:spPr>
          <a:xfrm>
            <a:off x="5183188" y="987425"/>
            <a:ext cx="6172200" cy="4873625"/>
          </a:xfrm>
          <a:prstGeom prst="rect">
            <a:avLst/>
          </a:prstGeom>
          <a:noFill/>
          <a:ln>
            <a:noFill/>
          </a:ln>
        </p:spPr>
      </p:sp>
      <p:sp>
        <p:nvSpPr>
          <p:cNvPr id="69" name="Google Shape;69;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5"/>
          <p:cNvSpPr/>
          <p:nvPr/>
        </p:nvSpPr>
        <p:spPr>
          <a:xfrm>
            <a:off x="10504715" y="230188"/>
            <a:ext cx="1231640" cy="690465"/>
          </a:xfrm>
          <a:prstGeom prst="rect">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23392" y="908720"/>
            <a:ext cx="11089232" cy="5472608"/>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ph type="ctrTitle"/>
          </p:nvPr>
        </p:nvSpPr>
        <p:spPr>
          <a:xfrm>
            <a:off x="1524000" y="3645024"/>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alatino Linotype"/>
              <a:buNone/>
            </a:pP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21CSC201J</a:t>
            </a: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DATA STRUCTURES AND ALGORITHMS</a:t>
            </a: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UNIT-3</a:t>
            </a: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Topic : </a:t>
            </a:r>
            <a:r>
              <a:rPr b="1" i="0" lang="en-US" sz="4800" u="none" cap="none" strike="noStrike">
                <a:solidFill>
                  <a:srgbClr val="000000"/>
                </a:solidFill>
                <a:latin typeface="Cambria"/>
                <a:ea typeface="Cambria"/>
                <a:cs typeface="Cambria"/>
                <a:sym typeface="Cambria"/>
              </a:rPr>
              <a:t>Introduction to Queue, Operations on Queue ADT - Create, Enqueue and Dequeue</a:t>
            </a:r>
            <a:endParaRPr b="1" i="0" sz="4800" u="none" cap="none" strike="noStrike">
              <a:solidFill>
                <a:schemeClr val="dk1"/>
              </a:solidFill>
              <a:latin typeface="Palatino Linotype"/>
              <a:ea typeface="Palatino Linotype"/>
              <a:cs typeface="Palatino Linotype"/>
              <a:sym typeface="Palatino Linotype"/>
            </a:endParaRPr>
          </a:p>
        </p:txBody>
      </p:sp>
      <p:sp>
        <p:nvSpPr>
          <p:cNvPr id="91" name="Google Shape;91;p1"/>
          <p:cNvSpPr txBox="1"/>
          <p:nvPr/>
        </p:nvSpPr>
        <p:spPr>
          <a:xfrm>
            <a:off x="1106125" y="1229025"/>
            <a:ext cx="70791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n-US" sz="3400" u="none" cap="none" strike="noStrike">
                <a:solidFill>
                  <a:srgbClr val="000000"/>
                </a:solidFill>
                <a:latin typeface="Calibri"/>
                <a:ea typeface="Calibri"/>
                <a:cs typeface="Calibri"/>
                <a:sym typeface="Calibri"/>
              </a:rPr>
              <a:t>before</a:t>
            </a:r>
            <a:endParaRPr b="0" i="0" sz="3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156803"/>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Times New Roman"/>
              <a:buNone/>
            </a:pPr>
            <a:r>
              <a:rPr b="1" i="0" lang="en-US" sz="4000" u="none" cap="none" strike="noStrike">
                <a:solidFill>
                  <a:srgbClr val="000000"/>
                </a:solidFill>
                <a:latin typeface="Times New Roman"/>
                <a:ea typeface="Times New Roman"/>
                <a:cs typeface="Times New Roman"/>
                <a:sym typeface="Times New Roman"/>
              </a:rPr>
              <a:t>Introduction to Queue</a:t>
            </a:r>
            <a:endParaRPr b="1" i="0" sz="4000" u="none" cap="none" strike="noStrike">
              <a:solidFill>
                <a:schemeClr val="dk1"/>
              </a:solidFill>
              <a:latin typeface="Times New Roman"/>
              <a:ea typeface="Times New Roman"/>
              <a:cs typeface="Times New Roman"/>
              <a:sym typeface="Times New Roman"/>
            </a:endParaRPr>
          </a:p>
        </p:txBody>
      </p:sp>
      <p:sp>
        <p:nvSpPr>
          <p:cNvPr id="97" name="Google Shape;97;p2"/>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228600" lvl="1" marL="685800" marR="0" rtl="0" algn="just">
              <a:lnSpc>
                <a:spcPct val="100000"/>
              </a:lnSpc>
              <a:spcBef>
                <a:spcPts val="500"/>
              </a:spcBef>
              <a:spcAft>
                <a:spcPts val="0"/>
              </a:spcAft>
              <a:buClr>
                <a:srgbClr val="333333"/>
              </a:buClr>
              <a:buSzPts val="1800"/>
              <a:buFont typeface="Arial"/>
              <a:buChar char="•"/>
            </a:pPr>
            <a:r>
              <a:rPr b="0" i="0" lang="en-US" sz="1800" u="none" cap="none" strike="noStrike">
                <a:solidFill>
                  <a:srgbClr val="333333"/>
                </a:solidFill>
                <a:latin typeface="Times New Roman"/>
                <a:ea typeface="Times New Roman"/>
                <a:cs typeface="Times New Roman"/>
                <a:sym typeface="Times New Roman"/>
              </a:rPr>
              <a:t>Queue is a </a:t>
            </a:r>
            <a:r>
              <a:rPr b="0" i="0" lang="en-US" sz="1800" u="none" cap="none" strike="noStrike">
                <a:solidFill>
                  <a:srgbClr val="333333"/>
                </a:solidFill>
                <a:highlight>
                  <a:srgbClr val="00FF00"/>
                </a:highlight>
                <a:latin typeface="Times New Roman"/>
                <a:ea typeface="Times New Roman"/>
                <a:cs typeface="Times New Roman"/>
                <a:sym typeface="Times New Roman"/>
              </a:rPr>
              <a:t>linear data structure in which the insertion and deletion operations are performed at two different ends</a:t>
            </a:r>
            <a:r>
              <a:rPr b="0" i="0" lang="en-US" sz="1800" u="none" cap="none" strike="noStrike">
                <a:solidFill>
                  <a:srgbClr val="333333"/>
                </a:solidFill>
                <a:latin typeface="Times New Roman"/>
                <a:ea typeface="Times New Roman"/>
                <a:cs typeface="Times New Roman"/>
                <a:sym typeface="Times New Roman"/>
              </a:rPr>
              <a:t>. </a:t>
            </a:r>
            <a:endParaRPr/>
          </a:p>
          <a:p>
            <a:pPr indent="-228600" lvl="1" marL="685800" marR="0" rtl="0" algn="just">
              <a:lnSpc>
                <a:spcPct val="100000"/>
              </a:lnSpc>
              <a:spcBef>
                <a:spcPts val="500"/>
              </a:spcBef>
              <a:spcAft>
                <a:spcPts val="0"/>
              </a:spcAft>
              <a:buClr>
                <a:srgbClr val="333333"/>
              </a:buClr>
              <a:buSzPts val="1800"/>
              <a:buFont typeface="Arial"/>
              <a:buChar char="•"/>
            </a:pPr>
            <a:r>
              <a:rPr b="0" i="0" lang="en-US" sz="1800" u="none" cap="none" strike="noStrike">
                <a:solidFill>
                  <a:srgbClr val="333333"/>
                </a:solidFill>
                <a:latin typeface="Times New Roman"/>
                <a:ea typeface="Times New Roman"/>
                <a:cs typeface="Times New Roman"/>
                <a:sym typeface="Times New Roman"/>
              </a:rPr>
              <a:t>In queue data structure, the insertion and deletion operations are performed based on </a:t>
            </a:r>
            <a:r>
              <a:rPr b="1" i="0" lang="en-US" sz="1800" u="none" cap="none" strike="noStrike">
                <a:solidFill>
                  <a:srgbClr val="333333"/>
                </a:solidFill>
                <a:highlight>
                  <a:srgbClr val="00FF00"/>
                </a:highlight>
                <a:latin typeface="Times New Roman"/>
                <a:ea typeface="Times New Roman"/>
                <a:cs typeface="Times New Roman"/>
                <a:sym typeface="Times New Roman"/>
              </a:rPr>
              <a:t>FIFO (First In First Out)</a:t>
            </a:r>
            <a:r>
              <a:rPr b="0" i="0" lang="en-US" sz="1800" u="none" cap="none" strike="noStrike">
                <a:solidFill>
                  <a:srgbClr val="333333"/>
                </a:solidFill>
                <a:highlight>
                  <a:srgbClr val="00FF00"/>
                </a:highlight>
                <a:latin typeface="Times New Roman"/>
                <a:ea typeface="Times New Roman"/>
                <a:cs typeface="Times New Roman"/>
                <a:sym typeface="Times New Roman"/>
              </a:rPr>
              <a:t> principle.</a:t>
            </a:r>
            <a:endParaRPr b="0" i="0" sz="1800" u="none" cap="none" strike="noStrike">
              <a:solidFill>
                <a:srgbClr val="333333"/>
              </a:solidFill>
              <a:highlight>
                <a:srgbClr val="00FF00"/>
              </a:highlight>
              <a:latin typeface="Times New Roman"/>
              <a:ea typeface="Times New Roman"/>
              <a:cs typeface="Times New Roman"/>
              <a:sym typeface="Times New Roman"/>
            </a:endParaRPr>
          </a:p>
          <a:p>
            <a:pPr indent="-228600" lvl="1" marL="685800" marR="0" rtl="0" algn="just">
              <a:lnSpc>
                <a:spcPct val="100000"/>
              </a:lnSpc>
              <a:spcBef>
                <a:spcPts val="500"/>
              </a:spcBef>
              <a:spcAft>
                <a:spcPts val="0"/>
              </a:spcAft>
              <a:buClr>
                <a:srgbClr val="333333"/>
              </a:buClr>
              <a:buSzPts val="1800"/>
              <a:buFont typeface="Arial"/>
              <a:buChar char="•"/>
            </a:pPr>
            <a:r>
              <a:rPr b="0" i="0" lang="en-US" sz="1800" u="none" cap="none" strike="noStrike">
                <a:solidFill>
                  <a:srgbClr val="333333"/>
                </a:solidFill>
                <a:latin typeface="Times New Roman"/>
                <a:ea typeface="Times New Roman"/>
                <a:cs typeface="Times New Roman"/>
                <a:sym typeface="Times New Roman"/>
              </a:rPr>
              <a:t>The insertion is performed at one end and deletion is performed at another end. </a:t>
            </a:r>
            <a:endParaRPr/>
          </a:p>
          <a:p>
            <a:pPr indent="-228600" lvl="1" marL="685800" marR="0" rtl="0" algn="just">
              <a:lnSpc>
                <a:spcPct val="100000"/>
              </a:lnSpc>
              <a:spcBef>
                <a:spcPts val="500"/>
              </a:spcBef>
              <a:spcAft>
                <a:spcPts val="0"/>
              </a:spcAft>
              <a:buClr>
                <a:srgbClr val="333333"/>
              </a:buClr>
              <a:buSzPts val="1800"/>
              <a:buFont typeface="Arial"/>
              <a:buChar char="•"/>
            </a:pPr>
            <a:r>
              <a:rPr b="0" i="0" lang="en-US" sz="1800" u="none" cap="none" strike="noStrike">
                <a:solidFill>
                  <a:srgbClr val="333333"/>
                </a:solidFill>
                <a:latin typeface="Times New Roman"/>
                <a:ea typeface="Times New Roman"/>
                <a:cs typeface="Times New Roman"/>
                <a:sym typeface="Times New Roman"/>
              </a:rPr>
              <a:t>In a queue data structure, th</a:t>
            </a:r>
            <a:r>
              <a:rPr b="0" i="0" lang="en-US" sz="1800" u="none" cap="none" strike="noStrike">
                <a:solidFill>
                  <a:srgbClr val="333333"/>
                </a:solidFill>
                <a:highlight>
                  <a:srgbClr val="00FF00"/>
                </a:highlight>
                <a:latin typeface="Times New Roman"/>
                <a:ea typeface="Times New Roman"/>
                <a:cs typeface="Times New Roman"/>
                <a:sym typeface="Times New Roman"/>
              </a:rPr>
              <a:t>e insertion operation is performed at a position which is known as '</a:t>
            </a:r>
            <a:r>
              <a:rPr b="1" i="0" lang="en-US" sz="1800" u="none" cap="none" strike="noStrike">
                <a:solidFill>
                  <a:srgbClr val="333333"/>
                </a:solidFill>
                <a:highlight>
                  <a:srgbClr val="00FF00"/>
                </a:highlight>
                <a:latin typeface="Times New Roman"/>
                <a:ea typeface="Times New Roman"/>
                <a:cs typeface="Times New Roman"/>
                <a:sym typeface="Times New Roman"/>
              </a:rPr>
              <a:t>rear</a:t>
            </a:r>
            <a:r>
              <a:rPr b="0" i="0" lang="en-US" sz="1800" u="none" cap="none" strike="noStrike">
                <a:solidFill>
                  <a:srgbClr val="333333"/>
                </a:solidFill>
                <a:highlight>
                  <a:srgbClr val="00FF00"/>
                </a:highlight>
                <a:latin typeface="Times New Roman"/>
                <a:ea typeface="Times New Roman"/>
                <a:cs typeface="Times New Roman"/>
                <a:sym typeface="Times New Roman"/>
              </a:rPr>
              <a:t>' and the deletion operation is performed at a position which is known as '</a:t>
            </a:r>
            <a:r>
              <a:rPr b="1" i="0" lang="en-US" sz="1800" u="none" cap="none" strike="noStrike">
                <a:solidFill>
                  <a:srgbClr val="333333"/>
                </a:solidFill>
                <a:highlight>
                  <a:srgbClr val="00FF00"/>
                </a:highlight>
                <a:latin typeface="Times New Roman"/>
                <a:ea typeface="Times New Roman"/>
                <a:cs typeface="Times New Roman"/>
                <a:sym typeface="Times New Roman"/>
              </a:rPr>
              <a:t>front</a:t>
            </a:r>
            <a:r>
              <a:rPr b="0" i="0" lang="en-US" sz="1800" u="none" cap="none" strike="noStrike">
                <a:solidFill>
                  <a:srgbClr val="333333"/>
                </a:solidFill>
                <a:highlight>
                  <a:srgbClr val="00FF00"/>
                </a:highlight>
                <a:latin typeface="Times New Roman"/>
                <a:ea typeface="Times New Roman"/>
                <a:cs typeface="Times New Roman"/>
                <a:sym typeface="Times New Roman"/>
              </a:rPr>
              <a:t>'.</a:t>
            </a:r>
            <a:endParaRPr b="0" i="0" sz="2400" u="none" cap="none" strike="noStrike">
              <a:solidFill>
                <a:schemeClr val="dk1"/>
              </a:solidFill>
              <a:highlight>
                <a:srgbClr val="00FF00"/>
              </a:highlight>
              <a:latin typeface="Times New Roman"/>
              <a:ea typeface="Times New Roman"/>
              <a:cs typeface="Times New Roman"/>
              <a:sym typeface="Times New Roman"/>
            </a:endParaRPr>
          </a:p>
        </p:txBody>
      </p:sp>
      <p:pic>
        <p:nvPicPr>
          <p:cNvPr descr="Queue ADT" id="98" name="Google Shape;98;p2"/>
          <p:cNvPicPr preferRelativeResize="0"/>
          <p:nvPr/>
        </p:nvPicPr>
        <p:blipFill rotWithShape="1">
          <a:blip r:embed="rId3">
            <a:alphaModFix/>
          </a:blip>
          <a:srcRect b="0" l="0" r="0" t="0"/>
          <a:stretch/>
        </p:blipFill>
        <p:spPr>
          <a:xfrm>
            <a:off x="1203956" y="4149080"/>
            <a:ext cx="9068508" cy="22322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196975"/>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Times New Roman"/>
              <a:buNone/>
            </a:pPr>
            <a:r>
              <a:rPr b="1" i="0" lang="en-US" sz="4000" u="none" cap="none" strike="noStrike">
                <a:solidFill>
                  <a:srgbClr val="000000"/>
                </a:solidFill>
                <a:latin typeface="Times New Roman"/>
                <a:ea typeface="Times New Roman"/>
                <a:cs typeface="Times New Roman"/>
                <a:sym typeface="Times New Roman"/>
              </a:rPr>
              <a:t>Introduction to Queue</a:t>
            </a:r>
            <a:endParaRPr b="1" i="0" sz="4000" u="none" cap="none" strike="noStrike">
              <a:solidFill>
                <a:schemeClr val="dk1"/>
              </a:solidFill>
              <a:latin typeface="Times New Roman"/>
              <a:ea typeface="Times New Roman"/>
              <a:cs typeface="Times New Roman"/>
              <a:sym typeface="Times New Roman"/>
            </a:endParaRPr>
          </a:p>
        </p:txBody>
      </p:sp>
      <p:sp>
        <p:nvSpPr>
          <p:cNvPr id="104" name="Google Shape;104;p3"/>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228600" lvl="1" marL="685800" marR="0" rtl="0" algn="just">
              <a:lnSpc>
                <a:spcPct val="100000"/>
              </a:lnSpc>
              <a:spcBef>
                <a:spcPts val="50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The representation of the queue is shown in the below image -</a:t>
            </a:r>
            <a:endParaRPr b="0" i="0" sz="3600" u="none" cap="none" strike="noStrike">
              <a:solidFill>
                <a:schemeClr val="dk1"/>
              </a:solidFill>
              <a:latin typeface="Times New Roman"/>
              <a:ea typeface="Times New Roman"/>
              <a:cs typeface="Times New Roman"/>
              <a:sym typeface="Times New Roman"/>
            </a:endParaRPr>
          </a:p>
        </p:txBody>
      </p:sp>
      <p:pic>
        <p:nvPicPr>
          <p:cNvPr id="105" name="Google Shape;105;p3"/>
          <p:cNvPicPr preferRelativeResize="0"/>
          <p:nvPr/>
        </p:nvPicPr>
        <p:blipFill rotWithShape="1">
          <a:blip r:embed="rId3">
            <a:alphaModFix/>
          </a:blip>
          <a:srcRect b="0" l="0" r="0" t="0"/>
          <a:stretch/>
        </p:blipFill>
        <p:spPr>
          <a:xfrm>
            <a:off x="1703512" y="2492896"/>
            <a:ext cx="7840170" cy="22322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188640"/>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Times New Roman"/>
              <a:buNone/>
            </a:pPr>
            <a:r>
              <a:rPr b="1" i="0" lang="en-US" sz="4000" u="none" cap="none" strike="noStrike">
                <a:solidFill>
                  <a:srgbClr val="000000"/>
                </a:solidFill>
                <a:latin typeface="Times New Roman"/>
                <a:ea typeface="Times New Roman"/>
                <a:cs typeface="Times New Roman"/>
                <a:sym typeface="Times New Roman"/>
              </a:rPr>
              <a:t>Introduction to Queue</a:t>
            </a:r>
            <a:endParaRPr b="1" i="0" sz="4000" u="none" cap="none" strike="noStrike">
              <a:solidFill>
                <a:schemeClr val="dk1"/>
              </a:solidFill>
              <a:latin typeface="Times New Roman"/>
              <a:ea typeface="Times New Roman"/>
              <a:cs typeface="Times New Roman"/>
              <a:sym typeface="Times New Roman"/>
            </a:endParaRPr>
          </a:p>
        </p:txBody>
      </p:sp>
      <p:sp>
        <p:nvSpPr>
          <p:cNvPr id="111" name="Google Shape;111;p4"/>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685800" marR="0" rtl="0" algn="just">
              <a:lnSpc>
                <a:spcPct val="100000"/>
              </a:lnSpc>
              <a:spcBef>
                <a:spcPts val="500"/>
              </a:spcBef>
              <a:spcAft>
                <a:spcPts val="0"/>
              </a:spcAft>
              <a:buClr>
                <a:schemeClr val="dk1"/>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p:txBody>
      </p:sp>
      <p:sp>
        <p:nvSpPr>
          <p:cNvPr id="112" name="Google Shape;112;p4"/>
          <p:cNvSpPr txBox="1"/>
          <p:nvPr/>
        </p:nvSpPr>
        <p:spPr>
          <a:xfrm>
            <a:off x="1235460" y="1351508"/>
            <a:ext cx="9001000" cy="415498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Let us explain the concept of queues using the analogies given below.</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People moving on an escalator. The people who got on the escalator first will be the first one to step out of it.</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People waiting for a bus. The first person standing in the line will be the first one to get into the bus.</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People standing outside the ticketing window of a cinema hall. The first person in the line will get the ticket first and thus will be the first one to move out of it.</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Luggage kept on conveyor belts. The bag which was placed first will be the first to come out at the other end.</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Cars lined at a toll bridge. The first car to reach the bridge will be the first to leave.</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169388"/>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Times New Roman"/>
              <a:buNone/>
            </a:pPr>
            <a:r>
              <a:rPr b="1" i="0" lang="en-US" sz="4000" u="none" cap="none" strike="noStrike">
                <a:solidFill>
                  <a:srgbClr val="000000"/>
                </a:solidFill>
                <a:latin typeface="Times New Roman"/>
                <a:ea typeface="Times New Roman"/>
                <a:cs typeface="Times New Roman"/>
                <a:sym typeface="Times New Roman"/>
              </a:rPr>
              <a:t>Introduction to Queue</a:t>
            </a:r>
            <a:endParaRPr b="1" i="0" sz="4000" u="none" cap="none" strike="noStrike">
              <a:solidFill>
                <a:schemeClr val="dk1"/>
              </a:solidFill>
              <a:latin typeface="Times New Roman"/>
              <a:ea typeface="Times New Roman"/>
              <a:cs typeface="Times New Roman"/>
              <a:sym typeface="Times New Roman"/>
            </a:endParaRPr>
          </a:p>
        </p:txBody>
      </p:sp>
      <p:sp>
        <p:nvSpPr>
          <p:cNvPr id="118" name="Google Shape;118;p5"/>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228600" lvl="1" marL="685800" marR="0" rtl="0" algn="just">
              <a:lnSpc>
                <a:spcPct val="100000"/>
              </a:lnSpc>
              <a:spcBef>
                <a:spcPts val="50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Conceptual View of a Queue</a:t>
            </a:r>
            <a:endParaRPr b="0" i="0" sz="3600" u="none" cap="none" strike="noStrike">
              <a:solidFill>
                <a:schemeClr val="dk1"/>
              </a:solidFill>
              <a:latin typeface="Times New Roman"/>
              <a:ea typeface="Times New Roman"/>
              <a:cs typeface="Times New Roman"/>
              <a:sym typeface="Times New Roman"/>
            </a:endParaRPr>
          </a:p>
        </p:txBody>
      </p:sp>
      <p:pic>
        <p:nvPicPr>
          <p:cNvPr id="119" name="Google Shape;119;p5"/>
          <p:cNvPicPr preferRelativeResize="0"/>
          <p:nvPr/>
        </p:nvPicPr>
        <p:blipFill rotWithShape="1">
          <a:blip r:embed="rId3">
            <a:alphaModFix/>
          </a:blip>
          <a:srcRect b="0" l="0" r="0" t="0"/>
          <a:stretch/>
        </p:blipFill>
        <p:spPr>
          <a:xfrm>
            <a:off x="1343472" y="2420888"/>
            <a:ext cx="3960440" cy="2597393"/>
          </a:xfrm>
          <a:prstGeom prst="rect">
            <a:avLst/>
          </a:prstGeom>
          <a:noFill/>
          <a:ln cap="flat" cmpd="sng" w="9525">
            <a:solidFill>
              <a:schemeClr val="dk1"/>
            </a:solidFill>
            <a:prstDash val="solid"/>
            <a:round/>
            <a:headEnd len="sm" w="sm" type="none"/>
            <a:tailEnd len="sm" w="sm" type="none"/>
          </a:ln>
        </p:spPr>
      </p:pic>
      <p:pic>
        <p:nvPicPr>
          <p:cNvPr id="120" name="Google Shape;120;p5"/>
          <p:cNvPicPr preferRelativeResize="0"/>
          <p:nvPr/>
        </p:nvPicPr>
        <p:blipFill rotWithShape="1">
          <a:blip r:embed="rId4">
            <a:alphaModFix/>
          </a:blip>
          <a:srcRect b="0" l="0" r="0" t="0"/>
          <a:stretch/>
        </p:blipFill>
        <p:spPr>
          <a:xfrm>
            <a:off x="6672064" y="2413990"/>
            <a:ext cx="3531788" cy="259739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838200" y="214402"/>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Times New Roman"/>
              <a:buNone/>
            </a:pPr>
            <a:r>
              <a:rPr b="1" i="0" lang="en-US" sz="4000" u="none" cap="none" strike="noStrike">
                <a:solidFill>
                  <a:srgbClr val="000000"/>
                </a:solidFill>
                <a:latin typeface="Times New Roman"/>
                <a:ea typeface="Times New Roman"/>
                <a:cs typeface="Times New Roman"/>
                <a:sym typeface="Times New Roman"/>
              </a:rPr>
              <a:t>Types of Queue</a:t>
            </a:r>
            <a:endParaRPr/>
          </a:p>
        </p:txBody>
      </p:sp>
      <p:sp>
        <p:nvSpPr>
          <p:cNvPr id="126" name="Google Shape;126;p6"/>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descr="Types of Queue" id="127" name="Google Shape;127;p6"/>
          <p:cNvPicPr preferRelativeResize="0"/>
          <p:nvPr/>
        </p:nvPicPr>
        <p:blipFill rotWithShape="1">
          <a:blip r:embed="rId3">
            <a:alphaModFix/>
          </a:blip>
          <a:srcRect b="0" l="0" r="0" t="0"/>
          <a:stretch/>
        </p:blipFill>
        <p:spPr>
          <a:xfrm>
            <a:off x="1487488" y="1124743"/>
            <a:ext cx="8198753" cy="542759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695400" y="70463"/>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Types of Queue</a:t>
            </a:r>
            <a:endParaRPr/>
          </a:p>
        </p:txBody>
      </p:sp>
      <p:sp>
        <p:nvSpPr>
          <p:cNvPr id="133" name="Google Shape;133;p7"/>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134" name="Google Shape;134;p7"/>
          <p:cNvSpPr txBox="1"/>
          <p:nvPr/>
        </p:nvSpPr>
        <p:spPr>
          <a:xfrm>
            <a:off x="1055440" y="810172"/>
            <a:ext cx="6097656"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Simple Queue or Linear Queue</a:t>
            </a:r>
            <a:endParaRPr b="0" i="0" sz="1400" u="none" cap="none" strike="noStrike">
              <a:solidFill>
                <a:srgbClr val="000000"/>
              </a:solidFill>
              <a:latin typeface="Arial"/>
              <a:ea typeface="Arial"/>
              <a:cs typeface="Arial"/>
              <a:sym typeface="Arial"/>
            </a:endParaRPr>
          </a:p>
        </p:txBody>
      </p:sp>
      <p:pic>
        <p:nvPicPr>
          <p:cNvPr id="135" name="Google Shape;135;p7"/>
          <p:cNvPicPr preferRelativeResize="0"/>
          <p:nvPr/>
        </p:nvPicPr>
        <p:blipFill rotWithShape="1">
          <a:blip r:embed="rId3">
            <a:alphaModFix/>
          </a:blip>
          <a:srcRect b="0" l="0" r="0" t="0"/>
          <a:stretch/>
        </p:blipFill>
        <p:spPr>
          <a:xfrm>
            <a:off x="1504608" y="2551712"/>
            <a:ext cx="8531197" cy="1200329"/>
          </a:xfrm>
          <a:prstGeom prst="rect">
            <a:avLst/>
          </a:prstGeom>
          <a:noFill/>
          <a:ln>
            <a:noFill/>
          </a:ln>
        </p:spPr>
      </p:pic>
      <p:sp>
        <p:nvSpPr>
          <p:cNvPr id="136" name="Google Shape;136;p7"/>
          <p:cNvSpPr txBox="1"/>
          <p:nvPr/>
        </p:nvSpPr>
        <p:spPr>
          <a:xfrm>
            <a:off x="1557617" y="4005064"/>
            <a:ext cx="8260200" cy="17547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a:t>
            </a:r>
            <a:r>
              <a:rPr b="0" i="0" lang="en-US" sz="1800" u="none" cap="none" strike="noStrike">
                <a:solidFill>
                  <a:schemeClr val="dk1"/>
                </a:solidFill>
                <a:highlight>
                  <a:srgbClr val="00FF00"/>
                </a:highlight>
                <a:latin typeface="Times New Roman"/>
                <a:ea typeface="Times New Roman"/>
                <a:cs typeface="Times New Roman"/>
                <a:sym typeface="Times New Roman"/>
              </a:rPr>
              <a:t>major drawback </a:t>
            </a:r>
            <a:r>
              <a:rPr b="0" i="0" lang="en-US" sz="1800" u="none" cap="none" strike="noStrike">
                <a:solidFill>
                  <a:schemeClr val="dk1"/>
                </a:solidFill>
                <a:latin typeface="Times New Roman"/>
                <a:ea typeface="Times New Roman"/>
                <a:cs typeface="Times New Roman"/>
                <a:sym typeface="Times New Roman"/>
              </a:rPr>
              <a:t>of using a linear Queue is that i</a:t>
            </a:r>
            <a:r>
              <a:rPr b="0" i="0" lang="en-US" sz="1800" u="none" cap="none" strike="noStrike">
                <a:solidFill>
                  <a:schemeClr val="dk1"/>
                </a:solidFill>
                <a:highlight>
                  <a:srgbClr val="00FF00"/>
                </a:highlight>
                <a:latin typeface="Times New Roman"/>
                <a:ea typeface="Times New Roman"/>
                <a:cs typeface="Times New Roman"/>
                <a:sym typeface="Times New Roman"/>
              </a:rPr>
              <a:t>nsertion is done only from the rear end. </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00FF00"/>
                </a:highlight>
                <a:latin typeface="Times New Roman"/>
                <a:ea typeface="Times New Roman"/>
                <a:cs typeface="Times New Roman"/>
                <a:sym typeface="Times New Roman"/>
              </a:rPr>
              <a:t>If the first three elements are deleted from the Queue, we cannot insert more elements even though the space is available in a Linear Queue. </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In this case,</a:t>
            </a:r>
            <a:r>
              <a:rPr b="0" i="0" lang="en-US" sz="1800" u="none" cap="none" strike="noStrike">
                <a:solidFill>
                  <a:schemeClr val="dk1"/>
                </a:solidFill>
                <a:highlight>
                  <a:srgbClr val="00FF00"/>
                </a:highlight>
                <a:latin typeface="Times New Roman"/>
                <a:ea typeface="Times New Roman"/>
                <a:cs typeface="Times New Roman"/>
                <a:sym typeface="Times New Roman"/>
              </a:rPr>
              <a:t> the linear Queue shows the overflow condition as the rear is pointing to the last element of the Queue.</a:t>
            </a:r>
            <a:endParaRPr b="0" i="0" sz="1800" u="none" cap="none" strike="noStrike">
              <a:solidFill>
                <a:schemeClr val="dk1"/>
              </a:solidFill>
              <a:highlight>
                <a:srgbClr val="00FF00"/>
              </a:highlight>
              <a:latin typeface="Times New Roman"/>
              <a:ea typeface="Times New Roman"/>
              <a:cs typeface="Times New Roman"/>
              <a:sym typeface="Times New Roman"/>
            </a:endParaRPr>
          </a:p>
        </p:txBody>
      </p:sp>
      <p:sp>
        <p:nvSpPr>
          <p:cNvPr id="137" name="Google Shape;137;p7"/>
          <p:cNvSpPr txBox="1"/>
          <p:nvPr/>
        </p:nvSpPr>
        <p:spPr>
          <a:xfrm>
            <a:off x="1271464" y="1285630"/>
            <a:ext cx="9072900" cy="1200600"/>
          </a:xfrm>
          <a:prstGeom prst="rect">
            <a:avLst/>
          </a:prstGeom>
          <a:noFill/>
          <a:ln>
            <a:noFill/>
          </a:ln>
        </p:spPr>
        <p:txBody>
          <a:bodyPr anchorCtr="0" anchor="t" bIns="45700" lIns="91425" spcFirstLastPara="1" rIns="91425" wrap="square" tIns="45700">
            <a:spAutoFit/>
          </a:bodyPr>
          <a:lstStyle/>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In</a:t>
            </a:r>
            <a:r>
              <a:rPr b="0" i="0" lang="en-US" sz="1800" u="none" cap="none" strike="noStrike">
                <a:solidFill>
                  <a:schemeClr val="dk1"/>
                </a:solidFill>
                <a:highlight>
                  <a:srgbClr val="00FF00"/>
                </a:highlight>
                <a:latin typeface="Times New Roman"/>
                <a:ea typeface="Times New Roman"/>
                <a:cs typeface="Times New Roman"/>
                <a:sym typeface="Times New Roman"/>
              </a:rPr>
              <a:t> Linear Queue, an insertion takes place from one end while the deletion occurs from another end. </a:t>
            </a:r>
            <a:endParaRPr b="0" i="0" sz="1400" u="none" cap="none" strike="noStrike">
              <a:solidFill>
                <a:srgbClr val="000000"/>
              </a:solidFill>
              <a:highlight>
                <a:srgbClr val="00FF00"/>
              </a:highlight>
              <a:latin typeface="Arial"/>
              <a:ea typeface="Arial"/>
              <a:cs typeface="Arial"/>
              <a:sym typeface="Arial"/>
            </a:endParaRPr>
          </a:p>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end at which the insertion takes place is known as the rear end, and the end at which the deletion takes place is known as front end. It strictly follows the FIFO rule.</a:t>
            </a:r>
            <a:endParaRPr b="0" i="0" sz="2400" u="none" cap="none" strike="noStrike">
              <a:solidFill>
                <a:schemeClr val="dk1"/>
              </a:solidFill>
              <a:latin typeface="Times New Roman"/>
              <a:ea typeface="Times New Roman"/>
              <a:cs typeface="Times New Roman"/>
              <a:sym typeface="Times New Roman"/>
            </a:endParaRPr>
          </a:p>
        </p:txBody>
      </p:sp>
      <p:sp>
        <p:nvSpPr>
          <p:cNvPr id="138" name="Google Shape;138;p7"/>
          <p:cNvSpPr/>
          <p:nvPr/>
        </p:nvSpPr>
        <p:spPr>
          <a:xfrm>
            <a:off x="9469850" y="4830734"/>
            <a:ext cx="911325" cy="1428100"/>
          </a:xfrm>
          <a:custGeom>
            <a:rect b="b" l="l" r="r" t="t"/>
            <a:pathLst>
              <a:path extrusionOk="0" h="57124" w="36453">
                <a:moveTo>
                  <a:pt x="18939" y="12664"/>
                </a:moveTo>
                <a:cubicBezTo>
                  <a:pt x="20223" y="6885"/>
                  <a:pt x="28195" y="-3130"/>
                  <a:pt x="32381" y="1056"/>
                </a:cubicBezTo>
                <a:cubicBezTo>
                  <a:pt x="37662" y="6337"/>
                  <a:pt x="25330" y="16116"/>
                  <a:pt x="28104" y="23050"/>
                </a:cubicBezTo>
                <a:cubicBezTo>
                  <a:pt x="29258" y="25936"/>
                  <a:pt x="33266" y="26548"/>
                  <a:pt x="36046" y="27938"/>
                </a:cubicBezTo>
                <a:cubicBezTo>
                  <a:pt x="36861" y="28345"/>
                  <a:pt x="34417" y="28753"/>
                  <a:pt x="33602" y="29160"/>
                </a:cubicBezTo>
                <a:cubicBezTo>
                  <a:pt x="29729" y="31096"/>
                  <a:pt x="25049" y="34605"/>
                  <a:pt x="25049" y="38935"/>
                </a:cubicBezTo>
                <a:cubicBezTo>
                  <a:pt x="25049" y="44246"/>
                  <a:pt x="30026" y="51065"/>
                  <a:pt x="26271" y="54820"/>
                </a:cubicBezTo>
                <a:cubicBezTo>
                  <a:pt x="20052" y="61039"/>
                  <a:pt x="8795" y="52376"/>
                  <a:pt x="0" y="52376"/>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type="title"/>
          </p:nvPr>
        </p:nvSpPr>
        <p:spPr>
          <a:xfrm>
            <a:off x="689528" y="84504"/>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Types of Queue</a:t>
            </a:r>
            <a:endParaRPr/>
          </a:p>
        </p:txBody>
      </p:sp>
      <p:sp>
        <p:nvSpPr>
          <p:cNvPr id="144" name="Google Shape;144;p8"/>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145" name="Google Shape;145;p8"/>
          <p:cNvSpPr txBox="1"/>
          <p:nvPr/>
        </p:nvSpPr>
        <p:spPr>
          <a:xfrm>
            <a:off x="1271464" y="1119693"/>
            <a:ext cx="6097656"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Circular Queue</a:t>
            </a:r>
            <a:endParaRPr b="0" i="0" sz="1400" u="none" cap="none" strike="noStrike">
              <a:solidFill>
                <a:srgbClr val="000000"/>
              </a:solidFill>
              <a:latin typeface="Arial"/>
              <a:ea typeface="Arial"/>
              <a:cs typeface="Arial"/>
              <a:sym typeface="Arial"/>
            </a:endParaRPr>
          </a:p>
        </p:txBody>
      </p:sp>
      <p:sp>
        <p:nvSpPr>
          <p:cNvPr id="146" name="Google Shape;146;p8"/>
          <p:cNvSpPr txBox="1"/>
          <p:nvPr/>
        </p:nvSpPr>
        <p:spPr>
          <a:xfrm>
            <a:off x="1631503" y="1501059"/>
            <a:ext cx="8640900" cy="1477500"/>
          </a:xfrm>
          <a:prstGeom prst="rect">
            <a:avLst/>
          </a:prstGeom>
          <a:noFill/>
          <a:ln>
            <a:noFill/>
          </a:ln>
        </p:spPr>
        <p:txBody>
          <a:bodyPr anchorCtr="0" anchor="t" bIns="45700" lIns="91425" spcFirstLastPara="1" rIns="91425" wrap="square" tIns="45700">
            <a:spAutoFit/>
          </a:bodyPr>
          <a:lstStyle/>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In Circular Queue, all the nodes are represented as circular.</a:t>
            </a:r>
            <a:endParaRPr b="0" i="0" sz="1400" u="none" cap="none" strike="noStrike">
              <a:solidFill>
                <a:srgbClr val="000000"/>
              </a:solidFill>
              <a:latin typeface="Arial"/>
              <a:ea typeface="Arial"/>
              <a:cs typeface="Arial"/>
              <a:sym typeface="Arial"/>
            </a:endParaRPr>
          </a:p>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 It is similar to the linear Queue except that the </a:t>
            </a:r>
            <a:r>
              <a:rPr b="0" i="0" lang="en-US" sz="1800" u="none" cap="none" strike="noStrike">
                <a:solidFill>
                  <a:schemeClr val="dk1"/>
                </a:solidFill>
                <a:highlight>
                  <a:srgbClr val="00FF00"/>
                </a:highlight>
                <a:latin typeface="Times New Roman"/>
                <a:ea typeface="Times New Roman"/>
                <a:cs typeface="Times New Roman"/>
                <a:sym typeface="Times New Roman"/>
              </a:rPr>
              <a:t>last element of the queue is connected to the first element. </a:t>
            </a:r>
            <a:endParaRPr b="0" i="0" sz="1400" u="none" cap="none" strike="noStrike">
              <a:solidFill>
                <a:srgbClr val="000000"/>
              </a:solidFill>
              <a:highlight>
                <a:srgbClr val="00FF00"/>
              </a:highlight>
              <a:latin typeface="Arial"/>
              <a:ea typeface="Arial"/>
              <a:cs typeface="Arial"/>
              <a:sym typeface="Arial"/>
            </a:endParaRPr>
          </a:p>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It is </a:t>
            </a:r>
            <a:r>
              <a:rPr b="0" i="0" lang="en-US" sz="1800" u="none" cap="none" strike="noStrike">
                <a:solidFill>
                  <a:schemeClr val="dk1"/>
                </a:solidFill>
                <a:highlight>
                  <a:srgbClr val="00FF00"/>
                </a:highlight>
                <a:latin typeface="Times New Roman"/>
                <a:ea typeface="Times New Roman"/>
                <a:cs typeface="Times New Roman"/>
                <a:sym typeface="Times New Roman"/>
              </a:rPr>
              <a:t>also known as Ring Buffer, as all the ends are connected to another end. </a:t>
            </a:r>
            <a:endParaRPr b="0" i="0" sz="1400" u="none" cap="none" strike="noStrike">
              <a:solidFill>
                <a:srgbClr val="000000"/>
              </a:solidFill>
              <a:highlight>
                <a:srgbClr val="00FF00"/>
              </a:highlight>
              <a:latin typeface="Arial"/>
              <a:ea typeface="Arial"/>
              <a:cs typeface="Arial"/>
              <a:sym typeface="Arial"/>
            </a:endParaRPr>
          </a:p>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representation of circular queue is shown in the below image -</a:t>
            </a:r>
            <a:endParaRPr b="0" i="0" sz="2400" u="none" cap="none" strike="noStrike">
              <a:solidFill>
                <a:schemeClr val="dk1"/>
              </a:solidFill>
              <a:latin typeface="Times New Roman"/>
              <a:ea typeface="Times New Roman"/>
              <a:cs typeface="Times New Roman"/>
              <a:sym typeface="Times New Roman"/>
            </a:endParaRPr>
          </a:p>
        </p:txBody>
      </p:sp>
      <p:pic>
        <p:nvPicPr>
          <p:cNvPr id="147" name="Google Shape;147;p8"/>
          <p:cNvPicPr preferRelativeResize="0"/>
          <p:nvPr/>
        </p:nvPicPr>
        <p:blipFill rotWithShape="1">
          <a:blip r:embed="rId3">
            <a:alphaModFix/>
          </a:blip>
          <a:srcRect b="0" l="0" r="0" t="0"/>
          <a:stretch/>
        </p:blipFill>
        <p:spPr>
          <a:xfrm>
            <a:off x="2567608" y="3203329"/>
            <a:ext cx="6759440" cy="1539689"/>
          </a:xfrm>
          <a:prstGeom prst="rect">
            <a:avLst/>
          </a:prstGeom>
          <a:noFill/>
          <a:ln>
            <a:noFill/>
          </a:ln>
        </p:spPr>
      </p:pic>
      <p:sp>
        <p:nvSpPr>
          <p:cNvPr id="148" name="Google Shape;148;p8"/>
          <p:cNvSpPr txBox="1"/>
          <p:nvPr/>
        </p:nvSpPr>
        <p:spPr>
          <a:xfrm>
            <a:off x="1950884" y="4999643"/>
            <a:ext cx="7992900" cy="14775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a:t>
            </a:r>
            <a:r>
              <a:rPr b="0" i="0" lang="en-US" sz="1800" u="none" cap="none" strike="noStrike">
                <a:solidFill>
                  <a:schemeClr val="dk1"/>
                </a:solidFill>
                <a:highlight>
                  <a:srgbClr val="00FF00"/>
                </a:highlight>
                <a:latin typeface="Times New Roman"/>
                <a:ea typeface="Times New Roman"/>
                <a:cs typeface="Times New Roman"/>
                <a:sym typeface="Times New Roman"/>
              </a:rPr>
              <a:t>drawback that occurs in a linear queue is overcome by using the circular queue. </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highlight>
                  <a:srgbClr val="00FF00"/>
                </a:highlight>
                <a:latin typeface="Times New Roman"/>
                <a:ea typeface="Times New Roman"/>
                <a:cs typeface="Times New Roman"/>
                <a:sym typeface="Times New Roman"/>
              </a:rPr>
              <a:t>If the empty space is available in a circular queue, the new element can be added in an empty space by simply incrementing the value of rear. </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a:t>
            </a:r>
            <a:r>
              <a:rPr b="0" i="0" lang="en-US" sz="1800" u="none" cap="none" strike="noStrike">
                <a:solidFill>
                  <a:schemeClr val="dk1"/>
                </a:solidFill>
                <a:highlight>
                  <a:srgbClr val="00FF00"/>
                </a:highlight>
                <a:latin typeface="Times New Roman"/>
                <a:ea typeface="Times New Roman"/>
                <a:cs typeface="Times New Roman"/>
                <a:sym typeface="Times New Roman"/>
              </a:rPr>
              <a:t>main advantage</a:t>
            </a:r>
            <a:r>
              <a:rPr b="0" i="0" lang="en-US" sz="1800" u="none" cap="none" strike="noStrike">
                <a:solidFill>
                  <a:schemeClr val="dk1"/>
                </a:solidFill>
                <a:latin typeface="Times New Roman"/>
                <a:ea typeface="Times New Roman"/>
                <a:cs typeface="Times New Roman"/>
                <a:sym typeface="Times New Roman"/>
              </a:rPr>
              <a:t> of using the circular queue is </a:t>
            </a:r>
            <a:r>
              <a:rPr b="0" i="0" lang="en-US" sz="1800" u="none" cap="none" strike="noStrike">
                <a:solidFill>
                  <a:schemeClr val="dk1"/>
                </a:solidFill>
                <a:highlight>
                  <a:srgbClr val="00FF00"/>
                </a:highlight>
                <a:latin typeface="Times New Roman"/>
                <a:ea typeface="Times New Roman"/>
                <a:cs typeface="Times New Roman"/>
                <a:sym typeface="Times New Roman"/>
              </a:rPr>
              <a:t>better memory utilization.</a:t>
            </a:r>
            <a:endParaRPr b="0" i="0" sz="1800" u="none" cap="none" strike="noStrike">
              <a:solidFill>
                <a:schemeClr val="dk1"/>
              </a:solidFill>
              <a:highlight>
                <a:srgbClr val="00FF00"/>
              </a:highlight>
              <a:latin typeface="Times New Roman"/>
              <a:ea typeface="Times New Roman"/>
              <a:cs typeface="Times New Roman"/>
              <a:sym typeface="Times New Roman"/>
            </a:endParaRPr>
          </a:p>
        </p:txBody>
      </p:sp>
      <p:sp>
        <p:nvSpPr>
          <p:cNvPr id="149" name="Google Shape;149;p8"/>
          <p:cNvSpPr/>
          <p:nvPr/>
        </p:nvSpPr>
        <p:spPr>
          <a:xfrm>
            <a:off x="1061679" y="5351057"/>
            <a:ext cx="631575" cy="1241775"/>
          </a:xfrm>
          <a:custGeom>
            <a:rect b="b" l="l" r="r" t="t"/>
            <a:pathLst>
              <a:path extrusionOk="0" h="49671" w="25263">
                <a:moveTo>
                  <a:pt x="24127" y="9569"/>
                </a:moveTo>
                <a:cubicBezTo>
                  <a:pt x="25405" y="7012"/>
                  <a:pt x="26073" y="2294"/>
                  <a:pt x="23516" y="1015"/>
                </a:cubicBezTo>
                <a:cubicBezTo>
                  <a:pt x="20602" y="-442"/>
                  <a:pt x="16792" y="-129"/>
                  <a:pt x="13741" y="1015"/>
                </a:cubicBezTo>
                <a:cubicBezTo>
                  <a:pt x="6850" y="3599"/>
                  <a:pt x="6799" y="15182"/>
                  <a:pt x="8242" y="22399"/>
                </a:cubicBezTo>
                <a:cubicBezTo>
                  <a:pt x="8667" y="24522"/>
                  <a:pt x="6131" y="27286"/>
                  <a:pt x="3966" y="27286"/>
                </a:cubicBezTo>
                <a:cubicBezTo>
                  <a:pt x="2948" y="27286"/>
                  <a:pt x="0" y="26831"/>
                  <a:pt x="911" y="27286"/>
                </a:cubicBezTo>
                <a:cubicBezTo>
                  <a:pt x="6743" y="30202"/>
                  <a:pt x="4218" y="39900"/>
                  <a:pt x="5799" y="46226"/>
                </a:cubicBezTo>
                <a:cubicBezTo>
                  <a:pt x="6518" y="49103"/>
                  <a:pt x="12255" y="50767"/>
                  <a:pt x="14352" y="48670"/>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695400" y="94233"/>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Types of Queue</a:t>
            </a:r>
            <a:endParaRPr/>
          </a:p>
        </p:txBody>
      </p:sp>
      <p:sp>
        <p:nvSpPr>
          <p:cNvPr id="155" name="Google Shape;155;p9"/>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156" name="Google Shape;156;p9"/>
          <p:cNvSpPr txBox="1"/>
          <p:nvPr/>
        </p:nvSpPr>
        <p:spPr>
          <a:xfrm>
            <a:off x="1271464" y="1119693"/>
            <a:ext cx="6097656"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Priority Queue</a:t>
            </a:r>
            <a:endParaRPr b="0" i="0" sz="1400" u="none" cap="none" strike="noStrike">
              <a:solidFill>
                <a:srgbClr val="000000"/>
              </a:solidFill>
              <a:latin typeface="Arial"/>
              <a:ea typeface="Arial"/>
              <a:cs typeface="Arial"/>
              <a:sym typeface="Arial"/>
            </a:endParaRPr>
          </a:p>
        </p:txBody>
      </p:sp>
      <p:sp>
        <p:nvSpPr>
          <p:cNvPr id="157" name="Google Shape;157;p9"/>
          <p:cNvSpPr txBox="1"/>
          <p:nvPr/>
        </p:nvSpPr>
        <p:spPr>
          <a:xfrm>
            <a:off x="1631503" y="1501059"/>
            <a:ext cx="8260200" cy="1754700"/>
          </a:xfrm>
          <a:prstGeom prst="rect">
            <a:avLst/>
          </a:prstGeom>
          <a:noFill/>
          <a:ln>
            <a:noFill/>
          </a:ln>
        </p:spPr>
        <p:txBody>
          <a:bodyPr anchorCtr="0" anchor="t" bIns="45700" lIns="91425" spcFirstLastPara="1" rIns="91425" wrap="square" tIns="45700">
            <a:spAutoFit/>
          </a:bodyPr>
          <a:lstStyle/>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It is a special type of queue in which </a:t>
            </a:r>
            <a:r>
              <a:rPr b="0" i="0" lang="en-US" sz="1800" u="none" cap="none" strike="noStrike">
                <a:solidFill>
                  <a:schemeClr val="dk1"/>
                </a:solidFill>
                <a:highlight>
                  <a:srgbClr val="00FF00"/>
                </a:highlight>
                <a:latin typeface="Times New Roman"/>
                <a:ea typeface="Times New Roman"/>
                <a:cs typeface="Times New Roman"/>
                <a:sym typeface="Times New Roman"/>
              </a:rPr>
              <a:t>the elements are arranged based on the priority. </a:t>
            </a:r>
            <a:endParaRPr b="0" i="0" sz="1400" u="none" cap="none" strike="noStrike">
              <a:solidFill>
                <a:srgbClr val="000000"/>
              </a:solidFill>
              <a:highlight>
                <a:srgbClr val="00FF00"/>
              </a:highlight>
              <a:latin typeface="Arial"/>
              <a:ea typeface="Arial"/>
              <a:cs typeface="Arial"/>
              <a:sym typeface="Arial"/>
            </a:endParaRPr>
          </a:p>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It is a special type of queue data structure in which </a:t>
            </a:r>
            <a:r>
              <a:rPr b="0" i="0" lang="en-US" sz="1800" u="none" cap="none" strike="noStrike">
                <a:solidFill>
                  <a:schemeClr val="dk1"/>
                </a:solidFill>
                <a:highlight>
                  <a:srgbClr val="00FF00"/>
                </a:highlight>
                <a:latin typeface="Times New Roman"/>
                <a:ea typeface="Times New Roman"/>
                <a:cs typeface="Times New Roman"/>
                <a:sym typeface="Times New Roman"/>
              </a:rPr>
              <a:t>every element has a priority associated with it. </a:t>
            </a:r>
            <a:r>
              <a:rPr b="0" i="0" lang="en-US" sz="1800" u="none" cap="none" strike="noStrike">
                <a:solidFill>
                  <a:schemeClr val="dk1"/>
                </a:solidFill>
                <a:latin typeface="Times New Roman"/>
                <a:ea typeface="Times New Roman"/>
                <a:cs typeface="Times New Roman"/>
                <a:sym typeface="Times New Roman"/>
              </a:rPr>
              <a:t>Suppose some </a:t>
            </a:r>
            <a:r>
              <a:rPr b="0" i="0" lang="en-US" sz="1800" u="none" cap="none" strike="noStrike">
                <a:solidFill>
                  <a:schemeClr val="dk1"/>
                </a:solidFill>
                <a:highlight>
                  <a:srgbClr val="00FF00"/>
                </a:highlight>
                <a:latin typeface="Times New Roman"/>
                <a:ea typeface="Times New Roman"/>
                <a:cs typeface="Times New Roman"/>
                <a:sym typeface="Times New Roman"/>
              </a:rPr>
              <a:t>elements occur with the same priority, </a:t>
            </a:r>
            <a:r>
              <a:rPr b="0" i="0" lang="en-US" sz="1800" u="none" cap="none" strike="noStrike">
                <a:solidFill>
                  <a:schemeClr val="dk1"/>
                </a:solidFill>
                <a:latin typeface="Times New Roman"/>
                <a:ea typeface="Times New Roman"/>
                <a:cs typeface="Times New Roman"/>
                <a:sym typeface="Times New Roman"/>
              </a:rPr>
              <a:t>they will be arranged according to the </a:t>
            </a:r>
            <a:r>
              <a:rPr b="0" i="0" lang="en-US" sz="1800" u="none" cap="none" strike="noStrike">
                <a:solidFill>
                  <a:schemeClr val="dk1"/>
                </a:solidFill>
                <a:highlight>
                  <a:srgbClr val="00FF00"/>
                </a:highlight>
                <a:latin typeface="Times New Roman"/>
                <a:ea typeface="Times New Roman"/>
                <a:cs typeface="Times New Roman"/>
                <a:sym typeface="Times New Roman"/>
              </a:rPr>
              <a:t>FIFO principle. </a:t>
            </a:r>
            <a:endParaRPr b="0" i="0" sz="1400" u="none" cap="none" strike="noStrike">
              <a:solidFill>
                <a:srgbClr val="000000"/>
              </a:solidFill>
              <a:highlight>
                <a:srgbClr val="00FF00"/>
              </a:highlight>
              <a:latin typeface="Arial"/>
              <a:ea typeface="Arial"/>
              <a:cs typeface="Arial"/>
              <a:sym typeface="Arial"/>
            </a:endParaRPr>
          </a:p>
          <a:p>
            <a:pPr indent="-285750" lvl="1" marL="7429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representation of priority queue is shown in the below image -</a:t>
            </a:r>
            <a:endParaRPr b="0" i="0" sz="2400" u="none" cap="none" strike="noStrike">
              <a:solidFill>
                <a:schemeClr val="dk1"/>
              </a:solidFill>
              <a:latin typeface="Times New Roman"/>
              <a:ea typeface="Times New Roman"/>
              <a:cs typeface="Times New Roman"/>
              <a:sym typeface="Times New Roman"/>
            </a:endParaRPr>
          </a:p>
        </p:txBody>
      </p:sp>
      <p:pic>
        <p:nvPicPr>
          <p:cNvPr id="158" name="Google Shape;158;p9"/>
          <p:cNvPicPr preferRelativeResize="0"/>
          <p:nvPr/>
        </p:nvPicPr>
        <p:blipFill rotWithShape="1">
          <a:blip r:embed="rId3">
            <a:alphaModFix/>
          </a:blip>
          <a:srcRect b="0" l="0" r="0" t="0"/>
          <a:stretch/>
        </p:blipFill>
        <p:spPr>
          <a:xfrm>
            <a:off x="2279576" y="4081512"/>
            <a:ext cx="6795665" cy="22399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767408" y="147076"/>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Types of Queue</a:t>
            </a:r>
            <a:endParaRPr/>
          </a:p>
        </p:txBody>
      </p:sp>
      <p:sp>
        <p:nvSpPr>
          <p:cNvPr id="164" name="Google Shape;164;p10"/>
          <p:cNvSpPr txBox="1"/>
          <p:nvPr>
            <p:ph idx="1" type="body"/>
          </p:nvPr>
        </p:nvSpPr>
        <p:spPr>
          <a:xfrm>
            <a:off x="1055440" y="836712"/>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165" name="Google Shape;165;p10"/>
          <p:cNvSpPr txBox="1"/>
          <p:nvPr/>
        </p:nvSpPr>
        <p:spPr>
          <a:xfrm>
            <a:off x="1271464" y="1119693"/>
            <a:ext cx="6097656"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Priority Queue</a:t>
            </a:r>
            <a:endParaRPr b="0" i="0" sz="1400" u="none" cap="none" strike="noStrike">
              <a:solidFill>
                <a:srgbClr val="000000"/>
              </a:solidFill>
              <a:latin typeface="Arial"/>
              <a:ea typeface="Arial"/>
              <a:cs typeface="Arial"/>
              <a:sym typeface="Arial"/>
            </a:endParaRPr>
          </a:p>
        </p:txBody>
      </p:sp>
      <p:sp>
        <p:nvSpPr>
          <p:cNvPr id="166" name="Google Shape;166;p10"/>
          <p:cNvSpPr txBox="1"/>
          <p:nvPr/>
        </p:nvSpPr>
        <p:spPr>
          <a:xfrm>
            <a:off x="1605817" y="1781239"/>
            <a:ext cx="8260200" cy="44022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a:t>
            </a:r>
            <a:r>
              <a:rPr b="0" i="0" lang="en-US" sz="2000" u="none" cap="none" strike="noStrike">
                <a:solidFill>
                  <a:schemeClr val="dk1"/>
                </a:solidFill>
                <a:highlight>
                  <a:srgbClr val="00FF00"/>
                </a:highlight>
                <a:latin typeface="Times New Roman"/>
                <a:ea typeface="Times New Roman"/>
                <a:cs typeface="Times New Roman"/>
                <a:sym typeface="Times New Roman"/>
              </a:rPr>
              <a:t>nsertion in priority queue</a:t>
            </a:r>
            <a:r>
              <a:rPr b="0" i="0" lang="en-US" sz="2000" u="none" cap="none" strike="noStrike">
                <a:solidFill>
                  <a:schemeClr val="dk1"/>
                </a:solidFill>
                <a:latin typeface="Times New Roman"/>
                <a:ea typeface="Times New Roman"/>
                <a:cs typeface="Times New Roman"/>
                <a:sym typeface="Times New Roman"/>
              </a:rPr>
              <a:t> takes place </a:t>
            </a:r>
            <a:r>
              <a:rPr b="0" i="0" lang="en-US" sz="2000" u="none" cap="none" strike="noStrike">
                <a:solidFill>
                  <a:schemeClr val="dk1"/>
                </a:solidFill>
                <a:highlight>
                  <a:srgbClr val="00FF00"/>
                </a:highlight>
                <a:latin typeface="Times New Roman"/>
                <a:ea typeface="Times New Roman"/>
                <a:cs typeface="Times New Roman"/>
                <a:sym typeface="Times New Roman"/>
              </a:rPr>
              <a:t>based on the arrival, while deletion </a:t>
            </a:r>
            <a:r>
              <a:rPr b="0" i="0" lang="en-US" sz="2000" u="none" cap="none" strike="noStrike">
                <a:solidFill>
                  <a:schemeClr val="dk1"/>
                </a:solidFill>
                <a:latin typeface="Times New Roman"/>
                <a:ea typeface="Times New Roman"/>
                <a:cs typeface="Times New Roman"/>
                <a:sym typeface="Times New Roman"/>
              </a:rPr>
              <a:t>in the priority queue occurs </a:t>
            </a:r>
            <a:r>
              <a:rPr b="0" i="0" lang="en-US" sz="2000" u="none" cap="none" strike="noStrike">
                <a:solidFill>
                  <a:schemeClr val="dk1"/>
                </a:solidFill>
                <a:highlight>
                  <a:srgbClr val="00FF00"/>
                </a:highlight>
                <a:latin typeface="Times New Roman"/>
                <a:ea typeface="Times New Roman"/>
                <a:cs typeface="Times New Roman"/>
                <a:sym typeface="Times New Roman"/>
              </a:rPr>
              <a:t>based on the priority. </a:t>
            </a:r>
            <a:r>
              <a:rPr b="0" i="0" lang="en-US" sz="2000" u="none" cap="none" strike="noStrike">
                <a:solidFill>
                  <a:schemeClr val="dk1"/>
                </a:solidFill>
                <a:latin typeface="Times New Roman"/>
                <a:ea typeface="Times New Roman"/>
                <a:cs typeface="Times New Roman"/>
                <a:sym typeface="Times New Roman"/>
              </a:rPr>
              <a:t>Priority queue is </a:t>
            </a:r>
            <a:r>
              <a:rPr b="0" i="0" lang="en-US" sz="2000" u="none" cap="none" strike="noStrike">
                <a:solidFill>
                  <a:schemeClr val="dk1"/>
                </a:solidFill>
                <a:highlight>
                  <a:srgbClr val="00FF00"/>
                </a:highlight>
                <a:latin typeface="Times New Roman"/>
                <a:ea typeface="Times New Roman"/>
                <a:cs typeface="Times New Roman"/>
                <a:sym typeface="Times New Roman"/>
              </a:rPr>
              <a:t>mainly used to implement the CPU scheduling algorithms.</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There are two types of priority queue that are discussed as follows -</a:t>
            </a:r>
            <a:endParaRPr b="0" i="0" sz="1400" u="none" cap="none" strike="noStrike">
              <a:solidFill>
                <a:srgbClr val="000000"/>
              </a:solidFill>
              <a:latin typeface="Arial"/>
              <a:ea typeface="Arial"/>
              <a:cs typeface="Arial"/>
              <a:sym typeface="Arial"/>
            </a:endParaRPr>
          </a:p>
          <a:p>
            <a:pPr indent="-127000" lvl="1" marL="457200" marR="0" rtl="0" algn="just">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Ascending priority queue -</a:t>
            </a:r>
            <a:r>
              <a:rPr b="0" i="0" lang="en-US" sz="2000" u="none" cap="none" strike="noStrike">
                <a:solidFill>
                  <a:schemeClr val="dk1"/>
                </a:solidFill>
                <a:latin typeface="Times New Roman"/>
                <a:ea typeface="Times New Roman"/>
                <a:cs typeface="Times New Roman"/>
                <a:sym typeface="Times New Roman"/>
              </a:rPr>
              <a:t> In ascending priority queue, </a:t>
            </a:r>
            <a:r>
              <a:rPr b="0" i="0" lang="en-US" sz="2000" u="none" cap="none" strike="noStrike">
                <a:solidFill>
                  <a:schemeClr val="dk1"/>
                </a:solidFill>
                <a:highlight>
                  <a:srgbClr val="00FF00"/>
                </a:highlight>
                <a:latin typeface="Times New Roman"/>
                <a:ea typeface="Times New Roman"/>
                <a:cs typeface="Times New Roman"/>
                <a:sym typeface="Times New Roman"/>
              </a:rPr>
              <a:t>elements can be inserted in arbitrary order, but only smallest can be deleted first</a:t>
            </a:r>
            <a:r>
              <a:rPr b="0" i="0" lang="en-US" sz="2000" u="none" cap="none" strike="noStrike">
                <a:solidFill>
                  <a:schemeClr val="dk1"/>
                </a:solidFill>
                <a:latin typeface="Times New Roman"/>
                <a:ea typeface="Times New Roman"/>
                <a:cs typeface="Times New Roman"/>
                <a:sym typeface="Times New Roman"/>
              </a:rPr>
              <a:t>. Suppose an array with elements 7, 5, and 3 in the same order, so, insertion can be done with the same sequence, but the order of deleting the elements is 3, 5, 7.</a:t>
            </a:r>
            <a:endParaRPr b="0" i="0" sz="1400" u="none" cap="none" strike="noStrike">
              <a:solidFill>
                <a:srgbClr val="000000"/>
              </a:solidFill>
              <a:latin typeface="Arial"/>
              <a:ea typeface="Arial"/>
              <a:cs typeface="Arial"/>
              <a:sym typeface="Arial"/>
            </a:endParaRPr>
          </a:p>
          <a:p>
            <a:pPr indent="-127000" lvl="1" marL="457200" marR="0" rtl="0" algn="just">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Descending priority queue -</a:t>
            </a:r>
            <a:r>
              <a:rPr b="0" i="0" lang="en-US" sz="2000" u="none" cap="none" strike="noStrike">
                <a:solidFill>
                  <a:schemeClr val="dk1"/>
                </a:solidFill>
                <a:latin typeface="Times New Roman"/>
                <a:ea typeface="Times New Roman"/>
                <a:cs typeface="Times New Roman"/>
                <a:sym typeface="Times New Roman"/>
              </a:rPr>
              <a:t> In descending priority queue</a:t>
            </a:r>
            <a:r>
              <a:rPr b="0" i="0" lang="en-US" sz="2000" u="none" cap="none" strike="noStrike">
                <a:solidFill>
                  <a:schemeClr val="dk1"/>
                </a:solidFill>
                <a:highlight>
                  <a:srgbClr val="00FF00"/>
                </a:highlight>
                <a:latin typeface="Times New Roman"/>
                <a:ea typeface="Times New Roman"/>
                <a:cs typeface="Times New Roman"/>
                <a:sym typeface="Times New Roman"/>
              </a:rPr>
              <a:t>, elements can be inserted in arbitrary order, but only the largest element can be deleted first. </a:t>
            </a:r>
            <a:r>
              <a:rPr b="0" i="0" lang="en-US" sz="2000" u="none" cap="none" strike="noStrike">
                <a:solidFill>
                  <a:schemeClr val="dk1"/>
                </a:solidFill>
                <a:latin typeface="Times New Roman"/>
                <a:ea typeface="Times New Roman"/>
                <a:cs typeface="Times New Roman"/>
                <a:sym typeface="Times New Roman"/>
              </a:rPr>
              <a:t>Suppose an array with elements 7, 3, and 5 in the same order, so, insertion can be done with the same sequence, but the order of deleting the elements is 7, 5, 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type="title"/>
          </p:nvPr>
        </p:nvSpPr>
        <p:spPr>
          <a:xfrm>
            <a:off x="838200" y="136430"/>
            <a:ext cx="10213800" cy="3606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Types of Queue</a:t>
            </a:r>
            <a:endParaRPr/>
          </a:p>
        </p:txBody>
      </p:sp>
      <p:sp>
        <p:nvSpPr>
          <p:cNvPr id="172" name="Google Shape;172;p11"/>
          <p:cNvSpPr txBox="1"/>
          <p:nvPr>
            <p:ph idx="1" type="body"/>
          </p:nvPr>
        </p:nvSpPr>
        <p:spPr>
          <a:xfrm>
            <a:off x="1055440" y="620688"/>
            <a:ext cx="9360900" cy="6237300"/>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173" name="Google Shape;173;p11"/>
          <p:cNvSpPr txBox="1"/>
          <p:nvPr/>
        </p:nvSpPr>
        <p:spPr>
          <a:xfrm>
            <a:off x="1199456" y="918317"/>
            <a:ext cx="6097656"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Deque (or, Double Ended Queue)</a:t>
            </a:r>
            <a:endParaRPr b="0" i="0" sz="1400" u="none" cap="none" strike="noStrike">
              <a:solidFill>
                <a:srgbClr val="000000"/>
              </a:solidFill>
              <a:latin typeface="Arial"/>
              <a:ea typeface="Arial"/>
              <a:cs typeface="Arial"/>
              <a:sym typeface="Arial"/>
            </a:endParaRPr>
          </a:p>
        </p:txBody>
      </p:sp>
      <p:sp>
        <p:nvSpPr>
          <p:cNvPr id="174" name="Google Shape;174;p11"/>
          <p:cNvSpPr txBox="1"/>
          <p:nvPr/>
        </p:nvSpPr>
        <p:spPr>
          <a:xfrm>
            <a:off x="1415480" y="1379982"/>
            <a:ext cx="8640900" cy="31401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In Deque or Double Ended Queue, </a:t>
            </a:r>
            <a:r>
              <a:rPr b="1" i="0" lang="en-US" sz="1800" u="none" cap="none" strike="noStrike">
                <a:solidFill>
                  <a:schemeClr val="dk1"/>
                </a:solidFill>
                <a:highlight>
                  <a:srgbClr val="00FF00"/>
                </a:highlight>
                <a:latin typeface="Times New Roman"/>
                <a:ea typeface="Times New Roman"/>
                <a:cs typeface="Times New Roman"/>
                <a:sym typeface="Times New Roman"/>
              </a:rPr>
              <a:t>insertion and deletion </a:t>
            </a:r>
            <a:r>
              <a:rPr b="0" i="0" lang="en-US" sz="1800" u="none" cap="none" strike="noStrike">
                <a:solidFill>
                  <a:schemeClr val="dk1"/>
                </a:solidFill>
                <a:highlight>
                  <a:srgbClr val="00FF00"/>
                </a:highlight>
                <a:latin typeface="Times New Roman"/>
                <a:ea typeface="Times New Roman"/>
                <a:cs typeface="Times New Roman"/>
                <a:sym typeface="Times New Roman"/>
              </a:rPr>
              <a:t>can be done from both ends of the queue either from the front or rear.</a:t>
            </a:r>
            <a:r>
              <a:rPr b="0" i="0" lang="en-US" sz="1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It means that we can </a:t>
            </a:r>
            <a:r>
              <a:rPr b="1" i="0" lang="en-US" sz="1800" u="none" cap="none" strike="noStrike">
                <a:solidFill>
                  <a:schemeClr val="dk1"/>
                </a:solidFill>
                <a:latin typeface="Times New Roman"/>
                <a:ea typeface="Times New Roman"/>
                <a:cs typeface="Times New Roman"/>
                <a:sym typeface="Times New Roman"/>
              </a:rPr>
              <a:t>insert and delete elements from both front and rear ends of the queue.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Deque </a:t>
            </a:r>
            <a:r>
              <a:rPr b="0" i="0" lang="en-US" sz="1800" u="none" cap="none" strike="noStrike">
                <a:solidFill>
                  <a:schemeClr val="dk1"/>
                </a:solidFill>
                <a:highlight>
                  <a:srgbClr val="00FF00"/>
                </a:highlight>
                <a:latin typeface="Times New Roman"/>
                <a:ea typeface="Times New Roman"/>
                <a:cs typeface="Times New Roman"/>
                <a:sym typeface="Times New Roman"/>
              </a:rPr>
              <a:t>can be used as a </a:t>
            </a:r>
            <a:r>
              <a:rPr b="1" i="0" lang="en-US" sz="1800" u="none" cap="none" strike="noStrike">
                <a:solidFill>
                  <a:schemeClr val="dk1"/>
                </a:solidFill>
                <a:highlight>
                  <a:srgbClr val="00FF00"/>
                </a:highlight>
                <a:latin typeface="Times New Roman"/>
                <a:ea typeface="Times New Roman"/>
                <a:cs typeface="Times New Roman"/>
                <a:sym typeface="Times New Roman"/>
              </a:rPr>
              <a:t>palindrome checker </a:t>
            </a:r>
            <a:r>
              <a:rPr b="0" i="0" lang="en-US" sz="1800" u="none" cap="none" strike="noStrike">
                <a:solidFill>
                  <a:schemeClr val="dk1"/>
                </a:solidFill>
                <a:highlight>
                  <a:srgbClr val="00FF00"/>
                </a:highlight>
                <a:latin typeface="Times New Roman"/>
                <a:ea typeface="Times New Roman"/>
                <a:cs typeface="Times New Roman"/>
                <a:sym typeface="Times New Roman"/>
              </a:rPr>
              <a:t>means that if we read the string from both ends, then the string would be the same.</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Deque </a:t>
            </a:r>
            <a:r>
              <a:rPr b="0" i="0" lang="en-US" sz="1800" u="none" cap="none" strike="noStrike">
                <a:solidFill>
                  <a:schemeClr val="dk1"/>
                </a:solidFill>
                <a:highlight>
                  <a:srgbClr val="00FF00"/>
                </a:highlight>
                <a:latin typeface="Times New Roman"/>
                <a:ea typeface="Times New Roman"/>
                <a:cs typeface="Times New Roman"/>
                <a:sym typeface="Times New Roman"/>
              </a:rPr>
              <a:t>can be used both as </a:t>
            </a:r>
            <a:r>
              <a:rPr b="1" i="0" lang="en-US" sz="1800" u="none" cap="none" strike="noStrike">
                <a:solidFill>
                  <a:schemeClr val="dk1"/>
                </a:solidFill>
                <a:highlight>
                  <a:srgbClr val="00FF00"/>
                </a:highlight>
                <a:latin typeface="Times New Roman"/>
                <a:ea typeface="Times New Roman"/>
                <a:cs typeface="Times New Roman"/>
                <a:sym typeface="Times New Roman"/>
              </a:rPr>
              <a:t>stack and queue </a:t>
            </a:r>
            <a:r>
              <a:rPr b="0" i="0" lang="en-US" sz="1800" u="none" cap="none" strike="noStrike">
                <a:solidFill>
                  <a:schemeClr val="dk1"/>
                </a:solidFill>
                <a:highlight>
                  <a:srgbClr val="00FF00"/>
                </a:highlight>
                <a:latin typeface="Times New Roman"/>
                <a:ea typeface="Times New Roman"/>
                <a:cs typeface="Times New Roman"/>
                <a:sym typeface="Times New Roman"/>
              </a:rPr>
              <a:t>as it allows the insertion and deletion operations on both ends. </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Deque </a:t>
            </a:r>
            <a:r>
              <a:rPr b="0" i="0" lang="en-US" sz="1800" u="none" cap="none" strike="noStrike">
                <a:solidFill>
                  <a:schemeClr val="dk1"/>
                </a:solidFill>
                <a:highlight>
                  <a:srgbClr val="00FF00"/>
                </a:highlight>
                <a:latin typeface="Times New Roman"/>
                <a:ea typeface="Times New Roman"/>
                <a:cs typeface="Times New Roman"/>
                <a:sym typeface="Times New Roman"/>
              </a:rPr>
              <a:t>can be considered as stack because stack follows the </a:t>
            </a:r>
            <a:r>
              <a:rPr b="1" i="0" lang="en-US" sz="1800" u="none" cap="none" strike="noStrike">
                <a:solidFill>
                  <a:schemeClr val="dk1"/>
                </a:solidFill>
                <a:highlight>
                  <a:srgbClr val="00FF00"/>
                </a:highlight>
                <a:latin typeface="Times New Roman"/>
                <a:ea typeface="Times New Roman"/>
                <a:cs typeface="Times New Roman"/>
                <a:sym typeface="Times New Roman"/>
              </a:rPr>
              <a:t>LIFO (Last In First Out) </a:t>
            </a:r>
            <a:r>
              <a:rPr b="0" i="0" lang="en-US" sz="1800" u="none" cap="none" strike="noStrike">
                <a:solidFill>
                  <a:schemeClr val="dk1"/>
                </a:solidFill>
                <a:highlight>
                  <a:srgbClr val="00FF00"/>
                </a:highlight>
                <a:latin typeface="Times New Roman"/>
                <a:ea typeface="Times New Roman"/>
                <a:cs typeface="Times New Roman"/>
                <a:sym typeface="Times New Roman"/>
              </a:rPr>
              <a:t>principle in which insertion and deletion both can be performed only from one end. </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representation of the deque is shown in the below image -</a:t>
            </a:r>
            <a:endParaRPr b="0" i="0" sz="1400" u="none" cap="none" strike="noStrike">
              <a:solidFill>
                <a:srgbClr val="000000"/>
              </a:solidFill>
              <a:latin typeface="Arial"/>
              <a:ea typeface="Arial"/>
              <a:cs typeface="Arial"/>
              <a:sym typeface="Arial"/>
            </a:endParaRPr>
          </a:p>
        </p:txBody>
      </p:sp>
      <p:pic>
        <p:nvPicPr>
          <p:cNvPr id="175" name="Google Shape;175;p11"/>
          <p:cNvPicPr preferRelativeResize="0"/>
          <p:nvPr/>
        </p:nvPicPr>
        <p:blipFill rotWithShape="1">
          <a:blip r:embed="rId3">
            <a:alphaModFix/>
          </a:blip>
          <a:srcRect b="0" l="0" r="0" t="0"/>
          <a:stretch/>
        </p:blipFill>
        <p:spPr>
          <a:xfrm>
            <a:off x="2567608" y="4653136"/>
            <a:ext cx="5859151" cy="1869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869752" y="301549"/>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Operations on a Queue</a:t>
            </a:r>
            <a:endParaRPr/>
          </a:p>
        </p:txBody>
      </p:sp>
      <p:sp>
        <p:nvSpPr>
          <p:cNvPr id="181" name="Google Shape;181;p12"/>
          <p:cNvSpPr txBox="1"/>
          <p:nvPr>
            <p:ph idx="1" type="body"/>
          </p:nvPr>
        </p:nvSpPr>
        <p:spPr>
          <a:xfrm>
            <a:off x="1086992" y="832600"/>
            <a:ext cx="9361040" cy="583264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graphicFrame>
        <p:nvGraphicFramePr>
          <p:cNvPr id="182" name="Google Shape;182;p12"/>
          <p:cNvGraphicFramePr/>
          <p:nvPr/>
        </p:nvGraphicFramePr>
        <p:xfrm>
          <a:off x="1703512" y="1554480"/>
          <a:ext cx="3000000" cy="3000000"/>
        </p:xfrm>
        <a:graphic>
          <a:graphicData uri="http://schemas.openxmlformats.org/drawingml/2006/table">
            <a:tbl>
              <a:tblPr bandRow="1" firstRow="1">
                <a:noFill/>
                <a:tableStyleId>{B442A067-1ACE-4340-A103-8379F7FA6FA7}</a:tableStyleId>
              </a:tblPr>
              <a:tblGrid>
                <a:gridCol w="4064000"/>
                <a:gridCol w="4064000"/>
              </a:tblGrid>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Times New Roman"/>
                          <a:ea typeface="Times New Roman"/>
                          <a:cs typeface="Times New Roman"/>
                          <a:sym typeface="Times New Roman"/>
                        </a:rPr>
                        <a:t>Enqueue</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The Enqueue operation is used to i</a:t>
                      </a:r>
                      <a:r>
                        <a:rPr b="0" lang="en-US" sz="2000" u="none" cap="none" strike="noStrike">
                          <a:solidFill>
                            <a:schemeClr val="dk1"/>
                          </a:solidFill>
                          <a:highlight>
                            <a:srgbClr val="00FF00"/>
                          </a:highlight>
                          <a:latin typeface="Times New Roman"/>
                          <a:ea typeface="Times New Roman"/>
                          <a:cs typeface="Times New Roman"/>
                          <a:sym typeface="Times New Roman"/>
                        </a:rPr>
                        <a:t>nsert the element at the rear end of the queue. </a:t>
                      </a:r>
                      <a:endParaRPr sz="2000" u="none" cap="none" strike="noStrike">
                        <a:solidFill>
                          <a:schemeClr val="dk1"/>
                        </a:solidFill>
                        <a:highlight>
                          <a:srgbClr val="00FF00"/>
                        </a:highlight>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Times New Roman"/>
                          <a:ea typeface="Times New Roman"/>
                          <a:cs typeface="Times New Roman"/>
                          <a:sym typeface="Times New Roman"/>
                        </a:rPr>
                        <a:t>Dequeue</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It performs the </a:t>
                      </a:r>
                      <a:r>
                        <a:rPr b="0" lang="en-US" sz="2000" u="none" cap="none" strike="noStrike">
                          <a:solidFill>
                            <a:schemeClr val="dk1"/>
                          </a:solidFill>
                          <a:highlight>
                            <a:srgbClr val="00FF00"/>
                          </a:highlight>
                          <a:latin typeface="Times New Roman"/>
                          <a:ea typeface="Times New Roman"/>
                          <a:cs typeface="Times New Roman"/>
                          <a:sym typeface="Times New Roman"/>
                        </a:rPr>
                        <a:t>deletion from the front-end of the queue.</a:t>
                      </a:r>
                      <a:r>
                        <a:rPr b="0" lang="en-US" sz="2000" u="none" cap="none" strike="noStrike">
                          <a:solidFill>
                            <a:schemeClr val="dk1"/>
                          </a:solidFill>
                          <a:latin typeface="Times New Roman"/>
                          <a:ea typeface="Times New Roman"/>
                          <a:cs typeface="Times New Roman"/>
                          <a:sym typeface="Times New Roman"/>
                        </a:rPr>
                        <a:t> </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Times New Roman"/>
                          <a:ea typeface="Times New Roman"/>
                          <a:cs typeface="Times New Roman"/>
                          <a:sym typeface="Times New Roman"/>
                        </a:rPr>
                        <a:t>Peek</a:t>
                      </a:r>
                      <a:r>
                        <a:rPr b="0" lang="en-US" sz="2000" u="none" cap="none" strike="noStrike">
                          <a:solidFill>
                            <a:schemeClr val="dk1"/>
                          </a:solidFill>
                          <a:latin typeface="Times New Roman"/>
                          <a:ea typeface="Times New Roman"/>
                          <a:cs typeface="Times New Roman"/>
                          <a:sym typeface="Times New Roman"/>
                        </a:rPr>
                        <a:t> or First</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highlight>
                            <a:srgbClr val="00FF00"/>
                          </a:highlight>
                          <a:latin typeface="Times New Roman"/>
                          <a:ea typeface="Times New Roman"/>
                          <a:cs typeface="Times New Roman"/>
                          <a:sym typeface="Times New Roman"/>
                        </a:rPr>
                        <a:t>Examines the element at the front </a:t>
                      </a:r>
                      <a:r>
                        <a:rPr lang="en-US" sz="2000" u="none" cap="none" strike="noStrike">
                          <a:solidFill>
                            <a:schemeClr val="dk1"/>
                          </a:solidFill>
                          <a:latin typeface="Times New Roman"/>
                          <a:ea typeface="Times New Roman"/>
                          <a:cs typeface="Times New Roman"/>
                          <a:sym typeface="Times New Roman"/>
                        </a:rPr>
                        <a:t>of the queue</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Times New Roman"/>
                          <a:ea typeface="Times New Roman"/>
                          <a:cs typeface="Times New Roman"/>
                          <a:sym typeface="Times New Roman"/>
                        </a:rPr>
                        <a:t>Queue underflow (</a:t>
                      </a:r>
                      <a:r>
                        <a:rPr lang="en-US" sz="2000" u="none" cap="none" strike="noStrike">
                          <a:solidFill>
                            <a:schemeClr val="dk1"/>
                          </a:solidFill>
                          <a:latin typeface="Times New Roman"/>
                          <a:ea typeface="Times New Roman"/>
                          <a:cs typeface="Times New Roman"/>
                          <a:sym typeface="Times New Roman"/>
                        </a:rPr>
                        <a:t>isEmpty)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b="0" lang="en-US" sz="2000" u="none" cap="none" strike="noStrike">
                          <a:solidFill>
                            <a:schemeClr val="dk1"/>
                          </a:solidFill>
                          <a:latin typeface="Times New Roman"/>
                          <a:ea typeface="Times New Roman"/>
                          <a:cs typeface="Times New Roman"/>
                          <a:sym typeface="Times New Roman"/>
                        </a:rPr>
                        <a:t>It </a:t>
                      </a:r>
                      <a:r>
                        <a:rPr b="0" lang="en-US" sz="2000" u="none" cap="none" strike="noStrike">
                          <a:solidFill>
                            <a:schemeClr val="dk1"/>
                          </a:solidFill>
                          <a:highlight>
                            <a:srgbClr val="00FF00"/>
                          </a:highlight>
                          <a:latin typeface="Times New Roman"/>
                          <a:ea typeface="Times New Roman"/>
                          <a:cs typeface="Times New Roman"/>
                          <a:sym typeface="Times New Roman"/>
                        </a:rPr>
                        <a:t>shows the underflow condition when the Queue is empty, i.</a:t>
                      </a:r>
                      <a:r>
                        <a:rPr b="0" lang="en-US" sz="2000" u="none" cap="none" strike="noStrike">
                          <a:solidFill>
                            <a:schemeClr val="dk1"/>
                          </a:solidFill>
                          <a:latin typeface="Times New Roman"/>
                          <a:ea typeface="Times New Roman"/>
                          <a:cs typeface="Times New Roman"/>
                          <a:sym typeface="Times New Roman"/>
                        </a:rPr>
                        <a:t>e., no elements are in the Queue.</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2000"/>
                        <a:buFont typeface="Times New Roman"/>
                        <a:buNone/>
                      </a:pPr>
                      <a:r>
                        <a:rPr b="1" lang="en-US" sz="2000" u="none" cap="none" strike="noStrike">
                          <a:solidFill>
                            <a:schemeClr val="dk1"/>
                          </a:solidFill>
                          <a:latin typeface="Times New Roman"/>
                          <a:ea typeface="Times New Roman"/>
                          <a:cs typeface="Times New Roman"/>
                          <a:sym typeface="Times New Roman"/>
                        </a:rPr>
                        <a:t>Queue overflow (isfull)</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b="0" lang="en-US" sz="2000" u="none" cap="none" strike="noStrike">
                          <a:solidFill>
                            <a:schemeClr val="dk1"/>
                          </a:solidFill>
                          <a:latin typeface="Times New Roman"/>
                          <a:ea typeface="Times New Roman"/>
                          <a:cs typeface="Times New Roman"/>
                          <a:sym typeface="Times New Roman"/>
                        </a:rPr>
                        <a:t>It shows the overflow condition when the queue is completely full.</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183" name="Google Shape;183;p12"/>
          <p:cNvSpPr/>
          <p:nvPr/>
        </p:nvSpPr>
        <p:spPr>
          <a:xfrm>
            <a:off x="125332" y="2642400"/>
            <a:ext cx="1381575" cy="1972100"/>
          </a:xfrm>
          <a:custGeom>
            <a:rect b="b" l="l" r="r" t="t"/>
            <a:pathLst>
              <a:path extrusionOk="0" h="78884" w="55263">
                <a:moveTo>
                  <a:pt x="31034" y="0"/>
                </a:moveTo>
                <a:cubicBezTo>
                  <a:pt x="25042" y="13977"/>
                  <a:pt x="19760" y="28276"/>
                  <a:pt x="15149" y="42767"/>
                </a:cubicBezTo>
                <a:cubicBezTo>
                  <a:pt x="12834" y="50045"/>
                  <a:pt x="12781" y="50035"/>
                  <a:pt x="10872" y="57430"/>
                </a:cubicBezTo>
                <a:cubicBezTo>
                  <a:pt x="10303" y="59634"/>
                  <a:pt x="8387" y="62256"/>
                  <a:pt x="9650" y="64150"/>
                </a:cubicBezTo>
                <a:cubicBezTo>
                  <a:pt x="11530" y="66970"/>
                  <a:pt x="16109" y="61317"/>
                  <a:pt x="18203" y="58652"/>
                </a:cubicBezTo>
                <a:cubicBezTo>
                  <a:pt x="24170" y="51057"/>
                  <a:pt x="30423" y="42038"/>
                  <a:pt x="30423" y="32380"/>
                </a:cubicBezTo>
                <a:cubicBezTo>
                  <a:pt x="30423" y="31770"/>
                  <a:pt x="30571" y="30567"/>
                  <a:pt x="30423" y="31159"/>
                </a:cubicBezTo>
                <a:cubicBezTo>
                  <a:pt x="27763" y="41798"/>
                  <a:pt x="22458" y="51598"/>
                  <a:pt x="18203" y="61706"/>
                </a:cubicBezTo>
                <a:cubicBezTo>
                  <a:pt x="16075" y="66760"/>
                  <a:pt x="9642" y="72075"/>
                  <a:pt x="12094" y="76980"/>
                </a:cubicBezTo>
                <a:cubicBezTo>
                  <a:pt x="12584" y="77961"/>
                  <a:pt x="14373" y="76534"/>
                  <a:pt x="15149" y="75758"/>
                </a:cubicBezTo>
                <a:cubicBezTo>
                  <a:pt x="18264" y="72643"/>
                  <a:pt x="20419" y="68654"/>
                  <a:pt x="22480" y="64761"/>
                </a:cubicBezTo>
                <a:cubicBezTo>
                  <a:pt x="26913" y="56389"/>
                  <a:pt x="31373" y="47971"/>
                  <a:pt x="34699" y="39101"/>
                </a:cubicBezTo>
                <a:cubicBezTo>
                  <a:pt x="35499" y="36969"/>
                  <a:pt x="35717" y="31973"/>
                  <a:pt x="37754" y="32991"/>
                </a:cubicBezTo>
                <a:cubicBezTo>
                  <a:pt x="43037" y="35632"/>
                  <a:pt x="46407" y="41035"/>
                  <a:pt x="50584" y="45211"/>
                </a:cubicBezTo>
                <a:cubicBezTo>
                  <a:pt x="52115" y="46742"/>
                  <a:pt x="56392" y="48567"/>
                  <a:pt x="54861" y="50098"/>
                </a:cubicBezTo>
                <a:cubicBezTo>
                  <a:pt x="50415" y="54544"/>
                  <a:pt x="43348" y="45025"/>
                  <a:pt x="37754" y="42156"/>
                </a:cubicBezTo>
                <a:cubicBezTo>
                  <a:pt x="25808" y="36030"/>
                  <a:pt x="13912" y="26882"/>
                  <a:pt x="486" y="26882"/>
                </a:cubicBezTo>
                <a:cubicBezTo>
                  <a:pt x="-1104" y="26882"/>
                  <a:pt x="2257" y="29607"/>
                  <a:pt x="3540" y="30548"/>
                </a:cubicBezTo>
                <a:cubicBezTo>
                  <a:pt x="6758" y="32908"/>
                  <a:pt x="13886" y="37920"/>
                  <a:pt x="14538" y="38490"/>
                </a:cubicBezTo>
                <a:cubicBezTo>
                  <a:pt x="22900" y="45807"/>
                  <a:pt x="30160" y="54436"/>
                  <a:pt x="36532" y="63539"/>
                </a:cubicBezTo>
                <a:cubicBezTo>
                  <a:pt x="39618" y="67947"/>
                  <a:pt x="44475" y="72210"/>
                  <a:pt x="44475" y="77591"/>
                </a:cubicBezTo>
                <a:cubicBezTo>
                  <a:pt x="44475" y="82280"/>
                  <a:pt x="36640" y="72430"/>
                  <a:pt x="32866" y="69649"/>
                </a:cubicBezTo>
                <a:cubicBezTo>
                  <a:pt x="25432" y="64171"/>
                  <a:pt x="18624" y="57850"/>
                  <a:pt x="12094" y="51320"/>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3"/>
          <p:cNvSpPr txBox="1"/>
          <p:nvPr>
            <p:ph type="title"/>
          </p:nvPr>
        </p:nvSpPr>
        <p:spPr>
          <a:xfrm>
            <a:off x="838200" y="38267"/>
            <a:ext cx="10515600" cy="58242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Operations on a Queue</a:t>
            </a:r>
            <a:endParaRPr/>
          </a:p>
        </p:txBody>
      </p:sp>
      <p:sp>
        <p:nvSpPr>
          <p:cNvPr id="189" name="Google Shape;189;p13"/>
          <p:cNvSpPr txBox="1"/>
          <p:nvPr>
            <p:ph idx="1" type="body"/>
          </p:nvPr>
        </p:nvSpPr>
        <p:spPr>
          <a:xfrm>
            <a:off x="1086992" y="620688"/>
            <a:ext cx="9361040" cy="6044560"/>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76200" lvl="0" marL="2286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5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190" name="Google Shape;190;p13"/>
          <p:cNvSpPr txBox="1"/>
          <p:nvPr/>
        </p:nvSpPr>
        <p:spPr>
          <a:xfrm>
            <a:off x="1195004" y="1203109"/>
            <a:ext cx="9144900" cy="501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The enqueue and dequeue is given below in a stepwise manner.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Enqueue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Step 1:</a:t>
            </a:r>
            <a:r>
              <a:rPr b="0" i="0" lang="en-US" sz="2000" u="none" cap="none" strike="noStrike">
                <a:solidFill>
                  <a:schemeClr val="dk1"/>
                </a:solidFill>
                <a:latin typeface="Times New Roman"/>
                <a:ea typeface="Times New Roman"/>
                <a:cs typeface="Times New Roman"/>
                <a:sym typeface="Times New Roman"/>
              </a:rPr>
              <a:t> Check if the queue is full or not by comparing the number of elements in the queue with the maximum size of the queue.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Step 2:</a:t>
            </a:r>
            <a:r>
              <a:rPr b="0" i="0" lang="en-US" sz="2000" u="none" cap="none" strike="noStrike">
                <a:solidFill>
                  <a:schemeClr val="dk1"/>
                </a:solidFill>
                <a:highlight>
                  <a:srgbClr val="00FF00"/>
                </a:highlight>
                <a:latin typeface="Times New Roman"/>
                <a:ea typeface="Times New Roman"/>
                <a:cs typeface="Times New Roman"/>
                <a:sym typeface="Times New Roman"/>
              </a:rPr>
              <a:t> If the queue is full, </a:t>
            </a:r>
            <a:r>
              <a:rPr b="0" i="0" lang="en-US" sz="2000" u="none" cap="none" strike="noStrike">
                <a:solidFill>
                  <a:schemeClr val="dk1"/>
                </a:solidFill>
                <a:latin typeface="Times New Roman"/>
                <a:ea typeface="Times New Roman"/>
                <a:cs typeface="Times New Roman"/>
                <a:sym typeface="Times New Roman"/>
              </a:rPr>
              <a:t>then </a:t>
            </a:r>
            <a:r>
              <a:rPr b="0" i="0" lang="en-US" sz="2000" u="none" cap="none" strike="noStrike">
                <a:solidFill>
                  <a:schemeClr val="dk1"/>
                </a:solidFill>
                <a:highlight>
                  <a:srgbClr val="00FF00"/>
                </a:highlight>
                <a:latin typeface="Times New Roman"/>
                <a:ea typeface="Times New Roman"/>
                <a:cs typeface="Times New Roman"/>
                <a:sym typeface="Times New Roman"/>
              </a:rPr>
              <a:t>display an overflow message and return.</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Step 3:</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highlight>
                  <a:srgbClr val="00FF00"/>
                </a:highlight>
                <a:latin typeface="Times New Roman"/>
                <a:ea typeface="Times New Roman"/>
                <a:cs typeface="Times New Roman"/>
                <a:sym typeface="Times New Roman"/>
              </a:rPr>
              <a:t>If the queue is not full,</a:t>
            </a:r>
            <a:r>
              <a:rPr b="0" i="0" lang="en-US" sz="2000" u="none" cap="none" strike="noStrike">
                <a:solidFill>
                  <a:schemeClr val="dk1"/>
                </a:solidFill>
                <a:latin typeface="Times New Roman"/>
                <a:ea typeface="Times New Roman"/>
                <a:cs typeface="Times New Roman"/>
                <a:sym typeface="Times New Roman"/>
              </a:rPr>
              <a:t> then </a:t>
            </a:r>
            <a:r>
              <a:rPr b="0" i="0" lang="en-US" sz="2000" u="none" cap="none" strike="noStrike">
                <a:solidFill>
                  <a:schemeClr val="dk1"/>
                </a:solidFill>
                <a:highlight>
                  <a:srgbClr val="00FF00"/>
                </a:highlight>
                <a:latin typeface="Times New Roman"/>
                <a:ea typeface="Times New Roman"/>
                <a:cs typeface="Times New Roman"/>
                <a:sym typeface="Times New Roman"/>
              </a:rPr>
              <a:t>increment the rear pointer and insert the new element at the position pointed by the rear pointer.</a:t>
            </a:r>
            <a:endParaRPr b="0" i="0" sz="1400" u="none" cap="none" strike="noStrike">
              <a:solidFill>
                <a:srgbClr val="000000"/>
              </a:solidFill>
              <a:highlight>
                <a:srgbClr val="00FF00"/>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Dequeue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Step 1:</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highlight>
                  <a:srgbClr val="00FF00"/>
                </a:highlight>
                <a:latin typeface="Times New Roman"/>
                <a:ea typeface="Times New Roman"/>
                <a:cs typeface="Times New Roman"/>
                <a:sym typeface="Times New Roman"/>
              </a:rPr>
              <a:t>Check if the queue is empty or not by comparing the number of elements in the queue with 0.</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Step 2:</a:t>
            </a:r>
            <a:r>
              <a:rPr b="0" i="0" lang="en-US" sz="2000" u="none" cap="none" strike="noStrike">
                <a:solidFill>
                  <a:schemeClr val="dk1"/>
                </a:solidFill>
                <a:latin typeface="Times New Roman"/>
                <a:ea typeface="Times New Roman"/>
                <a:cs typeface="Times New Roman"/>
                <a:sym typeface="Times New Roman"/>
              </a:rPr>
              <a:t> If the queue is</a:t>
            </a:r>
            <a:r>
              <a:rPr b="0" i="0" lang="en-US" sz="2000" u="none" cap="none" strike="noStrike">
                <a:solidFill>
                  <a:schemeClr val="dk1"/>
                </a:solidFill>
                <a:highlight>
                  <a:srgbClr val="00FF00"/>
                </a:highlight>
                <a:latin typeface="Times New Roman"/>
                <a:ea typeface="Times New Roman"/>
                <a:cs typeface="Times New Roman"/>
                <a:sym typeface="Times New Roman"/>
              </a:rPr>
              <a:t> empty</a:t>
            </a:r>
            <a:r>
              <a:rPr b="0" i="0" lang="en-US" sz="2000" u="none" cap="none" strike="noStrike">
                <a:solidFill>
                  <a:schemeClr val="dk1"/>
                </a:solidFill>
                <a:latin typeface="Times New Roman"/>
                <a:ea typeface="Times New Roman"/>
                <a:cs typeface="Times New Roman"/>
                <a:sym typeface="Times New Roman"/>
              </a:rPr>
              <a:t>, then </a:t>
            </a:r>
            <a:r>
              <a:rPr b="0" i="0" lang="en-US" sz="2000" u="none" cap="none" strike="noStrike">
                <a:solidFill>
                  <a:schemeClr val="dk1"/>
                </a:solidFill>
                <a:highlight>
                  <a:srgbClr val="00FF00"/>
                </a:highlight>
                <a:latin typeface="Times New Roman"/>
                <a:ea typeface="Times New Roman"/>
                <a:cs typeface="Times New Roman"/>
                <a:sym typeface="Times New Roman"/>
              </a:rPr>
              <a:t>display an underflow message and end the program.</a:t>
            </a:r>
            <a:endParaRPr b="0" i="0" sz="1400" u="none" cap="none" strike="noStrike">
              <a:solidFill>
                <a:srgbClr val="000000"/>
              </a:solidFill>
              <a:highlight>
                <a:srgbClr val="00FF00"/>
              </a:highlight>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Step 3:</a:t>
            </a:r>
            <a:r>
              <a:rPr b="0" i="0" lang="en-US" sz="2000" u="none" cap="none" strike="noStrike">
                <a:solidFill>
                  <a:schemeClr val="dk1"/>
                </a:solidFill>
                <a:latin typeface="Times New Roman"/>
                <a:ea typeface="Times New Roman"/>
                <a:cs typeface="Times New Roman"/>
                <a:sym typeface="Times New Roman"/>
              </a:rPr>
              <a:t> If the </a:t>
            </a:r>
            <a:r>
              <a:rPr b="0" i="0" lang="en-US" sz="2000" u="none" cap="none" strike="noStrike">
                <a:solidFill>
                  <a:schemeClr val="dk1"/>
                </a:solidFill>
                <a:highlight>
                  <a:srgbClr val="00FF00"/>
                </a:highlight>
                <a:latin typeface="Times New Roman"/>
                <a:ea typeface="Times New Roman"/>
                <a:cs typeface="Times New Roman"/>
                <a:sym typeface="Times New Roman"/>
              </a:rPr>
              <a:t>queue is not empty</a:t>
            </a:r>
            <a:r>
              <a:rPr b="0" i="0" lang="en-US" sz="2000" u="none" cap="none" strike="noStrike">
                <a:solidFill>
                  <a:schemeClr val="dk1"/>
                </a:solidFill>
                <a:latin typeface="Times New Roman"/>
                <a:ea typeface="Times New Roman"/>
                <a:cs typeface="Times New Roman"/>
                <a:sym typeface="Times New Roman"/>
              </a:rPr>
              <a:t>, then </a:t>
            </a:r>
            <a:r>
              <a:rPr b="0" i="0" lang="en-US" sz="2000" u="none" cap="none" strike="noStrike">
                <a:solidFill>
                  <a:schemeClr val="dk1"/>
                </a:solidFill>
                <a:highlight>
                  <a:srgbClr val="00FF00"/>
                </a:highlight>
                <a:latin typeface="Times New Roman"/>
                <a:ea typeface="Times New Roman"/>
                <a:cs typeface="Times New Roman"/>
                <a:sym typeface="Times New Roman"/>
              </a:rPr>
              <a:t>remove the element at the front of the queue and increment the front pointer.</a:t>
            </a:r>
            <a:endParaRPr b="0" i="0" sz="1400" u="none" cap="none" strike="noStrike">
              <a:solidFill>
                <a:srgbClr val="000000"/>
              </a:solidFill>
              <a:highlight>
                <a:srgbClr val="00FF00"/>
              </a:highlight>
              <a:latin typeface="Arial"/>
              <a:ea typeface="Arial"/>
              <a:cs typeface="Arial"/>
              <a:sym typeface="Arial"/>
            </a:endParaRPr>
          </a:p>
        </p:txBody>
      </p:sp>
      <p:sp>
        <p:nvSpPr>
          <p:cNvPr id="191" name="Google Shape;191;p13"/>
          <p:cNvSpPr/>
          <p:nvPr/>
        </p:nvSpPr>
        <p:spPr>
          <a:xfrm>
            <a:off x="8186825" y="717875"/>
            <a:ext cx="1929725" cy="1267725"/>
          </a:xfrm>
          <a:custGeom>
            <a:rect b="b" l="l" r="r" t="t"/>
            <a:pathLst>
              <a:path extrusionOk="0" h="50709" w="77189">
                <a:moveTo>
                  <a:pt x="48877" y="7332"/>
                </a:moveTo>
                <a:cubicBezTo>
                  <a:pt x="42265" y="14604"/>
                  <a:pt x="37696" y="23503"/>
                  <a:pt x="32381" y="31770"/>
                </a:cubicBezTo>
                <a:cubicBezTo>
                  <a:pt x="32353" y="31814"/>
                  <a:pt x="26861" y="40927"/>
                  <a:pt x="26882" y="40934"/>
                </a:cubicBezTo>
                <a:cubicBezTo>
                  <a:pt x="32455" y="42792"/>
                  <a:pt x="36916" y="34775"/>
                  <a:pt x="41545" y="31159"/>
                </a:cubicBezTo>
                <a:cubicBezTo>
                  <a:pt x="46210" y="27514"/>
                  <a:pt x="50562" y="23484"/>
                  <a:pt x="54987" y="19551"/>
                </a:cubicBezTo>
                <a:cubicBezTo>
                  <a:pt x="57911" y="16952"/>
                  <a:pt x="60860" y="14334"/>
                  <a:pt x="64151" y="12219"/>
                </a:cubicBezTo>
                <a:cubicBezTo>
                  <a:pt x="65838" y="11134"/>
                  <a:pt x="70623" y="8022"/>
                  <a:pt x="69649" y="9775"/>
                </a:cubicBezTo>
                <a:cubicBezTo>
                  <a:pt x="64187" y="19607"/>
                  <a:pt x="54517" y="26419"/>
                  <a:pt x="47044" y="34825"/>
                </a:cubicBezTo>
                <a:cubicBezTo>
                  <a:pt x="43579" y="38723"/>
                  <a:pt x="40399" y="42871"/>
                  <a:pt x="37269" y="47044"/>
                </a:cubicBezTo>
                <a:cubicBezTo>
                  <a:pt x="36388" y="48219"/>
                  <a:pt x="33357" y="50709"/>
                  <a:pt x="34825" y="50709"/>
                </a:cubicBezTo>
                <a:cubicBezTo>
                  <a:pt x="37654" y="50709"/>
                  <a:pt x="39596" y="47638"/>
                  <a:pt x="42156" y="46433"/>
                </a:cubicBezTo>
                <a:cubicBezTo>
                  <a:pt x="48454" y="43469"/>
                  <a:pt x="55007" y="40986"/>
                  <a:pt x="61707" y="39101"/>
                </a:cubicBezTo>
                <a:cubicBezTo>
                  <a:pt x="65829" y="37942"/>
                  <a:pt x="70255" y="38490"/>
                  <a:pt x="74537" y="38490"/>
                </a:cubicBezTo>
                <a:cubicBezTo>
                  <a:pt x="75377" y="38490"/>
                  <a:pt x="77398" y="38608"/>
                  <a:pt x="76981" y="37879"/>
                </a:cubicBezTo>
                <a:cubicBezTo>
                  <a:pt x="71400" y="28115"/>
                  <a:pt x="60518" y="22539"/>
                  <a:pt x="51932" y="15274"/>
                </a:cubicBezTo>
                <a:cubicBezTo>
                  <a:pt x="45245" y="9616"/>
                  <a:pt x="39308" y="0"/>
                  <a:pt x="30548" y="0"/>
                </a:cubicBezTo>
                <a:cubicBezTo>
                  <a:pt x="27086" y="0"/>
                  <a:pt x="33258" y="6473"/>
                  <a:pt x="35436" y="9164"/>
                </a:cubicBezTo>
                <a:cubicBezTo>
                  <a:pt x="41080" y="16136"/>
                  <a:pt x="47267" y="22683"/>
                  <a:pt x="52543" y="29937"/>
                </a:cubicBezTo>
                <a:cubicBezTo>
                  <a:pt x="54172" y="32177"/>
                  <a:pt x="55699" y="34495"/>
                  <a:pt x="57430" y="36657"/>
                </a:cubicBezTo>
                <a:cubicBezTo>
                  <a:pt x="57483" y="36723"/>
                  <a:pt x="60492" y="39712"/>
                  <a:pt x="59874" y="39712"/>
                </a:cubicBezTo>
                <a:cubicBezTo>
                  <a:pt x="52361" y="39712"/>
                  <a:pt x="47081" y="31813"/>
                  <a:pt x="40934" y="27493"/>
                </a:cubicBezTo>
                <a:cubicBezTo>
                  <a:pt x="28181" y="18531"/>
                  <a:pt x="14787" y="9817"/>
                  <a:pt x="0" y="4888"/>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838200" y="305661"/>
            <a:ext cx="10515600" cy="63973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none" cap="none" strike="noStrike">
                <a:solidFill>
                  <a:schemeClr val="dk1"/>
                </a:solidFill>
                <a:latin typeface="Times New Roman"/>
                <a:ea typeface="Times New Roman"/>
                <a:cs typeface="Times New Roman"/>
                <a:sym typeface="Times New Roman"/>
              </a:rPr>
              <a:t>Ways to implement the Queue ADT</a:t>
            </a:r>
            <a:br>
              <a:rPr b="0" i="0" lang="en-US" sz="1600" u="none" cap="none" strike="noStrike">
                <a:solidFill>
                  <a:schemeClr val="dk1"/>
                </a:solidFill>
                <a:latin typeface="Times New Roman"/>
                <a:ea typeface="Times New Roman"/>
                <a:cs typeface="Times New Roman"/>
                <a:sym typeface="Times New Roman"/>
              </a:rPr>
            </a:br>
            <a:endParaRPr b="1" i="0" sz="4000" u="none" cap="none" strike="noStrike">
              <a:solidFill>
                <a:schemeClr val="dk1"/>
              </a:solidFill>
              <a:latin typeface="Times New Roman"/>
              <a:ea typeface="Times New Roman"/>
              <a:cs typeface="Times New Roman"/>
              <a:sym typeface="Times New Roman"/>
            </a:endParaRPr>
          </a:p>
        </p:txBody>
      </p:sp>
      <p:sp>
        <p:nvSpPr>
          <p:cNvPr id="197" name="Google Shape;197;p14"/>
          <p:cNvSpPr txBox="1"/>
          <p:nvPr>
            <p:ph idx="1" type="body"/>
          </p:nvPr>
        </p:nvSpPr>
        <p:spPr>
          <a:xfrm>
            <a:off x="1055440" y="836712"/>
            <a:ext cx="9361040" cy="5472608"/>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228600" marR="0" rtl="0" algn="just">
              <a:lnSpc>
                <a:spcPct val="100000"/>
              </a:lnSpc>
              <a:spcBef>
                <a:spcPts val="0"/>
              </a:spcBef>
              <a:spcAft>
                <a:spcPts val="0"/>
              </a:spcAft>
              <a:buClr>
                <a:schemeClr val="dk1"/>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a:p>
            <a:pPr indent="0" lvl="0" marL="0" marR="0" rtl="0" algn="just">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There are two ways of implementing the Queue:</a:t>
            </a:r>
            <a:endParaRPr/>
          </a:p>
          <a:p>
            <a:pPr indent="-228600" lvl="0" marL="228600" marR="0" rtl="0" algn="just">
              <a:lnSpc>
                <a:spcPct val="90000"/>
              </a:lnSpc>
              <a:spcBef>
                <a:spcPts val="1000"/>
              </a:spcBef>
              <a:spcAft>
                <a:spcPts val="0"/>
              </a:spcAft>
              <a:buClr>
                <a:schemeClr val="dk1"/>
              </a:buClr>
              <a:buSzPts val="2400"/>
              <a:buFont typeface="Arial"/>
              <a:buChar char="•"/>
            </a:pPr>
            <a:r>
              <a:rPr b="1" i="0" lang="en-US" sz="2400" u="none" cap="none" strike="noStrike">
                <a:solidFill>
                  <a:schemeClr val="dk1"/>
                </a:solidFill>
                <a:latin typeface="Times New Roman"/>
                <a:ea typeface="Times New Roman"/>
                <a:cs typeface="Times New Roman"/>
                <a:sym typeface="Times New Roman"/>
              </a:rPr>
              <a:t>Implementation using array:</a:t>
            </a:r>
            <a:r>
              <a:rPr b="0" i="0" lang="en-US" sz="2400" u="none" cap="none" strike="noStrike">
                <a:solidFill>
                  <a:schemeClr val="dk1"/>
                </a:solidFill>
                <a:latin typeface="Times New Roman"/>
                <a:ea typeface="Times New Roman"/>
                <a:cs typeface="Times New Roman"/>
                <a:sym typeface="Times New Roman"/>
              </a:rPr>
              <a:t> The sequential allocation in a Queue can be implemented using an array. </a:t>
            </a:r>
            <a:endParaRPr/>
          </a:p>
          <a:p>
            <a:pPr indent="-228600" lvl="0" marL="228600" marR="0" rtl="0" algn="just">
              <a:lnSpc>
                <a:spcPct val="90000"/>
              </a:lnSpc>
              <a:spcBef>
                <a:spcPts val="1000"/>
              </a:spcBef>
              <a:spcAft>
                <a:spcPts val="0"/>
              </a:spcAft>
              <a:buClr>
                <a:schemeClr val="dk1"/>
              </a:buClr>
              <a:buSzPts val="2400"/>
              <a:buFont typeface="Arial"/>
              <a:buChar char="•"/>
            </a:pPr>
            <a:r>
              <a:rPr b="1" i="0" lang="en-US" sz="2400" u="none" cap="none" strike="noStrike">
                <a:solidFill>
                  <a:schemeClr val="dk1"/>
                </a:solidFill>
                <a:latin typeface="Times New Roman"/>
                <a:ea typeface="Times New Roman"/>
                <a:cs typeface="Times New Roman"/>
                <a:sym typeface="Times New Roman"/>
              </a:rPr>
              <a:t>Implementation using Linked list:</a:t>
            </a:r>
            <a:r>
              <a:rPr b="0" i="0" lang="en-US" sz="2400" u="none" cap="none" strike="noStrike">
                <a:solidFill>
                  <a:schemeClr val="dk1"/>
                </a:solidFill>
                <a:latin typeface="Times New Roman"/>
                <a:ea typeface="Times New Roman"/>
                <a:cs typeface="Times New Roman"/>
                <a:sym typeface="Times New Roman"/>
              </a:rPr>
              <a:t> The linked list allocation in a Queue can be implemented using a linked list. </a:t>
            </a:r>
            <a:endParaRPr/>
          </a:p>
          <a:p>
            <a:pPr indent="0" lvl="1" marL="457200" marR="0" rtl="0" algn="just">
              <a:lnSpc>
                <a:spcPct val="100000"/>
              </a:lnSpc>
              <a:spcBef>
                <a:spcPts val="5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2021-09-01T14:59:53Z</dcterms:created>
  <dc:creator>Priya Milton</dc:creator>
</cp:coreProperties>
</file>