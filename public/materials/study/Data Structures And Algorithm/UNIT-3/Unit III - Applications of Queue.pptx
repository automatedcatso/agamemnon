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9144000"/>
  <p:embeddedFontLst>
    <p:embeddedFont>
      <p:font typeface="Lato"/>
      <p:regular r:id="rId19"/>
      <p:bold r:id="rId20"/>
      <p:italic r:id="rId21"/>
      <p:boldItalic r:id="rId22"/>
    </p:embeddedFont>
    <p:embeddedFont>
      <p:font typeface="Libre Baskerville"/>
      <p:regular r:id="rId23"/>
      <p:bold r:id="rId24"/>
      <p: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j5AiFYAa51E8GcGWL3Ig0GfsEc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3BF4796-2843-4EAB-BF60-81AF1B3906F9}">
  <a:tblStyle styleId="{63BF4796-2843-4EAB-BF60-81AF1B3906F9}" styleName="Table_0">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Lato-bold.fntdata"/><Relationship Id="rId22" Type="http://schemas.openxmlformats.org/officeDocument/2006/relationships/font" Target="fonts/Lato-boldItalic.fntdata"/><Relationship Id="rId21" Type="http://schemas.openxmlformats.org/officeDocument/2006/relationships/font" Target="fonts/Lato-italic.fntdata"/><Relationship Id="rId24" Type="http://schemas.openxmlformats.org/officeDocument/2006/relationships/font" Target="fonts/LibreBaskerville-bold.fntdata"/><Relationship Id="rId23" Type="http://schemas.openxmlformats.org/officeDocument/2006/relationships/font" Target="fonts/LibreBaskerville-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font" Target="fonts/LibreBaskerville-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Lato-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 name="Google Shape;9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 name="Google Shape;10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 name="Google Shape;11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 name="Google Shape;12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 name="Google Shape;13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 name="Google Shape;13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 name="Google Shape;14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7" name="Google Shape;15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4" name="Google Shape;16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0" name="Google Shape;17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 name="Shape 15"/>
        <p:cNvGrpSpPr/>
        <p:nvPr/>
      </p:nvGrpSpPr>
      <p:grpSpPr>
        <a:xfrm>
          <a:off x="0" y="0"/>
          <a:ext cx="0" cy="0"/>
          <a:chOff x="0" y="0"/>
          <a:chExt cx="0" cy="0"/>
        </a:xfrm>
      </p:grpSpPr>
      <p:sp>
        <p:nvSpPr>
          <p:cNvPr id="16" name="Google Shape;16;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6" name="Shape 26"/>
        <p:cNvGrpSpPr/>
        <p:nvPr/>
      </p:nvGrpSpPr>
      <p:grpSpPr>
        <a:xfrm>
          <a:off x="0" y="0"/>
          <a:ext cx="0" cy="0"/>
          <a:chOff x="0" y="0"/>
          <a:chExt cx="0" cy="0"/>
        </a:xfrm>
      </p:grpSpPr>
      <p:sp>
        <p:nvSpPr>
          <p:cNvPr id="27" name="Google Shape;27;p1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9" name="Google Shape;29;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1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5" name="Google Shape;35;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1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2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2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2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2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3"/>
          <p:cNvSpPr/>
          <p:nvPr>
            <p:ph idx="2" type="pic"/>
          </p:nvPr>
        </p:nvSpPr>
        <p:spPr>
          <a:xfrm>
            <a:off x="5183188" y="987425"/>
            <a:ext cx="6172200" cy="4873625"/>
          </a:xfrm>
          <a:prstGeom prst="rect">
            <a:avLst/>
          </a:prstGeom>
          <a:noFill/>
          <a:ln>
            <a:noFill/>
          </a:ln>
        </p:spPr>
      </p:sp>
      <p:sp>
        <p:nvSpPr>
          <p:cNvPr id="68" name="Google Shape;68;p2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jp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title"/>
          </p:nvPr>
        </p:nvSpPr>
        <p:spPr>
          <a:xfrm>
            <a:off x="968828" y="2103437"/>
            <a:ext cx="10472057"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B0F0"/>
              </a:buClr>
              <a:buSzPts val="8800"/>
              <a:buFont typeface="Libre Baskerville"/>
              <a:buNone/>
            </a:pPr>
            <a:r>
              <a:rPr b="1" lang="en-US" sz="8800">
                <a:solidFill>
                  <a:srgbClr val="00B0F0"/>
                </a:solidFill>
                <a:latin typeface="Libre Baskerville"/>
                <a:ea typeface="Libre Baskerville"/>
                <a:cs typeface="Libre Baskerville"/>
                <a:sym typeface="Libre Baskerville"/>
              </a:rPr>
              <a:t>Applications of Queue</a:t>
            </a:r>
            <a:endParaRPr/>
          </a:p>
        </p:txBody>
      </p:sp>
      <p:pic>
        <p:nvPicPr>
          <p:cNvPr id="89" name="Google Shape;89;p1"/>
          <p:cNvPicPr preferRelativeResize="0"/>
          <p:nvPr/>
        </p:nvPicPr>
        <p:blipFill rotWithShape="1">
          <a:blip r:embed="rId3">
            <a:alphaModFix/>
          </a:blip>
          <a:srcRect b="0" l="0" r="0" t="0"/>
          <a:stretch/>
        </p:blipFill>
        <p:spPr>
          <a:xfrm>
            <a:off x="10107386" y="138112"/>
            <a:ext cx="1905591" cy="732745"/>
          </a:xfrm>
          <a:prstGeom prst="rect">
            <a:avLst/>
          </a:prstGeom>
          <a:noFill/>
          <a:ln>
            <a:noFill/>
          </a:ln>
        </p:spPr>
      </p:pic>
      <p:pic>
        <p:nvPicPr>
          <p:cNvPr id="90" name="Google Shape;90;p1"/>
          <p:cNvPicPr preferRelativeResize="0"/>
          <p:nvPr/>
        </p:nvPicPr>
        <p:blipFill rotWithShape="1">
          <a:blip r:embed="rId4">
            <a:alphaModFix/>
          </a:blip>
          <a:srcRect b="0" l="0" r="0" t="0"/>
          <a:stretch/>
        </p:blipFill>
        <p:spPr>
          <a:xfrm>
            <a:off x="13338629" y="4760686"/>
            <a:ext cx="406400" cy="40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90"/>
                                        </p:tgtEl>
                                        <p:attrNameLst>
                                          <p:attrName>style.visibility</p:attrName>
                                        </p:attrNameLst>
                                      </p:cBhvr>
                                      <p:to>
                                        <p:strVal val="visible"/>
                                      </p:to>
                                    </p:set>
                                    <p:animEffect filter="fade" transition="in">
                                      <p:cBhvr>
                                        <p:cTn dur="5000"/>
                                        <p:tgtEl>
                                          <p:spTgt spid="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800"/>
              <a:buFont typeface="Cambria"/>
              <a:buNone/>
            </a:pPr>
            <a:r>
              <a:rPr lang="en-US" sz="4800">
                <a:solidFill>
                  <a:srgbClr val="002060"/>
                </a:solidFill>
                <a:latin typeface="Cambria"/>
                <a:ea typeface="Cambria"/>
                <a:cs typeface="Cambria"/>
                <a:sym typeface="Cambria"/>
              </a:rPr>
              <a:t>Introduction </a:t>
            </a:r>
            <a:endParaRPr/>
          </a:p>
        </p:txBody>
      </p:sp>
      <p:sp>
        <p:nvSpPr>
          <p:cNvPr id="96" name="Google Shape;96;p2"/>
          <p:cNvSpPr txBox="1"/>
          <p:nvPr>
            <p:ph idx="1" type="body"/>
          </p:nvPr>
        </p:nvSpPr>
        <p:spPr>
          <a:xfrm>
            <a:off x="838200" y="1690688"/>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150000"/>
              </a:lnSpc>
              <a:spcBef>
                <a:spcPts val="0"/>
              </a:spcBef>
              <a:spcAft>
                <a:spcPts val="0"/>
              </a:spcAft>
              <a:buClr>
                <a:srgbClr val="7030A0"/>
              </a:buClr>
              <a:buSzPts val="2500"/>
              <a:buChar char="•"/>
            </a:pPr>
            <a:r>
              <a:rPr b="0" i="0" lang="en-US" sz="2500">
                <a:solidFill>
                  <a:srgbClr val="7030A0"/>
                </a:solidFill>
                <a:latin typeface="Cambria"/>
                <a:ea typeface="Cambria"/>
                <a:cs typeface="Cambria"/>
                <a:sym typeface="Cambria"/>
              </a:rPr>
              <a:t>A queue is a </a:t>
            </a:r>
            <a:r>
              <a:rPr b="0" i="0" lang="en-US" sz="2500">
                <a:solidFill>
                  <a:srgbClr val="7030A0"/>
                </a:solidFill>
                <a:highlight>
                  <a:srgbClr val="00FF00"/>
                </a:highlight>
                <a:latin typeface="Cambria"/>
                <a:ea typeface="Cambria"/>
                <a:cs typeface="Cambria"/>
                <a:sym typeface="Cambria"/>
              </a:rPr>
              <a:t>linear data structure</a:t>
            </a:r>
            <a:r>
              <a:rPr b="0" i="0" lang="en-US" sz="2500">
                <a:solidFill>
                  <a:srgbClr val="7030A0"/>
                </a:solidFill>
                <a:latin typeface="Cambria"/>
                <a:ea typeface="Cambria"/>
                <a:cs typeface="Cambria"/>
                <a:sym typeface="Cambria"/>
              </a:rPr>
              <a:t> that follows the </a:t>
            </a:r>
            <a:r>
              <a:rPr b="0" i="0" lang="en-US" sz="2500">
                <a:solidFill>
                  <a:srgbClr val="0070C0"/>
                </a:solidFill>
                <a:latin typeface="Cambria"/>
                <a:ea typeface="Cambria"/>
                <a:cs typeface="Cambria"/>
                <a:sym typeface="Cambria"/>
              </a:rPr>
              <a:t>“</a:t>
            </a:r>
            <a:r>
              <a:rPr b="0" i="0" lang="en-US" sz="2500">
                <a:solidFill>
                  <a:srgbClr val="0070C0"/>
                </a:solidFill>
                <a:highlight>
                  <a:srgbClr val="00FF00"/>
                </a:highlight>
                <a:latin typeface="Cambria"/>
                <a:ea typeface="Cambria"/>
                <a:cs typeface="Cambria"/>
                <a:sym typeface="Cambria"/>
              </a:rPr>
              <a:t>first-in, first-out” (FIFO)</a:t>
            </a:r>
            <a:r>
              <a:rPr b="0" i="0" lang="en-US" sz="2500">
                <a:solidFill>
                  <a:srgbClr val="7030A0"/>
                </a:solidFill>
                <a:latin typeface="Cambria"/>
                <a:ea typeface="Cambria"/>
                <a:cs typeface="Cambria"/>
                <a:sym typeface="Cambria"/>
              </a:rPr>
              <a:t> principle. It is a collection of elements that supports </a:t>
            </a:r>
            <a:r>
              <a:rPr b="0" i="0" lang="en-US" sz="2500">
                <a:solidFill>
                  <a:srgbClr val="7030A0"/>
                </a:solidFill>
                <a:highlight>
                  <a:srgbClr val="00FF00"/>
                </a:highlight>
                <a:latin typeface="Cambria"/>
                <a:ea typeface="Cambria"/>
                <a:cs typeface="Cambria"/>
                <a:sym typeface="Cambria"/>
              </a:rPr>
              <a:t>two primary operations – </a:t>
            </a:r>
            <a:r>
              <a:rPr lang="en-US" sz="2500">
                <a:solidFill>
                  <a:srgbClr val="FF0000"/>
                </a:solidFill>
                <a:highlight>
                  <a:srgbClr val="00FF00"/>
                </a:highlight>
                <a:latin typeface="Cambria"/>
                <a:ea typeface="Cambria"/>
                <a:cs typeface="Cambria"/>
                <a:sym typeface="Cambria"/>
              </a:rPr>
              <a:t>E</a:t>
            </a:r>
            <a:r>
              <a:rPr b="0" i="0" lang="en-US" sz="2500">
                <a:solidFill>
                  <a:srgbClr val="FF0000"/>
                </a:solidFill>
                <a:highlight>
                  <a:srgbClr val="00FF00"/>
                </a:highlight>
                <a:latin typeface="Cambria"/>
                <a:ea typeface="Cambria"/>
                <a:cs typeface="Cambria"/>
                <a:sym typeface="Cambria"/>
              </a:rPr>
              <a:t>nqueue and Dequeue. </a:t>
            </a:r>
            <a:endParaRPr>
              <a:highlight>
                <a:srgbClr val="00FF00"/>
              </a:highlight>
            </a:endParaRPr>
          </a:p>
          <a:p>
            <a:pPr indent="-228600" lvl="0" marL="228600" rtl="0" algn="just">
              <a:lnSpc>
                <a:spcPct val="150000"/>
              </a:lnSpc>
              <a:spcBef>
                <a:spcPts val="1000"/>
              </a:spcBef>
              <a:spcAft>
                <a:spcPts val="0"/>
              </a:spcAft>
              <a:buClr>
                <a:srgbClr val="7030A0"/>
              </a:buClr>
              <a:buSzPts val="2500"/>
              <a:buChar char="•"/>
            </a:pPr>
            <a:r>
              <a:rPr b="0" i="0" lang="en-US" sz="2500">
                <a:solidFill>
                  <a:srgbClr val="7030A0"/>
                </a:solidFill>
                <a:latin typeface="Cambria"/>
                <a:ea typeface="Cambria"/>
                <a:cs typeface="Cambria"/>
                <a:sym typeface="Cambria"/>
              </a:rPr>
              <a:t>In the </a:t>
            </a:r>
            <a:r>
              <a:rPr b="0" i="0" lang="en-US" sz="2500">
                <a:solidFill>
                  <a:srgbClr val="7030A0"/>
                </a:solidFill>
                <a:highlight>
                  <a:schemeClr val="accent6"/>
                </a:highlight>
                <a:latin typeface="Cambria"/>
                <a:ea typeface="Cambria"/>
                <a:cs typeface="Cambria"/>
                <a:sym typeface="Cambria"/>
              </a:rPr>
              <a:t>enqueue</a:t>
            </a:r>
            <a:r>
              <a:rPr b="0" i="0" lang="en-US" sz="2500">
                <a:solidFill>
                  <a:srgbClr val="7030A0"/>
                </a:solidFill>
                <a:latin typeface="Cambria"/>
                <a:ea typeface="Cambria"/>
                <a:cs typeface="Cambria"/>
                <a:sym typeface="Cambria"/>
              </a:rPr>
              <a:t> operation, an </a:t>
            </a:r>
            <a:r>
              <a:rPr b="0" i="0" lang="en-US" sz="2500">
                <a:solidFill>
                  <a:srgbClr val="7030A0"/>
                </a:solidFill>
                <a:highlight>
                  <a:schemeClr val="accent6"/>
                </a:highlight>
                <a:latin typeface="Cambria"/>
                <a:ea typeface="Cambria"/>
                <a:cs typeface="Cambria"/>
                <a:sym typeface="Cambria"/>
              </a:rPr>
              <a:t>element is added to the back of the queue</a:t>
            </a:r>
            <a:r>
              <a:rPr b="0" i="0" lang="en-US" sz="2500">
                <a:solidFill>
                  <a:srgbClr val="7030A0"/>
                </a:solidFill>
                <a:latin typeface="Cambria"/>
                <a:ea typeface="Cambria"/>
                <a:cs typeface="Cambria"/>
                <a:sym typeface="Cambria"/>
              </a:rPr>
              <a:t>, while in the </a:t>
            </a:r>
            <a:r>
              <a:rPr b="0" i="0" lang="en-US" sz="2500">
                <a:solidFill>
                  <a:srgbClr val="7030A0"/>
                </a:solidFill>
                <a:highlight>
                  <a:schemeClr val="accent6"/>
                </a:highlight>
                <a:latin typeface="Cambria"/>
                <a:ea typeface="Cambria"/>
                <a:cs typeface="Cambria"/>
                <a:sym typeface="Cambria"/>
              </a:rPr>
              <a:t>dequeue </a:t>
            </a:r>
            <a:r>
              <a:rPr b="0" i="0" lang="en-US" sz="2500">
                <a:solidFill>
                  <a:srgbClr val="7030A0"/>
                </a:solidFill>
                <a:latin typeface="Cambria"/>
                <a:ea typeface="Cambria"/>
                <a:cs typeface="Cambria"/>
                <a:sym typeface="Cambria"/>
              </a:rPr>
              <a:t>operation, an </a:t>
            </a:r>
            <a:r>
              <a:rPr b="0" i="0" lang="en-US" sz="2500">
                <a:solidFill>
                  <a:srgbClr val="7030A0"/>
                </a:solidFill>
                <a:highlight>
                  <a:srgbClr val="00FF00"/>
                </a:highlight>
                <a:latin typeface="Cambria"/>
                <a:ea typeface="Cambria"/>
                <a:cs typeface="Cambria"/>
                <a:sym typeface="Cambria"/>
              </a:rPr>
              <a:t>element is removed from the front</a:t>
            </a:r>
            <a:r>
              <a:rPr b="0" i="0" lang="en-US" sz="2500">
                <a:solidFill>
                  <a:srgbClr val="7030A0"/>
                </a:solidFill>
                <a:latin typeface="Cambria"/>
                <a:ea typeface="Cambria"/>
                <a:cs typeface="Cambria"/>
                <a:sym typeface="Cambria"/>
              </a:rPr>
              <a:t> of the queue.</a:t>
            </a:r>
            <a:endParaRPr sz="2500">
              <a:solidFill>
                <a:srgbClr val="7030A0"/>
              </a:solidFill>
              <a:latin typeface="Cambria"/>
              <a:ea typeface="Cambria"/>
              <a:cs typeface="Cambria"/>
              <a:sym typeface="Cambria"/>
            </a:endParaRPr>
          </a:p>
        </p:txBody>
      </p:sp>
      <p:pic>
        <p:nvPicPr>
          <p:cNvPr id="97" name="Google Shape;97;p2"/>
          <p:cNvPicPr preferRelativeResize="0"/>
          <p:nvPr/>
        </p:nvPicPr>
        <p:blipFill rotWithShape="1">
          <a:blip r:embed="rId3">
            <a:alphaModFix/>
          </a:blip>
          <a:srcRect b="0" l="0" r="0" t="0"/>
          <a:stretch/>
        </p:blipFill>
        <p:spPr>
          <a:xfrm>
            <a:off x="10107386" y="138112"/>
            <a:ext cx="1905591" cy="732745"/>
          </a:xfrm>
          <a:prstGeom prst="rect">
            <a:avLst/>
          </a:prstGeom>
          <a:noFill/>
          <a:ln>
            <a:noFill/>
          </a:ln>
        </p:spPr>
      </p:pic>
      <p:pic>
        <p:nvPicPr>
          <p:cNvPr id="98" name="Google Shape;98;p2"/>
          <p:cNvPicPr preferRelativeResize="0"/>
          <p:nvPr/>
        </p:nvPicPr>
        <p:blipFill rotWithShape="1">
          <a:blip r:embed="rId4">
            <a:alphaModFix/>
          </a:blip>
          <a:srcRect b="0" l="0" r="0" t="0"/>
          <a:stretch/>
        </p:blipFill>
        <p:spPr>
          <a:xfrm>
            <a:off x="13413860" y="4263450"/>
            <a:ext cx="406400" cy="40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98"/>
                                        </p:tgtEl>
                                        <p:attrNameLst>
                                          <p:attrName>style.visibility</p:attrName>
                                        </p:attrNameLst>
                                      </p:cBhvr>
                                      <p:to>
                                        <p:strVal val="visible"/>
                                      </p:to>
                                    </p:set>
                                    <p:animEffect filter="fade" transition="in">
                                      <p:cBhvr>
                                        <p:cTn dur="5000"/>
                                        <p:tgtEl>
                                          <p:spTgt spid="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3"/>
          <p:cNvSpPr txBox="1"/>
          <p:nvPr>
            <p:ph idx="1" type="body"/>
          </p:nvPr>
        </p:nvSpPr>
        <p:spPr>
          <a:xfrm>
            <a:off x="131800" y="138100"/>
            <a:ext cx="11780700" cy="6577200"/>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rgbClr val="0070C0"/>
              </a:buClr>
              <a:buSzPts val="2500"/>
              <a:buNone/>
            </a:pPr>
            <a:r>
              <a:rPr lang="en-US" sz="2500">
                <a:solidFill>
                  <a:srgbClr val="0070C0"/>
                </a:solidFill>
                <a:latin typeface="Cambria"/>
                <a:ea typeface="Cambria"/>
                <a:cs typeface="Cambria"/>
                <a:sym typeface="Cambria"/>
              </a:rPr>
              <a:t>The basic operations of a queue include:</a:t>
            </a:r>
            <a:endParaRPr/>
          </a:p>
          <a:p>
            <a:pPr indent="-228600" lvl="0" marL="228600" rtl="0" algn="just">
              <a:lnSpc>
                <a:spcPct val="150000"/>
              </a:lnSpc>
              <a:spcBef>
                <a:spcPts val="1000"/>
              </a:spcBef>
              <a:spcAft>
                <a:spcPts val="0"/>
              </a:spcAft>
              <a:buClr>
                <a:srgbClr val="FF0000"/>
              </a:buClr>
              <a:buSzPts val="2500"/>
              <a:buChar char="•"/>
            </a:pPr>
            <a:r>
              <a:rPr lang="en-US" sz="2500">
                <a:solidFill>
                  <a:srgbClr val="FF0000"/>
                </a:solidFill>
                <a:latin typeface="Cambria"/>
                <a:ea typeface="Cambria"/>
                <a:cs typeface="Cambria"/>
                <a:sym typeface="Cambria"/>
              </a:rPr>
              <a:t>Enqueue: </a:t>
            </a:r>
            <a:r>
              <a:rPr lang="en-US" sz="2500">
                <a:latin typeface="Cambria"/>
                <a:ea typeface="Cambria"/>
                <a:cs typeface="Cambria"/>
                <a:sym typeface="Cambria"/>
              </a:rPr>
              <a:t>Add an element to the back of the queue. </a:t>
            </a:r>
            <a:endParaRPr/>
          </a:p>
          <a:p>
            <a:pPr indent="-228600" lvl="0" marL="228600" rtl="0" algn="just">
              <a:lnSpc>
                <a:spcPct val="150000"/>
              </a:lnSpc>
              <a:spcBef>
                <a:spcPts val="1000"/>
              </a:spcBef>
              <a:spcAft>
                <a:spcPts val="0"/>
              </a:spcAft>
              <a:buClr>
                <a:srgbClr val="FF0000"/>
              </a:buClr>
              <a:buSzPts val="2500"/>
              <a:buChar char="•"/>
            </a:pPr>
            <a:r>
              <a:rPr lang="en-US" sz="2500">
                <a:solidFill>
                  <a:srgbClr val="FF0000"/>
                </a:solidFill>
                <a:latin typeface="Cambria"/>
                <a:ea typeface="Cambria"/>
                <a:cs typeface="Cambria"/>
                <a:sym typeface="Cambria"/>
              </a:rPr>
              <a:t>Dequeue:</a:t>
            </a:r>
            <a:r>
              <a:rPr lang="en-US" sz="2500">
                <a:latin typeface="Cambria"/>
                <a:ea typeface="Cambria"/>
                <a:cs typeface="Cambria"/>
                <a:sym typeface="Cambria"/>
              </a:rPr>
              <a:t> Remove the element at the front of the queue.</a:t>
            </a:r>
            <a:endParaRPr/>
          </a:p>
          <a:p>
            <a:pPr indent="-228600" lvl="0" marL="228600" rtl="0" algn="just">
              <a:lnSpc>
                <a:spcPct val="150000"/>
              </a:lnSpc>
              <a:spcBef>
                <a:spcPts val="1000"/>
              </a:spcBef>
              <a:spcAft>
                <a:spcPts val="0"/>
              </a:spcAft>
              <a:buClr>
                <a:srgbClr val="FF0000"/>
              </a:buClr>
              <a:buSzPts val="2500"/>
              <a:buChar char="•"/>
            </a:pPr>
            <a:r>
              <a:rPr lang="en-US" sz="2500">
                <a:solidFill>
                  <a:srgbClr val="FF0000"/>
                </a:solidFill>
                <a:latin typeface="Cambria"/>
                <a:ea typeface="Cambria"/>
                <a:cs typeface="Cambria"/>
                <a:sym typeface="Cambria"/>
              </a:rPr>
              <a:t>Peek:</a:t>
            </a:r>
            <a:r>
              <a:rPr lang="en-US" sz="2500">
                <a:latin typeface="Cambria"/>
                <a:ea typeface="Cambria"/>
                <a:cs typeface="Cambria"/>
                <a:sym typeface="Cambria"/>
              </a:rPr>
              <a:t> Return the element at the front of the queue without removing it.</a:t>
            </a:r>
            <a:endParaRPr/>
          </a:p>
          <a:p>
            <a:pPr indent="-228600" lvl="0" marL="228600" rtl="0" algn="just">
              <a:lnSpc>
                <a:spcPct val="150000"/>
              </a:lnSpc>
              <a:spcBef>
                <a:spcPts val="1000"/>
              </a:spcBef>
              <a:spcAft>
                <a:spcPts val="0"/>
              </a:spcAft>
              <a:buClr>
                <a:srgbClr val="FF0000"/>
              </a:buClr>
              <a:buSzPts val="2500"/>
              <a:buChar char="•"/>
            </a:pPr>
            <a:r>
              <a:rPr lang="en-US" sz="2500">
                <a:solidFill>
                  <a:srgbClr val="FF0000"/>
                </a:solidFill>
                <a:latin typeface="Cambria"/>
                <a:ea typeface="Cambria"/>
                <a:cs typeface="Cambria"/>
                <a:sym typeface="Cambria"/>
              </a:rPr>
              <a:t>Size:</a:t>
            </a:r>
            <a:r>
              <a:rPr lang="en-US" sz="2500">
                <a:latin typeface="Cambria"/>
                <a:ea typeface="Cambria"/>
                <a:cs typeface="Cambria"/>
                <a:sym typeface="Cambria"/>
              </a:rPr>
              <a:t> Return the number of elements in the queue.</a:t>
            </a:r>
            <a:endParaRPr/>
          </a:p>
          <a:p>
            <a:pPr indent="-228600" lvl="0" marL="228600" rtl="0" algn="just">
              <a:lnSpc>
                <a:spcPct val="150000"/>
              </a:lnSpc>
              <a:spcBef>
                <a:spcPts val="1000"/>
              </a:spcBef>
              <a:spcAft>
                <a:spcPts val="0"/>
              </a:spcAft>
              <a:buClr>
                <a:srgbClr val="FF0000"/>
              </a:buClr>
              <a:buSzPts val="2500"/>
              <a:buChar char="•"/>
            </a:pPr>
            <a:r>
              <a:rPr lang="en-US" sz="2500">
                <a:solidFill>
                  <a:srgbClr val="FF0000"/>
                </a:solidFill>
                <a:latin typeface="Cambria"/>
                <a:ea typeface="Cambria"/>
                <a:cs typeface="Cambria"/>
                <a:sym typeface="Cambria"/>
              </a:rPr>
              <a:t>isEmpty:</a:t>
            </a:r>
            <a:r>
              <a:rPr lang="en-US" sz="2500">
                <a:latin typeface="Cambria"/>
                <a:ea typeface="Cambria"/>
                <a:cs typeface="Cambria"/>
                <a:sym typeface="Cambria"/>
              </a:rPr>
              <a:t> Check if the queue is empty. </a:t>
            </a:r>
            <a:endParaRPr sz="2500">
              <a:latin typeface="Cambria"/>
              <a:ea typeface="Cambria"/>
              <a:cs typeface="Cambria"/>
              <a:sym typeface="Cambria"/>
            </a:endParaRPr>
          </a:p>
        </p:txBody>
      </p:sp>
      <p:pic>
        <p:nvPicPr>
          <p:cNvPr descr="Queue (abstract data type) - Wikipedia" id="104" name="Google Shape;104;p3"/>
          <p:cNvPicPr preferRelativeResize="0"/>
          <p:nvPr/>
        </p:nvPicPr>
        <p:blipFill rotWithShape="1">
          <a:blip r:embed="rId3">
            <a:alphaModFix/>
          </a:blip>
          <a:srcRect b="0" l="0" r="0" t="0"/>
          <a:stretch/>
        </p:blipFill>
        <p:spPr>
          <a:xfrm>
            <a:off x="7933565" y="3581400"/>
            <a:ext cx="3501592" cy="2290564"/>
          </a:xfrm>
          <a:prstGeom prst="rect">
            <a:avLst/>
          </a:prstGeom>
          <a:noFill/>
          <a:ln>
            <a:noFill/>
          </a:ln>
        </p:spPr>
      </p:pic>
      <p:pic>
        <p:nvPicPr>
          <p:cNvPr id="105" name="Google Shape;105;p3"/>
          <p:cNvPicPr preferRelativeResize="0"/>
          <p:nvPr/>
        </p:nvPicPr>
        <p:blipFill rotWithShape="1">
          <a:blip r:embed="rId4">
            <a:alphaModFix/>
          </a:blip>
          <a:srcRect b="0" l="0" r="0" t="0"/>
          <a:stretch/>
        </p:blipFill>
        <p:spPr>
          <a:xfrm>
            <a:off x="10107386" y="138112"/>
            <a:ext cx="1905591" cy="732745"/>
          </a:xfrm>
          <a:prstGeom prst="rect">
            <a:avLst/>
          </a:prstGeom>
          <a:noFill/>
          <a:ln>
            <a:noFill/>
          </a:ln>
        </p:spPr>
      </p:pic>
      <p:pic>
        <p:nvPicPr>
          <p:cNvPr id="106" name="Google Shape;106;p3"/>
          <p:cNvPicPr preferRelativeResize="0"/>
          <p:nvPr/>
        </p:nvPicPr>
        <p:blipFill rotWithShape="1">
          <a:blip r:embed="rId5">
            <a:alphaModFix/>
          </a:blip>
          <a:srcRect b="0" l="0" r="0" t="0"/>
          <a:stretch/>
        </p:blipFill>
        <p:spPr>
          <a:xfrm>
            <a:off x="12903200" y="5065486"/>
            <a:ext cx="406400" cy="40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06"/>
                                        </p:tgtEl>
                                        <p:attrNameLst>
                                          <p:attrName>style.visibility</p:attrName>
                                        </p:attrNameLst>
                                      </p:cBhvr>
                                      <p:to>
                                        <p:strVal val="visible"/>
                                      </p:to>
                                    </p:set>
                                    <p:animEffect filter="fade" transition="in">
                                      <p:cBhvr>
                                        <p:cTn dur="5000"/>
                                        <p:tgtEl>
                                          <p:spTgt spid="1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4"/>
          <p:cNvSpPr txBox="1"/>
          <p:nvPr>
            <p:ph type="title"/>
          </p:nvPr>
        </p:nvSpPr>
        <p:spPr>
          <a:xfrm>
            <a:off x="838200" y="256277"/>
            <a:ext cx="10515600" cy="8541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2060"/>
              </a:buClr>
              <a:buSzPts val="4400"/>
              <a:buFont typeface="Cambria"/>
              <a:buNone/>
            </a:pPr>
            <a:r>
              <a:rPr lang="en-US">
                <a:solidFill>
                  <a:srgbClr val="002060"/>
                </a:solidFill>
                <a:latin typeface="Cambria"/>
                <a:ea typeface="Cambria"/>
                <a:cs typeface="Cambria"/>
                <a:sym typeface="Cambria"/>
              </a:rPr>
              <a:t>Applications of Queue data structure </a:t>
            </a:r>
            <a:endParaRPr/>
          </a:p>
        </p:txBody>
      </p:sp>
      <p:sp>
        <p:nvSpPr>
          <p:cNvPr id="112" name="Google Shape;112;p4"/>
          <p:cNvSpPr txBox="1"/>
          <p:nvPr>
            <p:ph idx="1" type="body"/>
          </p:nvPr>
        </p:nvSpPr>
        <p:spPr>
          <a:xfrm>
            <a:off x="838200" y="1110344"/>
            <a:ext cx="10515600" cy="5148942"/>
          </a:xfrm>
          <a:prstGeom prst="rect">
            <a:avLst/>
          </a:prstGeom>
          <a:noFill/>
          <a:ln>
            <a:noFill/>
          </a:ln>
        </p:spPr>
        <p:txBody>
          <a:bodyPr anchorCtr="0" anchor="t" bIns="45700" lIns="91425" spcFirstLastPara="1" rIns="91425" wrap="square" tIns="45700">
            <a:normAutofit fontScale="85000" lnSpcReduction="20000"/>
          </a:bodyPr>
          <a:lstStyle/>
          <a:p>
            <a:pPr indent="0" lvl="0" marL="0" rtl="0" algn="just">
              <a:lnSpc>
                <a:spcPct val="150000"/>
              </a:lnSpc>
              <a:spcBef>
                <a:spcPts val="0"/>
              </a:spcBef>
              <a:spcAft>
                <a:spcPts val="0"/>
              </a:spcAft>
              <a:buClr>
                <a:srgbClr val="00B0F0"/>
              </a:buClr>
              <a:buSzPct val="100000"/>
              <a:buNone/>
            </a:pPr>
            <a:r>
              <a:rPr b="1" i="0" lang="en-US" sz="2700">
                <a:solidFill>
                  <a:srgbClr val="00B0F0"/>
                </a:solidFill>
                <a:latin typeface="Cambria"/>
                <a:ea typeface="Cambria"/>
                <a:cs typeface="Cambria"/>
                <a:sym typeface="Cambria"/>
              </a:rPr>
              <a:t>Task Scheduling</a:t>
            </a:r>
            <a:r>
              <a:rPr b="0" i="0" lang="en-US" sz="2700">
                <a:solidFill>
                  <a:srgbClr val="00B0F0"/>
                </a:solidFill>
                <a:latin typeface="Cambria"/>
                <a:ea typeface="Cambria"/>
                <a:cs typeface="Cambria"/>
                <a:sym typeface="Cambria"/>
              </a:rPr>
              <a:t>: </a:t>
            </a:r>
            <a:r>
              <a:rPr b="0" i="0" lang="en-US" sz="2700">
                <a:latin typeface="Cambria"/>
                <a:ea typeface="Cambria"/>
                <a:cs typeface="Cambria"/>
                <a:sym typeface="Cambria"/>
              </a:rPr>
              <a:t>Queues can be used to</a:t>
            </a:r>
            <a:r>
              <a:rPr b="0" i="0" lang="en-US" sz="2700">
                <a:highlight>
                  <a:schemeClr val="accent6"/>
                </a:highlight>
                <a:latin typeface="Cambria"/>
                <a:ea typeface="Cambria"/>
                <a:cs typeface="Cambria"/>
                <a:sym typeface="Cambria"/>
              </a:rPr>
              <a:t> schedule tasks based on priority or the order in which they were received.</a:t>
            </a:r>
            <a:endParaRPr>
              <a:highlight>
                <a:schemeClr val="accent6"/>
              </a:highlight>
            </a:endParaRPr>
          </a:p>
          <a:p>
            <a:pPr indent="0" lvl="0" marL="0" rtl="0" algn="just">
              <a:lnSpc>
                <a:spcPct val="150000"/>
              </a:lnSpc>
              <a:spcBef>
                <a:spcPts val="1000"/>
              </a:spcBef>
              <a:spcAft>
                <a:spcPts val="0"/>
              </a:spcAft>
              <a:buClr>
                <a:srgbClr val="00B0F0"/>
              </a:buClr>
              <a:buSzPct val="100000"/>
              <a:buNone/>
            </a:pPr>
            <a:r>
              <a:rPr b="1" i="0" lang="en-US" sz="2700">
                <a:solidFill>
                  <a:srgbClr val="00B0F0"/>
                </a:solidFill>
                <a:latin typeface="Cambria"/>
                <a:ea typeface="Cambria"/>
                <a:cs typeface="Cambria"/>
                <a:sym typeface="Cambria"/>
              </a:rPr>
              <a:t>Resource Allocation:</a:t>
            </a:r>
            <a:r>
              <a:rPr b="0" i="0" lang="en-US" sz="2700">
                <a:solidFill>
                  <a:srgbClr val="00B0F0"/>
                </a:solidFill>
                <a:latin typeface="Cambria"/>
                <a:ea typeface="Cambria"/>
                <a:cs typeface="Cambria"/>
                <a:sym typeface="Cambria"/>
              </a:rPr>
              <a:t> </a:t>
            </a:r>
            <a:r>
              <a:rPr b="0" i="0" lang="en-US" sz="2700">
                <a:latin typeface="Cambria"/>
                <a:ea typeface="Cambria"/>
                <a:cs typeface="Cambria"/>
                <a:sym typeface="Cambria"/>
              </a:rPr>
              <a:t>Queues can be used to </a:t>
            </a:r>
            <a:r>
              <a:rPr b="0" i="0" lang="en-US" sz="2700">
                <a:highlight>
                  <a:srgbClr val="00FF00"/>
                </a:highlight>
                <a:latin typeface="Cambria"/>
                <a:ea typeface="Cambria"/>
                <a:cs typeface="Cambria"/>
                <a:sym typeface="Cambria"/>
              </a:rPr>
              <a:t>manage and allocate resources, such as printers or CPU processing time.</a:t>
            </a:r>
            <a:endParaRPr>
              <a:highlight>
                <a:srgbClr val="00FF00"/>
              </a:highlight>
            </a:endParaRPr>
          </a:p>
          <a:p>
            <a:pPr indent="0" lvl="0" marL="0" rtl="0" algn="just">
              <a:lnSpc>
                <a:spcPct val="150000"/>
              </a:lnSpc>
              <a:spcBef>
                <a:spcPts val="1000"/>
              </a:spcBef>
              <a:spcAft>
                <a:spcPts val="0"/>
              </a:spcAft>
              <a:buClr>
                <a:srgbClr val="00B0F0"/>
              </a:buClr>
              <a:buSzPct val="100000"/>
              <a:buNone/>
            </a:pPr>
            <a:r>
              <a:rPr b="1" i="0" lang="en-US" sz="2700">
                <a:solidFill>
                  <a:srgbClr val="00B0F0"/>
                </a:solidFill>
                <a:latin typeface="Cambria"/>
                <a:ea typeface="Cambria"/>
                <a:cs typeface="Cambria"/>
                <a:sym typeface="Cambria"/>
              </a:rPr>
              <a:t>Message Buffering</a:t>
            </a:r>
            <a:r>
              <a:rPr b="0" i="0" lang="en-US" sz="2700">
                <a:solidFill>
                  <a:srgbClr val="00B0F0"/>
                </a:solidFill>
                <a:latin typeface="Cambria"/>
                <a:ea typeface="Cambria"/>
                <a:cs typeface="Cambria"/>
                <a:sym typeface="Cambria"/>
              </a:rPr>
              <a:t>:</a:t>
            </a:r>
            <a:r>
              <a:rPr b="0" i="0" lang="en-US" sz="2700">
                <a:solidFill>
                  <a:srgbClr val="273239"/>
                </a:solidFill>
                <a:latin typeface="Cambria"/>
                <a:ea typeface="Cambria"/>
                <a:cs typeface="Cambria"/>
                <a:sym typeface="Cambria"/>
              </a:rPr>
              <a:t> </a:t>
            </a:r>
            <a:r>
              <a:rPr b="0" i="0" lang="en-US" sz="2700">
                <a:latin typeface="Cambria"/>
                <a:ea typeface="Cambria"/>
                <a:cs typeface="Cambria"/>
                <a:sym typeface="Cambria"/>
              </a:rPr>
              <a:t>Queues can be used to </a:t>
            </a:r>
            <a:r>
              <a:rPr b="0" i="0" lang="en-US" sz="2700">
                <a:highlight>
                  <a:srgbClr val="00FF00"/>
                </a:highlight>
                <a:latin typeface="Cambria"/>
                <a:ea typeface="Cambria"/>
                <a:cs typeface="Cambria"/>
                <a:sym typeface="Cambria"/>
              </a:rPr>
              <a:t>buffer messages in communication systems, such as message queues in messaging systems</a:t>
            </a:r>
            <a:r>
              <a:rPr b="0" i="0" lang="en-US" sz="2700">
                <a:latin typeface="Cambria"/>
                <a:ea typeface="Cambria"/>
                <a:cs typeface="Cambria"/>
                <a:sym typeface="Cambria"/>
              </a:rPr>
              <a:t> or </a:t>
            </a:r>
            <a:r>
              <a:rPr b="0" i="0" lang="en-US" sz="2700">
                <a:highlight>
                  <a:srgbClr val="00FF00"/>
                </a:highlight>
                <a:latin typeface="Cambria"/>
                <a:ea typeface="Cambria"/>
                <a:cs typeface="Cambria"/>
                <a:sym typeface="Cambria"/>
              </a:rPr>
              <a:t>buffers in computer networks.</a:t>
            </a:r>
            <a:endParaRPr>
              <a:highlight>
                <a:srgbClr val="00FF00"/>
              </a:highlight>
            </a:endParaRPr>
          </a:p>
          <a:p>
            <a:pPr indent="0" lvl="0" marL="0" rtl="0" algn="just">
              <a:lnSpc>
                <a:spcPct val="150000"/>
              </a:lnSpc>
              <a:spcBef>
                <a:spcPts val="1000"/>
              </a:spcBef>
              <a:spcAft>
                <a:spcPts val="0"/>
              </a:spcAft>
              <a:buClr>
                <a:srgbClr val="00B0F0"/>
              </a:buClr>
              <a:buSzPct val="100000"/>
              <a:buNone/>
            </a:pPr>
            <a:r>
              <a:rPr b="1" i="0" lang="en-US" sz="2700">
                <a:solidFill>
                  <a:srgbClr val="00B0F0"/>
                </a:solidFill>
                <a:latin typeface="Cambria"/>
                <a:ea typeface="Cambria"/>
                <a:cs typeface="Cambria"/>
                <a:sym typeface="Cambria"/>
              </a:rPr>
              <a:t>Event Handling</a:t>
            </a:r>
            <a:r>
              <a:rPr b="0" i="0" lang="en-US" sz="2700">
                <a:solidFill>
                  <a:srgbClr val="00B0F0"/>
                </a:solidFill>
                <a:latin typeface="Cambria"/>
                <a:ea typeface="Cambria"/>
                <a:cs typeface="Cambria"/>
                <a:sym typeface="Cambria"/>
              </a:rPr>
              <a:t>: </a:t>
            </a:r>
            <a:r>
              <a:rPr b="0" i="0" lang="en-US" sz="2700">
                <a:latin typeface="Cambria"/>
                <a:ea typeface="Cambria"/>
                <a:cs typeface="Cambria"/>
                <a:sym typeface="Cambria"/>
              </a:rPr>
              <a:t>Queues can be used to </a:t>
            </a:r>
            <a:r>
              <a:rPr b="0" i="0" lang="en-US" sz="2700">
                <a:highlight>
                  <a:srgbClr val="00FF00"/>
                </a:highlight>
                <a:latin typeface="Cambria"/>
                <a:ea typeface="Cambria"/>
                <a:cs typeface="Cambria"/>
                <a:sym typeface="Cambria"/>
              </a:rPr>
              <a:t>handle events in event-driven systems, such as GUI applications or simulation systems.</a:t>
            </a:r>
            <a:endParaRPr>
              <a:highlight>
                <a:srgbClr val="00FF00"/>
              </a:highlight>
            </a:endParaRPr>
          </a:p>
          <a:p>
            <a:pPr indent="0" lvl="0" marL="0" rtl="0" algn="l">
              <a:lnSpc>
                <a:spcPct val="90000"/>
              </a:lnSpc>
              <a:spcBef>
                <a:spcPts val="1000"/>
              </a:spcBef>
              <a:spcAft>
                <a:spcPts val="0"/>
              </a:spcAft>
              <a:buClr>
                <a:schemeClr val="dk1"/>
              </a:buClr>
              <a:buSzPct val="100000"/>
              <a:buNone/>
            </a:pPr>
            <a:r>
              <a:t/>
            </a:r>
            <a:endParaRPr/>
          </a:p>
        </p:txBody>
      </p:sp>
      <p:pic>
        <p:nvPicPr>
          <p:cNvPr id="113" name="Google Shape;113;p4"/>
          <p:cNvPicPr preferRelativeResize="0"/>
          <p:nvPr/>
        </p:nvPicPr>
        <p:blipFill rotWithShape="1">
          <a:blip r:embed="rId3">
            <a:alphaModFix/>
          </a:blip>
          <a:srcRect b="0" l="0" r="0" t="0"/>
          <a:stretch/>
        </p:blipFill>
        <p:spPr>
          <a:xfrm>
            <a:off x="10428514" y="87085"/>
            <a:ext cx="1660663" cy="732745"/>
          </a:xfrm>
          <a:prstGeom prst="rect">
            <a:avLst/>
          </a:prstGeom>
          <a:noFill/>
          <a:ln>
            <a:noFill/>
          </a:ln>
        </p:spPr>
      </p:pic>
      <p:pic>
        <p:nvPicPr>
          <p:cNvPr id="114" name="Google Shape;114;p4"/>
          <p:cNvPicPr preferRelativeResize="0"/>
          <p:nvPr/>
        </p:nvPicPr>
        <p:blipFill rotWithShape="1">
          <a:blip r:embed="rId4">
            <a:alphaModFix/>
          </a:blip>
          <a:srcRect b="0" l="0" r="0" t="0"/>
          <a:stretch/>
        </p:blipFill>
        <p:spPr>
          <a:xfrm>
            <a:off x="13175343" y="5348514"/>
            <a:ext cx="406400" cy="40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14"/>
                                        </p:tgtEl>
                                        <p:attrNameLst>
                                          <p:attrName>style.visibility</p:attrName>
                                        </p:attrNameLst>
                                      </p:cBhvr>
                                      <p:to>
                                        <p:strVal val="visible"/>
                                      </p:to>
                                    </p:set>
                                    <p:animEffect filter="fade" transition="in">
                                      <p:cBhvr>
                                        <p:cTn dur="5000"/>
                                        <p:tgtEl>
                                          <p:spTgt spid="1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5"/>
          <p:cNvSpPr txBox="1"/>
          <p:nvPr>
            <p:ph idx="1" type="body"/>
          </p:nvPr>
        </p:nvSpPr>
        <p:spPr>
          <a:xfrm>
            <a:off x="772875" y="960449"/>
            <a:ext cx="11087100" cy="54294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rgbClr val="00B0F0"/>
              </a:buClr>
              <a:buSzPts val="2500"/>
              <a:buNone/>
            </a:pPr>
            <a:r>
              <a:rPr b="1" i="0" lang="en-US" sz="2500">
                <a:solidFill>
                  <a:srgbClr val="00B0F0"/>
                </a:solidFill>
                <a:latin typeface="Cambria"/>
                <a:ea typeface="Cambria"/>
                <a:cs typeface="Cambria"/>
                <a:sym typeface="Cambria"/>
              </a:rPr>
              <a:t>Traffic Management</a:t>
            </a:r>
            <a:r>
              <a:rPr b="0" i="0" lang="en-US" sz="2500">
                <a:solidFill>
                  <a:srgbClr val="00B0F0"/>
                </a:solidFill>
                <a:latin typeface="Cambria"/>
                <a:ea typeface="Cambria"/>
                <a:cs typeface="Cambria"/>
                <a:sym typeface="Cambria"/>
              </a:rPr>
              <a:t>: </a:t>
            </a:r>
            <a:r>
              <a:rPr b="0" i="0" lang="en-US" sz="2500">
                <a:latin typeface="Cambria"/>
                <a:ea typeface="Cambria"/>
                <a:cs typeface="Cambria"/>
                <a:sym typeface="Cambria"/>
              </a:rPr>
              <a:t>Queues can be used to </a:t>
            </a:r>
            <a:r>
              <a:rPr b="0" i="0" lang="en-US" sz="2500">
                <a:highlight>
                  <a:schemeClr val="accent6"/>
                </a:highlight>
                <a:latin typeface="Cambria"/>
                <a:ea typeface="Cambria"/>
                <a:cs typeface="Cambria"/>
                <a:sym typeface="Cambria"/>
              </a:rPr>
              <a:t>manage traffic flow in transportation systems, such as airport control systems or road networks.</a:t>
            </a:r>
            <a:endParaRPr>
              <a:highlight>
                <a:schemeClr val="accent6"/>
              </a:highlight>
            </a:endParaRPr>
          </a:p>
          <a:p>
            <a:pPr indent="0" lvl="0" marL="0" rtl="0" algn="just">
              <a:lnSpc>
                <a:spcPct val="150000"/>
              </a:lnSpc>
              <a:spcBef>
                <a:spcPts val="1000"/>
              </a:spcBef>
              <a:spcAft>
                <a:spcPts val="0"/>
              </a:spcAft>
              <a:buClr>
                <a:srgbClr val="00B0F0"/>
              </a:buClr>
              <a:buSzPts val="2500"/>
              <a:buNone/>
            </a:pPr>
            <a:r>
              <a:rPr b="1" i="0" lang="en-US" sz="2500">
                <a:solidFill>
                  <a:srgbClr val="00B0F0"/>
                </a:solidFill>
                <a:latin typeface="Cambria"/>
                <a:ea typeface="Cambria"/>
                <a:cs typeface="Cambria"/>
                <a:sym typeface="Cambria"/>
              </a:rPr>
              <a:t>Operating systems:</a:t>
            </a:r>
            <a:r>
              <a:rPr b="0" i="0" lang="en-US" sz="2500">
                <a:solidFill>
                  <a:srgbClr val="00B0F0"/>
                </a:solidFill>
                <a:latin typeface="Cambria"/>
                <a:ea typeface="Cambria"/>
                <a:cs typeface="Cambria"/>
                <a:sym typeface="Cambria"/>
              </a:rPr>
              <a:t> </a:t>
            </a:r>
            <a:r>
              <a:rPr b="0" i="0" lang="en-US" sz="2500">
                <a:latin typeface="Cambria"/>
                <a:ea typeface="Cambria"/>
                <a:cs typeface="Cambria"/>
                <a:sym typeface="Cambria"/>
              </a:rPr>
              <a:t>Operating systems often use queues to </a:t>
            </a:r>
            <a:r>
              <a:rPr b="0" i="0" lang="en-US" sz="2500">
                <a:highlight>
                  <a:srgbClr val="00FF00"/>
                </a:highlight>
                <a:latin typeface="Cambria"/>
                <a:ea typeface="Cambria"/>
                <a:cs typeface="Cambria"/>
                <a:sym typeface="Cambria"/>
              </a:rPr>
              <a:t>manage processes and resources</a:t>
            </a:r>
            <a:r>
              <a:rPr b="0" i="0" lang="en-US" sz="2500">
                <a:latin typeface="Cambria"/>
                <a:ea typeface="Cambria"/>
                <a:cs typeface="Cambria"/>
                <a:sym typeface="Cambria"/>
              </a:rPr>
              <a:t>. For example, a </a:t>
            </a:r>
            <a:r>
              <a:rPr b="0" i="0" lang="en-US" sz="2500">
                <a:highlight>
                  <a:srgbClr val="00FF00"/>
                </a:highlight>
                <a:latin typeface="Cambria"/>
                <a:ea typeface="Cambria"/>
                <a:cs typeface="Cambria"/>
                <a:sym typeface="Cambria"/>
              </a:rPr>
              <a:t>process scheduler </a:t>
            </a:r>
            <a:r>
              <a:rPr b="0" i="0" lang="en-US" sz="2500">
                <a:latin typeface="Cambria"/>
                <a:ea typeface="Cambria"/>
                <a:cs typeface="Cambria"/>
                <a:sym typeface="Cambria"/>
              </a:rPr>
              <a:t>might use a queue to </a:t>
            </a:r>
            <a:r>
              <a:rPr b="0" i="0" lang="en-US" sz="2500">
                <a:highlight>
                  <a:srgbClr val="00FF00"/>
                </a:highlight>
                <a:latin typeface="Cambria"/>
                <a:ea typeface="Cambria"/>
                <a:cs typeface="Cambria"/>
                <a:sym typeface="Cambria"/>
              </a:rPr>
              <a:t>manage the order in which processes are executed.</a:t>
            </a:r>
            <a:endParaRPr>
              <a:highlight>
                <a:srgbClr val="00FF00"/>
              </a:highlight>
            </a:endParaRPr>
          </a:p>
          <a:p>
            <a:pPr indent="0" lvl="0" marL="0" rtl="0" algn="just">
              <a:lnSpc>
                <a:spcPct val="150000"/>
              </a:lnSpc>
              <a:spcBef>
                <a:spcPts val="1000"/>
              </a:spcBef>
              <a:spcAft>
                <a:spcPts val="0"/>
              </a:spcAft>
              <a:buClr>
                <a:srgbClr val="00B0F0"/>
              </a:buClr>
              <a:buSzPts val="2500"/>
              <a:buNone/>
            </a:pPr>
            <a:r>
              <a:rPr b="1" i="0" lang="en-US" sz="2500">
                <a:solidFill>
                  <a:srgbClr val="00B0F0"/>
                </a:solidFill>
                <a:latin typeface="Cambria"/>
                <a:ea typeface="Cambria"/>
                <a:cs typeface="Cambria"/>
                <a:sym typeface="Cambria"/>
              </a:rPr>
              <a:t>Network protocols: </a:t>
            </a:r>
            <a:r>
              <a:rPr b="0" i="0" lang="en-US" sz="2500">
                <a:latin typeface="Cambria"/>
                <a:ea typeface="Cambria"/>
                <a:cs typeface="Cambria"/>
                <a:sym typeface="Cambria"/>
              </a:rPr>
              <a:t>Network protocols </a:t>
            </a:r>
            <a:r>
              <a:rPr b="0" i="0" lang="en-US" sz="2500">
                <a:highlight>
                  <a:srgbClr val="00FF00"/>
                </a:highlight>
                <a:latin typeface="Cambria"/>
                <a:ea typeface="Cambria"/>
                <a:cs typeface="Cambria"/>
                <a:sym typeface="Cambria"/>
              </a:rPr>
              <a:t>like TCP and UDP </a:t>
            </a:r>
            <a:r>
              <a:rPr b="0" i="0" lang="en-US" sz="2500">
                <a:latin typeface="Cambria"/>
                <a:ea typeface="Cambria"/>
                <a:cs typeface="Cambria"/>
                <a:sym typeface="Cambria"/>
              </a:rPr>
              <a:t>use queues</a:t>
            </a:r>
            <a:r>
              <a:rPr b="0" i="0" lang="en-US" sz="2500">
                <a:highlight>
                  <a:srgbClr val="00FF00"/>
                </a:highlight>
                <a:latin typeface="Cambria"/>
                <a:ea typeface="Cambria"/>
                <a:cs typeface="Cambria"/>
                <a:sym typeface="Cambria"/>
              </a:rPr>
              <a:t> to manage packets that are transmitted over the network</a:t>
            </a:r>
            <a:r>
              <a:rPr b="0" i="0" lang="en-US" sz="2500">
                <a:latin typeface="Cambria"/>
                <a:ea typeface="Cambria"/>
                <a:cs typeface="Cambria"/>
                <a:sym typeface="Cambria"/>
              </a:rPr>
              <a:t>. Queues can </a:t>
            </a:r>
            <a:r>
              <a:rPr b="0" i="0" lang="en-US" sz="2500">
                <a:highlight>
                  <a:srgbClr val="00FF00"/>
                </a:highlight>
                <a:latin typeface="Cambria"/>
                <a:ea typeface="Cambria"/>
                <a:cs typeface="Cambria"/>
                <a:sym typeface="Cambria"/>
              </a:rPr>
              <a:t>help to ensure </a:t>
            </a:r>
            <a:r>
              <a:rPr b="0" i="0" lang="en-US" sz="2500">
                <a:latin typeface="Cambria"/>
                <a:ea typeface="Cambria"/>
                <a:cs typeface="Cambria"/>
                <a:sym typeface="Cambria"/>
              </a:rPr>
              <a:t>that </a:t>
            </a:r>
            <a:r>
              <a:rPr b="0" i="0" lang="en-US" sz="2500">
                <a:highlight>
                  <a:schemeClr val="accent6"/>
                </a:highlight>
                <a:latin typeface="Cambria"/>
                <a:ea typeface="Cambria"/>
                <a:cs typeface="Cambria"/>
                <a:sym typeface="Cambria"/>
              </a:rPr>
              <a:t>packets are delivered in the correct order and at the appropriate rate.</a:t>
            </a:r>
            <a:endParaRPr>
              <a:highlight>
                <a:schemeClr val="accent6"/>
              </a:highlight>
            </a:endParaRPr>
          </a:p>
          <a:p>
            <a:pPr indent="-69850" lvl="0" marL="228600" rtl="0" algn="just">
              <a:lnSpc>
                <a:spcPct val="150000"/>
              </a:lnSpc>
              <a:spcBef>
                <a:spcPts val="1000"/>
              </a:spcBef>
              <a:spcAft>
                <a:spcPts val="0"/>
              </a:spcAft>
              <a:buClr>
                <a:schemeClr val="dk1"/>
              </a:buClr>
              <a:buSzPts val="2500"/>
              <a:buFont typeface="Calibri"/>
              <a:buNone/>
            </a:pPr>
            <a:r>
              <a:t/>
            </a:r>
            <a:endParaRPr b="0" i="0" sz="2500">
              <a:solidFill>
                <a:srgbClr val="273239"/>
              </a:solidFill>
              <a:latin typeface="Cambria"/>
              <a:ea typeface="Cambria"/>
              <a:cs typeface="Cambria"/>
              <a:sym typeface="Cambria"/>
            </a:endParaRPr>
          </a:p>
          <a:p>
            <a:pPr indent="-69850" lvl="0" marL="228600" rtl="0" algn="just">
              <a:lnSpc>
                <a:spcPct val="150000"/>
              </a:lnSpc>
              <a:spcBef>
                <a:spcPts val="1000"/>
              </a:spcBef>
              <a:spcAft>
                <a:spcPts val="0"/>
              </a:spcAft>
              <a:buClr>
                <a:schemeClr val="dk1"/>
              </a:buClr>
              <a:buSzPts val="2500"/>
              <a:buNone/>
            </a:pPr>
            <a:r>
              <a:t/>
            </a:r>
            <a:endParaRPr sz="2500">
              <a:latin typeface="Cambria"/>
              <a:ea typeface="Cambria"/>
              <a:cs typeface="Cambria"/>
              <a:sym typeface="Cambria"/>
            </a:endParaRPr>
          </a:p>
        </p:txBody>
      </p:sp>
      <p:pic>
        <p:nvPicPr>
          <p:cNvPr id="120" name="Google Shape;120;p5"/>
          <p:cNvPicPr preferRelativeResize="0"/>
          <p:nvPr/>
        </p:nvPicPr>
        <p:blipFill rotWithShape="1">
          <a:blip r:embed="rId3">
            <a:alphaModFix/>
          </a:blip>
          <a:srcRect b="0" l="0" r="0" t="0"/>
          <a:stretch/>
        </p:blipFill>
        <p:spPr>
          <a:xfrm>
            <a:off x="10107386" y="138112"/>
            <a:ext cx="1905591" cy="67831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6"/>
          <p:cNvSpPr txBox="1"/>
          <p:nvPr>
            <p:ph idx="1" type="body"/>
          </p:nvPr>
        </p:nvSpPr>
        <p:spPr>
          <a:xfrm>
            <a:off x="838200" y="762001"/>
            <a:ext cx="10515600" cy="5414962"/>
          </a:xfrm>
          <a:prstGeom prst="rect">
            <a:avLst/>
          </a:prstGeom>
          <a:noFill/>
          <a:ln>
            <a:noFill/>
          </a:ln>
        </p:spPr>
        <p:txBody>
          <a:bodyPr anchorCtr="0" anchor="t" bIns="45700" lIns="91425" spcFirstLastPara="1" rIns="91425" wrap="square" tIns="45700">
            <a:normAutofit fontScale="92500" lnSpcReduction="20000"/>
          </a:bodyPr>
          <a:lstStyle/>
          <a:p>
            <a:pPr indent="0" lvl="0" marL="0" rtl="0" algn="just">
              <a:lnSpc>
                <a:spcPct val="150000"/>
              </a:lnSpc>
              <a:spcBef>
                <a:spcPts val="0"/>
              </a:spcBef>
              <a:spcAft>
                <a:spcPts val="0"/>
              </a:spcAft>
              <a:buClr>
                <a:srgbClr val="00B0F0"/>
              </a:buClr>
              <a:buSzPct val="100000"/>
              <a:buNone/>
            </a:pPr>
            <a:r>
              <a:rPr b="1" i="0" lang="en-US" sz="2500">
                <a:solidFill>
                  <a:srgbClr val="00B0F0"/>
                </a:solidFill>
                <a:latin typeface="Cambria"/>
                <a:ea typeface="Cambria"/>
                <a:cs typeface="Cambria"/>
                <a:sym typeface="Cambria"/>
              </a:rPr>
              <a:t>Printer queues :</a:t>
            </a:r>
            <a:r>
              <a:rPr b="0" i="0" lang="en-US" sz="2500">
                <a:latin typeface="Cambria"/>
                <a:ea typeface="Cambria"/>
                <a:cs typeface="Cambria"/>
                <a:sym typeface="Cambria"/>
              </a:rPr>
              <a:t>In printing systems, queues are used to</a:t>
            </a:r>
            <a:r>
              <a:rPr b="0" i="0" lang="en-US" sz="2500">
                <a:highlight>
                  <a:srgbClr val="00FF00"/>
                </a:highlight>
                <a:latin typeface="Cambria"/>
                <a:ea typeface="Cambria"/>
                <a:cs typeface="Cambria"/>
                <a:sym typeface="Cambria"/>
              </a:rPr>
              <a:t> manage the order in which print jobs are processed. </a:t>
            </a:r>
            <a:r>
              <a:rPr b="0" i="0" lang="en-US" sz="2500">
                <a:latin typeface="Cambria"/>
                <a:ea typeface="Cambria"/>
                <a:cs typeface="Cambria"/>
                <a:sym typeface="Cambria"/>
              </a:rPr>
              <a:t>Jobs are </a:t>
            </a:r>
            <a:r>
              <a:rPr b="0" i="0" lang="en-US" sz="2500">
                <a:highlight>
                  <a:srgbClr val="00FF00"/>
                </a:highlight>
                <a:latin typeface="Cambria"/>
                <a:ea typeface="Cambria"/>
                <a:cs typeface="Cambria"/>
                <a:sym typeface="Cambria"/>
              </a:rPr>
              <a:t>added to the queue as they are submitted, and the printer processes them in the order they were received.</a:t>
            </a:r>
            <a:endParaRPr>
              <a:highlight>
                <a:srgbClr val="00FF00"/>
              </a:highlight>
            </a:endParaRPr>
          </a:p>
          <a:p>
            <a:pPr indent="0" lvl="0" marL="0" rtl="0" algn="just">
              <a:lnSpc>
                <a:spcPct val="150000"/>
              </a:lnSpc>
              <a:spcBef>
                <a:spcPts val="1000"/>
              </a:spcBef>
              <a:spcAft>
                <a:spcPts val="0"/>
              </a:spcAft>
              <a:buClr>
                <a:srgbClr val="00B0F0"/>
              </a:buClr>
              <a:buSzPct val="100000"/>
              <a:buNone/>
            </a:pPr>
            <a:r>
              <a:rPr b="1" i="0" lang="en-US" sz="2500">
                <a:solidFill>
                  <a:srgbClr val="00B0F0"/>
                </a:solidFill>
                <a:latin typeface="Cambria"/>
                <a:ea typeface="Cambria"/>
                <a:cs typeface="Cambria"/>
                <a:sym typeface="Cambria"/>
              </a:rPr>
              <a:t>Web servers:</a:t>
            </a:r>
            <a:r>
              <a:rPr b="0" i="0" lang="en-US" sz="2500">
                <a:solidFill>
                  <a:srgbClr val="00B0F0"/>
                </a:solidFill>
                <a:latin typeface="Cambria"/>
                <a:ea typeface="Cambria"/>
                <a:cs typeface="Cambria"/>
                <a:sym typeface="Cambria"/>
              </a:rPr>
              <a:t> </a:t>
            </a:r>
            <a:r>
              <a:rPr b="0" i="0" lang="en-US" sz="2500">
                <a:latin typeface="Cambria"/>
                <a:ea typeface="Cambria"/>
                <a:cs typeface="Cambria"/>
                <a:sym typeface="Cambria"/>
              </a:rPr>
              <a:t>Web servers use queues to</a:t>
            </a:r>
            <a:r>
              <a:rPr b="0" i="0" lang="en-US" sz="2500">
                <a:highlight>
                  <a:schemeClr val="accent6"/>
                </a:highlight>
                <a:latin typeface="Cambria"/>
                <a:ea typeface="Cambria"/>
                <a:cs typeface="Cambria"/>
                <a:sym typeface="Cambria"/>
              </a:rPr>
              <a:t> manage incoming requests from clients. Requests are added to the queue as they are received, and they are processed by the server in the order they were received.</a:t>
            </a:r>
            <a:endParaRPr>
              <a:highlight>
                <a:schemeClr val="accent6"/>
              </a:highlight>
            </a:endParaRPr>
          </a:p>
          <a:p>
            <a:pPr indent="0" lvl="0" marL="0" rtl="0" algn="just">
              <a:lnSpc>
                <a:spcPct val="150000"/>
              </a:lnSpc>
              <a:spcBef>
                <a:spcPts val="1000"/>
              </a:spcBef>
              <a:spcAft>
                <a:spcPts val="0"/>
              </a:spcAft>
              <a:buClr>
                <a:srgbClr val="00B0F0"/>
              </a:buClr>
              <a:buSzPct val="100000"/>
              <a:buNone/>
            </a:pPr>
            <a:r>
              <a:rPr b="1" i="1" lang="en-US" sz="2500">
                <a:solidFill>
                  <a:srgbClr val="00B0F0"/>
                </a:solidFill>
                <a:latin typeface="Cambria"/>
                <a:ea typeface="Cambria"/>
                <a:cs typeface="Cambria"/>
                <a:sym typeface="Cambria"/>
              </a:rPr>
              <a:t>Real world applications like Ticket counter, Restaurant </a:t>
            </a:r>
            <a:endParaRPr/>
          </a:p>
          <a:p>
            <a:pPr indent="0" lvl="0" marL="0" rtl="0" algn="just">
              <a:lnSpc>
                <a:spcPct val="150000"/>
              </a:lnSpc>
              <a:spcBef>
                <a:spcPts val="1000"/>
              </a:spcBef>
              <a:spcAft>
                <a:spcPts val="0"/>
              </a:spcAft>
              <a:buClr>
                <a:srgbClr val="00B0F0"/>
              </a:buClr>
              <a:buSzPct val="100000"/>
              <a:buNone/>
            </a:pPr>
            <a:r>
              <a:rPr b="1" i="1" lang="en-US" sz="2500">
                <a:solidFill>
                  <a:srgbClr val="00B0F0"/>
                </a:solidFill>
                <a:latin typeface="Cambria"/>
                <a:ea typeface="Cambria"/>
                <a:cs typeface="Cambria"/>
                <a:sym typeface="Cambria"/>
              </a:rPr>
              <a:t>Asynchronous data transfer (Files input and output)</a:t>
            </a:r>
            <a:endParaRPr/>
          </a:p>
          <a:p>
            <a:pPr indent="0" lvl="0" marL="0" rtl="0" algn="just">
              <a:lnSpc>
                <a:spcPct val="150000"/>
              </a:lnSpc>
              <a:spcBef>
                <a:spcPts val="1000"/>
              </a:spcBef>
              <a:spcAft>
                <a:spcPts val="0"/>
              </a:spcAft>
              <a:buClr>
                <a:schemeClr val="dk1"/>
              </a:buClr>
              <a:buSzPct val="100000"/>
              <a:buNone/>
            </a:pPr>
            <a:r>
              <a:t/>
            </a:r>
            <a:endParaRPr b="0" i="0" sz="2500">
              <a:latin typeface="Cambria"/>
              <a:ea typeface="Cambria"/>
              <a:cs typeface="Cambria"/>
              <a:sym typeface="Cambria"/>
            </a:endParaRPr>
          </a:p>
          <a:p>
            <a:pPr indent="-69850" lvl="0" marL="228600" rtl="0" algn="just">
              <a:lnSpc>
                <a:spcPct val="150000"/>
              </a:lnSpc>
              <a:spcBef>
                <a:spcPts val="1000"/>
              </a:spcBef>
              <a:spcAft>
                <a:spcPts val="0"/>
              </a:spcAft>
              <a:buClr>
                <a:schemeClr val="dk1"/>
              </a:buClr>
              <a:buSzPct val="100000"/>
              <a:buNone/>
            </a:pPr>
            <a:r>
              <a:t/>
            </a:r>
            <a:endParaRPr sz="2500">
              <a:latin typeface="Cambria"/>
              <a:ea typeface="Cambria"/>
              <a:cs typeface="Cambria"/>
              <a:sym typeface="Cambria"/>
            </a:endParaRPr>
          </a:p>
        </p:txBody>
      </p:sp>
      <p:pic>
        <p:nvPicPr>
          <p:cNvPr id="126" name="Google Shape;126;p6"/>
          <p:cNvPicPr preferRelativeResize="0"/>
          <p:nvPr/>
        </p:nvPicPr>
        <p:blipFill rotWithShape="1">
          <a:blip r:embed="rId3">
            <a:alphaModFix/>
          </a:blip>
          <a:srcRect b="0" l="0" r="0" t="0"/>
          <a:stretch/>
        </p:blipFill>
        <p:spPr>
          <a:xfrm>
            <a:off x="10107386" y="138113"/>
            <a:ext cx="1905591" cy="732744"/>
          </a:xfrm>
          <a:prstGeom prst="rect">
            <a:avLst/>
          </a:prstGeom>
          <a:noFill/>
          <a:ln>
            <a:noFill/>
          </a:ln>
        </p:spPr>
      </p:pic>
      <p:pic>
        <p:nvPicPr>
          <p:cNvPr id="127" name="Google Shape;127;p6"/>
          <p:cNvPicPr preferRelativeResize="0"/>
          <p:nvPr/>
        </p:nvPicPr>
        <p:blipFill rotWithShape="1">
          <a:blip r:embed="rId4">
            <a:alphaModFix/>
          </a:blip>
          <a:srcRect b="0" l="0" r="0" t="0"/>
          <a:stretch/>
        </p:blipFill>
        <p:spPr>
          <a:xfrm>
            <a:off x="13273314" y="4760686"/>
            <a:ext cx="406400" cy="40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5000"/>
                                        <p:tgtEl>
                                          <p:spTgt spid="1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7"/>
          <p:cNvSpPr txBox="1"/>
          <p:nvPr>
            <p:ph type="title"/>
          </p:nvPr>
        </p:nvSpPr>
        <p:spPr>
          <a:xfrm>
            <a:off x="941614" y="128814"/>
            <a:ext cx="10308771" cy="110444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F0"/>
              </a:buClr>
              <a:buSzPts val="3600"/>
              <a:buFont typeface="Cambria"/>
              <a:buNone/>
            </a:pPr>
            <a:r>
              <a:rPr b="0" i="0" lang="en-US" sz="3600">
                <a:solidFill>
                  <a:srgbClr val="00B0F0"/>
                </a:solidFill>
                <a:latin typeface="Cambria"/>
                <a:ea typeface="Cambria"/>
                <a:cs typeface="Cambria"/>
                <a:sym typeface="Cambria"/>
              </a:rPr>
              <a:t>FCFS (FIRST-COME, FIRST-SERVED) Scheduling</a:t>
            </a:r>
            <a:endParaRPr sz="3600">
              <a:solidFill>
                <a:srgbClr val="00B0F0"/>
              </a:solidFill>
              <a:latin typeface="Cambria"/>
              <a:ea typeface="Cambria"/>
              <a:cs typeface="Cambria"/>
              <a:sym typeface="Cambria"/>
            </a:endParaRPr>
          </a:p>
        </p:txBody>
      </p:sp>
      <p:sp>
        <p:nvSpPr>
          <p:cNvPr id="133" name="Google Shape;133;p7"/>
          <p:cNvSpPr txBox="1"/>
          <p:nvPr>
            <p:ph idx="1" type="body"/>
          </p:nvPr>
        </p:nvSpPr>
        <p:spPr>
          <a:xfrm>
            <a:off x="838200" y="1001486"/>
            <a:ext cx="10515600" cy="5388427"/>
          </a:xfrm>
          <a:prstGeom prst="rect">
            <a:avLst/>
          </a:prstGeom>
          <a:noFill/>
          <a:ln>
            <a:noFill/>
          </a:ln>
        </p:spPr>
        <p:txBody>
          <a:bodyPr anchorCtr="0" anchor="t" bIns="45700" lIns="91425" spcFirstLastPara="1" rIns="91425" wrap="square" tIns="45700">
            <a:normAutofit fontScale="92500" lnSpcReduction="10000"/>
          </a:bodyPr>
          <a:lstStyle/>
          <a:p>
            <a:pPr indent="-216724" lvl="0" marL="228600" rtl="0" algn="just">
              <a:lnSpc>
                <a:spcPct val="150000"/>
              </a:lnSpc>
              <a:spcBef>
                <a:spcPts val="0"/>
              </a:spcBef>
              <a:spcAft>
                <a:spcPts val="0"/>
              </a:spcAft>
              <a:buClr>
                <a:srgbClr val="7030A0"/>
              </a:buClr>
              <a:buSzPct val="100000"/>
              <a:buChar char="•"/>
            </a:pPr>
            <a:r>
              <a:rPr b="0" i="0" lang="en-US" sz="2500">
                <a:solidFill>
                  <a:srgbClr val="7030A0"/>
                </a:solidFill>
                <a:latin typeface="Cambria"/>
                <a:ea typeface="Cambria"/>
                <a:cs typeface="Cambria"/>
                <a:sym typeface="Cambria"/>
              </a:rPr>
              <a:t>FCFS is considered as </a:t>
            </a:r>
            <a:r>
              <a:rPr b="0" i="0" lang="en-US" sz="2500">
                <a:solidFill>
                  <a:srgbClr val="7030A0"/>
                </a:solidFill>
                <a:highlight>
                  <a:schemeClr val="accent6"/>
                </a:highlight>
                <a:latin typeface="Cambria"/>
                <a:ea typeface="Cambria"/>
                <a:cs typeface="Cambria"/>
                <a:sym typeface="Cambria"/>
              </a:rPr>
              <a:t>simplest CPU-scheduling algorithm.</a:t>
            </a:r>
            <a:r>
              <a:rPr b="0" i="0" lang="en-US" sz="2500">
                <a:solidFill>
                  <a:srgbClr val="7030A0"/>
                </a:solidFill>
                <a:latin typeface="Cambria"/>
                <a:ea typeface="Cambria"/>
                <a:cs typeface="Cambria"/>
                <a:sym typeface="Cambria"/>
              </a:rPr>
              <a:t> In FCFS algorithm, the </a:t>
            </a:r>
            <a:r>
              <a:rPr b="0" i="0" lang="en-US" sz="2500">
                <a:solidFill>
                  <a:srgbClr val="7030A0"/>
                </a:solidFill>
                <a:highlight>
                  <a:schemeClr val="accent6"/>
                </a:highlight>
                <a:latin typeface="Cambria"/>
                <a:ea typeface="Cambria"/>
                <a:cs typeface="Cambria"/>
                <a:sym typeface="Cambria"/>
              </a:rPr>
              <a:t>process that requests the CPU first is allocated in the CPU first.</a:t>
            </a:r>
            <a:r>
              <a:rPr b="0" i="0" lang="en-US" sz="2500">
                <a:solidFill>
                  <a:srgbClr val="7030A0"/>
                </a:solidFill>
                <a:latin typeface="Cambria"/>
                <a:ea typeface="Cambria"/>
                <a:cs typeface="Cambria"/>
                <a:sym typeface="Cambria"/>
              </a:rPr>
              <a:t> The </a:t>
            </a:r>
            <a:r>
              <a:rPr b="0" i="0" lang="en-US" sz="2500">
                <a:solidFill>
                  <a:srgbClr val="7030A0"/>
                </a:solidFill>
                <a:highlight>
                  <a:schemeClr val="accent6"/>
                </a:highlight>
                <a:latin typeface="Cambria"/>
                <a:ea typeface="Cambria"/>
                <a:cs typeface="Cambria"/>
                <a:sym typeface="Cambria"/>
              </a:rPr>
              <a:t>implementation</a:t>
            </a:r>
            <a:r>
              <a:rPr b="0" i="0" lang="en-US" sz="2500">
                <a:solidFill>
                  <a:srgbClr val="7030A0"/>
                </a:solidFill>
                <a:latin typeface="Cambria"/>
                <a:ea typeface="Cambria"/>
                <a:cs typeface="Cambria"/>
                <a:sym typeface="Cambria"/>
              </a:rPr>
              <a:t> of FCFS algorithm is </a:t>
            </a:r>
            <a:r>
              <a:rPr b="0" i="0" lang="en-US" sz="2500">
                <a:solidFill>
                  <a:srgbClr val="7030A0"/>
                </a:solidFill>
                <a:highlight>
                  <a:srgbClr val="00FF00"/>
                </a:highlight>
                <a:latin typeface="Cambria"/>
                <a:ea typeface="Cambria"/>
                <a:cs typeface="Cambria"/>
                <a:sym typeface="Cambria"/>
              </a:rPr>
              <a:t>managed with FIFO </a:t>
            </a:r>
            <a:r>
              <a:rPr b="0" i="0" lang="en-US" sz="2500">
                <a:solidFill>
                  <a:srgbClr val="7030A0"/>
                </a:solidFill>
                <a:latin typeface="Cambria"/>
                <a:ea typeface="Cambria"/>
                <a:cs typeface="Cambria"/>
                <a:sym typeface="Cambria"/>
              </a:rPr>
              <a:t>(First in first out) </a:t>
            </a:r>
            <a:r>
              <a:rPr b="0" i="0" lang="en-US" sz="2500">
                <a:solidFill>
                  <a:srgbClr val="7030A0"/>
                </a:solidFill>
                <a:highlight>
                  <a:srgbClr val="00FF00"/>
                </a:highlight>
                <a:latin typeface="Cambria"/>
                <a:ea typeface="Cambria"/>
                <a:cs typeface="Cambria"/>
                <a:sym typeface="Cambria"/>
              </a:rPr>
              <a:t>queue.</a:t>
            </a:r>
            <a:endParaRPr>
              <a:highlight>
                <a:srgbClr val="00FF00"/>
              </a:highlight>
            </a:endParaRPr>
          </a:p>
          <a:p>
            <a:pPr indent="-216724" lvl="0" marL="228600" rtl="0" algn="just">
              <a:lnSpc>
                <a:spcPct val="160000"/>
              </a:lnSpc>
              <a:spcBef>
                <a:spcPts val="1000"/>
              </a:spcBef>
              <a:spcAft>
                <a:spcPts val="0"/>
              </a:spcAft>
              <a:buClr>
                <a:srgbClr val="7030A0"/>
              </a:buClr>
              <a:buSzPct val="100000"/>
              <a:buChar char="•"/>
            </a:pPr>
            <a:r>
              <a:rPr lang="en-US" sz="2500">
                <a:solidFill>
                  <a:srgbClr val="7030A0"/>
                </a:solidFill>
                <a:latin typeface="Cambria"/>
                <a:ea typeface="Cambria"/>
                <a:cs typeface="Cambria"/>
                <a:sym typeface="Cambria"/>
              </a:rPr>
              <a:t>Real Life Example Of FCFS Scheduling</a:t>
            </a:r>
            <a:endParaRPr/>
          </a:p>
          <a:p>
            <a:pPr indent="-216724" lvl="0" marL="228600" rtl="0" algn="just">
              <a:lnSpc>
                <a:spcPct val="160000"/>
              </a:lnSpc>
              <a:spcBef>
                <a:spcPts val="1000"/>
              </a:spcBef>
              <a:spcAft>
                <a:spcPts val="0"/>
              </a:spcAft>
              <a:buClr>
                <a:srgbClr val="7030A0"/>
              </a:buClr>
              <a:buSzPct val="100000"/>
              <a:buChar char="•"/>
            </a:pPr>
            <a:r>
              <a:rPr lang="en-US" sz="2500">
                <a:solidFill>
                  <a:srgbClr val="7030A0"/>
                </a:solidFill>
                <a:latin typeface="Cambria"/>
                <a:ea typeface="Cambria"/>
                <a:cs typeface="Cambria"/>
                <a:sym typeface="Cambria"/>
              </a:rPr>
              <a:t>As a real life example of FCFS scheduling a</a:t>
            </a:r>
            <a:r>
              <a:rPr lang="en-US" sz="2500">
                <a:solidFill>
                  <a:srgbClr val="7030A0"/>
                </a:solidFill>
                <a:highlight>
                  <a:srgbClr val="00FF00"/>
                </a:highlight>
                <a:latin typeface="Cambria"/>
                <a:ea typeface="Cambria"/>
                <a:cs typeface="Cambria"/>
                <a:sym typeface="Cambria"/>
              </a:rPr>
              <a:t> billing counter system of shopping mall </a:t>
            </a:r>
            <a:r>
              <a:rPr lang="en-US" sz="2500">
                <a:solidFill>
                  <a:srgbClr val="7030A0"/>
                </a:solidFill>
                <a:latin typeface="Cambria"/>
                <a:ea typeface="Cambria"/>
                <a:cs typeface="Cambria"/>
                <a:sym typeface="Cambria"/>
              </a:rPr>
              <a:t>can be observed. The first person in the line gets the bill done first and then the next person gets the chance to get the bill and make payment and so on.</a:t>
            </a:r>
            <a:endParaRPr/>
          </a:p>
          <a:p>
            <a:pPr indent="-50800" lvl="0" marL="228600" rtl="0" algn="l">
              <a:lnSpc>
                <a:spcPct val="90000"/>
              </a:lnSpc>
              <a:spcBef>
                <a:spcPts val="1000"/>
              </a:spcBef>
              <a:spcAft>
                <a:spcPts val="0"/>
              </a:spcAft>
              <a:buClr>
                <a:schemeClr val="dk1"/>
              </a:buClr>
              <a:buSzPct val="100000"/>
              <a:buNone/>
            </a:pPr>
            <a:r>
              <a:t/>
            </a:r>
            <a:endParaRPr/>
          </a:p>
        </p:txBody>
      </p:sp>
      <p:pic>
        <p:nvPicPr>
          <p:cNvPr id="134" name="Google Shape;134;p7"/>
          <p:cNvPicPr preferRelativeResize="0"/>
          <p:nvPr/>
        </p:nvPicPr>
        <p:blipFill rotWithShape="1">
          <a:blip r:embed="rId3">
            <a:alphaModFix/>
          </a:blip>
          <a:srcRect b="0" l="0" r="0" t="0"/>
          <a:stretch/>
        </p:blipFill>
        <p:spPr>
          <a:xfrm>
            <a:off x="10308771" y="138112"/>
            <a:ext cx="1704206" cy="73274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8"/>
          <p:cNvSpPr txBox="1"/>
          <p:nvPr>
            <p:ph type="title"/>
          </p:nvPr>
        </p:nvSpPr>
        <p:spPr>
          <a:xfrm>
            <a:off x="903515" y="190954"/>
            <a:ext cx="10515600" cy="107178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7030A0"/>
              </a:buClr>
              <a:buSzPct val="100000"/>
              <a:buFont typeface="Cambria"/>
              <a:buNone/>
            </a:pPr>
            <a:br>
              <a:rPr b="1" i="0" lang="en-US" sz="3600">
                <a:solidFill>
                  <a:srgbClr val="7030A0"/>
                </a:solidFill>
                <a:latin typeface="Cambria"/>
                <a:ea typeface="Cambria"/>
                <a:cs typeface="Cambria"/>
                <a:sym typeface="Cambria"/>
              </a:rPr>
            </a:br>
            <a:r>
              <a:rPr b="1" i="0" lang="en-US" sz="3600">
                <a:solidFill>
                  <a:srgbClr val="7030A0"/>
                </a:solidFill>
                <a:latin typeface="Cambria"/>
                <a:ea typeface="Cambria"/>
                <a:cs typeface="Cambria"/>
                <a:sym typeface="Cambria"/>
              </a:rPr>
              <a:t>FCFS Scheduling Mathematical Examples</a:t>
            </a:r>
            <a:br>
              <a:rPr b="0" i="0" lang="en-US">
                <a:solidFill>
                  <a:srgbClr val="000000"/>
                </a:solidFill>
                <a:latin typeface="Lato"/>
                <a:ea typeface="Lato"/>
                <a:cs typeface="Lato"/>
                <a:sym typeface="Lato"/>
              </a:rPr>
            </a:br>
            <a:endParaRPr/>
          </a:p>
        </p:txBody>
      </p:sp>
      <p:sp>
        <p:nvSpPr>
          <p:cNvPr id="140" name="Google Shape;140;p8"/>
          <p:cNvSpPr txBox="1"/>
          <p:nvPr>
            <p:ph idx="1" type="body"/>
          </p:nvPr>
        </p:nvSpPr>
        <p:spPr>
          <a:xfrm>
            <a:off x="838200" y="1121230"/>
            <a:ext cx="10515600" cy="5055734"/>
          </a:xfrm>
          <a:prstGeom prst="rect">
            <a:avLst/>
          </a:prstGeom>
          <a:noFill/>
          <a:ln>
            <a:noFill/>
          </a:ln>
        </p:spPr>
        <p:txBody>
          <a:bodyPr anchorCtr="0" anchor="t" bIns="45700" lIns="91425" spcFirstLastPara="1" rIns="91425" wrap="square" tIns="45700">
            <a:normAutofit/>
          </a:bodyPr>
          <a:lstStyle/>
          <a:p>
            <a:pPr indent="-228600" lvl="0" marL="228600" rtl="0" algn="just">
              <a:lnSpc>
                <a:spcPct val="150000"/>
              </a:lnSpc>
              <a:spcBef>
                <a:spcPts val="0"/>
              </a:spcBef>
              <a:spcAft>
                <a:spcPts val="0"/>
              </a:spcAft>
              <a:buClr>
                <a:srgbClr val="002060"/>
              </a:buClr>
              <a:buSzPts val="2500"/>
              <a:buFont typeface="Arial"/>
              <a:buChar char="•"/>
            </a:pPr>
            <a:r>
              <a:rPr b="1" i="0" lang="en-US" sz="2500">
                <a:solidFill>
                  <a:srgbClr val="002060"/>
                </a:solidFill>
                <a:latin typeface="Cambria"/>
                <a:ea typeface="Cambria"/>
                <a:cs typeface="Cambria"/>
                <a:sym typeface="Cambria"/>
              </a:rPr>
              <a:t>Arrival time (AT)</a:t>
            </a:r>
            <a:r>
              <a:rPr b="0" i="0" lang="en-US" sz="2500">
                <a:solidFill>
                  <a:srgbClr val="002060"/>
                </a:solidFill>
                <a:latin typeface="Cambria"/>
                <a:ea typeface="Cambria"/>
                <a:cs typeface="Cambria"/>
                <a:sym typeface="Cambria"/>
              </a:rPr>
              <a:t> </a:t>
            </a:r>
            <a:r>
              <a:rPr b="0" i="0" lang="en-US" sz="2500">
                <a:latin typeface="Cambria"/>
                <a:ea typeface="Cambria"/>
                <a:cs typeface="Cambria"/>
                <a:sym typeface="Cambria"/>
              </a:rPr>
              <a:t>− Arrival time is the</a:t>
            </a:r>
            <a:r>
              <a:rPr b="0" i="0" lang="en-US" sz="2500">
                <a:highlight>
                  <a:srgbClr val="00FF00"/>
                </a:highlight>
                <a:latin typeface="Cambria"/>
                <a:ea typeface="Cambria"/>
                <a:cs typeface="Cambria"/>
                <a:sym typeface="Cambria"/>
              </a:rPr>
              <a:t> time at which the process arrives in ready queue.</a:t>
            </a:r>
            <a:endParaRPr>
              <a:highlight>
                <a:srgbClr val="00FF00"/>
              </a:highlight>
            </a:endParaRPr>
          </a:p>
          <a:p>
            <a:pPr indent="-228600" lvl="0" marL="228600" rtl="0" algn="just">
              <a:lnSpc>
                <a:spcPct val="150000"/>
              </a:lnSpc>
              <a:spcBef>
                <a:spcPts val="1000"/>
              </a:spcBef>
              <a:spcAft>
                <a:spcPts val="0"/>
              </a:spcAft>
              <a:buClr>
                <a:srgbClr val="002060"/>
              </a:buClr>
              <a:buSzPts val="2500"/>
              <a:buFont typeface="Arial"/>
              <a:buChar char="•"/>
            </a:pPr>
            <a:r>
              <a:rPr b="1" i="0" lang="en-US" sz="2500">
                <a:solidFill>
                  <a:srgbClr val="002060"/>
                </a:solidFill>
                <a:latin typeface="Cambria"/>
                <a:ea typeface="Cambria"/>
                <a:cs typeface="Cambria"/>
                <a:sym typeface="Cambria"/>
              </a:rPr>
              <a:t>Burst time (BT) or CPU time of the process</a:t>
            </a:r>
            <a:r>
              <a:rPr b="0" i="0" lang="en-US" sz="2500">
                <a:solidFill>
                  <a:srgbClr val="002060"/>
                </a:solidFill>
                <a:latin typeface="Cambria"/>
                <a:ea typeface="Cambria"/>
                <a:cs typeface="Cambria"/>
                <a:sym typeface="Cambria"/>
              </a:rPr>
              <a:t> </a:t>
            </a:r>
            <a:r>
              <a:rPr b="0" i="0" lang="en-US" sz="2500">
                <a:latin typeface="Cambria"/>
                <a:ea typeface="Cambria"/>
                <a:cs typeface="Cambria"/>
                <a:sym typeface="Cambria"/>
              </a:rPr>
              <a:t>− Burst time is the</a:t>
            </a:r>
            <a:r>
              <a:rPr b="0" i="0" lang="en-US" sz="2500">
                <a:highlight>
                  <a:schemeClr val="accent6"/>
                </a:highlight>
                <a:latin typeface="Cambria"/>
                <a:ea typeface="Cambria"/>
                <a:cs typeface="Cambria"/>
                <a:sym typeface="Cambria"/>
              </a:rPr>
              <a:t> unit of time in which a particular process completes its execution.</a:t>
            </a:r>
            <a:endParaRPr>
              <a:highlight>
                <a:schemeClr val="accent6"/>
              </a:highlight>
            </a:endParaRPr>
          </a:p>
          <a:p>
            <a:pPr indent="-228600" lvl="0" marL="228600" rtl="0" algn="just">
              <a:lnSpc>
                <a:spcPct val="150000"/>
              </a:lnSpc>
              <a:spcBef>
                <a:spcPts val="1000"/>
              </a:spcBef>
              <a:spcAft>
                <a:spcPts val="0"/>
              </a:spcAft>
              <a:buClr>
                <a:srgbClr val="002060"/>
              </a:buClr>
              <a:buSzPts val="2500"/>
              <a:buFont typeface="Arial"/>
              <a:buChar char="•"/>
            </a:pPr>
            <a:r>
              <a:rPr b="1" i="0" lang="en-US" sz="2500">
                <a:solidFill>
                  <a:srgbClr val="002060"/>
                </a:solidFill>
                <a:latin typeface="Cambria"/>
                <a:ea typeface="Cambria"/>
                <a:cs typeface="Cambria"/>
                <a:sym typeface="Cambria"/>
              </a:rPr>
              <a:t>Completion time (CT)</a:t>
            </a:r>
            <a:r>
              <a:rPr b="0" i="0" lang="en-US" sz="2500">
                <a:solidFill>
                  <a:srgbClr val="002060"/>
                </a:solidFill>
                <a:latin typeface="Cambria"/>
                <a:ea typeface="Cambria"/>
                <a:cs typeface="Cambria"/>
                <a:sym typeface="Cambria"/>
              </a:rPr>
              <a:t> </a:t>
            </a:r>
            <a:r>
              <a:rPr b="0" i="0" lang="en-US" sz="2500">
                <a:latin typeface="Cambria"/>
                <a:ea typeface="Cambria"/>
                <a:cs typeface="Cambria"/>
                <a:sym typeface="Cambria"/>
              </a:rPr>
              <a:t>− Completion time is the</a:t>
            </a:r>
            <a:r>
              <a:rPr b="0" i="0" lang="en-US" sz="2500">
                <a:highlight>
                  <a:srgbClr val="00FF00"/>
                </a:highlight>
                <a:latin typeface="Cambria"/>
                <a:ea typeface="Cambria"/>
                <a:cs typeface="Cambria"/>
                <a:sym typeface="Cambria"/>
              </a:rPr>
              <a:t> time at which the process has been terminated.</a:t>
            </a:r>
            <a:endParaRPr>
              <a:highlight>
                <a:srgbClr val="00FF00"/>
              </a:highlight>
            </a:endParaRPr>
          </a:p>
          <a:p>
            <a:pPr indent="-228600" lvl="0" marL="228600" rtl="0" algn="just">
              <a:lnSpc>
                <a:spcPct val="150000"/>
              </a:lnSpc>
              <a:spcBef>
                <a:spcPts val="1000"/>
              </a:spcBef>
              <a:spcAft>
                <a:spcPts val="0"/>
              </a:spcAft>
              <a:buClr>
                <a:srgbClr val="002060"/>
              </a:buClr>
              <a:buSzPts val="2500"/>
              <a:buFont typeface="Arial"/>
              <a:buChar char="•"/>
            </a:pPr>
            <a:r>
              <a:rPr b="1" i="0" lang="en-US" sz="2500">
                <a:solidFill>
                  <a:srgbClr val="002060"/>
                </a:solidFill>
                <a:latin typeface="Cambria"/>
                <a:ea typeface="Cambria"/>
                <a:cs typeface="Cambria"/>
                <a:sym typeface="Cambria"/>
              </a:rPr>
              <a:t>Turn-around time (TAT) </a:t>
            </a:r>
            <a:r>
              <a:rPr b="0" i="0" lang="en-US" sz="2500">
                <a:latin typeface="Cambria"/>
                <a:ea typeface="Cambria"/>
                <a:cs typeface="Cambria"/>
                <a:sym typeface="Cambria"/>
              </a:rPr>
              <a:t>− The </a:t>
            </a:r>
            <a:r>
              <a:rPr b="0" i="0" lang="en-US" sz="2500">
                <a:highlight>
                  <a:srgbClr val="00FF00"/>
                </a:highlight>
                <a:latin typeface="Cambria"/>
                <a:ea typeface="Cambria"/>
                <a:cs typeface="Cambria"/>
                <a:sym typeface="Cambria"/>
              </a:rPr>
              <a:t>total time from arrival time to completion time</a:t>
            </a:r>
            <a:r>
              <a:rPr b="0" i="0" lang="en-US" sz="2500">
                <a:latin typeface="Cambria"/>
                <a:ea typeface="Cambria"/>
                <a:cs typeface="Cambria"/>
                <a:sym typeface="Cambria"/>
              </a:rPr>
              <a:t> is known as turn-around time. </a:t>
            </a:r>
            <a:endParaRPr/>
          </a:p>
        </p:txBody>
      </p:sp>
      <p:pic>
        <p:nvPicPr>
          <p:cNvPr id="141" name="Google Shape;141;p8"/>
          <p:cNvPicPr preferRelativeResize="0"/>
          <p:nvPr/>
        </p:nvPicPr>
        <p:blipFill rotWithShape="1">
          <a:blip r:embed="rId3">
            <a:alphaModFix/>
          </a:blip>
          <a:srcRect b="0" l="0" r="0" t="0"/>
          <a:stretch/>
        </p:blipFill>
        <p:spPr>
          <a:xfrm>
            <a:off x="10107386" y="138112"/>
            <a:ext cx="1905591" cy="73274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9"/>
          <p:cNvSpPr txBox="1"/>
          <p:nvPr>
            <p:ph idx="1" type="body"/>
          </p:nvPr>
        </p:nvSpPr>
        <p:spPr>
          <a:xfrm>
            <a:off x="838200" y="576943"/>
            <a:ext cx="10515600" cy="5600020"/>
          </a:xfrm>
          <a:prstGeom prst="rect">
            <a:avLst/>
          </a:prstGeom>
          <a:noFill/>
          <a:ln>
            <a:noFill/>
          </a:ln>
        </p:spPr>
        <p:txBody>
          <a:bodyPr anchorCtr="0" anchor="t" bIns="45700" lIns="91425" spcFirstLastPara="1" rIns="91425" wrap="square" tIns="45700">
            <a:normAutofit lnSpcReduction="10000"/>
          </a:bodyPr>
          <a:lstStyle/>
          <a:p>
            <a:pPr indent="-228600" lvl="0" marL="228600" rtl="0" algn="just">
              <a:lnSpc>
                <a:spcPct val="150000"/>
              </a:lnSpc>
              <a:spcBef>
                <a:spcPts val="0"/>
              </a:spcBef>
              <a:spcAft>
                <a:spcPts val="0"/>
              </a:spcAft>
              <a:buClr>
                <a:srgbClr val="000000"/>
              </a:buClr>
              <a:buSzPts val="2500"/>
              <a:buFont typeface="Arial"/>
              <a:buChar char="•"/>
            </a:pPr>
            <a:r>
              <a:rPr b="0" i="0" lang="en-US" sz="2500">
                <a:solidFill>
                  <a:srgbClr val="000000"/>
                </a:solidFill>
                <a:latin typeface="Cambria"/>
                <a:ea typeface="Cambria"/>
                <a:cs typeface="Cambria"/>
                <a:sym typeface="Cambria"/>
              </a:rPr>
              <a:t>TAT can be written as,</a:t>
            </a:r>
            <a:endParaRPr/>
          </a:p>
          <a:p>
            <a:pPr indent="-228600" lvl="0" marL="228600" rtl="0" algn="just">
              <a:lnSpc>
                <a:spcPct val="150000"/>
              </a:lnSpc>
              <a:spcBef>
                <a:spcPts val="1000"/>
              </a:spcBef>
              <a:spcAft>
                <a:spcPts val="0"/>
              </a:spcAft>
              <a:buClr>
                <a:schemeClr val="dk1"/>
              </a:buClr>
              <a:buSzPts val="2500"/>
              <a:buChar char="•"/>
            </a:pPr>
            <a:r>
              <a:rPr b="1" lang="en-US" sz="2500">
                <a:latin typeface="Cambria"/>
                <a:ea typeface="Cambria"/>
                <a:cs typeface="Cambria"/>
                <a:sym typeface="Cambria"/>
              </a:rPr>
              <a:t>Turn-around time </a:t>
            </a:r>
            <a:r>
              <a:rPr b="1" lang="en-US" sz="2500">
                <a:highlight>
                  <a:srgbClr val="00FF00"/>
                </a:highlight>
                <a:latin typeface="Cambria"/>
                <a:ea typeface="Cambria"/>
                <a:cs typeface="Cambria"/>
                <a:sym typeface="Cambria"/>
              </a:rPr>
              <a:t>(TAT) </a:t>
            </a:r>
            <a:r>
              <a:rPr lang="en-US" sz="2500">
                <a:highlight>
                  <a:srgbClr val="00FF00"/>
                </a:highlight>
                <a:latin typeface="Cambria"/>
                <a:ea typeface="Cambria"/>
                <a:cs typeface="Cambria"/>
                <a:sym typeface="Cambria"/>
              </a:rPr>
              <a:t>= Completion time (CT) – Arrival time (AT) </a:t>
            </a:r>
            <a:r>
              <a:rPr lang="en-US" sz="2500">
                <a:latin typeface="Cambria"/>
                <a:ea typeface="Cambria"/>
                <a:cs typeface="Cambria"/>
                <a:sym typeface="Cambria"/>
              </a:rPr>
              <a:t>or, TAT =</a:t>
            </a:r>
            <a:r>
              <a:rPr lang="en-US" sz="2500">
                <a:highlight>
                  <a:srgbClr val="00FF00"/>
                </a:highlight>
                <a:latin typeface="Cambria"/>
                <a:ea typeface="Cambria"/>
                <a:cs typeface="Cambria"/>
                <a:sym typeface="Cambria"/>
              </a:rPr>
              <a:t> Burst time (BT) + Waiting time (WT)</a:t>
            </a:r>
            <a:endParaRPr sz="2500">
              <a:highlight>
                <a:srgbClr val="00FF00"/>
              </a:highlight>
              <a:latin typeface="Cambria"/>
              <a:ea typeface="Cambria"/>
              <a:cs typeface="Cambria"/>
              <a:sym typeface="Cambria"/>
            </a:endParaRPr>
          </a:p>
          <a:p>
            <a:pPr indent="-228600" lvl="0" marL="228600" rtl="0" algn="just">
              <a:lnSpc>
                <a:spcPct val="150000"/>
              </a:lnSpc>
              <a:spcBef>
                <a:spcPts val="1000"/>
              </a:spcBef>
              <a:spcAft>
                <a:spcPts val="0"/>
              </a:spcAft>
              <a:buClr>
                <a:schemeClr val="dk1"/>
              </a:buClr>
              <a:buSzPts val="2500"/>
              <a:buChar char="•"/>
            </a:pPr>
            <a:r>
              <a:rPr b="1" lang="en-US" sz="2500">
                <a:latin typeface="Cambria"/>
                <a:ea typeface="Cambria"/>
                <a:cs typeface="Cambria"/>
                <a:sym typeface="Cambria"/>
              </a:rPr>
              <a:t>Waiting time (WT) </a:t>
            </a:r>
            <a:r>
              <a:rPr lang="en-US" sz="2500">
                <a:latin typeface="Cambria"/>
                <a:ea typeface="Cambria"/>
                <a:cs typeface="Cambria"/>
                <a:sym typeface="Cambria"/>
              </a:rPr>
              <a:t>− Waiting time is the </a:t>
            </a:r>
            <a:r>
              <a:rPr lang="en-US" sz="2500">
                <a:highlight>
                  <a:srgbClr val="00FF00"/>
                </a:highlight>
                <a:latin typeface="Cambria"/>
                <a:ea typeface="Cambria"/>
                <a:cs typeface="Cambria"/>
                <a:sym typeface="Cambria"/>
              </a:rPr>
              <a:t>time at which the process waits for its allocation while the previous process is in the CPU for execution. </a:t>
            </a:r>
            <a:r>
              <a:rPr lang="en-US" sz="2500">
                <a:latin typeface="Cambria"/>
                <a:ea typeface="Cambria"/>
                <a:cs typeface="Cambria"/>
                <a:sym typeface="Cambria"/>
              </a:rPr>
              <a:t>WT is written as,</a:t>
            </a:r>
            <a:endParaRPr/>
          </a:p>
          <a:p>
            <a:pPr indent="-228600" lvl="0" marL="228600" rtl="0" algn="just">
              <a:lnSpc>
                <a:spcPct val="150000"/>
              </a:lnSpc>
              <a:spcBef>
                <a:spcPts val="1000"/>
              </a:spcBef>
              <a:spcAft>
                <a:spcPts val="0"/>
              </a:spcAft>
              <a:buClr>
                <a:schemeClr val="dk1"/>
              </a:buClr>
              <a:buSzPts val="2500"/>
              <a:buChar char="•"/>
            </a:pPr>
            <a:r>
              <a:rPr lang="en-US" sz="2500">
                <a:latin typeface="Cambria"/>
                <a:ea typeface="Cambria"/>
                <a:cs typeface="Cambria"/>
                <a:sym typeface="Cambria"/>
              </a:rPr>
              <a:t>Waiting time (WT) = Turn-around time (TAT) – Burst time (BT)</a:t>
            </a:r>
            <a:endParaRPr/>
          </a:p>
          <a:p>
            <a:pPr indent="-228600" lvl="0" marL="228600" rtl="0" algn="just">
              <a:lnSpc>
                <a:spcPct val="150000"/>
              </a:lnSpc>
              <a:spcBef>
                <a:spcPts val="1000"/>
              </a:spcBef>
              <a:spcAft>
                <a:spcPts val="0"/>
              </a:spcAft>
              <a:buClr>
                <a:schemeClr val="dk1"/>
              </a:buClr>
              <a:buSzPts val="2500"/>
              <a:buChar char="•"/>
            </a:pPr>
            <a:r>
              <a:rPr b="1" lang="en-US" sz="2500">
                <a:latin typeface="Cambria"/>
                <a:ea typeface="Cambria"/>
                <a:cs typeface="Cambria"/>
                <a:sym typeface="Cambria"/>
              </a:rPr>
              <a:t>Response time (RT) </a:t>
            </a:r>
            <a:r>
              <a:rPr lang="en-US" sz="2500">
                <a:latin typeface="Cambria"/>
                <a:ea typeface="Cambria"/>
                <a:cs typeface="Cambria"/>
                <a:sym typeface="Cambria"/>
              </a:rPr>
              <a:t>− Response time is the</a:t>
            </a:r>
            <a:r>
              <a:rPr lang="en-US" sz="2500">
                <a:highlight>
                  <a:srgbClr val="00FF00"/>
                </a:highlight>
                <a:latin typeface="Cambria"/>
                <a:ea typeface="Cambria"/>
                <a:cs typeface="Cambria"/>
                <a:sym typeface="Cambria"/>
              </a:rPr>
              <a:t> time at which CPU has been allocated to a particular process first time.</a:t>
            </a:r>
            <a:endParaRPr sz="2500">
              <a:highlight>
                <a:srgbClr val="00FF00"/>
              </a:highlight>
              <a:latin typeface="Cambria"/>
              <a:ea typeface="Cambria"/>
              <a:cs typeface="Cambria"/>
              <a:sym typeface="Cambria"/>
            </a:endParaRPr>
          </a:p>
        </p:txBody>
      </p:sp>
      <p:pic>
        <p:nvPicPr>
          <p:cNvPr id="147" name="Google Shape;147;p9"/>
          <p:cNvPicPr preferRelativeResize="0"/>
          <p:nvPr/>
        </p:nvPicPr>
        <p:blipFill rotWithShape="1">
          <a:blip r:embed="rId3">
            <a:alphaModFix/>
          </a:blip>
          <a:srcRect b="0" l="0" r="0" t="0"/>
          <a:stretch/>
        </p:blipFill>
        <p:spPr>
          <a:xfrm>
            <a:off x="10107386" y="138112"/>
            <a:ext cx="1905591" cy="73274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0"/>
          <p:cNvSpPr txBox="1"/>
          <p:nvPr>
            <p:ph idx="1" type="body"/>
          </p:nvPr>
        </p:nvSpPr>
        <p:spPr>
          <a:xfrm>
            <a:off x="838200" y="631371"/>
            <a:ext cx="10515600" cy="5638799"/>
          </a:xfrm>
          <a:prstGeom prst="rect">
            <a:avLst/>
          </a:prstGeom>
          <a:noFill/>
          <a:ln>
            <a:noFill/>
          </a:ln>
        </p:spPr>
        <p:txBody>
          <a:bodyPr anchorCtr="0" anchor="t" bIns="45700" lIns="91425" spcFirstLastPara="1" rIns="91425" wrap="square" tIns="45700">
            <a:normAutofit/>
          </a:bodyPr>
          <a:lstStyle/>
          <a:p>
            <a:pPr indent="-228600" lvl="0" marL="228600" rtl="0" algn="just">
              <a:lnSpc>
                <a:spcPct val="150000"/>
              </a:lnSpc>
              <a:spcBef>
                <a:spcPts val="0"/>
              </a:spcBef>
              <a:spcAft>
                <a:spcPts val="0"/>
              </a:spcAft>
              <a:buClr>
                <a:schemeClr val="dk1"/>
              </a:buClr>
              <a:buSzPts val="2500"/>
              <a:buChar char="•"/>
            </a:pPr>
            <a:r>
              <a:rPr lang="en-US" sz="2500">
                <a:latin typeface="Cambria"/>
                <a:ea typeface="Cambria"/>
                <a:cs typeface="Cambria"/>
                <a:sym typeface="Cambria"/>
              </a:rPr>
              <a:t>Consider the given table below and find Completion time (CT), Turn-around time (TAT), Waiting time (WT), Response time (RT), Average Turn-around time and Average Waiting time.</a:t>
            </a:r>
            <a:endParaRPr/>
          </a:p>
          <a:p>
            <a:pPr indent="-69850" lvl="0" marL="228600" rtl="0" algn="just">
              <a:lnSpc>
                <a:spcPct val="150000"/>
              </a:lnSpc>
              <a:spcBef>
                <a:spcPts val="1000"/>
              </a:spcBef>
              <a:spcAft>
                <a:spcPts val="0"/>
              </a:spcAft>
              <a:buClr>
                <a:schemeClr val="dk1"/>
              </a:buClr>
              <a:buSzPts val="2500"/>
              <a:buNone/>
            </a:pPr>
            <a:r>
              <a:t/>
            </a:r>
            <a:endParaRPr sz="2500">
              <a:latin typeface="Cambria"/>
              <a:ea typeface="Cambria"/>
              <a:cs typeface="Cambria"/>
              <a:sym typeface="Cambria"/>
            </a:endParaRPr>
          </a:p>
        </p:txBody>
      </p:sp>
      <p:graphicFrame>
        <p:nvGraphicFramePr>
          <p:cNvPr id="153" name="Google Shape;153;p10"/>
          <p:cNvGraphicFramePr/>
          <p:nvPr/>
        </p:nvGraphicFramePr>
        <p:xfrm>
          <a:off x="2862943" y="2736374"/>
          <a:ext cx="3000000" cy="3000000"/>
        </p:xfrm>
        <a:graphic>
          <a:graphicData uri="http://schemas.openxmlformats.org/drawingml/2006/table">
            <a:tbl>
              <a:tblPr>
                <a:noFill/>
                <a:tableStyleId>{63BF4796-2843-4EAB-BF60-81AF1B3906F9}</a:tableStyleId>
              </a:tblPr>
              <a:tblGrid>
                <a:gridCol w="2141100"/>
                <a:gridCol w="2187150"/>
                <a:gridCol w="1680650"/>
              </a:tblGrid>
              <a:tr h="254000">
                <a:tc>
                  <a:txBody>
                    <a:bodyPr/>
                    <a:lstStyle/>
                    <a:p>
                      <a:pPr indent="0" lvl="0" marL="0" marR="0" rtl="0" algn="ctr">
                        <a:lnSpc>
                          <a:spcPct val="100000"/>
                        </a:lnSpc>
                        <a:spcBef>
                          <a:spcPts val="0"/>
                        </a:spcBef>
                        <a:spcAft>
                          <a:spcPts val="0"/>
                        </a:spcAft>
                        <a:buClr>
                          <a:srgbClr val="000000"/>
                        </a:buClr>
                        <a:buSzPts val="2000"/>
                        <a:buFont typeface="Arial"/>
                        <a:buNone/>
                      </a:pPr>
                      <a:r>
                        <a:rPr b="1" lang="en-US" sz="2000" u="none" cap="none" strike="noStrike">
                          <a:solidFill>
                            <a:srgbClr val="000000"/>
                          </a:solidFill>
                          <a:latin typeface="Cambria"/>
                          <a:ea typeface="Cambria"/>
                          <a:cs typeface="Cambria"/>
                          <a:sym typeface="Cambria"/>
                        </a:rPr>
                        <a:t>Process ID</a:t>
                      </a:r>
                      <a:endParaRPr sz="1400" u="none" cap="none" strike="noStrike"/>
                    </a:p>
                  </a:txBody>
                  <a:tcPr marT="50800" marB="50800" marR="50800" marL="50800" anchor="ctr"/>
                </a:tc>
                <a:tc>
                  <a:txBody>
                    <a:bodyPr/>
                    <a:lstStyle/>
                    <a:p>
                      <a:pPr indent="0" lvl="0" marL="0" marR="0" rtl="0" algn="ctr">
                        <a:lnSpc>
                          <a:spcPct val="100000"/>
                        </a:lnSpc>
                        <a:spcBef>
                          <a:spcPts val="0"/>
                        </a:spcBef>
                        <a:spcAft>
                          <a:spcPts val="0"/>
                        </a:spcAft>
                        <a:buClr>
                          <a:srgbClr val="000000"/>
                        </a:buClr>
                        <a:buSzPts val="2000"/>
                        <a:buFont typeface="Arial"/>
                        <a:buNone/>
                      </a:pPr>
                      <a:r>
                        <a:rPr b="1" lang="en-US" sz="2000" u="none" cap="none" strike="noStrike">
                          <a:solidFill>
                            <a:srgbClr val="000000"/>
                          </a:solidFill>
                          <a:latin typeface="Cambria"/>
                          <a:ea typeface="Cambria"/>
                          <a:cs typeface="Cambria"/>
                          <a:sym typeface="Cambria"/>
                        </a:rPr>
                        <a:t>Arrival time</a:t>
                      </a:r>
                      <a:endParaRPr sz="1400" u="none" cap="none" strike="noStrike"/>
                    </a:p>
                  </a:txBody>
                  <a:tcPr marT="50800" marB="50800" marR="50800" marL="50800" anchor="ctr"/>
                </a:tc>
                <a:tc>
                  <a:txBody>
                    <a:bodyPr/>
                    <a:lstStyle/>
                    <a:p>
                      <a:pPr indent="0" lvl="0" marL="0" marR="0" rtl="0" algn="ctr">
                        <a:lnSpc>
                          <a:spcPct val="100000"/>
                        </a:lnSpc>
                        <a:spcBef>
                          <a:spcPts val="0"/>
                        </a:spcBef>
                        <a:spcAft>
                          <a:spcPts val="0"/>
                        </a:spcAft>
                        <a:buClr>
                          <a:srgbClr val="000000"/>
                        </a:buClr>
                        <a:buSzPts val="2000"/>
                        <a:buFont typeface="Arial"/>
                        <a:buNone/>
                      </a:pPr>
                      <a:r>
                        <a:rPr b="1" lang="en-US" sz="2000" u="none" cap="none" strike="noStrike">
                          <a:solidFill>
                            <a:srgbClr val="000000"/>
                          </a:solidFill>
                          <a:latin typeface="Cambria"/>
                          <a:ea typeface="Cambria"/>
                          <a:cs typeface="Cambria"/>
                          <a:sym typeface="Cambria"/>
                        </a:rPr>
                        <a:t>Burst time</a:t>
                      </a:r>
                      <a:endParaRPr sz="1400" u="none" cap="none" strike="noStrike"/>
                    </a:p>
                  </a:txBody>
                  <a:tcPr marT="50800" marB="50800" marR="50800" marL="50800" anchor="ctr"/>
                </a:tc>
              </a:tr>
              <a:tr h="254000">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Cambria"/>
                          <a:ea typeface="Cambria"/>
                          <a:cs typeface="Cambria"/>
                          <a:sym typeface="Cambria"/>
                        </a:rPr>
                        <a:t>P1</a:t>
                      </a:r>
                      <a:endParaRPr sz="1400" u="none" cap="none" strike="noStrike"/>
                    </a:p>
                  </a:txBody>
                  <a:tcPr marT="50800" marB="50800" marR="50800" marL="50800" anchor="ct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Cambria"/>
                          <a:ea typeface="Cambria"/>
                          <a:cs typeface="Cambria"/>
                          <a:sym typeface="Cambria"/>
                        </a:rPr>
                        <a:t>2</a:t>
                      </a:r>
                      <a:endParaRPr sz="1400" u="none" cap="none" strike="noStrike"/>
                    </a:p>
                  </a:txBody>
                  <a:tcPr marT="50800" marB="50800" marR="50800" marL="50800" anchor="ct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Cambria"/>
                          <a:ea typeface="Cambria"/>
                          <a:cs typeface="Cambria"/>
                          <a:sym typeface="Cambria"/>
                        </a:rPr>
                        <a:t>2</a:t>
                      </a:r>
                      <a:endParaRPr sz="1400" u="none" cap="none" strike="noStrike"/>
                    </a:p>
                  </a:txBody>
                  <a:tcPr marT="50800" marB="50800" marR="50800" marL="50800" anchor="ctr"/>
                </a:tc>
              </a:tr>
              <a:tr h="254000">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Cambria"/>
                          <a:ea typeface="Cambria"/>
                          <a:cs typeface="Cambria"/>
                          <a:sym typeface="Cambria"/>
                        </a:rPr>
                        <a:t>P2</a:t>
                      </a:r>
                      <a:endParaRPr sz="1400" u="none" cap="none" strike="noStrike"/>
                    </a:p>
                  </a:txBody>
                  <a:tcPr marT="50800" marB="50800" marR="50800" marL="50800" anchor="ct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Cambria"/>
                          <a:ea typeface="Cambria"/>
                          <a:cs typeface="Cambria"/>
                          <a:sym typeface="Cambria"/>
                        </a:rPr>
                        <a:t>5</a:t>
                      </a:r>
                      <a:endParaRPr sz="1400" u="none" cap="none" strike="noStrike"/>
                    </a:p>
                  </a:txBody>
                  <a:tcPr marT="50800" marB="50800" marR="50800" marL="50800" anchor="ct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Cambria"/>
                          <a:ea typeface="Cambria"/>
                          <a:cs typeface="Cambria"/>
                          <a:sym typeface="Cambria"/>
                        </a:rPr>
                        <a:t>6</a:t>
                      </a:r>
                      <a:endParaRPr sz="1400" u="none" cap="none" strike="noStrike"/>
                    </a:p>
                  </a:txBody>
                  <a:tcPr marT="50800" marB="50800" marR="50800" marL="50800" anchor="ctr"/>
                </a:tc>
              </a:tr>
              <a:tr h="254000">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Cambria"/>
                          <a:ea typeface="Cambria"/>
                          <a:cs typeface="Cambria"/>
                          <a:sym typeface="Cambria"/>
                        </a:rPr>
                        <a:t>P3</a:t>
                      </a:r>
                      <a:endParaRPr sz="1400" u="none" cap="none" strike="noStrike"/>
                    </a:p>
                  </a:txBody>
                  <a:tcPr marT="50800" marB="50800" marR="50800" marL="50800" anchor="ct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Cambria"/>
                          <a:ea typeface="Cambria"/>
                          <a:cs typeface="Cambria"/>
                          <a:sym typeface="Cambria"/>
                        </a:rPr>
                        <a:t>0</a:t>
                      </a:r>
                      <a:endParaRPr sz="1400" u="none" cap="none" strike="noStrike"/>
                    </a:p>
                  </a:txBody>
                  <a:tcPr marT="50800" marB="50800" marR="50800" marL="50800" anchor="ct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Cambria"/>
                          <a:ea typeface="Cambria"/>
                          <a:cs typeface="Cambria"/>
                          <a:sym typeface="Cambria"/>
                        </a:rPr>
                        <a:t>4</a:t>
                      </a:r>
                      <a:endParaRPr sz="1400" u="none" cap="none" strike="noStrike"/>
                    </a:p>
                  </a:txBody>
                  <a:tcPr marT="50800" marB="50800" marR="50800" marL="50800" anchor="ctr"/>
                </a:tc>
              </a:tr>
              <a:tr h="254000">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Cambria"/>
                          <a:ea typeface="Cambria"/>
                          <a:cs typeface="Cambria"/>
                          <a:sym typeface="Cambria"/>
                        </a:rPr>
                        <a:t>P4</a:t>
                      </a:r>
                      <a:endParaRPr sz="1400" u="none" cap="none" strike="noStrike"/>
                    </a:p>
                  </a:txBody>
                  <a:tcPr marT="50800" marB="50800" marR="50800" marL="50800" anchor="ct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Cambria"/>
                          <a:ea typeface="Cambria"/>
                          <a:cs typeface="Cambria"/>
                          <a:sym typeface="Cambria"/>
                        </a:rPr>
                        <a:t>0</a:t>
                      </a:r>
                      <a:endParaRPr sz="1400" u="none" cap="none" strike="noStrike"/>
                    </a:p>
                  </a:txBody>
                  <a:tcPr marT="50800" marB="50800" marR="50800" marL="50800" anchor="ct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Cambria"/>
                          <a:ea typeface="Cambria"/>
                          <a:cs typeface="Cambria"/>
                          <a:sym typeface="Cambria"/>
                        </a:rPr>
                        <a:t>7</a:t>
                      </a:r>
                      <a:endParaRPr sz="1400" u="none" cap="none" strike="noStrike"/>
                    </a:p>
                  </a:txBody>
                  <a:tcPr marT="50800" marB="50800" marR="50800" marL="50800" anchor="ctr"/>
                </a:tc>
              </a:tr>
              <a:tr h="254000">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Cambria"/>
                          <a:ea typeface="Cambria"/>
                          <a:cs typeface="Cambria"/>
                          <a:sym typeface="Cambria"/>
                        </a:rPr>
                        <a:t>P5</a:t>
                      </a:r>
                      <a:endParaRPr sz="1400" u="none" cap="none" strike="noStrike"/>
                    </a:p>
                  </a:txBody>
                  <a:tcPr marT="50800" marB="50800" marR="50800" marL="50800" anchor="ct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Cambria"/>
                          <a:ea typeface="Cambria"/>
                          <a:cs typeface="Cambria"/>
                          <a:sym typeface="Cambria"/>
                        </a:rPr>
                        <a:t>7</a:t>
                      </a:r>
                      <a:endParaRPr sz="1400" u="none" cap="none" strike="noStrike"/>
                    </a:p>
                  </a:txBody>
                  <a:tcPr marT="50800" marB="50800" marR="50800" marL="50800" anchor="ct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Cambria"/>
                          <a:ea typeface="Cambria"/>
                          <a:cs typeface="Cambria"/>
                          <a:sym typeface="Cambria"/>
                        </a:rPr>
                        <a:t>4</a:t>
                      </a:r>
                      <a:endParaRPr sz="1400" u="none" cap="none" strike="noStrike"/>
                    </a:p>
                  </a:txBody>
                  <a:tcPr marT="50800" marB="50800" marR="50800" marL="50800" anchor="ctr"/>
                </a:tc>
              </a:tr>
            </a:tbl>
          </a:graphicData>
        </a:graphic>
      </p:graphicFrame>
      <p:pic>
        <p:nvPicPr>
          <p:cNvPr id="154" name="Google Shape;154;p10"/>
          <p:cNvPicPr preferRelativeResize="0"/>
          <p:nvPr/>
        </p:nvPicPr>
        <p:blipFill rotWithShape="1">
          <a:blip r:embed="rId3">
            <a:alphaModFix/>
          </a:blip>
          <a:srcRect b="0" l="0" r="0" t="0"/>
          <a:stretch/>
        </p:blipFill>
        <p:spPr>
          <a:xfrm>
            <a:off x="10107386" y="138112"/>
            <a:ext cx="1905591" cy="73274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1"/>
          <p:cNvSpPr/>
          <p:nvPr/>
        </p:nvSpPr>
        <p:spPr>
          <a:xfrm>
            <a:off x="1730829" y="2813050"/>
            <a:ext cx="12192000" cy="457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Verdana"/>
              <a:buNone/>
            </a:pPr>
            <a:r>
              <a:rPr b="0" i="0" lang="en-US" sz="1100" u="none" cap="none" strike="noStrike">
                <a:solidFill>
                  <a:srgbClr val="000000"/>
                </a:solidFill>
                <a:latin typeface="Verdana"/>
                <a:ea typeface="Verdana"/>
                <a:cs typeface="Verdana"/>
                <a:sym typeface="Verdana"/>
              </a:rPr>
              <a:t>Gantt chart</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  </a:t>
            </a:r>
            <a:r>
              <a:rPr b="0" i="0" lang="en-US" sz="6400" u="none" cap="none" strike="noStrike">
                <a:solidFill>
                  <a:schemeClr val="dk1"/>
                </a:solidFill>
                <a:latin typeface="Arial"/>
                <a:ea typeface="Arial"/>
                <a:cs typeface="Arial"/>
                <a:sym typeface="Arial"/>
              </a:rPr>
              <a:t>                     </a:t>
            </a:r>
            <a:r>
              <a:rPr b="0" i="0" lang="en-US" sz="18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id="160" name="Google Shape;160;p11"/>
          <p:cNvPicPr preferRelativeResize="0"/>
          <p:nvPr/>
        </p:nvPicPr>
        <p:blipFill rotWithShape="1">
          <a:blip r:embed="rId3">
            <a:alphaModFix/>
          </a:blip>
          <a:srcRect b="0" l="0" r="0" t="0"/>
          <a:stretch/>
        </p:blipFill>
        <p:spPr>
          <a:xfrm>
            <a:off x="2344057" y="1776910"/>
            <a:ext cx="7503885" cy="1652090"/>
          </a:xfrm>
          <a:prstGeom prst="rect">
            <a:avLst/>
          </a:prstGeom>
          <a:noFill/>
          <a:ln>
            <a:noFill/>
          </a:ln>
        </p:spPr>
      </p:pic>
      <p:pic>
        <p:nvPicPr>
          <p:cNvPr id="161" name="Google Shape;161;p11"/>
          <p:cNvPicPr preferRelativeResize="0"/>
          <p:nvPr/>
        </p:nvPicPr>
        <p:blipFill rotWithShape="1">
          <a:blip r:embed="rId4">
            <a:alphaModFix/>
          </a:blip>
          <a:srcRect b="0" l="0" r="0" t="0"/>
          <a:stretch/>
        </p:blipFill>
        <p:spPr>
          <a:xfrm>
            <a:off x="10107386" y="138112"/>
            <a:ext cx="1905591" cy="73274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p12"/>
          <p:cNvPicPr preferRelativeResize="0"/>
          <p:nvPr>
            <p:ph idx="1" type="body"/>
          </p:nvPr>
        </p:nvPicPr>
        <p:blipFill rotWithShape="1">
          <a:blip r:embed="rId3">
            <a:alphaModFix/>
          </a:blip>
          <a:srcRect b="0" l="0" r="0" t="0"/>
          <a:stretch/>
        </p:blipFill>
        <p:spPr>
          <a:xfrm>
            <a:off x="1531191" y="1016359"/>
            <a:ext cx="9419838" cy="4313540"/>
          </a:xfrm>
          <a:prstGeom prst="rect">
            <a:avLst/>
          </a:prstGeom>
          <a:noFill/>
          <a:ln>
            <a:noFill/>
          </a:ln>
        </p:spPr>
      </p:pic>
      <p:pic>
        <p:nvPicPr>
          <p:cNvPr id="167" name="Google Shape;167;p12"/>
          <p:cNvPicPr preferRelativeResize="0"/>
          <p:nvPr/>
        </p:nvPicPr>
        <p:blipFill rotWithShape="1">
          <a:blip r:embed="rId4">
            <a:alphaModFix/>
          </a:blip>
          <a:srcRect b="0" l="0" r="0" t="0"/>
          <a:stretch/>
        </p:blipFill>
        <p:spPr>
          <a:xfrm>
            <a:off x="10107386" y="138112"/>
            <a:ext cx="1905591" cy="73274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3"/>
          <p:cNvSpPr txBox="1"/>
          <p:nvPr>
            <p:ph idx="1" type="body"/>
          </p:nvPr>
        </p:nvSpPr>
        <p:spPr>
          <a:xfrm>
            <a:off x="1108600" y="775943"/>
            <a:ext cx="10515600" cy="5306100"/>
          </a:xfrm>
          <a:prstGeom prst="rect">
            <a:avLst/>
          </a:prstGeom>
          <a:noFill/>
          <a:ln>
            <a:noFill/>
          </a:ln>
        </p:spPr>
        <p:txBody>
          <a:bodyPr anchorCtr="0" anchor="t" bIns="45700" lIns="91425" spcFirstLastPara="1" rIns="91425" wrap="square" tIns="45700">
            <a:normAutofit/>
          </a:bodyPr>
          <a:lstStyle/>
          <a:p>
            <a:pPr indent="-228600" lvl="0" marL="228600" rtl="0" algn="just">
              <a:lnSpc>
                <a:spcPct val="150000"/>
              </a:lnSpc>
              <a:spcBef>
                <a:spcPts val="0"/>
              </a:spcBef>
              <a:spcAft>
                <a:spcPts val="0"/>
              </a:spcAft>
              <a:buClr>
                <a:schemeClr val="dk1"/>
              </a:buClr>
              <a:buSzPts val="2500"/>
              <a:buChar char="•"/>
            </a:pPr>
            <a:r>
              <a:rPr lang="en-US" sz="2500">
                <a:latin typeface="Cambria"/>
                <a:ea typeface="Cambria"/>
                <a:cs typeface="Cambria"/>
                <a:sym typeface="Cambria"/>
              </a:rPr>
              <a:t>Average Waiting time = (9+8+0+4+12)/5 = 33/5 = 6.6 time unit </a:t>
            </a:r>
            <a:r>
              <a:rPr lang="en-US" sz="2500">
                <a:highlight>
                  <a:srgbClr val="00FF00"/>
                </a:highlight>
                <a:latin typeface="Cambria"/>
                <a:ea typeface="Cambria"/>
                <a:cs typeface="Cambria"/>
                <a:sym typeface="Cambria"/>
              </a:rPr>
              <a:t>(time unit can be considered as milliseconds)</a:t>
            </a:r>
            <a:endParaRPr>
              <a:highlight>
                <a:srgbClr val="00FF00"/>
              </a:highlight>
            </a:endParaRPr>
          </a:p>
          <a:p>
            <a:pPr indent="-228600" lvl="0" marL="228600" rtl="0" algn="just">
              <a:lnSpc>
                <a:spcPct val="150000"/>
              </a:lnSpc>
              <a:spcBef>
                <a:spcPts val="1000"/>
              </a:spcBef>
              <a:spcAft>
                <a:spcPts val="0"/>
              </a:spcAft>
              <a:buClr>
                <a:schemeClr val="dk1"/>
              </a:buClr>
              <a:buSzPts val="2500"/>
              <a:buChar char="•"/>
            </a:pPr>
            <a:r>
              <a:rPr lang="en-US" sz="2500">
                <a:latin typeface="Cambria"/>
                <a:ea typeface="Cambria"/>
                <a:cs typeface="Cambria"/>
                <a:sym typeface="Cambria"/>
              </a:rPr>
              <a:t>Average Turn-around time = (11+14+4+11+16)/5 = 56/5 = 11.2 time unit (time unit can be considered as milliseconds)</a:t>
            </a:r>
            <a:endParaRPr sz="2500">
              <a:latin typeface="Cambria"/>
              <a:ea typeface="Cambria"/>
              <a:cs typeface="Cambria"/>
              <a:sym typeface="Cambria"/>
            </a:endParaRPr>
          </a:p>
        </p:txBody>
      </p:sp>
      <p:pic>
        <p:nvPicPr>
          <p:cNvPr id="173" name="Google Shape;173;p13"/>
          <p:cNvPicPr preferRelativeResize="0"/>
          <p:nvPr/>
        </p:nvPicPr>
        <p:blipFill rotWithShape="1">
          <a:blip r:embed="rId3">
            <a:alphaModFix/>
          </a:blip>
          <a:srcRect b="0" l="0" r="0" t="0"/>
          <a:stretch/>
        </p:blipFill>
        <p:spPr>
          <a:xfrm>
            <a:off x="10107386" y="138112"/>
            <a:ext cx="1905591" cy="732745"/>
          </a:xfrm>
          <a:prstGeom prst="rect">
            <a:avLst/>
          </a:prstGeom>
          <a:noFill/>
          <a:ln>
            <a:noFill/>
          </a:ln>
        </p:spPr>
      </p:pic>
      <p:sp>
        <p:nvSpPr>
          <p:cNvPr id="174" name="Google Shape;174;p13"/>
          <p:cNvSpPr/>
          <p:nvPr/>
        </p:nvSpPr>
        <p:spPr>
          <a:xfrm>
            <a:off x="8529475" y="3527325"/>
            <a:ext cx="2204650" cy="2404000"/>
          </a:xfrm>
          <a:custGeom>
            <a:rect b="b" l="l" r="r" t="t"/>
            <a:pathLst>
              <a:path extrusionOk="0" h="96160" w="88186">
                <a:moveTo>
                  <a:pt x="56536" y="0"/>
                </a:moveTo>
                <a:cubicBezTo>
                  <a:pt x="49834" y="17871"/>
                  <a:pt x="37988" y="33376"/>
                  <a:pt x="28022" y="49653"/>
                </a:cubicBezTo>
                <a:cubicBezTo>
                  <a:pt x="24339" y="55669"/>
                  <a:pt x="20945" y="61860"/>
                  <a:pt x="17207" y="67842"/>
                </a:cubicBezTo>
                <a:cubicBezTo>
                  <a:pt x="15798" y="70097"/>
                  <a:pt x="15771" y="70081"/>
                  <a:pt x="14257" y="72267"/>
                </a:cubicBezTo>
                <a:cubicBezTo>
                  <a:pt x="13584" y="73239"/>
                  <a:pt x="11278" y="75825"/>
                  <a:pt x="12291" y="75217"/>
                </a:cubicBezTo>
                <a:cubicBezTo>
                  <a:pt x="30091" y="64543"/>
                  <a:pt x="40291" y="44248"/>
                  <a:pt x="51128" y="26547"/>
                </a:cubicBezTo>
                <a:cubicBezTo>
                  <a:pt x="54738" y="20651"/>
                  <a:pt x="58232" y="14682"/>
                  <a:pt x="61944" y="8849"/>
                </a:cubicBezTo>
                <a:cubicBezTo>
                  <a:pt x="63483" y="6431"/>
                  <a:pt x="63502" y="1475"/>
                  <a:pt x="66368" y="1475"/>
                </a:cubicBezTo>
                <a:cubicBezTo>
                  <a:pt x="69336" y="1475"/>
                  <a:pt x="66171" y="7462"/>
                  <a:pt x="65385" y="10324"/>
                </a:cubicBezTo>
                <a:cubicBezTo>
                  <a:pt x="62998" y="19020"/>
                  <a:pt x="63155" y="19091"/>
                  <a:pt x="59977" y="27530"/>
                </a:cubicBezTo>
                <a:cubicBezTo>
                  <a:pt x="53054" y="45910"/>
                  <a:pt x="43655" y="63364"/>
                  <a:pt x="33430" y="80133"/>
                </a:cubicBezTo>
                <a:cubicBezTo>
                  <a:pt x="33177" y="80547"/>
                  <a:pt x="23819" y="95774"/>
                  <a:pt x="24089" y="95864"/>
                </a:cubicBezTo>
                <a:cubicBezTo>
                  <a:pt x="27641" y="97049"/>
                  <a:pt x="30976" y="92924"/>
                  <a:pt x="34413" y="91440"/>
                </a:cubicBezTo>
                <a:cubicBezTo>
                  <a:pt x="42884" y="87782"/>
                  <a:pt x="51518" y="84337"/>
                  <a:pt x="60469" y="82099"/>
                </a:cubicBezTo>
                <a:cubicBezTo>
                  <a:pt x="68968" y="79974"/>
                  <a:pt x="77852" y="79898"/>
                  <a:pt x="86524" y="78658"/>
                </a:cubicBezTo>
                <a:cubicBezTo>
                  <a:pt x="87212" y="78560"/>
                  <a:pt x="88372" y="77770"/>
                  <a:pt x="87999" y="77183"/>
                </a:cubicBezTo>
                <a:cubicBezTo>
                  <a:pt x="77196" y="60208"/>
                  <a:pt x="58603" y="49396"/>
                  <a:pt x="41787" y="38346"/>
                </a:cubicBezTo>
                <a:cubicBezTo>
                  <a:pt x="33021" y="32586"/>
                  <a:pt x="23924" y="27176"/>
                  <a:pt x="14257" y="23106"/>
                </a:cubicBezTo>
                <a:cubicBezTo>
                  <a:pt x="10149" y="21376"/>
                  <a:pt x="4150" y="15607"/>
                  <a:pt x="1475" y="19173"/>
                </a:cubicBezTo>
                <a:cubicBezTo>
                  <a:pt x="115" y="20985"/>
                  <a:pt x="3147" y="20706"/>
                  <a:pt x="4916" y="22122"/>
                </a:cubicBezTo>
                <a:cubicBezTo>
                  <a:pt x="10292" y="26423"/>
                  <a:pt x="15871" y="30473"/>
                  <a:pt x="21140" y="34904"/>
                </a:cubicBezTo>
                <a:cubicBezTo>
                  <a:pt x="33036" y="44907"/>
                  <a:pt x="44723" y="55220"/>
                  <a:pt x="55553" y="66368"/>
                </a:cubicBezTo>
                <a:cubicBezTo>
                  <a:pt x="59355" y="70282"/>
                  <a:pt x="62987" y="74375"/>
                  <a:pt x="66368" y="78658"/>
                </a:cubicBezTo>
                <a:cubicBezTo>
                  <a:pt x="68184" y="80959"/>
                  <a:pt x="72374" y="84451"/>
                  <a:pt x="70301" y="86524"/>
                </a:cubicBezTo>
                <a:cubicBezTo>
                  <a:pt x="66014" y="90811"/>
                  <a:pt x="58541" y="83289"/>
                  <a:pt x="53095" y="80624"/>
                </a:cubicBezTo>
                <a:cubicBezTo>
                  <a:pt x="36143" y="72328"/>
                  <a:pt x="18873" y="60960"/>
                  <a:pt x="0" y="60960"/>
                </a:cubicBezTo>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00FF0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2023-10-05T03:34:12Z</dcterms:created>
  <dc:creator>BABU K</dc:creator>
</cp:coreProperties>
</file>