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9144000"/>
  <p:embeddedFontLst>
    <p:embeddedFont>
      <p:font typeface="Nunito"/>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hDD9rzPqi7MdRDyG1Z0OtNGrPA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Nunito-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Nunito-italic.fntdata"/><Relationship Id="rId14" Type="http://schemas.openxmlformats.org/officeDocument/2006/relationships/font" Target="fonts/Nunito-bold.fntdata"/><Relationship Id="rId17" Type="http://customschemas.google.com/relationships/presentationmetadata" Target="metadata"/><Relationship Id="rId16" Type="http://schemas.openxmlformats.org/officeDocument/2006/relationships/font" Target="fonts/Nunit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5183188" y="987425"/>
            <a:ext cx="6172200" cy="4873625"/>
          </a:xfrm>
          <a:prstGeom prst="rect">
            <a:avLst/>
          </a:prstGeom>
          <a:noFill/>
          <a:ln>
            <a:noFill/>
          </a:ln>
        </p:spPr>
      </p:sp>
      <p:sp>
        <p:nvSpPr>
          <p:cNvPr id="64" name="Google Shape;64;p1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0000"/>
              </a:buClr>
              <a:buSzPts val="6600"/>
              <a:buFont typeface="Calibri"/>
              <a:buNone/>
            </a:pPr>
            <a:r>
              <a:rPr b="1" i="0" lang="en-IN" sz="6600" u="none" strike="noStrike">
                <a:solidFill>
                  <a:srgbClr val="000000"/>
                </a:solidFill>
                <a:latin typeface="Calibri"/>
                <a:ea typeface="Calibri"/>
                <a:cs typeface="Calibri"/>
                <a:sym typeface="Calibri"/>
              </a:rPr>
              <a:t>Function Calls in Stack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n-IN">
                <a:latin typeface="Arial"/>
                <a:ea typeface="Arial"/>
                <a:cs typeface="Arial"/>
                <a:sym typeface="Arial"/>
              </a:rPr>
              <a:t>Overview</a:t>
            </a:r>
            <a:endParaRPr/>
          </a:p>
        </p:txBody>
      </p:sp>
      <p:sp>
        <p:nvSpPr>
          <p:cNvPr id="90" name="Google Shape;90;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en-IN">
                <a:highlight>
                  <a:schemeClr val="lt1"/>
                </a:highlight>
              </a:rPr>
              <a:t>Function call stack in C is a dynamic data structure where elements are stored at contiguous memory locations. Function call stack is maintained for every function call where it contains its own local variables and parameters of the callee function.</a:t>
            </a:r>
            <a:endParaRPr>
              <a:highlight>
                <a:schemeClr val="lt1"/>
              </a:highlight>
            </a:endParaRPr>
          </a:p>
          <a:p>
            <a:pPr indent="-228600" lvl="0" marL="228600" rtl="0" algn="just">
              <a:lnSpc>
                <a:spcPct val="90000"/>
              </a:lnSpc>
              <a:spcBef>
                <a:spcPts val="1000"/>
              </a:spcBef>
              <a:spcAft>
                <a:spcPts val="0"/>
              </a:spcAft>
              <a:buClr>
                <a:schemeClr val="dk1"/>
              </a:buClr>
              <a:buSzPts val="2800"/>
              <a:buChar char="•"/>
            </a:pPr>
            <a:r>
              <a:rPr lang="en-IN">
                <a:highlight>
                  <a:schemeClr val="lt1"/>
                </a:highlight>
              </a:rPr>
              <a:t>In fact, the function call stack also stores the return address of the function itself. Function call stack in c is widely used in many applications like recursion and calling functions.</a:t>
            </a:r>
            <a:endParaRPr>
              <a:highlight>
                <a:schemeClr val="lt1"/>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ph type="title"/>
          </p:nvPr>
        </p:nvSpPr>
        <p:spPr>
          <a:xfrm>
            <a:off x="838200" y="194797"/>
            <a:ext cx="10515600" cy="53134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rial"/>
              <a:buNone/>
            </a:pPr>
            <a:r>
              <a:rPr b="1" i="0" lang="en-IN">
                <a:latin typeface="Arial"/>
                <a:ea typeface="Arial"/>
                <a:cs typeface="Arial"/>
                <a:sym typeface="Arial"/>
              </a:rPr>
              <a:t>What are Stacks in C?</a:t>
            </a:r>
            <a:endParaRPr/>
          </a:p>
        </p:txBody>
      </p:sp>
      <p:sp>
        <p:nvSpPr>
          <p:cNvPr id="96" name="Google Shape;96;p3"/>
          <p:cNvSpPr txBox="1"/>
          <p:nvPr>
            <p:ph idx="1" type="body"/>
          </p:nvPr>
        </p:nvSpPr>
        <p:spPr>
          <a:xfrm>
            <a:off x="838200" y="726143"/>
            <a:ext cx="10515600" cy="54508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b="0" i="0" lang="en-IN">
                <a:latin typeface="Arial"/>
                <a:ea typeface="Arial"/>
                <a:cs typeface="Arial"/>
                <a:sym typeface="Arial"/>
              </a:rPr>
              <a:t>In C, stack is a</a:t>
            </a:r>
            <a:r>
              <a:rPr b="0" i="0" lang="en-IN">
                <a:highlight>
                  <a:srgbClr val="00FF00"/>
                </a:highlight>
                <a:latin typeface="Arial"/>
                <a:ea typeface="Arial"/>
                <a:cs typeface="Arial"/>
                <a:sym typeface="Arial"/>
              </a:rPr>
              <a:t> Linear Data Structure</a:t>
            </a:r>
            <a:r>
              <a:rPr b="0" i="0" lang="en-IN">
                <a:latin typeface="Arial"/>
                <a:ea typeface="Arial"/>
                <a:cs typeface="Arial"/>
                <a:sym typeface="Arial"/>
              </a:rPr>
              <a:t> where elements are stored at </a:t>
            </a:r>
            <a:r>
              <a:rPr b="0" i="0" lang="en-IN">
                <a:highlight>
                  <a:srgbClr val="00FF00"/>
                </a:highlight>
                <a:latin typeface="Arial"/>
                <a:ea typeface="Arial"/>
                <a:cs typeface="Arial"/>
                <a:sym typeface="Arial"/>
              </a:rPr>
              <a:t>contiguous memory locations.</a:t>
            </a:r>
            <a:endParaRPr>
              <a:highlight>
                <a:srgbClr val="00FF00"/>
              </a:highlight>
            </a:endParaRPr>
          </a:p>
          <a:p>
            <a:pPr indent="-228600" lvl="0" marL="228600" rtl="0" algn="l">
              <a:lnSpc>
                <a:spcPct val="90000"/>
              </a:lnSpc>
              <a:spcBef>
                <a:spcPts val="1000"/>
              </a:spcBef>
              <a:spcAft>
                <a:spcPts val="0"/>
              </a:spcAft>
              <a:buClr>
                <a:schemeClr val="dk1"/>
              </a:buClr>
              <a:buSzPts val="2800"/>
              <a:buFont typeface="Arial"/>
              <a:buChar char="•"/>
            </a:pPr>
            <a:r>
              <a:rPr b="0" i="0" lang="en-IN">
                <a:latin typeface="Arial"/>
                <a:ea typeface="Arial"/>
                <a:cs typeface="Arial"/>
                <a:sym typeface="Arial"/>
              </a:rPr>
              <a:t>Stack follows the LIFO mechanism, i.e. Last in First Out. Let’s understand LIFO mechanism more clearly by an example.</a:t>
            </a:r>
            <a:endParaRPr/>
          </a:p>
          <a:p>
            <a:pPr indent="-285750" lvl="1" marL="742950" rtl="0" algn="l">
              <a:lnSpc>
                <a:spcPct val="90000"/>
              </a:lnSpc>
              <a:spcBef>
                <a:spcPts val="500"/>
              </a:spcBef>
              <a:spcAft>
                <a:spcPts val="0"/>
              </a:spcAft>
              <a:buClr>
                <a:schemeClr val="dk1"/>
              </a:buClr>
              <a:buSzPts val="2400"/>
              <a:buFont typeface="Arial"/>
              <a:buChar char="•"/>
            </a:pPr>
            <a:r>
              <a:rPr b="0" i="0" lang="en-IN">
                <a:latin typeface="Arial"/>
                <a:ea typeface="Arial"/>
                <a:cs typeface="Arial"/>
                <a:sym typeface="Arial"/>
              </a:rPr>
              <a:t>In tower of Hanoi, all the disks are placed on a peg. It must be placed on the top of the peg to insert a new disk.</a:t>
            </a:r>
            <a:endParaRPr/>
          </a:p>
          <a:p>
            <a:pPr indent="-285750" lvl="1" marL="742950" rtl="0" algn="l">
              <a:lnSpc>
                <a:spcPct val="90000"/>
              </a:lnSpc>
              <a:spcBef>
                <a:spcPts val="500"/>
              </a:spcBef>
              <a:spcAft>
                <a:spcPts val="0"/>
              </a:spcAft>
              <a:buClr>
                <a:schemeClr val="dk1"/>
              </a:buClr>
              <a:buSzPts val="2400"/>
              <a:buFont typeface="Arial"/>
              <a:buChar char="•"/>
            </a:pPr>
            <a:r>
              <a:rPr b="0" i="0" lang="en-IN">
                <a:latin typeface="Arial"/>
                <a:ea typeface="Arial"/>
                <a:cs typeface="Arial"/>
                <a:sym typeface="Arial"/>
              </a:rPr>
              <a:t>The top disk must be removed from the peg before removing any other disk, this is the LIFO mechanism.</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97" name="Google Shape;97;p3"/>
          <p:cNvPicPr preferRelativeResize="0"/>
          <p:nvPr/>
        </p:nvPicPr>
        <p:blipFill rotWithShape="1">
          <a:blip r:embed="rId3">
            <a:alphaModFix/>
          </a:blip>
          <a:srcRect b="0" l="0" r="0" t="0"/>
          <a:stretch/>
        </p:blipFill>
        <p:spPr>
          <a:xfrm>
            <a:off x="564775" y="4009060"/>
            <a:ext cx="3998819" cy="2770966"/>
          </a:xfrm>
          <a:prstGeom prst="rect">
            <a:avLst/>
          </a:prstGeom>
          <a:noFill/>
          <a:ln>
            <a:noFill/>
          </a:ln>
        </p:spPr>
      </p:pic>
      <p:pic>
        <p:nvPicPr>
          <p:cNvPr id="98" name="Google Shape;98;p3"/>
          <p:cNvPicPr preferRelativeResize="0"/>
          <p:nvPr/>
        </p:nvPicPr>
        <p:blipFill rotWithShape="1">
          <a:blip r:embed="rId4">
            <a:alphaModFix/>
          </a:blip>
          <a:srcRect b="0" l="0" r="0" t="0"/>
          <a:stretch/>
        </p:blipFill>
        <p:spPr>
          <a:xfrm>
            <a:off x="6275294" y="4150659"/>
            <a:ext cx="3658440" cy="265096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838200" y="194797"/>
            <a:ext cx="10515600" cy="53134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rial"/>
              <a:buNone/>
            </a:pPr>
            <a:r>
              <a:rPr b="1" i="0" lang="en-IN">
                <a:latin typeface="Arial"/>
                <a:ea typeface="Arial"/>
                <a:cs typeface="Arial"/>
                <a:sym typeface="Arial"/>
              </a:rPr>
              <a:t>What is Call Stack ?</a:t>
            </a:r>
            <a:endParaRPr/>
          </a:p>
        </p:txBody>
      </p:sp>
      <p:sp>
        <p:nvSpPr>
          <p:cNvPr id="104" name="Google Shape;104;p4"/>
          <p:cNvSpPr txBox="1"/>
          <p:nvPr>
            <p:ph idx="1" type="body"/>
          </p:nvPr>
        </p:nvSpPr>
        <p:spPr>
          <a:xfrm>
            <a:off x="838200" y="726143"/>
            <a:ext cx="7552765" cy="5764304"/>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800"/>
              <a:buFont typeface="Arial"/>
              <a:buChar char="•"/>
            </a:pPr>
            <a:r>
              <a:rPr b="0" i="0" lang="en-IN">
                <a:highlight>
                  <a:schemeClr val="accent6"/>
                </a:highlight>
                <a:latin typeface="Arial"/>
                <a:ea typeface="Arial"/>
                <a:cs typeface="Arial"/>
                <a:sym typeface="Arial"/>
              </a:rPr>
              <a:t>Call stack</a:t>
            </a:r>
            <a:r>
              <a:rPr b="0" i="0" lang="en-IN">
                <a:latin typeface="Arial"/>
                <a:ea typeface="Arial"/>
                <a:cs typeface="Arial"/>
                <a:sym typeface="Arial"/>
              </a:rPr>
              <a:t> is a dynamic data structure </a:t>
            </a:r>
            <a:r>
              <a:rPr b="0" i="0" lang="en-IN">
                <a:highlight>
                  <a:srgbClr val="00FF00"/>
                </a:highlight>
                <a:latin typeface="Arial"/>
                <a:ea typeface="Arial"/>
                <a:cs typeface="Arial"/>
                <a:sym typeface="Arial"/>
              </a:rPr>
              <a:t>maintained inside the RAM memory by the Operating System.</a:t>
            </a:r>
            <a:endParaRPr>
              <a:highlight>
                <a:srgbClr val="00FF00"/>
              </a:highlight>
            </a:endParaRPr>
          </a:p>
          <a:p>
            <a:pPr indent="-228600" lvl="0" marL="228600" rtl="0" algn="just">
              <a:lnSpc>
                <a:spcPct val="90000"/>
              </a:lnSpc>
              <a:spcBef>
                <a:spcPts val="1000"/>
              </a:spcBef>
              <a:spcAft>
                <a:spcPts val="0"/>
              </a:spcAft>
              <a:buClr>
                <a:schemeClr val="dk1"/>
              </a:buClr>
              <a:buSzPts val="2800"/>
              <a:buFont typeface="Arial"/>
              <a:buChar char="•"/>
            </a:pPr>
            <a:r>
              <a:rPr b="0" i="0" lang="en-IN">
                <a:latin typeface="Arial"/>
                <a:ea typeface="Arial"/>
                <a:cs typeface="Arial"/>
                <a:sym typeface="Arial"/>
              </a:rPr>
              <a:t>Primary</a:t>
            </a:r>
            <a:r>
              <a:rPr b="0" i="0" lang="en-IN">
                <a:highlight>
                  <a:srgbClr val="00FF00"/>
                </a:highlight>
                <a:latin typeface="Arial"/>
                <a:ea typeface="Arial"/>
                <a:cs typeface="Arial"/>
                <a:sym typeface="Arial"/>
              </a:rPr>
              <a:t> task</a:t>
            </a:r>
            <a:r>
              <a:rPr b="0" i="0" lang="en-IN">
                <a:latin typeface="Arial"/>
                <a:ea typeface="Arial"/>
                <a:cs typeface="Arial"/>
                <a:sym typeface="Arial"/>
              </a:rPr>
              <a:t> of Function Call Stack in C is to </a:t>
            </a:r>
            <a:r>
              <a:rPr b="0" i="0" lang="en-IN">
                <a:highlight>
                  <a:srgbClr val="00FF00"/>
                </a:highlight>
                <a:latin typeface="Arial"/>
                <a:ea typeface="Arial"/>
                <a:cs typeface="Arial"/>
                <a:sym typeface="Arial"/>
              </a:rPr>
              <a:t>manage the function calls and how they pass parameters to each othe</a:t>
            </a:r>
            <a:r>
              <a:rPr b="0" i="0" lang="en-IN">
                <a:latin typeface="Arial"/>
                <a:ea typeface="Arial"/>
                <a:cs typeface="Arial"/>
                <a:sym typeface="Arial"/>
              </a:rPr>
              <a:t>r.</a:t>
            </a:r>
            <a:endParaRPr/>
          </a:p>
          <a:p>
            <a:pPr indent="-228600" lvl="0" marL="228600" rtl="0" algn="just">
              <a:lnSpc>
                <a:spcPct val="90000"/>
              </a:lnSpc>
              <a:spcBef>
                <a:spcPts val="1000"/>
              </a:spcBef>
              <a:spcAft>
                <a:spcPts val="0"/>
              </a:spcAft>
              <a:buClr>
                <a:schemeClr val="dk1"/>
              </a:buClr>
              <a:buSzPts val="2800"/>
              <a:buFont typeface="Arial"/>
              <a:buChar char="•"/>
            </a:pPr>
            <a:r>
              <a:rPr b="0" i="0" lang="en-IN">
                <a:latin typeface="Arial"/>
                <a:ea typeface="Arial"/>
                <a:cs typeface="Arial"/>
                <a:sym typeface="Arial"/>
              </a:rPr>
              <a:t>A </a:t>
            </a:r>
            <a:r>
              <a:rPr b="0" i="0" lang="en-IN">
                <a:highlight>
                  <a:srgbClr val="00FF00"/>
                </a:highlight>
                <a:latin typeface="Arial"/>
                <a:ea typeface="Arial"/>
                <a:cs typeface="Arial"/>
                <a:sym typeface="Arial"/>
              </a:rPr>
              <a:t>call stack is maintained for each task and for each thread.</a:t>
            </a:r>
            <a:r>
              <a:rPr b="0" i="0" lang="en-IN">
                <a:latin typeface="Arial"/>
                <a:ea typeface="Arial"/>
                <a:cs typeface="Arial"/>
                <a:sym typeface="Arial"/>
              </a:rPr>
              <a:t> It is </a:t>
            </a:r>
            <a:r>
              <a:rPr b="0" i="0" lang="en-IN">
                <a:highlight>
                  <a:srgbClr val="00FF00"/>
                </a:highlight>
                <a:latin typeface="Arial"/>
                <a:ea typeface="Arial"/>
                <a:cs typeface="Arial"/>
                <a:sym typeface="Arial"/>
              </a:rPr>
              <a:t>also called an execution stack or machine stack.</a:t>
            </a:r>
            <a:r>
              <a:rPr b="0" i="0" lang="en-IN">
                <a:latin typeface="Arial"/>
                <a:ea typeface="Arial"/>
                <a:cs typeface="Arial"/>
                <a:sym typeface="Arial"/>
              </a:rPr>
              <a:t> More often, it is simply known as a stack.</a:t>
            </a:r>
            <a:endParaRPr/>
          </a:p>
          <a:p>
            <a:pPr indent="-228600" lvl="0" marL="228600" rtl="0" algn="just">
              <a:lnSpc>
                <a:spcPct val="90000"/>
              </a:lnSpc>
              <a:spcBef>
                <a:spcPts val="1000"/>
              </a:spcBef>
              <a:spcAft>
                <a:spcPts val="0"/>
              </a:spcAft>
              <a:buClr>
                <a:schemeClr val="dk1"/>
              </a:buClr>
              <a:buSzPts val="2800"/>
              <a:buFont typeface="Arial"/>
              <a:buChar char="•"/>
            </a:pPr>
            <a:r>
              <a:rPr b="0" i="0" lang="en-IN">
                <a:latin typeface="Arial"/>
                <a:ea typeface="Arial"/>
                <a:cs typeface="Arial"/>
                <a:sym typeface="Arial"/>
              </a:rPr>
              <a:t>Now let’s look at how function calls are actually organized in a stack: Let’s assume we have two functions f1() and f2() along with main().</a:t>
            </a:r>
            <a:endParaRPr/>
          </a:p>
          <a:p>
            <a:pPr indent="-50800" lvl="0" marL="228600" rtl="0" algn="just">
              <a:lnSpc>
                <a:spcPct val="90000"/>
              </a:lnSpc>
              <a:spcBef>
                <a:spcPts val="1000"/>
              </a:spcBef>
              <a:spcAft>
                <a:spcPts val="0"/>
              </a:spcAft>
              <a:buClr>
                <a:schemeClr val="dk1"/>
              </a:buClr>
              <a:buSzPts val="2800"/>
              <a:buNone/>
            </a:pPr>
            <a:r>
              <a:t/>
            </a:r>
            <a:endParaRPr/>
          </a:p>
        </p:txBody>
      </p:sp>
      <p:sp>
        <p:nvSpPr>
          <p:cNvPr id="105" name="Google Shape;105;p4"/>
          <p:cNvSpPr txBox="1"/>
          <p:nvPr/>
        </p:nvSpPr>
        <p:spPr>
          <a:xfrm>
            <a:off x="9144000" y="2138888"/>
            <a:ext cx="2761673"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#include&lt;stdio.h&gt;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void f2()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return;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void f1()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f2();  //calling f2()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return;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//This is main function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int main()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f1();  // calling f1()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 name="Google Shape;106;p4"/>
          <p:cNvSpPr/>
          <p:nvPr/>
        </p:nvSpPr>
        <p:spPr>
          <a:xfrm>
            <a:off x="9679331" y="359566"/>
            <a:ext cx="1418250" cy="1607850"/>
          </a:xfrm>
          <a:custGeom>
            <a:rect b="b" l="l" r="r" t="t"/>
            <a:pathLst>
              <a:path extrusionOk="0" h="64314" w="56730">
                <a:moveTo>
                  <a:pt x="33156" y="25438"/>
                </a:moveTo>
                <a:cubicBezTo>
                  <a:pt x="27379" y="35258"/>
                  <a:pt x="19714" y="44114"/>
                  <a:pt x="11033" y="51493"/>
                </a:cubicBezTo>
                <a:cubicBezTo>
                  <a:pt x="8711" y="53467"/>
                  <a:pt x="6156" y="55153"/>
                  <a:pt x="3659" y="56901"/>
                </a:cubicBezTo>
                <a:cubicBezTo>
                  <a:pt x="2691" y="57579"/>
                  <a:pt x="0" y="59814"/>
                  <a:pt x="709" y="58868"/>
                </a:cubicBezTo>
                <a:cubicBezTo>
                  <a:pt x="11204" y="44863"/>
                  <a:pt x="26589" y="35014"/>
                  <a:pt x="37089" y="21013"/>
                </a:cubicBezTo>
                <a:cubicBezTo>
                  <a:pt x="41789" y="14746"/>
                  <a:pt x="45806" y="7871"/>
                  <a:pt x="51345" y="2332"/>
                </a:cubicBezTo>
                <a:cubicBezTo>
                  <a:pt x="52279" y="1398"/>
                  <a:pt x="53687" y="-367"/>
                  <a:pt x="54787" y="366"/>
                </a:cubicBezTo>
                <a:cubicBezTo>
                  <a:pt x="58898" y="3106"/>
                  <a:pt x="55071" y="10497"/>
                  <a:pt x="53312" y="15114"/>
                </a:cubicBezTo>
                <a:cubicBezTo>
                  <a:pt x="48959" y="26542"/>
                  <a:pt x="41700" y="36882"/>
                  <a:pt x="33647" y="46086"/>
                </a:cubicBezTo>
                <a:cubicBezTo>
                  <a:pt x="29139" y="51238"/>
                  <a:pt x="24430" y="56210"/>
                  <a:pt x="19882" y="61326"/>
                </a:cubicBezTo>
                <a:cubicBezTo>
                  <a:pt x="19220" y="62071"/>
                  <a:pt x="18397" y="64351"/>
                  <a:pt x="19391" y="64275"/>
                </a:cubicBezTo>
                <a:cubicBezTo>
                  <a:pt x="26946" y="63693"/>
                  <a:pt x="33674" y="59144"/>
                  <a:pt x="40530" y="55918"/>
                </a:cubicBezTo>
                <a:cubicBezTo>
                  <a:pt x="40870" y="55758"/>
                  <a:pt x="48887" y="53158"/>
                  <a:pt x="48887" y="52968"/>
                </a:cubicBezTo>
                <a:cubicBezTo>
                  <a:pt x="48887" y="50869"/>
                  <a:pt x="45755" y="50140"/>
                  <a:pt x="43971" y="49035"/>
                </a:cubicBezTo>
                <a:cubicBezTo>
                  <a:pt x="37014" y="44728"/>
                  <a:pt x="30291" y="40050"/>
                  <a:pt x="23323" y="35762"/>
                </a:cubicBezTo>
                <a:cubicBezTo>
                  <a:pt x="19607" y="33475"/>
                  <a:pt x="8313" y="29586"/>
                  <a:pt x="12508" y="28388"/>
                </a:cubicBezTo>
                <a:cubicBezTo>
                  <a:pt x="21278" y="25883"/>
                  <a:pt x="30780" y="31989"/>
                  <a:pt x="38563" y="36745"/>
                </a:cubicBezTo>
                <a:cubicBezTo>
                  <a:pt x="40660" y="38027"/>
                  <a:pt x="42597" y="39569"/>
                  <a:pt x="44463" y="41169"/>
                </a:cubicBezTo>
                <a:cubicBezTo>
                  <a:pt x="45167" y="41772"/>
                  <a:pt x="47308" y="43429"/>
                  <a:pt x="46429" y="43136"/>
                </a:cubicBezTo>
                <a:cubicBezTo>
                  <a:pt x="38189" y="40387"/>
                  <a:pt x="32239" y="33108"/>
                  <a:pt x="25290" y="27896"/>
                </a:cubicBezTo>
                <a:cubicBezTo>
                  <a:pt x="21748" y="25240"/>
                  <a:pt x="14966" y="23966"/>
                  <a:pt x="14966" y="19539"/>
                </a:cubicBezTo>
                <a:cubicBezTo>
                  <a:pt x="14966" y="17545"/>
                  <a:pt x="18875" y="18444"/>
                  <a:pt x="20865" y="18555"/>
                </a:cubicBezTo>
                <a:cubicBezTo>
                  <a:pt x="26978" y="18895"/>
                  <a:pt x="33086" y="20734"/>
                  <a:pt x="38563" y="23471"/>
                </a:cubicBezTo>
                <a:cubicBezTo>
                  <a:pt x="40605" y="24491"/>
                  <a:pt x="43127" y="27298"/>
                  <a:pt x="44954" y="25929"/>
                </a:cubicBezTo>
                <a:cubicBezTo>
                  <a:pt x="47866" y="23747"/>
                  <a:pt x="44865" y="18478"/>
                  <a:pt x="43480" y="15114"/>
                </a:cubicBezTo>
                <a:cubicBezTo>
                  <a:pt x="41297" y="9813"/>
                  <a:pt x="38685" y="4420"/>
                  <a:pt x="34631" y="366"/>
                </a:cubicBezTo>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Times New Roman"/>
              <a:buNone/>
            </a:pPr>
            <a:r>
              <a:rPr b="1" lang="en-IN" sz="3200">
                <a:latin typeface="Times New Roman"/>
                <a:ea typeface="Times New Roman"/>
                <a:cs typeface="Times New Roman"/>
                <a:sym typeface="Times New Roman"/>
              </a:rPr>
              <a:t>Activation record</a:t>
            </a:r>
            <a:r>
              <a:rPr lang="en-IN" sz="3200">
                <a:latin typeface="Times New Roman"/>
                <a:ea typeface="Times New Roman"/>
                <a:cs typeface="Times New Roman"/>
                <a:sym typeface="Times New Roman"/>
              </a:rPr>
              <a:t>: </a:t>
            </a:r>
            <a:r>
              <a:rPr lang="en-IN" sz="3200">
                <a:highlight>
                  <a:srgbClr val="00FF00"/>
                </a:highlight>
                <a:latin typeface="Times New Roman"/>
                <a:ea typeface="Times New Roman"/>
                <a:cs typeface="Times New Roman"/>
                <a:sym typeface="Times New Roman"/>
              </a:rPr>
              <a:t>When a function calls another function, an entry is pushed to the stack. This entry is called as Activation Record.</a:t>
            </a:r>
            <a:endParaRPr sz="3200">
              <a:highlight>
                <a:srgbClr val="00FF00"/>
              </a:highlight>
              <a:latin typeface="Times New Roman"/>
              <a:ea typeface="Times New Roman"/>
              <a:cs typeface="Times New Roman"/>
              <a:sym typeface="Times New Roman"/>
            </a:endParaRPr>
          </a:p>
        </p:txBody>
      </p:sp>
      <p:sp>
        <p:nvSpPr>
          <p:cNvPr id="112" name="Google Shape;112;p5"/>
          <p:cNvSpPr txBox="1"/>
          <p:nvPr>
            <p:ph idx="1" type="body"/>
          </p:nvPr>
        </p:nvSpPr>
        <p:spPr>
          <a:xfrm>
            <a:off x="838200" y="1825625"/>
            <a:ext cx="10851776" cy="4667250"/>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0" i="0" lang="en-IN">
                <a:latin typeface="Arial"/>
                <a:ea typeface="Arial"/>
                <a:cs typeface="Arial"/>
                <a:sym typeface="Arial"/>
              </a:rPr>
              <a:t>Activation record</a:t>
            </a:r>
            <a:r>
              <a:rPr b="0" i="0" lang="en-IN">
                <a:highlight>
                  <a:srgbClr val="00FF00"/>
                </a:highlight>
                <a:latin typeface="Arial"/>
                <a:ea typeface="Arial"/>
                <a:cs typeface="Arial"/>
                <a:sym typeface="Arial"/>
              </a:rPr>
              <a:t> contains parameters, local variables, and return address that the called function needs to return to the calling function.</a:t>
            </a:r>
            <a:endParaRPr>
              <a:highlight>
                <a:srgbClr val="00FF00"/>
              </a:highlight>
            </a:endParaRPr>
          </a:p>
          <a:p>
            <a:pPr indent="-228600" lvl="0" marL="228600" rtl="0" algn="l">
              <a:lnSpc>
                <a:spcPct val="90000"/>
              </a:lnSpc>
              <a:spcBef>
                <a:spcPts val="1000"/>
              </a:spcBef>
              <a:spcAft>
                <a:spcPts val="0"/>
              </a:spcAft>
              <a:buClr>
                <a:schemeClr val="dk1"/>
              </a:buClr>
              <a:buSzPct val="100000"/>
              <a:buFont typeface="Arial"/>
              <a:buChar char="•"/>
            </a:pPr>
            <a:r>
              <a:rPr b="0" i="0" lang="en-IN">
                <a:latin typeface="Arial"/>
                <a:ea typeface="Arial"/>
                <a:cs typeface="Arial"/>
                <a:sym typeface="Arial"/>
              </a:rPr>
              <a:t>On running the program, the main() is called, so an activation record for main() is created and added to the stack.</a:t>
            </a:r>
            <a:endParaRPr/>
          </a:p>
          <a:p>
            <a:pPr indent="-228600" lvl="0" marL="228600" rtl="0" algn="l">
              <a:lnSpc>
                <a:spcPct val="90000"/>
              </a:lnSpc>
              <a:spcBef>
                <a:spcPts val="1000"/>
              </a:spcBef>
              <a:spcAft>
                <a:spcPts val="0"/>
              </a:spcAft>
              <a:buClr>
                <a:schemeClr val="dk1"/>
              </a:buClr>
              <a:buSzPct val="100000"/>
              <a:buFont typeface="Arial"/>
              <a:buChar char="•"/>
            </a:pPr>
            <a:r>
              <a:rPr b="0" i="0" lang="en-IN">
                <a:latin typeface="Arial"/>
                <a:ea typeface="Arial"/>
                <a:cs typeface="Arial"/>
                <a:sym typeface="Arial"/>
              </a:rPr>
              <a:t>Now, main() calls f1(), which creates an activation record for f1() on top of stack and f1() calls f2() by adding activation record for f2() on top of stack.</a:t>
            </a:r>
            <a:endParaRPr/>
          </a:p>
          <a:p>
            <a:pPr indent="-228600" lvl="0" marL="228600" rtl="0" algn="l">
              <a:lnSpc>
                <a:spcPct val="90000"/>
              </a:lnSpc>
              <a:spcBef>
                <a:spcPts val="1000"/>
              </a:spcBef>
              <a:spcAft>
                <a:spcPts val="0"/>
              </a:spcAft>
              <a:buClr>
                <a:schemeClr val="dk1"/>
              </a:buClr>
              <a:buSzPct val="100000"/>
              <a:buFont typeface="Arial"/>
              <a:buChar char="•"/>
            </a:pPr>
            <a:r>
              <a:rPr b="0" i="0" lang="en-IN">
                <a:highlight>
                  <a:srgbClr val="00FF00"/>
                </a:highlight>
                <a:latin typeface="Arial"/>
                <a:ea typeface="Arial"/>
                <a:cs typeface="Arial"/>
                <a:sym typeface="Arial"/>
              </a:rPr>
              <a:t>When f2() terminates, its activation record is removed from the stack.</a:t>
            </a:r>
            <a:endParaRPr>
              <a:highlight>
                <a:srgbClr val="00FF00"/>
              </a:highlight>
            </a:endParaRPr>
          </a:p>
          <a:p>
            <a:pPr indent="-228600" lvl="0" marL="228600" rtl="0" algn="l">
              <a:lnSpc>
                <a:spcPct val="90000"/>
              </a:lnSpc>
              <a:spcBef>
                <a:spcPts val="1000"/>
              </a:spcBef>
              <a:spcAft>
                <a:spcPts val="0"/>
              </a:spcAft>
              <a:buClr>
                <a:schemeClr val="dk1"/>
              </a:buClr>
              <a:buSzPct val="100000"/>
              <a:buFont typeface="Arial"/>
              <a:buChar char="•"/>
            </a:pPr>
            <a:r>
              <a:rPr b="0" i="0" lang="en-IN">
                <a:latin typeface="Arial"/>
                <a:ea typeface="Arial"/>
                <a:cs typeface="Arial"/>
                <a:sym typeface="Arial"/>
              </a:rPr>
              <a:t>After completing the execution of f1(), it returns by removing the activation record from the stack.</a:t>
            </a:r>
            <a:endParaRPr/>
          </a:p>
          <a:p>
            <a:pPr indent="-228600" lvl="0" marL="228600" rtl="0" algn="l">
              <a:lnSpc>
                <a:spcPct val="90000"/>
              </a:lnSpc>
              <a:spcBef>
                <a:spcPts val="1000"/>
              </a:spcBef>
              <a:spcAft>
                <a:spcPts val="0"/>
              </a:spcAft>
              <a:buClr>
                <a:schemeClr val="dk1"/>
              </a:buClr>
              <a:buSzPct val="100000"/>
              <a:buFont typeface="Arial"/>
              <a:buChar char="•"/>
            </a:pPr>
            <a:r>
              <a:rPr b="0" i="0" lang="en-IN">
                <a:latin typeface="Arial"/>
                <a:ea typeface="Arial"/>
                <a:cs typeface="Arial"/>
                <a:sym typeface="Arial"/>
              </a:rPr>
              <a:t>At this stage, we are back to our main() which removes its activation record leading to the termination of the program.</a:t>
            </a:r>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type="title"/>
          </p:nvPr>
        </p:nvSpPr>
        <p:spPr>
          <a:xfrm>
            <a:off x="838200" y="365126"/>
            <a:ext cx="10515600" cy="226546"/>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Times New Roman"/>
              <a:buNone/>
            </a:pPr>
            <a:r>
              <a:rPr b="1" lang="en-IN" sz="3200">
                <a:latin typeface="Times New Roman"/>
                <a:ea typeface="Times New Roman"/>
                <a:cs typeface="Times New Roman"/>
                <a:sym typeface="Times New Roman"/>
              </a:rPr>
              <a:t>Working of the Function Call</a:t>
            </a:r>
            <a:endParaRPr b="1" sz="3200">
              <a:latin typeface="Times New Roman"/>
              <a:ea typeface="Times New Roman"/>
              <a:cs typeface="Times New Roman"/>
              <a:sym typeface="Times New Roman"/>
            </a:endParaRPr>
          </a:p>
        </p:txBody>
      </p:sp>
      <p:sp>
        <p:nvSpPr>
          <p:cNvPr id="118" name="Google Shape;118;p6"/>
          <p:cNvSpPr txBox="1"/>
          <p:nvPr>
            <p:ph idx="1" type="body"/>
          </p:nvPr>
        </p:nvSpPr>
        <p:spPr>
          <a:xfrm>
            <a:off x="838200" y="923365"/>
            <a:ext cx="10851776" cy="556951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73239"/>
              </a:buClr>
              <a:buSzPts val="2800"/>
              <a:buChar char="•"/>
            </a:pPr>
            <a:r>
              <a:rPr b="0" i="0" lang="en-IN">
                <a:solidFill>
                  <a:srgbClr val="273239"/>
                </a:solidFill>
                <a:highlight>
                  <a:schemeClr val="lt1"/>
                </a:highlight>
                <a:latin typeface="Nunito"/>
                <a:ea typeface="Nunito"/>
                <a:cs typeface="Nunito"/>
                <a:sym typeface="Nunito"/>
              </a:rPr>
              <a:t>Now, whenever a function is called, a new stack frame is created with all the function’s data, and this stack frame is pushed into the program stack, and the stack pointer that always points to the top of the program stack points to the stack frame pushed as it is on the top of the program stack.</a:t>
            </a:r>
            <a:endParaRPr>
              <a:highlight>
                <a:schemeClr val="lt1"/>
              </a:highlight>
            </a:endParaRPr>
          </a:p>
          <a:p>
            <a:pPr indent="-228600" lvl="0" marL="228600" rtl="0" algn="l">
              <a:lnSpc>
                <a:spcPct val="90000"/>
              </a:lnSpc>
              <a:spcBef>
                <a:spcPts val="1000"/>
              </a:spcBef>
              <a:spcAft>
                <a:spcPts val="0"/>
              </a:spcAft>
              <a:buClr>
                <a:srgbClr val="273239"/>
              </a:buClr>
              <a:buSzPts val="2800"/>
              <a:buChar char="•"/>
            </a:pPr>
            <a:r>
              <a:rPr b="0" i="0" lang="en-IN">
                <a:solidFill>
                  <a:srgbClr val="273239"/>
                </a:solidFill>
                <a:highlight>
                  <a:schemeClr val="lt1"/>
                </a:highlight>
                <a:latin typeface="Nunito"/>
                <a:ea typeface="Nunito"/>
                <a:cs typeface="Nunito"/>
                <a:sym typeface="Nunito"/>
              </a:rPr>
              <a:t>The series of operations when we call a function are as follows:</a:t>
            </a:r>
            <a:endParaRPr>
              <a:highlight>
                <a:schemeClr val="lt1"/>
              </a:highlight>
            </a:endParaRPr>
          </a:p>
          <a:p>
            <a:pPr indent="-228600" lvl="1" marL="685800" rtl="0" algn="l">
              <a:lnSpc>
                <a:spcPct val="90000"/>
              </a:lnSpc>
              <a:spcBef>
                <a:spcPts val="500"/>
              </a:spcBef>
              <a:spcAft>
                <a:spcPts val="0"/>
              </a:spcAft>
              <a:buClr>
                <a:srgbClr val="273239"/>
              </a:buClr>
              <a:buSzPts val="2400"/>
              <a:buFont typeface="Calibri"/>
              <a:buAutoNum type="arabicPeriod"/>
            </a:pPr>
            <a:r>
              <a:rPr b="0" i="0" lang="en-IN">
                <a:solidFill>
                  <a:srgbClr val="273239"/>
                </a:solidFill>
                <a:highlight>
                  <a:schemeClr val="lt1"/>
                </a:highlight>
                <a:latin typeface="Nunito"/>
                <a:ea typeface="Nunito"/>
                <a:cs typeface="Nunito"/>
                <a:sym typeface="Nunito"/>
              </a:rPr>
              <a:t>Stack Frame is pushed into the stack.</a:t>
            </a:r>
            <a:endParaRPr>
              <a:highlight>
                <a:schemeClr val="lt1"/>
              </a:highlight>
            </a:endParaRPr>
          </a:p>
          <a:p>
            <a:pPr indent="-228600" lvl="1" marL="685800" rtl="0" algn="l">
              <a:lnSpc>
                <a:spcPct val="90000"/>
              </a:lnSpc>
              <a:spcBef>
                <a:spcPts val="500"/>
              </a:spcBef>
              <a:spcAft>
                <a:spcPts val="0"/>
              </a:spcAft>
              <a:buClr>
                <a:srgbClr val="273239"/>
              </a:buClr>
              <a:buSzPts val="2400"/>
              <a:buFont typeface="Calibri"/>
              <a:buAutoNum type="arabicPeriod"/>
            </a:pPr>
            <a:r>
              <a:rPr b="0" i="0" lang="en-IN">
                <a:solidFill>
                  <a:srgbClr val="273239"/>
                </a:solidFill>
                <a:highlight>
                  <a:schemeClr val="lt1"/>
                </a:highlight>
                <a:latin typeface="Nunito"/>
                <a:ea typeface="Nunito"/>
                <a:cs typeface="Nunito"/>
                <a:sym typeface="Nunito"/>
              </a:rPr>
              <a:t>Sub-routine instructions are executed.</a:t>
            </a:r>
            <a:endParaRPr>
              <a:highlight>
                <a:schemeClr val="lt1"/>
              </a:highlight>
            </a:endParaRPr>
          </a:p>
          <a:p>
            <a:pPr indent="-228600" lvl="1" marL="685800" rtl="0" algn="l">
              <a:lnSpc>
                <a:spcPct val="90000"/>
              </a:lnSpc>
              <a:spcBef>
                <a:spcPts val="500"/>
              </a:spcBef>
              <a:spcAft>
                <a:spcPts val="0"/>
              </a:spcAft>
              <a:buClr>
                <a:srgbClr val="273239"/>
              </a:buClr>
              <a:buSzPts val="2400"/>
              <a:buFont typeface="Calibri"/>
              <a:buAutoNum type="arabicPeriod"/>
            </a:pPr>
            <a:r>
              <a:rPr b="0" i="0" lang="en-IN">
                <a:solidFill>
                  <a:srgbClr val="273239"/>
                </a:solidFill>
                <a:highlight>
                  <a:schemeClr val="lt1"/>
                </a:highlight>
                <a:latin typeface="Nunito"/>
                <a:ea typeface="Nunito"/>
                <a:cs typeface="Nunito"/>
                <a:sym typeface="Nunito"/>
              </a:rPr>
              <a:t>Stack Frame is popped from the stack.</a:t>
            </a:r>
            <a:endParaRPr>
              <a:highlight>
                <a:schemeClr val="lt1"/>
              </a:highlight>
            </a:endParaRPr>
          </a:p>
          <a:p>
            <a:pPr indent="-228600" lvl="1" marL="685800" rtl="0" algn="l">
              <a:lnSpc>
                <a:spcPct val="90000"/>
              </a:lnSpc>
              <a:spcBef>
                <a:spcPts val="500"/>
              </a:spcBef>
              <a:spcAft>
                <a:spcPts val="0"/>
              </a:spcAft>
              <a:buClr>
                <a:srgbClr val="273239"/>
              </a:buClr>
              <a:buSzPts val="2400"/>
              <a:buFont typeface="Calibri"/>
              <a:buAutoNum type="arabicPeriod"/>
            </a:pPr>
            <a:r>
              <a:rPr b="0" i="0" lang="en-IN">
                <a:solidFill>
                  <a:srgbClr val="273239"/>
                </a:solidFill>
                <a:highlight>
                  <a:schemeClr val="lt1"/>
                </a:highlight>
                <a:latin typeface="Nunito"/>
                <a:ea typeface="Nunito"/>
                <a:cs typeface="Nunito"/>
                <a:sym typeface="Nunito"/>
              </a:rPr>
              <a:t>Now Program Counter is holding the return address.</a:t>
            </a:r>
            <a:endParaRPr>
              <a:highlight>
                <a:schemeClr val="lt1"/>
              </a:highlight>
            </a:endParaRPr>
          </a:p>
          <a:p>
            <a:pPr indent="-228600" lvl="0" marL="228600" rtl="0" algn="l">
              <a:lnSpc>
                <a:spcPct val="90000"/>
              </a:lnSpc>
              <a:spcBef>
                <a:spcPts val="1000"/>
              </a:spcBef>
              <a:spcAft>
                <a:spcPts val="0"/>
              </a:spcAft>
              <a:buClr>
                <a:srgbClr val="273239"/>
              </a:buClr>
              <a:buSzPts val="2800"/>
              <a:buChar char="•"/>
            </a:pPr>
            <a:r>
              <a:rPr b="1" i="0" lang="en-IN">
                <a:solidFill>
                  <a:srgbClr val="273239"/>
                </a:solidFill>
                <a:highlight>
                  <a:schemeClr val="lt1"/>
                </a:highlight>
                <a:latin typeface="Nunito"/>
                <a:ea typeface="Nunito"/>
                <a:cs typeface="Nunito"/>
                <a:sym typeface="Nunito"/>
              </a:rPr>
              <a:t>Note:</a:t>
            </a:r>
            <a:r>
              <a:rPr b="0" i="0" lang="en-IN">
                <a:solidFill>
                  <a:srgbClr val="273239"/>
                </a:solidFill>
                <a:highlight>
                  <a:schemeClr val="lt1"/>
                </a:highlight>
                <a:latin typeface="Nunito"/>
                <a:ea typeface="Nunito"/>
                <a:cs typeface="Nunito"/>
                <a:sym typeface="Nunito"/>
              </a:rPr>
              <a:t> POP instruction in assembly language removes the top of the stack and assigns it to the program counter.</a:t>
            </a:r>
            <a:endParaRPr>
              <a:highlight>
                <a:schemeClr val="lt1"/>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838200" y="365126"/>
            <a:ext cx="10515600" cy="226546"/>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Times New Roman"/>
              <a:buNone/>
            </a:pPr>
            <a:r>
              <a:rPr b="1" lang="en-IN" sz="3200">
                <a:latin typeface="Times New Roman"/>
                <a:ea typeface="Times New Roman"/>
                <a:cs typeface="Times New Roman"/>
                <a:sym typeface="Times New Roman"/>
              </a:rPr>
              <a:t>Example of Function Call</a:t>
            </a:r>
            <a:endParaRPr b="1" sz="3200">
              <a:latin typeface="Times New Roman"/>
              <a:ea typeface="Times New Roman"/>
              <a:cs typeface="Times New Roman"/>
              <a:sym typeface="Times New Roman"/>
            </a:endParaRPr>
          </a:p>
        </p:txBody>
      </p:sp>
      <p:sp>
        <p:nvSpPr>
          <p:cNvPr id="124" name="Google Shape;124;p7"/>
          <p:cNvSpPr txBox="1"/>
          <p:nvPr>
            <p:ph idx="1" type="body"/>
          </p:nvPr>
        </p:nvSpPr>
        <p:spPr>
          <a:xfrm>
            <a:off x="71718" y="923364"/>
            <a:ext cx="8364070" cy="5809129"/>
          </a:xfrm>
          <a:prstGeom prst="rect">
            <a:avLst/>
          </a:prstGeom>
          <a:noFill/>
          <a:ln>
            <a:noFill/>
          </a:ln>
        </p:spPr>
        <p:txBody>
          <a:bodyPr anchorCtr="0" anchor="t" bIns="45700" lIns="91425" spcFirstLastPara="1" rIns="91425" wrap="square" tIns="45700">
            <a:normAutofit fontScale="92500"/>
          </a:bodyPr>
          <a:lstStyle/>
          <a:p>
            <a:pPr indent="-228600" lvl="0" marL="228600" rtl="0" algn="just">
              <a:lnSpc>
                <a:spcPct val="90000"/>
              </a:lnSpc>
              <a:spcBef>
                <a:spcPts val="0"/>
              </a:spcBef>
              <a:spcAft>
                <a:spcPts val="0"/>
              </a:spcAft>
              <a:buClr>
                <a:srgbClr val="273239"/>
              </a:buClr>
              <a:buSzPct val="100000"/>
              <a:buChar char="•"/>
            </a:pPr>
            <a:r>
              <a:rPr b="1" i="0" lang="en-IN">
                <a:solidFill>
                  <a:srgbClr val="273239"/>
                </a:solidFill>
                <a:latin typeface="Times New Roman"/>
                <a:ea typeface="Times New Roman"/>
                <a:cs typeface="Times New Roman"/>
                <a:sym typeface="Times New Roman"/>
              </a:rPr>
              <a:t>In the given diagram of instance of calling a function.</a:t>
            </a:r>
            <a:endParaRPr/>
          </a:p>
          <a:p>
            <a:pPr indent="-228600" lvl="0" marL="228600" rtl="0" algn="just">
              <a:lnSpc>
                <a:spcPct val="90000"/>
              </a:lnSpc>
              <a:spcBef>
                <a:spcPts val="1000"/>
              </a:spcBef>
              <a:spcAft>
                <a:spcPts val="0"/>
              </a:spcAft>
              <a:buClr>
                <a:srgbClr val="273239"/>
              </a:buClr>
              <a:buSzPct val="100000"/>
              <a:buFont typeface="Calibri"/>
              <a:buAutoNum type="arabicPeriod"/>
            </a:pPr>
            <a:r>
              <a:rPr b="0" i="0" lang="en-IN">
                <a:solidFill>
                  <a:srgbClr val="273239"/>
                </a:solidFill>
                <a:latin typeface="Times New Roman"/>
                <a:ea typeface="Times New Roman"/>
                <a:cs typeface="Times New Roman"/>
                <a:sym typeface="Times New Roman"/>
              </a:rPr>
              <a:t>Program counterpoints to the next instruction memory location i.e., 104 before executing a function whereas 100 is the memory location of the calling function.</a:t>
            </a:r>
            <a:endParaRPr/>
          </a:p>
          <a:p>
            <a:pPr indent="-228600" lvl="0" marL="228600" rtl="0" algn="just">
              <a:lnSpc>
                <a:spcPct val="90000"/>
              </a:lnSpc>
              <a:spcBef>
                <a:spcPts val="1000"/>
              </a:spcBef>
              <a:spcAft>
                <a:spcPts val="0"/>
              </a:spcAft>
              <a:buClr>
                <a:srgbClr val="273239"/>
              </a:buClr>
              <a:buSzPct val="100000"/>
              <a:buFont typeface="Calibri"/>
              <a:buAutoNum type="arabicPeriod"/>
            </a:pPr>
            <a:r>
              <a:rPr b="0" i="0" lang="en-IN">
                <a:solidFill>
                  <a:srgbClr val="273239"/>
                </a:solidFill>
                <a:latin typeface="Times New Roman"/>
                <a:ea typeface="Times New Roman"/>
                <a:cs typeface="Times New Roman"/>
                <a:sym typeface="Times New Roman"/>
              </a:rPr>
              <a:t>To restore the return address, the contents of the Program Counter are pushed into the stack. Now address stored at the top of the stack is 104.</a:t>
            </a:r>
            <a:endParaRPr/>
          </a:p>
          <a:p>
            <a:pPr indent="-228600" lvl="0" marL="228600" rtl="0" algn="just">
              <a:lnSpc>
                <a:spcPct val="90000"/>
              </a:lnSpc>
              <a:spcBef>
                <a:spcPts val="1000"/>
              </a:spcBef>
              <a:spcAft>
                <a:spcPts val="0"/>
              </a:spcAft>
              <a:buClr>
                <a:srgbClr val="273239"/>
              </a:buClr>
              <a:buSzPct val="100000"/>
              <a:buFont typeface="Calibri"/>
              <a:buAutoNum type="arabicPeriod"/>
            </a:pPr>
            <a:r>
              <a:rPr b="0" i="0" lang="en-IN">
                <a:solidFill>
                  <a:srgbClr val="273239"/>
                </a:solidFill>
                <a:latin typeface="Times New Roman"/>
                <a:ea typeface="Times New Roman"/>
                <a:cs typeface="Times New Roman"/>
                <a:sym typeface="Times New Roman"/>
              </a:rPr>
              <a:t>Calling function Execution: Now Program Counterpoints to 2000 which is the starting address of the subroutine. After execution of all successive instructions in the subroutine, the address is popped from the stack.</a:t>
            </a:r>
            <a:endParaRPr/>
          </a:p>
          <a:p>
            <a:pPr indent="-228600" lvl="0" marL="228600" rtl="0" algn="just">
              <a:lnSpc>
                <a:spcPct val="90000"/>
              </a:lnSpc>
              <a:spcBef>
                <a:spcPts val="1000"/>
              </a:spcBef>
              <a:spcAft>
                <a:spcPts val="0"/>
              </a:spcAft>
              <a:buClr>
                <a:srgbClr val="273239"/>
              </a:buClr>
              <a:buSzPct val="100000"/>
              <a:buFont typeface="Calibri"/>
              <a:buAutoNum type="arabicPeriod"/>
            </a:pPr>
            <a:r>
              <a:rPr b="0" i="0" lang="en-IN">
                <a:solidFill>
                  <a:srgbClr val="273239"/>
                </a:solidFill>
                <a:latin typeface="Times New Roman"/>
                <a:ea typeface="Times New Roman"/>
                <a:cs typeface="Times New Roman"/>
                <a:sym typeface="Times New Roman"/>
              </a:rPr>
              <a:t>Popping off the stack refers to removing the top of the stack and assigning it to the Program Counter. Now Program Counter is holding the return address i.e., 104.</a:t>
            </a:r>
            <a:endParaRPr/>
          </a:p>
        </p:txBody>
      </p:sp>
      <p:pic>
        <p:nvPicPr>
          <p:cNvPr descr="call stack example" id="125" name="Google Shape;125;p7"/>
          <p:cNvPicPr preferRelativeResize="0"/>
          <p:nvPr/>
        </p:nvPicPr>
        <p:blipFill rotWithShape="1">
          <a:blip r:embed="rId3">
            <a:alphaModFix/>
          </a:blip>
          <a:srcRect b="0" l="0" r="0" t="0"/>
          <a:stretch/>
        </p:blipFill>
        <p:spPr>
          <a:xfrm>
            <a:off x="8487750" y="1703294"/>
            <a:ext cx="3463323" cy="33214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txBox="1"/>
          <p:nvPr>
            <p:ph type="title"/>
          </p:nvPr>
        </p:nvSpPr>
        <p:spPr>
          <a:xfrm>
            <a:off x="838200" y="365126"/>
            <a:ext cx="10515600" cy="226546"/>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Times New Roman"/>
              <a:buNone/>
            </a:pPr>
            <a:r>
              <a:rPr b="1" lang="en-IN" sz="3200">
                <a:latin typeface="Times New Roman"/>
                <a:ea typeface="Times New Roman"/>
                <a:cs typeface="Times New Roman"/>
                <a:sym typeface="Times New Roman"/>
              </a:rPr>
              <a:t>Sample code for Function call</a:t>
            </a:r>
            <a:endParaRPr b="1" sz="3200">
              <a:latin typeface="Times New Roman"/>
              <a:ea typeface="Times New Roman"/>
              <a:cs typeface="Times New Roman"/>
              <a:sym typeface="Times New Roman"/>
            </a:endParaRPr>
          </a:p>
        </p:txBody>
      </p:sp>
      <p:sp>
        <p:nvSpPr>
          <p:cNvPr id="131" name="Google Shape;131;p9"/>
          <p:cNvSpPr txBox="1"/>
          <p:nvPr/>
        </p:nvSpPr>
        <p:spPr>
          <a:xfrm>
            <a:off x="838210" y="1043153"/>
            <a:ext cx="10367700" cy="5633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#include&lt;stdio.h&gt;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//This is fun2() with one parameter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int fun2(int 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int j;</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return j;</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This is fun1() with two parameters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int fun1(int x, int 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int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int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b = fun2(a); //calling `fun2()` from fun1()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return b;</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//This is main() function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int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 int c = fun1(10,30); // calling fun1() from main()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00FF0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2021-09-01T06:19:55Z</dcterms:created>
  <dc:creator>Nagendra prabhu Selvaraj</dc:creator>
</cp:coreProperties>
</file>