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Poppins"/>
      <p:regular r:id="rId41"/>
      <p:bold r:id="rId42"/>
      <p:italic r:id="rId43"/>
      <p:boldItalic r:id="rId44"/>
    </p:embeddedFont>
    <p:embeddedFont>
      <p:font typeface="Palatino Linotyp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9" roundtripDataSignature="AMtx7mg4l2kh4XFaA7w8rWmcwKwFtxig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Poppins-bold.fntdata"/><Relationship Id="rId41" Type="http://schemas.openxmlformats.org/officeDocument/2006/relationships/font" Target="fonts/Poppins-regular.fntdata"/><Relationship Id="rId44" Type="http://schemas.openxmlformats.org/officeDocument/2006/relationships/font" Target="fonts/Poppins-boldItalic.fntdata"/><Relationship Id="rId43" Type="http://schemas.openxmlformats.org/officeDocument/2006/relationships/font" Target="fonts/Poppins-italic.fntdata"/><Relationship Id="rId46" Type="http://schemas.openxmlformats.org/officeDocument/2006/relationships/font" Target="fonts/PalatinoLinotype-bold.fntdata"/><Relationship Id="rId45" Type="http://schemas.openxmlformats.org/officeDocument/2006/relationships/font" Target="fonts/PalatinoLinotyp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alatinoLinotype-boldItalic.fntdata"/><Relationship Id="rId47" Type="http://schemas.openxmlformats.org/officeDocument/2006/relationships/font" Target="fonts/PalatinoLinotype-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7" name="Google Shape;4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5"/>
          <p:cNvSpPr/>
          <p:nvPr>
            <p:ph idx="2" type="pic"/>
          </p:nvPr>
        </p:nvSpPr>
        <p:spPr>
          <a:xfrm>
            <a:off x="5183188" y="987425"/>
            <a:ext cx="6172200" cy="4873625"/>
          </a:xfrm>
          <a:prstGeom prst="rect">
            <a:avLst/>
          </a:prstGeom>
          <a:noFill/>
          <a:ln>
            <a:noFill/>
          </a:ln>
        </p:spPr>
      </p:sp>
      <p:sp>
        <p:nvSpPr>
          <p:cNvPr id="69" name="Google Shape;69;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6"/>
          <p:cNvSpPr/>
          <p:nvPr/>
        </p:nvSpPr>
        <p:spPr>
          <a:xfrm>
            <a:off x="10504715" y="230188"/>
            <a:ext cx="1231640" cy="690465"/>
          </a:xfrm>
          <a:prstGeom prst="rect">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23392" y="908720"/>
            <a:ext cx="11089232" cy="5472608"/>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type="ctrTitle"/>
          </p:nvPr>
        </p:nvSpPr>
        <p:spPr>
          <a:xfrm>
            <a:off x="1596008" y="2564904"/>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alatino Linotype"/>
              <a:buNone/>
            </a:pP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21CSC201J</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DATA STRUCTURES AND ALGORITHMS</a:t>
            </a: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UNIT-4</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Topic : Trees</a:t>
            </a:r>
            <a:endParaRPr b="1" i="0" sz="4800" u="none" cap="none" strike="noStrike">
              <a:solidFill>
                <a:schemeClr val="dk1"/>
              </a:solidFill>
              <a:latin typeface="Palatino Linotype"/>
              <a:ea typeface="Palatino Linotype"/>
              <a:cs typeface="Palatino Linotype"/>
              <a:sym typeface="Palatino Linotype"/>
            </a:endParaRPr>
          </a:p>
        </p:txBody>
      </p:sp>
      <p:cxnSp>
        <p:nvCxnSpPr>
          <p:cNvPr id="91" name="Google Shape;91;p1"/>
          <p:cNvCxnSpPr/>
          <p:nvPr/>
        </p:nvCxnSpPr>
        <p:spPr>
          <a:xfrm flipH="1">
            <a:off x="-2346000" y="6878050"/>
            <a:ext cx="2346000" cy="14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TREES</a:t>
            </a:r>
            <a:endParaRPr/>
          </a:p>
        </p:txBody>
      </p:sp>
      <p:sp>
        <p:nvSpPr>
          <p:cNvPr id="97" name="Google Shape;9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Introduction to Trees</a:t>
            </a:r>
            <a:endParaRPr/>
          </a:p>
        </p:txBody>
      </p:sp>
      <p:sp>
        <p:nvSpPr>
          <p:cNvPr id="103" name="Google Shape;103;p3"/>
          <p:cNvSpPr txBox="1"/>
          <p:nvPr>
            <p:ph idx="1" type="body"/>
          </p:nvPr>
        </p:nvSpPr>
        <p:spPr>
          <a:xfrm>
            <a:off x="285591" y="1483476"/>
            <a:ext cx="10515600" cy="43512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study of trees in mathematics can be traced to Gustav Kirchhoff in the middle nineteenth century and several years later to Arthur Cayley, who used trees to study the structure of algebraic formulas. </a:t>
            </a:r>
            <a:endParaRPr/>
          </a:p>
          <a:p>
            <a:pPr indent="-228600" lvl="0" marL="228600" rtl="0" algn="l">
              <a:lnSpc>
                <a:spcPct val="90000"/>
              </a:lnSpc>
              <a:spcBef>
                <a:spcPts val="1000"/>
              </a:spcBef>
              <a:spcAft>
                <a:spcPts val="0"/>
              </a:spcAft>
              <a:buClr>
                <a:schemeClr val="dk1"/>
              </a:buClr>
              <a:buSzPct val="100000"/>
              <a:buChar char="•"/>
            </a:pPr>
            <a:r>
              <a:rPr lang="en-US"/>
              <a:t>Cayley’s work undoubtedly laid the framework for Grace Hopper’s use of trees in 1951 to represent arithmetic expressions. </a:t>
            </a:r>
            <a:endParaRPr/>
          </a:p>
          <a:p>
            <a:pPr indent="-228600" lvl="0" marL="228600" rtl="0" algn="l">
              <a:lnSpc>
                <a:spcPct val="90000"/>
              </a:lnSpc>
              <a:spcBef>
                <a:spcPts val="1000"/>
              </a:spcBef>
              <a:spcAft>
                <a:spcPts val="0"/>
              </a:spcAft>
              <a:buClr>
                <a:schemeClr val="dk1"/>
              </a:buClr>
              <a:buSzPct val="100000"/>
              <a:buChar char="•"/>
            </a:pPr>
            <a:r>
              <a:rPr lang="en-US"/>
              <a:t>Hopper’s work bears a strong resemblance to today’s binary tree formats.</a:t>
            </a:r>
            <a:endParaRPr/>
          </a:p>
          <a:p>
            <a:pPr indent="-228600" lvl="0" marL="228600" rtl="0" algn="l">
              <a:lnSpc>
                <a:spcPct val="90000"/>
              </a:lnSpc>
              <a:spcBef>
                <a:spcPts val="1000"/>
              </a:spcBef>
              <a:spcAft>
                <a:spcPts val="0"/>
              </a:spcAft>
              <a:buClr>
                <a:schemeClr val="dk1"/>
              </a:buClr>
              <a:buSzPct val="100000"/>
              <a:buChar char="•"/>
            </a:pPr>
            <a:r>
              <a:rPr lang="en-US"/>
              <a:t>Trees are used extensively in computer science to represent algebraic formulas;</a:t>
            </a:r>
            <a:endParaRPr/>
          </a:p>
          <a:p>
            <a:pPr indent="-228600" lvl="0" marL="228600" rtl="0" algn="l">
              <a:lnSpc>
                <a:spcPct val="90000"/>
              </a:lnSpc>
              <a:spcBef>
                <a:spcPts val="1000"/>
              </a:spcBef>
              <a:spcAft>
                <a:spcPts val="0"/>
              </a:spcAft>
              <a:buClr>
                <a:schemeClr val="dk1"/>
              </a:buClr>
              <a:buSzPct val="100000"/>
              <a:buChar char="•"/>
            </a:pPr>
            <a:r>
              <a:rPr lang="en-US"/>
              <a:t>as an efficient method for searching large, dynamic lists; and for such diverse applications as artificial intelligence systems and encoding algorithms.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Basic Tree Concepts</a:t>
            </a:r>
            <a:endParaRPr/>
          </a:p>
        </p:txBody>
      </p:sp>
      <p:sp>
        <p:nvSpPr>
          <p:cNvPr id="109" name="Google Shape;109;p4"/>
          <p:cNvSpPr txBox="1"/>
          <p:nvPr>
            <p:ph idx="1" type="body"/>
          </p:nvPr>
        </p:nvSpPr>
        <p:spPr>
          <a:xfrm>
            <a:off x="329315" y="2222287"/>
            <a:ext cx="7449525" cy="363651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A tree consists of a finite set of elements, called nodes, and a finite set of directed lines, called branches, that connect the nodes. </a:t>
            </a:r>
            <a:endParaRPr/>
          </a:p>
          <a:p>
            <a:pPr indent="-228600" lvl="0" marL="228600" rtl="0" algn="l">
              <a:lnSpc>
                <a:spcPct val="90000"/>
              </a:lnSpc>
              <a:spcBef>
                <a:spcPts val="1000"/>
              </a:spcBef>
              <a:spcAft>
                <a:spcPts val="0"/>
              </a:spcAft>
              <a:buClr>
                <a:schemeClr val="dk1"/>
              </a:buClr>
              <a:buSzPct val="100000"/>
              <a:buChar char="•"/>
            </a:pPr>
            <a:r>
              <a:rPr lang="en-US"/>
              <a:t>The number of branches associated with a node is the degree of the node. </a:t>
            </a:r>
            <a:endParaRPr/>
          </a:p>
          <a:p>
            <a:pPr indent="-228600" lvl="0" marL="228600" rtl="0" algn="l">
              <a:lnSpc>
                <a:spcPct val="90000"/>
              </a:lnSpc>
              <a:spcBef>
                <a:spcPts val="1000"/>
              </a:spcBef>
              <a:spcAft>
                <a:spcPts val="0"/>
              </a:spcAft>
              <a:buClr>
                <a:schemeClr val="dk1"/>
              </a:buClr>
              <a:buSzPct val="100000"/>
              <a:buChar char="•"/>
            </a:pPr>
            <a:r>
              <a:rPr lang="en-US"/>
              <a:t>When the branch is directed toward the node, it is an indegree branch; when the branch is directed away from the node, it is an outdegree branch. </a:t>
            </a:r>
            <a:endParaRPr/>
          </a:p>
          <a:p>
            <a:pPr indent="-228600" lvl="0" marL="228600" rtl="0" algn="l">
              <a:lnSpc>
                <a:spcPct val="90000"/>
              </a:lnSpc>
              <a:spcBef>
                <a:spcPts val="1000"/>
              </a:spcBef>
              <a:spcAft>
                <a:spcPts val="0"/>
              </a:spcAft>
              <a:buClr>
                <a:schemeClr val="dk1"/>
              </a:buClr>
              <a:buSzPct val="100000"/>
              <a:buChar char="•"/>
            </a:pPr>
            <a:r>
              <a:rPr lang="en-US"/>
              <a:t>The sum of the indegree and outdegree branches is the degree of the node.</a:t>
            </a:r>
            <a:endParaRPr/>
          </a:p>
          <a:p>
            <a:pPr indent="-228600" lvl="0" marL="228600" rtl="0" algn="l">
              <a:lnSpc>
                <a:spcPct val="90000"/>
              </a:lnSpc>
              <a:spcBef>
                <a:spcPts val="1000"/>
              </a:spcBef>
              <a:spcAft>
                <a:spcPts val="0"/>
              </a:spcAft>
              <a:buClr>
                <a:srgbClr val="92D050"/>
              </a:buClr>
              <a:buSzPct val="100000"/>
              <a:buChar char="•"/>
            </a:pPr>
            <a:r>
              <a:rPr b="1" lang="en-US">
                <a:solidFill>
                  <a:srgbClr val="92D050"/>
                </a:solidFill>
              </a:rPr>
              <a:t>A tree consists of a finite set of elements, called nodes, and a finite set of directed lines, called branches, that connect the nodes.</a:t>
            </a:r>
            <a:endParaRPr b="1">
              <a:solidFill>
                <a:srgbClr val="92D050"/>
              </a:solidFill>
            </a:endParaRPr>
          </a:p>
        </p:txBody>
      </p:sp>
      <p:pic>
        <p:nvPicPr>
          <p:cNvPr id="110" name="Google Shape;110;p4"/>
          <p:cNvPicPr preferRelativeResize="0"/>
          <p:nvPr/>
        </p:nvPicPr>
        <p:blipFill rotWithShape="1">
          <a:blip r:embed="rId3">
            <a:alphaModFix/>
          </a:blip>
          <a:srcRect b="12667" l="20474" r="12598" t="0"/>
          <a:stretch/>
        </p:blipFill>
        <p:spPr>
          <a:xfrm>
            <a:off x="7778840" y="2406470"/>
            <a:ext cx="4198512" cy="35686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TREE</a:t>
            </a:r>
            <a:endParaRPr/>
          </a:p>
        </p:txBody>
      </p:sp>
      <p:sp>
        <p:nvSpPr>
          <p:cNvPr id="116" name="Google Shape;116;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17" name="Google Shape;117;p5"/>
          <p:cNvPicPr preferRelativeResize="0"/>
          <p:nvPr/>
        </p:nvPicPr>
        <p:blipFill rotWithShape="1">
          <a:blip r:embed="rId3">
            <a:alphaModFix/>
          </a:blip>
          <a:srcRect b="0" l="0" r="0" t="0"/>
          <a:stretch/>
        </p:blipFill>
        <p:spPr>
          <a:xfrm>
            <a:off x="2003009" y="2419350"/>
            <a:ext cx="6474241" cy="274507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TREE Terminology</a:t>
            </a:r>
            <a:endParaRPr/>
          </a:p>
        </p:txBody>
      </p:sp>
      <p:sp>
        <p:nvSpPr>
          <p:cNvPr id="123" name="Google Shape;12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the tree is not empty, the first node is called the root. </a:t>
            </a:r>
            <a:endParaRPr/>
          </a:p>
          <a:p>
            <a:pPr indent="-228600" lvl="0" marL="228600" rtl="0" algn="l">
              <a:lnSpc>
                <a:spcPct val="90000"/>
              </a:lnSpc>
              <a:spcBef>
                <a:spcPts val="1000"/>
              </a:spcBef>
              <a:spcAft>
                <a:spcPts val="0"/>
              </a:spcAft>
              <a:buClr>
                <a:schemeClr val="dk1"/>
              </a:buClr>
              <a:buSzPts val="2800"/>
              <a:buChar char="•"/>
            </a:pPr>
            <a:r>
              <a:rPr lang="en-US"/>
              <a:t>The indegree of the root is, by definition, zero. </a:t>
            </a:r>
            <a:endParaRPr/>
          </a:p>
          <a:p>
            <a:pPr indent="-228600" lvl="0" marL="228600" rtl="0" algn="l">
              <a:lnSpc>
                <a:spcPct val="90000"/>
              </a:lnSpc>
              <a:spcBef>
                <a:spcPts val="1000"/>
              </a:spcBef>
              <a:spcAft>
                <a:spcPts val="0"/>
              </a:spcAft>
              <a:buClr>
                <a:schemeClr val="dk1"/>
              </a:buClr>
              <a:buSzPts val="2800"/>
              <a:buChar char="•"/>
            </a:pPr>
            <a:r>
              <a:rPr lang="en-US"/>
              <a:t>With the exception of the root, all of the nodes in a tree must have an indegree of exactly one; that is, they may have only one predecessor. </a:t>
            </a:r>
            <a:endParaRPr/>
          </a:p>
          <a:p>
            <a:pPr indent="-228600" lvl="0" marL="228600" rtl="0" algn="l">
              <a:lnSpc>
                <a:spcPct val="90000"/>
              </a:lnSpc>
              <a:spcBef>
                <a:spcPts val="1000"/>
              </a:spcBef>
              <a:spcAft>
                <a:spcPts val="0"/>
              </a:spcAft>
              <a:buClr>
                <a:schemeClr val="dk1"/>
              </a:buClr>
              <a:buSzPts val="2800"/>
              <a:buChar char="•"/>
            </a:pPr>
            <a:r>
              <a:rPr lang="en-US"/>
              <a:t>All nodes in the tree can have zero, one, or more branches leaving them; that is, they may have an outdegree of zero, one, or more (zero or more successors). Figure 6-1 is a representation of a tree.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TREE Terminology</a:t>
            </a:r>
            <a:endParaRPr/>
          </a:p>
        </p:txBody>
      </p:sp>
      <p:sp>
        <p:nvSpPr>
          <p:cNvPr id="129" name="Google Shape;129;p7"/>
          <p:cNvSpPr txBox="1"/>
          <p:nvPr>
            <p:ph idx="1" type="body"/>
          </p:nvPr>
        </p:nvSpPr>
        <p:spPr>
          <a:xfrm>
            <a:off x="146015" y="2222211"/>
            <a:ext cx="6548100" cy="3636600"/>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lang="en-US" u="sng"/>
              <a:t>A leaf </a:t>
            </a:r>
            <a:r>
              <a:rPr lang="en-US"/>
              <a:t>is any node with an outdegree of zero, that is, a node with no successors.</a:t>
            </a:r>
            <a:endParaRPr/>
          </a:p>
          <a:p>
            <a:pPr indent="-228600" lvl="0" marL="228600" rtl="0" algn="l">
              <a:lnSpc>
                <a:spcPct val="90000"/>
              </a:lnSpc>
              <a:spcBef>
                <a:spcPts val="1000"/>
              </a:spcBef>
              <a:spcAft>
                <a:spcPts val="0"/>
              </a:spcAft>
              <a:buClr>
                <a:schemeClr val="dk1"/>
              </a:buClr>
              <a:buSzPct val="100000"/>
              <a:buChar char="•"/>
            </a:pPr>
            <a:r>
              <a:rPr lang="en-US"/>
              <a:t>A node that is not a root or a leaf is known as an </a:t>
            </a:r>
            <a:r>
              <a:rPr b="1" lang="en-US" u="sng"/>
              <a:t>internal node </a:t>
            </a:r>
            <a:r>
              <a:rPr lang="en-US"/>
              <a:t>because it is found in the middle portion of a tree.</a:t>
            </a:r>
            <a:endParaRPr/>
          </a:p>
          <a:p>
            <a:pPr indent="-228600" lvl="0" marL="228600" rtl="0" algn="l">
              <a:lnSpc>
                <a:spcPct val="90000"/>
              </a:lnSpc>
              <a:spcBef>
                <a:spcPts val="1000"/>
              </a:spcBef>
              <a:spcAft>
                <a:spcPts val="0"/>
              </a:spcAft>
              <a:buClr>
                <a:schemeClr val="dk1"/>
              </a:buClr>
              <a:buSzPct val="100000"/>
              <a:buChar char="•"/>
            </a:pPr>
            <a:r>
              <a:rPr lang="en-US"/>
              <a:t>A node is a </a:t>
            </a:r>
            <a:r>
              <a:rPr b="1" lang="en-US" u="sng"/>
              <a:t>parent </a:t>
            </a:r>
            <a:r>
              <a:rPr lang="en-US"/>
              <a:t>if it has successor nodes—that is, if it has an </a:t>
            </a:r>
            <a:r>
              <a:rPr b="1" lang="en-US">
                <a:solidFill>
                  <a:srgbClr val="92D050"/>
                </a:solidFill>
              </a:rPr>
              <a:t>outdegree greater than zero. </a:t>
            </a:r>
            <a:endParaRPr b="1">
              <a:solidFill>
                <a:srgbClr val="92D050"/>
              </a:solidFill>
            </a:endParaRPr>
          </a:p>
          <a:p>
            <a:pPr indent="-228600" lvl="0" marL="228600" rtl="0" algn="l">
              <a:lnSpc>
                <a:spcPct val="90000"/>
              </a:lnSpc>
              <a:spcBef>
                <a:spcPts val="1000"/>
              </a:spcBef>
              <a:spcAft>
                <a:spcPts val="0"/>
              </a:spcAft>
              <a:buClr>
                <a:schemeClr val="dk1"/>
              </a:buClr>
              <a:buSzPct val="100000"/>
              <a:buChar char="•"/>
            </a:pPr>
            <a:r>
              <a:rPr lang="en-US"/>
              <a:t>Conversely, a node with a predecessor is a </a:t>
            </a:r>
            <a:r>
              <a:rPr b="1" lang="en-US" u="sng"/>
              <a:t>child. </a:t>
            </a:r>
            <a:endParaRPr b="1" u="sng"/>
          </a:p>
          <a:p>
            <a:pPr indent="-228600" lvl="0" marL="228600" rtl="0" algn="l">
              <a:lnSpc>
                <a:spcPct val="90000"/>
              </a:lnSpc>
              <a:spcBef>
                <a:spcPts val="1000"/>
              </a:spcBef>
              <a:spcAft>
                <a:spcPts val="0"/>
              </a:spcAft>
              <a:buClr>
                <a:schemeClr val="dk1"/>
              </a:buClr>
              <a:buSzPct val="100000"/>
              <a:buChar char="•"/>
            </a:pPr>
            <a:r>
              <a:rPr lang="en-US"/>
              <a:t>A child node has </a:t>
            </a:r>
            <a:r>
              <a:rPr b="1" lang="en-US">
                <a:solidFill>
                  <a:srgbClr val="92D050"/>
                </a:solidFill>
              </a:rPr>
              <a:t>an indegree of one. </a:t>
            </a:r>
            <a:endParaRPr b="1">
              <a:solidFill>
                <a:srgbClr val="92D050"/>
              </a:solidFill>
            </a:endParaRPr>
          </a:p>
          <a:p>
            <a:pPr indent="-228600" lvl="0" marL="228600" rtl="0" algn="l">
              <a:lnSpc>
                <a:spcPct val="90000"/>
              </a:lnSpc>
              <a:spcBef>
                <a:spcPts val="1000"/>
              </a:spcBef>
              <a:spcAft>
                <a:spcPts val="0"/>
              </a:spcAft>
              <a:buClr>
                <a:schemeClr val="dk1"/>
              </a:buClr>
              <a:buSzPct val="100000"/>
              <a:buChar char="•"/>
            </a:pPr>
            <a:r>
              <a:rPr lang="en-US"/>
              <a:t>Two or more nodes with the same parent are </a:t>
            </a:r>
            <a:r>
              <a:rPr b="1" lang="en-US" u="sng"/>
              <a:t>siblings</a:t>
            </a:r>
            <a:endParaRPr/>
          </a:p>
          <a:p>
            <a:pPr indent="-228600" lvl="0" marL="228600" rtl="0" algn="l">
              <a:lnSpc>
                <a:spcPct val="90000"/>
              </a:lnSpc>
              <a:spcBef>
                <a:spcPts val="1000"/>
              </a:spcBef>
              <a:spcAft>
                <a:spcPts val="0"/>
              </a:spcAft>
              <a:buClr>
                <a:schemeClr val="dk1"/>
              </a:buClr>
              <a:buSzPct val="100000"/>
              <a:buChar char="•"/>
            </a:pPr>
            <a:r>
              <a:rPr lang="en-US"/>
              <a:t>An a</a:t>
            </a:r>
            <a:r>
              <a:rPr b="1" lang="en-US" u="sng"/>
              <a:t>ncesto</a:t>
            </a:r>
            <a:r>
              <a:rPr lang="en-US"/>
              <a:t>r is any node in the path from the root to the node. </a:t>
            </a:r>
            <a:endParaRPr/>
          </a:p>
          <a:p>
            <a:pPr indent="-228600" lvl="0" marL="228600" rtl="0" algn="l">
              <a:lnSpc>
                <a:spcPct val="90000"/>
              </a:lnSpc>
              <a:spcBef>
                <a:spcPts val="1000"/>
              </a:spcBef>
              <a:spcAft>
                <a:spcPts val="0"/>
              </a:spcAft>
              <a:buClr>
                <a:schemeClr val="dk1"/>
              </a:buClr>
              <a:buSzPct val="100000"/>
              <a:buChar char="•"/>
            </a:pPr>
            <a:r>
              <a:rPr lang="en-US"/>
              <a:t>A </a:t>
            </a:r>
            <a:r>
              <a:rPr b="1" lang="en-US" u="sng"/>
              <a:t>descendent</a:t>
            </a:r>
            <a:r>
              <a:rPr lang="en-US"/>
              <a:t> is any node in the path below the parent node; that is, all nodes in the paths from a given node to a leaf are descendents of that node</a:t>
            </a:r>
            <a:endParaRPr/>
          </a:p>
        </p:txBody>
      </p:sp>
      <p:pic>
        <p:nvPicPr>
          <p:cNvPr id="130" name="Google Shape;130;p7"/>
          <p:cNvPicPr preferRelativeResize="0"/>
          <p:nvPr/>
        </p:nvPicPr>
        <p:blipFill rotWithShape="1">
          <a:blip r:embed="rId3">
            <a:alphaModFix/>
          </a:blip>
          <a:srcRect b="0" l="0" r="0" t="0"/>
          <a:stretch/>
        </p:blipFill>
        <p:spPr>
          <a:xfrm>
            <a:off x="6694125" y="2222199"/>
            <a:ext cx="5584200" cy="3636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PATH</a:t>
            </a:r>
            <a:endParaRPr/>
          </a:p>
        </p:txBody>
      </p:sp>
      <p:sp>
        <p:nvSpPr>
          <p:cNvPr id="136" name="Google Shape;136;p8"/>
          <p:cNvSpPr txBox="1"/>
          <p:nvPr>
            <p:ph idx="1" type="body"/>
          </p:nvPr>
        </p:nvSpPr>
        <p:spPr>
          <a:xfrm>
            <a:off x="845697" y="1484784"/>
            <a:ext cx="5092691" cy="363651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Several terms drawn from mathematics or created by computer scientists are used to describe attributes of trees and their nodes </a:t>
            </a:r>
            <a:endParaRPr/>
          </a:p>
          <a:p>
            <a:pPr indent="-228600" lvl="0" marL="228600" rtl="0" algn="l">
              <a:lnSpc>
                <a:spcPct val="90000"/>
              </a:lnSpc>
              <a:spcBef>
                <a:spcPts val="1000"/>
              </a:spcBef>
              <a:spcAft>
                <a:spcPts val="0"/>
              </a:spcAft>
              <a:buClr>
                <a:srgbClr val="FFFF00"/>
              </a:buClr>
              <a:buSzPct val="100000"/>
              <a:buChar char="•"/>
            </a:pPr>
            <a:r>
              <a:rPr b="1" lang="en-US">
                <a:solidFill>
                  <a:srgbClr val="FFFF00"/>
                </a:solidFill>
              </a:rPr>
              <a:t>A path is a sequence of nodes in which each node is adjacent to the next one. </a:t>
            </a:r>
            <a:endParaRPr b="1">
              <a:solidFill>
                <a:srgbClr val="FFFF00"/>
              </a:solidFill>
            </a:endParaRPr>
          </a:p>
          <a:p>
            <a:pPr indent="-228600" lvl="0" marL="228600" rtl="0" algn="l">
              <a:lnSpc>
                <a:spcPct val="90000"/>
              </a:lnSpc>
              <a:spcBef>
                <a:spcPts val="1000"/>
              </a:spcBef>
              <a:spcAft>
                <a:spcPts val="0"/>
              </a:spcAft>
              <a:buClr>
                <a:schemeClr val="dk1"/>
              </a:buClr>
              <a:buSzPct val="100000"/>
              <a:buChar char="•"/>
            </a:pPr>
            <a:r>
              <a:rPr lang="en-US"/>
              <a:t>Every node in the tree can be reached by following a unique path starting from the root. </a:t>
            </a:r>
            <a:endParaRPr/>
          </a:p>
          <a:p>
            <a:pPr indent="-228600" lvl="0" marL="228600" rtl="0" algn="l">
              <a:lnSpc>
                <a:spcPct val="90000"/>
              </a:lnSpc>
              <a:spcBef>
                <a:spcPts val="1000"/>
              </a:spcBef>
              <a:spcAft>
                <a:spcPts val="0"/>
              </a:spcAft>
              <a:buClr>
                <a:schemeClr val="dk1"/>
              </a:buClr>
              <a:buSzPct val="100000"/>
              <a:buChar char="•"/>
            </a:pPr>
            <a:r>
              <a:rPr lang="en-US"/>
              <a:t>In Figure 6-2 the path from the root to the leaf I is designated as AFI.</a:t>
            </a:r>
            <a:endParaRPr/>
          </a:p>
          <a:p>
            <a:pPr indent="-228600" lvl="0" marL="228600" rtl="0" algn="l">
              <a:lnSpc>
                <a:spcPct val="90000"/>
              </a:lnSpc>
              <a:spcBef>
                <a:spcPts val="1000"/>
              </a:spcBef>
              <a:spcAft>
                <a:spcPts val="0"/>
              </a:spcAft>
              <a:buClr>
                <a:srgbClr val="92D050"/>
              </a:buClr>
              <a:buSzPct val="100000"/>
              <a:buChar char="•"/>
            </a:pPr>
            <a:r>
              <a:rPr b="1" lang="en-US">
                <a:solidFill>
                  <a:srgbClr val="92D050"/>
                </a:solidFill>
              </a:rPr>
              <a:t>It includes two distinct branches, AF and FI.</a:t>
            </a:r>
            <a:endParaRPr b="1">
              <a:solidFill>
                <a:srgbClr val="92D050"/>
              </a:solidFill>
            </a:endParaRPr>
          </a:p>
        </p:txBody>
      </p:sp>
      <p:pic>
        <p:nvPicPr>
          <p:cNvPr id="137" name="Google Shape;137;p8"/>
          <p:cNvPicPr preferRelativeResize="0"/>
          <p:nvPr/>
        </p:nvPicPr>
        <p:blipFill rotWithShape="1">
          <a:blip r:embed="rId3">
            <a:alphaModFix/>
          </a:blip>
          <a:srcRect b="0" l="0" r="0" t="0"/>
          <a:stretch/>
        </p:blipFill>
        <p:spPr>
          <a:xfrm>
            <a:off x="5911403" y="2502553"/>
            <a:ext cx="5584187" cy="32283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LEVEL</a:t>
            </a:r>
            <a:endParaRPr/>
          </a:p>
        </p:txBody>
      </p:sp>
      <p:sp>
        <p:nvSpPr>
          <p:cNvPr id="143" name="Google Shape;143;p9"/>
          <p:cNvSpPr txBox="1"/>
          <p:nvPr>
            <p:ph idx="1" type="body"/>
          </p:nvPr>
        </p:nvSpPr>
        <p:spPr>
          <a:xfrm>
            <a:off x="386366" y="2222287"/>
            <a:ext cx="5618219" cy="3638763"/>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The level of a node is its distance from the root. Because the root has a zero distance from itself, the root is at level 0. </a:t>
            </a:r>
            <a:endParaRPr/>
          </a:p>
          <a:p>
            <a:pPr indent="-228600" lvl="0" marL="228600" rtl="0" algn="l">
              <a:lnSpc>
                <a:spcPct val="90000"/>
              </a:lnSpc>
              <a:spcBef>
                <a:spcPts val="1000"/>
              </a:spcBef>
              <a:spcAft>
                <a:spcPts val="0"/>
              </a:spcAft>
              <a:buClr>
                <a:schemeClr val="dk1"/>
              </a:buClr>
              <a:buSzPct val="100000"/>
              <a:buChar char="•"/>
            </a:pPr>
            <a:r>
              <a:rPr lang="en-US"/>
              <a:t>The children of the root are at level 1, their children are at level 2, and so forth. </a:t>
            </a:r>
            <a:endParaRPr/>
          </a:p>
          <a:p>
            <a:pPr indent="-228600" lvl="0" marL="228600" rtl="0" algn="l">
              <a:lnSpc>
                <a:spcPct val="90000"/>
              </a:lnSpc>
              <a:spcBef>
                <a:spcPts val="1000"/>
              </a:spcBef>
              <a:spcAft>
                <a:spcPts val="0"/>
              </a:spcAft>
              <a:buClr>
                <a:schemeClr val="dk1"/>
              </a:buClr>
              <a:buSzPct val="100000"/>
              <a:buChar char="•"/>
            </a:pPr>
            <a:r>
              <a:rPr lang="en-US"/>
              <a:t>Note the relationship between levels and siblings in Figure 6-2. </a:t>
            </a:r>
            <a:endParaRPr/>
          </a:p>
          <a:p>
            <a:pPr indent="-228600" lvl="0" marL="228600" rtl="0" algn="l">
              <a:lnSpc>
                <a:spcPct val="90000"/>
              </a:lnSpc>
              <a:spcBef>
                <a:spcPts val="1000"/>
              </a:spcBef>
              <a:spcAft>
                <a:spcPts val="0"/>
              </a:spcAft>
              <a:buClr>
                <a:schemeClr val="dk1"/>
              </a:buClr>
              <a:buSzPct val="100000"/>
              <a:buChar char="•"/>
            </a:pPr>
            <a:r>
              <a:rPr lang="en-US"/>
              <a:t>Siblings are always at the same level, but all nodes in a level are not necessarily siblings. </a:t>
            </a:r>
            <a:endParaRPr/>
          </a:p>
          <a:p>
            <a:pPr indent="-228600" lvl="0" marL="228600" rtl="0" algn="l">
              <a:lnSpc>
                <a:spcPct val="90000"/>
              </a:lnSpc>
              <a:spcBef>
                <a:spcPts val="1000"/>
              </a:spcBef>
              <a:spcAft>
                <a:spcPts val="0"/>
              </a:spcAft>
              <a:buClr>
                <a:schemeClr val="dk1"/>
              </a:buClr>
              <a:buSzPct val="100000"/>
              <a:buChar char="•"/>
            </a:pPr>
            <a:r>
              <a:rPr lang="en-US"/>
              <a:t>For example, at level 2, C and D are siblings, as are G, H, and I. </a:t>
            </a:r>
            <a:endParaRPr/>
          </a:p>
          <a:p>
            <a:pPr indent="-228600" lvl="0" marL="228600" rtl="0" algn="l">
              <a:lnSpc>
                <a:spcPct val="90000"/>
              </a:lnSpc>
              <a:spcBef>
                <a:spcPts val="1000"/>
              </a:spcBef>
              <a:spcAft>
                <a:spcPts val="0"/>
              </a:spcAft>
              <a:buClr>
                <a:schemeClr val="dk1"/>
              </a:buClr>
              <a:buSzPct val="100000"/>
              <a:buChar char="•"/>
            </a:pPr>
            <a:r>
              <a:rPr lang="en-US"/>
              <a:t>However, D and G are not siblings because they have different parents</a:t>
            </a:r>
            <a:endParaRPr/>
          </a:p>
        </p:txBody>
      </p:sp>
      <p:pic>
        <p:nvPicPr>
          <p:cNvPr id="144" name="Google Shape;144;p9"/>
          <p:cNvPicPr preferRelativeResize="0"/>
          <p:nvPr>
            <p:ph idx="2" type="body"/>
          </p:nvPr>
        </p:nvPicPr>
        <p:blipFill rotWithShape="1">
          <a:blip r:embed="rId3">
            <a:alphaModFix/>
          </a:blip>
          <a:srcRect b="0" l="0" r="0" t="0"/>
          <a:stretch/>
        </p:blipFill>
        <p:spPr>
          <a:xfrm>
            <a:off x="6004585" y="2426684"/>
            <a:ext cx="6068079" cy="31241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4413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HEIGHT</a:t>
            </a:r>
            <a:endParaRPr/>
          </a:p>
        </p:txBody>
      </p:sp>
      <p:sp>
        <p:nvSpPr>
          <p:cNvPr id="150" name="Google Shape;150;p10"/>
          <p:cNvSpPr txBox="1"/>
          <p:nvPr>
            <p:ph idx="1" type="body"/>
          </p:nvPr>
        </p:nvSpPr>
        <p:spPr>
          <a:xfrm>
            <a:off x="838200" y="1825625"/>
            <a:ext cx="5181600" cy="4351338"/>
          </a:xfrm>
          <a:prstGeom prst="rect">
            <a:avLst/>
          </a:prstGeom>
          <a:solidFill>
            <a:schemeClr val="dk1"/>
          </a:solid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The height of the tree is the level of the leaf in the longest path from the root plus 1. </a:t>
            </a:r>
            <a:endParaRPr/>
          </a:p>
          <a:p>
            <a:pPr indent="-228600" lvl="0" marL="228600" rtl="0" algn="l">
              <a:lnSpc>
                <a:spcPct val="90000"/>
              </a:lnSpc>
              <a:spcBef>
                <a:spcPts val="1000"/>
              </a:spcBef>
              <a:spcAft>
                <a:spcPts val="0"/>
              </a:spcAft>
              <a:buClr>
                <a:schemeClr val="dk1"/>
              </a:buClr>
              <a:buSzPct val="100000"/>
              <a:buChar char="•"/>
            </a:pPr>
            <a:r>
              <a:rPr lang="en-US"/>
              <a:t>By definition the height of an empty tree is -1. </a:t>
            </a:r>
            <a:endParaRPr/>
          </a:p>
          <a:p>
            <a:pPr indent="-228600" lvl="0" marL="228600" rtl="0" algn="l">
              <a:lnSpc>
                <a:spcPct val="90000"/>
              </a:lnSpc>
              <a:spcBef>
                <a:spcPts val="1000"/>
              </a:spcBef>
              <a:spcAft>
                <a:spcPts val="0"/>
              </a:spcAft>
              <a:buClr>
                <a:schemeClr val="dk1"/>
              </a:buClr>
              <a:buSzPct val="100000"/>
              <a:buChar char="•"/>
            </a:pPr>
            <a:r>
              <a:rPr lang="en-US"/>
              <a:t>Figure 6-2 contains nodes at three levels: 0, 1, and 2. Its height is 3. </a:t>
            </a:r>
            <a:endParaRPr/>
          </a:p>
          <a:p>
            <a:pPr indent="-228600" lvl="0" marL="228600" rtl="0" algn="l">
              <a:lnSpc>
                <a:spcPct val="90000"/>
              </a:lnSpc>
              <a:spcBef>
                <a:spcPts val="1000"/>
              </a:spcBef>
              <a:spcAft>
                <a:spcPts val="0"/>
              </a:spcAft>
              <a:buClr>
                <a:schemeClr val="dk1"/>
              </a:buClr>
              <a:buSzPct val="100000"/>
              <a:buChar char="•"/>
            </a:pPr>
            <a:r>
              <a:rPr lang="en-US"/>
              <a:t>Because the tree is drawn upside down, some texts refer to the depth of a tree rather than its height.</a:t>
            </a:r>
            <a:endParaRPr/>
          </a:p>
          <a:p>
            <a:pPr indent="-228600" lvl="0" marL="228600" rtl="0" algn="l">
              <a:lnSpc>
                <a:spcPct val="90000"/>
              </a:lnSpc>
              <a:spcBef>
                <a:spcPts val="1000"/>
              </a:spcBef>
              <a:spcAft>
                <a:spcPts val="0"/>
              </a:spcAft>
              <a:buClr>
                <a:srgbClr val="FFFF00"/>
              </a:buClr>
              <a:buSzPct val="100000"/>
              <a:buChar char="•"/>
            </a:pPr>
            <a:r>
              <a:rPr b="1" lang="en-US">
                <a:solidFill>
                  <a:srgbClr val="FFFF00"/>
                </a:solidFill>
              </a:rPr>
              <a:t>The level of a node is its distance from the root. The height of a tree is the level of the leaf in the longest path from the root plus 1.</a:t>
            </a:r>
            <a:endParaRPr b="1">
              <a:solidFill>
                <a:srgbClr val="FFFF00"/>
              </a:solidFill>
            </a:endParaRPr>
          </a:p>
        </p:txBody>
      </p:sp>
      <p:pic>
        <p:nvPicPr>
          <p:cNvPr id="151" name="Google Shape;151;p10"/>
          <p:cNvPicPr preferRelativeResize="0"/>
          <p:nvPr>
            <p:ph idx="2" type="body"/>
          </p:nvPr>
        </p:nvPicPr>
        <p:blipFill rotWithShape="1">
          <a:blip r:embed="rId3">
            <a:alphaModFix/>
          </a:blip>
          <a:srcRect b="0" l="0" r="0" t="0"/>
          <a:stretch/>
        </p:blipFill>
        <p:spPr>
          <a:xfrm>
            <a:off x="6095999" y="2400925"/>
            <a:ext cx="5475621" cy="26604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SUBTREES</a:t>
            </a:r>
            <a:endParaRPr/>
          </a:p>
        </p:txBody>
      </p:sp>
      <p:sp>
        <p:nvSpPr>
          <p:cNvPr id="157" name="Google Shape;157;p11"/>
          <p:cNvSpPr txBox="1"/>
          <p:nvPr>
            <p:ph idx="1" type="body"/>
          </p:nvPr>
        </p:nvSpPr>
        <p:spPr>
          <a:xfrm>
            <a:off x="561134" y="2222287"/>
            <a:ext cx="5185873" cy="3638763"/>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t>A tree may be divided into subtrees. </a:t>
            </a:r>
            <a:endParaRPr/>
          </a:p>
          <a:p>
            <a:pPr indent="-228600" lvl="0" marL="228600" rtl="0" algn="l">
              <a:lnSpc>
                <a:spcPct val="90000"/>
              </a:lnSpc>
              <a:spcBef>
                <a:spcPts val="1000"/>
              </a:spcBef>
              <a:spcAft>
                <a:spcPts val="0"/>
              </a:spcAft>
              <a:buClr>
                <a:schemeClr val="dk1"/>
              </a:buClr>
              <a:buSzPct val="100000"/>
              <a:buChar char="•"/>
            </a:pPr>
            <a:r>
              <a:rPr lang="en-US"/>
              <a:t>A </a:t>
            </a:r>
            <a:r>
              <a:rPr b="1" lang="en-US" u="sng"/>
              <a:t>subtree i</a:t>
            </a:r>
            <a:r>
              <a:rPr lang="en-US"/>
              <a:t>s any connected structure below the root. </a:t>
            </a:r>
            <a:endParaRPr/>
          </a:p>
          <a:p>
            <a:pPr indent="-228600" lvl="0" marL="228600" rtl="0" algn="l">
              <a:lnSpc>
                <a:spcPct val="90000"/>
              </a:lnSpc>
              <a:spcBef>
                <a:spcPts val="1000"/>
              </a:spcBef>
              <a:spcAft>
                <a:spcPts val="0"/>
              </a:spcAft>
              <a:buClr>
                <a:schemeClr val="dk1"/>
              </a:buClr>
              <a:buSzPct val="100000"/>
              <a:buChar char="•"/>
            </a:pPr>
            <a:r>
              <a:rPr lang="en-US"/>
              <a:t>The first node in a subtree is known as the root of the subtree and is used to name the subtree. </a:t>
            </a:r>
            <a:endParaRPr/>
          </a:p>
          <a:p>
            <a:pPr indent="-228600" lvl="0" marL="228600" rtl="0" algn="l">
              <a:lnSpc>
                <a:spcPct val="90000"/>
              </a:lnSpc>
              <a:spcBef>
                <a:spcPts val="1000"/>
              </a:spcBef>
              <a:spcAft>
                <a:spcPts val="0"/>
              </a:spcAft>
              <a:buClr>
                <a:schemeClr val="dk1"/>
              </a:buClr>
              <a:buSzPct val="100000"/>
              <a:buChar char="•"/>
            </a:pPr>
            <a:r>
              <a:rPr lang="en-US"/>
              <a:t>Subtrees can also be further subdivided into subtrees.</a:t>
            </a:r>
            <a:endParaRPr/>
          </a:p>
          <a:p>
            <a:pPr indent="-228600" lvl="0" marL="228600" rtl="0" algn="l">
              <a:lnSpc>
                <a:spcPct val="90000"/>
              </a:lnSpc>
              <a:spcBef>
                <a:spcPts val="1000"/>
              </a:spcBef>
              <a:spcAft>
                <a:spcPts val="0"/>
              </a:spcAft>
              <a:buClr>
                <a:schemeClr val="dk1"/>
              </a:buClr>
              <a:buSzPct val="100000"/>
              <a:buChar char="•"/>
            </a:pPr>
            <a:r>
              <a:rPr lang="en-US"/>
              <a:t> In Figure 6-3, BCD  is a subtree, as are E and FGHI. Note that by this definition, a single node is a subtree. </a:t>
            </a:r>
            <a:endParaRPr/>
          </a:p>
          <a:p>
            <a:pPr indent="-228600" lvl="0" marL="228600" rtl="0" algn="l">
              <a:lnSpc>
                <a:spcPct val="90000"/>
              </a:lnSpc>
              <a:spcBef>
                <a:spcPts val="1000"/>
              </a:spcBef>
              <a:spcAft>
                <a:spcPts val="0"/>
              </a:spcAft>
              <a:buClr>
                <a:schemeClr val="dk1"/>
              </a:buClr>
              <a:buSzPct val="100000"/>
              <a:buChar char="•"/>
            </a:pPr>
            <a:r>
              <a:rPr lang="en-US"/>
              <a:t>Thus, the subtree B can be divided into two subtrees, C and D, and the subtree F contains the subtrees G, H, and I.</a:t>
            </a:r>
            <a:endParaRPr/>
          </a:p>
        </p:txBody>
      </p:sp>
      <p:pic>
        <p:nvPicPr>
          <p:cNvPr id="158" name="Google Shape;158;p11"/>
          <p:cNvPicPr preferRelativeResize="0"/>
          <p:nvPr>
            <p:ph idx="2" type="body"/>
          </p:nvPr>
        </p:nvPicPr>
        <p:blipFill rotWithShape="1">
          <a:blip r:embed="rId3">
            <a:alphaModFix/>
          </a:blip>
          <a:srcRect b="0" l="0" r="0" t="0"/>
          <a:stretch/>
        </p:blipFill>
        <p:spPr>
          <a:xfrm>
            <a:off x="5908484" y="2222287"/>
            <a:ext cx="6030231" cy="25428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TREE DEFN</a:t>
            </a:r>
            <a:endParaRPr/>
          </a:p>
        </p:txBody>
      </p:sp>
      <p:sp>
        <p:nvSpPr>
          <p:cNvPr id="164" name="Google Shape;164;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tree is a set of nodes that either:</a:t>
            </a:r>
            <a:endParaRPr/>
          </a:p>
          <a:p>
            <a:pPr indent="-228600" lvl="0" marL="228600" rtl="0" algn="l">
              <a:lnSpc>
                <a:spcPct val="90000"/>
              </a:lnSpc>
              <a:spcBef>
                <a:spcPts val="1000"/>
              </a:spcBef>
              <a:spcAft>
                <a:spcPts val="0"/>
              </a:spcAft>
              <a:buClr>
                <a:schemeClr val="dk1"/>
              </a:buClr>
              <a:buSzPts val="2800"/>
              <a:buChar char="•"/>
            </a:pPr>
            <a:r>
              <a:rPr lang="en-US"/>
              <a:t>1. Is empty, or</a:t>
            </a:r>
            <a:endParaRPr/>
          </a:p>
          <a:p>
            <a:pPr indent="-228600" lvl="0" marL="228600" rtl="0" algn="l">
              <a:lnSpc>
                <a:spcPct val="90000"/>
              </a:lnSpc>
              <a:spcBef>
                <a:spcPts val="1000"/>
              </a:spcBef>
              <a:spcAft>
                <a:spcPts val="0"/>
              </a:spcAft>
              <a:buClr>
                <a:schemeClr val="dk1"/>
              </a:buClr>
              <a:buSzPts val="2800"/>
              <a:buChar char="•"/>
            </a:pPr>
            <a:r>
              <a:rPr lang="en-US"/>
              <a:t>2. Has a designated node, called the root, from whi</a:t>
            </a:r>
            <a:endParaRPr/>
          </a:p>
        </p:txBody>
      </p:sp>
      <p:sp>
        <p:nvSpPr>
          <p:cNvPr id="165" name="Google Shape;165;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concept of subtrees leads us to a recursive definition of a tree: A tree</a:t>
            </a:r>
            <a:endParaRPr/>
          </a:p>
          <a:p>
            <a:pPr indent="-228600" lvl="0" marL="228600" rtl="0" algn="l">
              <a:lnSpc>
                <a:spcPct val="90000"/>
              </a:lnSpc>
              <a:spcBef>
                <a:spcPts val="1000"/>
              </a:spcBef>
              <a:spcAft>
                <a:spcPts val="0"/>
              </a:spcAft>
              <a:buClr>
                <a:schemeClr val="dk1"/>
              </a:buClr>
              <a:buSzPts val="2800"/>
              <a:buChar char="•"/>
            </a:pPr>
            <a:r>
              <a:rPr lang="en-US"/>
              <a:t>is a set of nodes that either: (1) is empty or (2) has a designated node, called the root, from which hierarchically descend zero or more subtrees, which are also trees.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User Representation</a:t>
            </a:r>
            <a:endParaRPr/>
          </a:p>
        </p:txBody>
      </p:sp>
      <p:sp>
        <p:nvSpPr>
          <p:cNvPr id="171" name="Google Shape;171;p13"/>
          <p:cNvSpPr txBox="1"/>
          <p:nvPr>
            <p:ph idx="1" type="body"/>
          </p:nvPr>
        </p:nvSpPr>
        <p:spPr>
          <a:xfrm>
            <a:off x="367951" y="2222286"/>
            <a:ext cx="5185873" cy="363876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There are three different user representations for trees. The first is the organization chart format, which is basically the notation we use to represent</a:t>
            </a:r>
            <a:endParaRPr/>
          </a:p>
          <a:p>
            <a:pPr indent="-228600" lvl="0" marL="228600" rtl="0" algn="l">
              <a:lnSpc>
                <a:spcPct val="90000"/>
              </a:lnSpc>
              <a:spcBef>
                <a:spcPts val="1000"/>
              </a:spcBef>
              <a:spcAft>
                <a:spcPts val="0"/>
              </a:spcAft>
              <a:buClr>
                <a:schemeClr val="dk1"/>
              </a:buClr>
              <a:buSzPct val="100000"/>
              <a:buChar char="•"/>
            </a:pPr>
            <a:r>
              <a:rPr lang="en-US"/>
              <a:t>trees in our figures. The term we use for this notation is general tree. The general</a:t>
            </a:r>
            <a:endParaRPr/>
          </a:p>
          <a:p>
            <a:pPr indent="-228600" lvl="0" marL="228600" rtl="0" algn="l">
              <a:lnSpc>
                <a:spcPct val="90000"/>
              </a:lnSpc>
              <a:spcBef>
                <a:spcPts val="1000"/>
              </a:spcBef>
              <a:spcAft>
                <a:spcPts val="0"/>
              </a:spcAft>
              <a:buClr>
                <a:schemeClr val="dk1"/>
              </a:buClr>
              <a:buSzPct val="100000"/>
              <a:buChar char="•"/>
            </a:pPr>
            <a:r>
              <a:rPr lang="en-US"/>
              <a:t>tree representation of a computer’s components is shown in Figure </a:t>
            </a:r>
            <a:endParaRPr/>
          </a:p>
        </p:txBody>
      </p:sp>
      <p:pic>
        <p:nvPicPr>
          <p:cNvPr id="172" name="Google Shape;172;p13"/>
          <p:cNvPicPr preferRelativeResize="0"/>
          <p:nvPr>
            <p:ph idx="2" type="body"/>
          </p:nvPr>
        </p:nvPicPr>
        <p:blipFill rotWithShape="1">
          <a:blip r:embed="rId3">
            <a:alphaModFix/>
          </a:blip>
          <a:srcRect b="0" l="0" r="0" t="0"/>
          <a:stretch/>
        </p:blipFill>
        <p:spPr>
          <a:xfrm>
            <a:off x="5669735" y="2546555"/>
            <a:ext cx="6420187" cy="29902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Binary Trees</a:t>
            </a:r>
            <a:endParaRPr/>
          </a:p>
        </p:txBody>
      </p:sp>
      <p:sp>
        <p:nvSpPr>
          <p:cNvPr id="178" name="Google Shape;178;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A binary tree is a tree in which no node can have more than two subtrees;</a:t>
            </a:r>
            <a:endParaRPr/>
          </a:p>
          <a:p>
            <a:pPr indent="-228600" lvl="0" marL="228600" rtl="0" algn="l">
              <a:lnSpc>
                <a:spcPct val="90000"/>
              </a:lnSpc>
              <a:spcBef>
                <a:spcPts val="1000"/>
              </a:spcBef>
              <a:spcAft>
                <a:spcPts val="0"/>
              </a:spcAft>
              <a:buClr>
                <a:schemeClr val="dk1"/>
              </a:buClr>
              <a:buSzPct val="100000"/>
              <a:buChar char="•"/>
            </a:pPr>
            <a:r>
              <a:rPr lang="en-US"/>
              <a:t> the maximum outdegree for a node is two. </a:t>
            </a:r>
            <a:endParaRPr/>
          </a:p>
          <a:p>
            <a:pPr indent="-228600" lvl="0" marL="228600" rtl="0" algn="l">
              <a:lnSpc>
                <a:spcPct val="90000"/>
              </a:lnSpc>
              <a:spcBef>
                <a:spcPts val="1000"/>
              </a:spcBef>
              <a:spcAft>
                <a:spcPts val="0"/>
              </a:spcAft>
              <a:buClr>
                <a:schemeClr val="dk1"/>
              </a:buClr>
              <a:buSzPct val="100000"/>
              <a:buChar char="•"/>
            </a:pPr>
            <a:r>
              <a:rPr lang="en-US"/>
              <a:t>In other words, a node can have zero, one, or two subtrees. </a:t>
            </a:r>
            <a:endParaRPr/>
          </a:p>
          <a:p>
            <a:pPr indent="-228600" lvl="0" marL="228600" rtl="0" algn="l">
              <a:lnSpc>
                <a:spcPct val="90000"/>
              </a:lnSpc>
              <a:spcBef>
                <a:spcPts val="1000"/>
              </a:spcBef>
              <a:spcAft>
                <a:spcPts val="0"/>
              </a:spcAft>
              <a:buClr>
                <a:schemeClr val="dk1"/>
              </a:buClr>
              <a:buSzPct val="100000"/>
              <a:buChar char="•"/>
            </a:pPr>
            <a:r>
              <a:rPr lang="en-US"/>
              <a:t>These subtrees are designated as the left subtree and the right subtree.</a:t>
            </a:r>
            <a:endParaRPr/>
          </a:p>
          <a:p>
            <a:pPr indent="-228600" lvl="0" marL="228600" rtl="0" algn="l">
              <a:lnSpc>
                <a:spcPct val="90000"/>
              </a:lnSpc>
              <a:spcBef>
                <a:spcPts val="1000"/>
              </a:spcBef>
              <a:spcAft>
                <a:spcPts val="0"/>
              </a:spcAft>
              <a:buClr>
                <a:schemeClr val="dk1"/>
              </a:buClr>
              <a:buSzPct val="100000"/>
              <a:buChar char="•"/>
            </a:pPr>
            <a:r>
              <a:rPr lang="en-US"/>
              <a:t> Figure 6-5 shows a binary tree with its two subtrees. Note that each subtree is itself a binary tree.</a:t>
            </a:r>
            <a:endParaRPr/>
          </a:p>
        </p:txBody>
      </p:sp>
      <p:pic>
        <p:nvPicPr>
          <p:cNvPr id="179" name="Google Shape;179;p14"/>
          <p:cNvPicPr preferRelativeResize="0"/>
          <p:nvPr>
            <p:ph idx="2" type="body"/>
          </p:nvPr>
        </p:nvPicPr>
        <p:blipFill rotWithShape="1">
          <a:blip r:embed="rId3">
            <a:alphaModFix/>
          </a:blip>
          <a:srcRect b="0" l="0" r="0" t="0"/>
          <a:stretch/>
        </p:blipFill>
        <p:spPr>
          <a:xfrm>
            <a:off x="6095999" y="2393279"/>
            <a:ext cx="5769668" cy="28999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5"/>
          <p:cNvPicPr preferRelativeResize="0"/>
          <p:nvPr/>
        </p:nvPicPr>
        <p:blipFill rotWithShape="1">
          <a:blip r:embed="rId3">
            <a:alphaModFix/>
          </a:blip>
          <a:srcRect b="0" l="0" r="0" t="0"/>
          <a:stretch/>
        </p:blipFill>
        <p:spPr>
          <a:xfrm>
            <a:off x="1865156" y="303391"/>
            <a:ext cx="6982630" cy="619940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Binary Tree Properties</a:t>
            </a:r>
            <a:endParaRPr/>
          </a:p>
        </p:txBody>
      </p:sp>
      <p:sp>
        <p:nvSpPr>
          <p:cNvPr id="190" name="Google Shape;190;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Height of Binary Trees</a:t>
            </a:r>
            <a:endParaRPr/>
          </a:p>
          <a:p>
            <a:pPr indent="-228600" lvl="0" marL="228600" rtl="0" algn="l">
              <a:lnSpc>
                <a:spcPct val="90000"/>
              </a:lnSpc>
              <a:spcBef>
                <a:spcPts val="1000"/>
              </a:spcBef>
              <a:spcAft>
                <a:spcPts val="0"/>
              </a:spcAft>
              <a:buClr>
                <a:schemeClr val="dk1"/>
              </a:buClr>
              <a:buSzPts val="2800"/>
              <a:buChar char="•"/>
            </a:pPr>
            <a:r>
              <a:rPr lang="en-US"/>
              <a:t>Maximum Height</a:t>
            </a:r>
            <a:endParaRPr/>
          </a:p>
          <a:p>
            <a:pPr indent="-228600" lvl="1" marL="685800" rtl="0" algn="l">
              <a:lnSpc>
                <a:spcPct val="90000"/>
              </a:lnSpc>
              <a:spcBef>
                <a:spcPts val="500"/>
              </a:spcBef>
              <a:spcAft>
                <a:spcPts val="0"/>
              </a:spcAft>
              <a:buClr>
                <a:schemeClr val="dk1"/>
              </a:buClr>
              <a:buSzPts val="2400"/>
              <a:buChar char="•"/>
            </a:pPr>
            <a:r>
              <a:rPr lang="en-US"/>
              <a:t>Given that we need to store </a:t>
            </a:r>
            <a:r>
              <a:rPr i="1" lang="en-US"/>
              <a:t>N </a:t>
            </a:r>
            <a:r>
              <a:rPr lang="en-US"/>
              <a:t>nodes in a binary tree, the maximum height,</a:t>
            </a:r>
            <a:endParaRPr/>
          </a:p>
          <a:p>
            <a:pPr indent="-228600" lvl="0" marL="228600" rtl="0" algn="l">
              <a:lnSpc>
                <a:spcPct val="90000"/>
              </a:lnSpc>
              <a:spcBef>
                <a:spcPts val="1000"/>
              </a:spcBef>
              <a:spcAft>
                <a:spcPts val="0"/>
              </a:spcAft>
              <a:buClr>
                <a:schemeClr val="dk1"/>
              </a:buClr>
              <a:buSzPts val="2800"/>
              <a:buChar char="•"/>
            </a:pPr>
            <a:r>
              <a:rPr i="1" lang="en-US"/>
              <a:t>H</a:t>
            </a:r>
            <a:r>
              <a:rPr lang="en-US"/>
              <a:t>max, is</a:t>
            </a:r>
            <a:endParaRPr/>
          </a:p>
        </p:txBody>
      </p:sp>
      <p:pic>
        <p:nvPicPr>
          <p:cNvPr id="191" name="Google Shape;191;p16"/>
          <p:cNvPicPr preferRelativeResize="0"/>
          <p:nvPr/>
        </p:nvPicPr>
        <p:blipFill rotWithShape="1">
          <a:blip r:embed="rId3">
            <a:alphaModFix/>
          </a:blip>
          <a:srcRect b="0" l="0" r="0" t="0"/>
          <a:stretch/>
        </p:blipFill>
        <p:spPr>
          <a:xfrm>
            <a:off x="3294470" y="4880447"/>
            <a:ext cx="2486372" cy="6001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Example</a:t>
            </a:r>
            <a:endParaRPr/>
          </a:p>
        </p:txBody>
      </p:sp>
      <p:sp>
        <p:nvSpPr>
          <p:cNvPr id="197" name="Google Shape;19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Given three nodes to be stored in a binary tree, what is the maximum height?</a:t>
            </a:r>
            <a:endParaRPr/>
          </a:p>
          <a:p>
            <a:pPr indent="-228600" lvl="0" marL="228600" rtl="0" algn="l">
              <a:lnSpc>
                <a:spcPct val="90000"/>
              </a:lnSpc>
              <a:spcBef>
                <a:spcPts val="1000"/>
              </a:spcBef>
              <a:spcAft>
                <a:spcPts val="0"/>
              </a:spcAft>
              <a:buClr>
                <a:schemeClr val="dk1"/>
              </a:buClr>
              <a:buSzPts val="2800"/>
              <a:buChar char="•"/>
            </a:pPr>
            <a:r>
              <a:rPr lang="en-US"/>
              <a:t>In this example </a:t>
            </a:r>
            <a:r>
              <a:rPr i="1" lang="en-US"/>
              <a:t>N </a:t>
            </a:r>
            <a:r>
              <a:rPr lang="en-US"/>
              <a:t>is 3. Therefore, the maximum height is 3. There are four different trees that can be drawn to satisfy a maximum height of 3. A tree with a maximum height is rare.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Minimum Height</a:t>
            </a:r>
            <a:br>
              <a:rPr lang="en-US"/>
            </a:br>
            <a:endParaRPr/>
          </a:p>
        </p:txBody>
      </p:sp>
      <p:sp>
        <p:nvSpPr>
          <p:cNvPr id="203" name="Google Shape;20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minimum height of the tree, </a:t>
            </a:r>
            <a:r>
              <a:rPr i="1" lang="en-US"/>
              <a:t>H</a:t>
            </a:r>
            <a:r>
              <a:rPr lang="en-US"/>
              <a:t>min, is determined by the following formula:</a:t>
            </a:r>
            <a:endParaRPr/>
          </a:p>
          <a:p>
            <a:pPr indent="-228600" lvl="0" marL="228600" rtl="0" algn="ctr">
              <a:lnSpc>
                <a:spcPct val="90000"/>
              </a:lnSpc>
              <a:spcBef>
                <a:spcPts val="1000"/>
              </a:spcBef>
              <a:spcAft>
                <a:spcPts val="0"/>
              </a:spcAft>
              <a:buClr>
                <a:schemeClr val="dk1"/>
              </a:buClr>
              <a:buSzPct val="100000"/>
              <a:buChar char="•"/>
            </a:pPr>
            <a:r>
              <a:rPr b="1" i="1" lang="en-US"/>
              <a:t>H</a:t>
            </a:r>
            <a:r>
              <a:rPr b="1" lang="en-US"/>
              <a:t>min = log2</a:t>
            </a:r>
            <a:r>
              <a:rPr b="1" i="1" lang="en-US"/>
              <a:t>N </a:t>
            </a:r>
            <a:r>
              <a:rPr b="1" lang="en-US"/>
              <a:t>+ 1</a:t>
            </a:r>
            <a:endParaRPr/>
          </a:p>
          <a:p>
            <a:pPr indent="-228600" lvl="0" marL="228600" rtl="0" algn="l">
              <a:lnSpc>
                <a:spcPct val="90000"/>
              </a:lnSpc>
              <a:spcBef>
                <a:spcPts val="1000"/>
              </a:spcBef>
              <a:spcAft>
                <a:spcPts val="0"/>
              </a:spcAft>
              <a:buClr>
                <a:schemeClr val="dk1"/>
              </a:buClr>
              <a:buSzPct val="100000"/>
              <a:buChar char="•"/>
            </a:pPr>
            <a:r>
              <a:rPr lang="en-US"/>
              <a:t>Example Given three nodes to be stored in a binary tree, what is the minimum height?</a:t>
            </a:r>
            <a:endParaRPr/>
          </a:p>
          <a:p>
            <a:pPr indent="-228600" lvl="0" marL="228600" rtl="0" algn="l">
              <a:lnSpc>
                <a:spcPct val="90000"/>
              </a:lnSpc>
              <a:spcBef>
                <a:spcPts val="1000"/>
              </a:spcBef>
              <a:spcAft>
                <a:spcPts val="0"/>
              </a:spcAft>
              <a:buClr>
                <a:schemeClr val="dk1"/>
              </a:buClr>
              <a:buSzPct val="100000"/>
              <a:buChar char="•"/>
            </a:pPr>
            <a:r>
              <a:rPr lang="en-US"/>
              <a:t>Again, </a:t>
            </a:r>
            <a:r>
              <a:rPr i="1" lang="en-US"/>
              <a:t>N </a:t>
            </a:r>
            <a:r>
              <a:rPr lang="en-US"/>
              <a:t>is 3. Therefore, the minimum height is 2.</a:t>
            </a:r>
            <a:endParaRPr/>
          </a:p>
          <a:p>
            <a:pPr indent="-228600" lvl="0" marL="228600" rtl="0" algn="l">
              <a:lnSpc>
                <a:spcPct val="90000"/>
              </a:lnSpc>
              <a:spcBef>
                <a:spcPts val="1000"/>
              </a:spcBef>
              <a:spcAft>
                <a:spcPts val="0"/>
              </a:spcAft>
              <a:buClr>
                <a:schemeClr val="dk1"/>
              </a:buClr>
              <a:buSzPct val="100000"/>
              <a:buChar char="•"/>
            </a:pPr>
            <a:r>
              <a:rPr i="1" lang="en-US"/>
              <a:t>Minimum Nodes. </a:t>
            </a:r>
            <a:endParaRPr i="1"/>
          </a:p>
          <a:p>
            <a:pPr indent="-228600" lvl="0" marL="228600" rtl="0" algn="l">
              <a:lnSpc>
                <a:spcPct val="90000"/>
              </a:lnSpc>
              <a:spcBef>
                <a:spcPts val="1000"/>
              </a:spcBef>
              <a:spcAft>
                <a:spcPts val="0"/>
              </a:spcAft>
              <a:buClr>
                <a:schemeClr val="dk1"/>
              </a:buClr>
              <a:buSzPct val="100000"/>
              <a:buChar char="•"/>
            </a:pPr>
            <a:r>
              <a:rPr lang="en-US"/>
              <a:t>We can turn the calculation around and determine the minimum number of nodes in a tree of a specified height. Given a height of the binary tree, </a:t>
            </a:r>
            <a:r>
              <a:rPr i="1" lang="en-US"/>
              <a:t>H</a:t>
            </a:r>
            <a:r>
              <a:rPr lang="en-US"/>
              <a:t>, the minimum number of nodes in the tree are given as</a:t>
            </a:r>
            <a:endParaRPr/>
          </a:p>
          <a:p>
            <a:pPr indent="-228600" lvl="0" marL="228600" rtl="0" algn="ctr">
              <a:lnSpc>
                <a:spcPct val="90000"/>
              </a:lnSpc>
              <a:spcBef>
                <a:spcPts val="1000"/>
              </a:spcBef>
              <a:spcAft>
                <a:spcPts val="0"/>
              </a:spcAft>
              <a:buClr>
                <a:schemeClr val="dk1"/>
              </a:buClr>
              <a:buSzPct val="100000"/>
              <a:buChar char="•"/>
            </a:pPr>
            <a:r>
              <a:rPr b="1" i="1" lang="en-US"/>
              <a:t>N</a:t>
            </a:r>
            <a:r>
              <a:rPr b="1" lang="en-US"/>
              <a:t>min = </a:t>
            </a:r>
            <a:r>
              <a:rPr b="1" i="1" lang="en-US"/>
              <a:t>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Example</a:t>
            </a:r>
            <a:endParaRPr/>
          </a:p>
        </p:txBody>
      </p:sp>
      <p:sp>
        <p:nvSpPr>
          <p:cNvPr id="209" name="Google Shape;20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Given a tree of height 3, what is the minimum number of nodes that can be</a:t>
            </a:r>
            <a:endParaRPr/>
          </a:p>
          <a:p>
            <a:pPr indent="-228600" lvl="0" marL="228600" rtl="0" algn="l">
              <a:lnSpc>
                <a:spcPct val="90000"/>
              </a:lnSpc>
              <a:spcBef>
                <a:spcPts val="1000"/>
              </a:spcBef>
              <a:spcAft>
                <a:spcPts val="0"/>
              </a:spcAft>
              <a:buClr>
                <a:schemeClr val="dk1"/>
              </a:buClr>
              <a:buSzPts val="2800"/>
              <a:buChar char="•"/>
            </a:pPr>
            <a:r>
              <a:rPr lang="en-US"/>
              <a:t>stored? Using the formula for </a:t>
            </a:r>
            <a:r>
              <a:rPr i="1" lang="en-US"/>
              <a:t>N</a:t>
            </a:r>
            <a:r>
              <a:rPr lang="en-US"/>
              <a:t>min, the answer is </a:t>
            </a:r>
            <a:r>
              <a:rPr i="1" lang="en-US"/>
              <a:t>H</a:t>
            </a:r>
            <a:r>
              <a:rPr lang="en-US"/>
              <a:t>, or 3 nodes. This case is</a:t>
            </a:r>
            <a:endParaRPr/>
          </a:p>
          <a:p>
            <a:pPr indent="-228600" lvl="0" marL="228600" rtl="0" algn="l">
              <a:lnSpc>
                <a:spcPct val="90000"/>
              </a:lnSpc>
              <a:spcBef>
                <a:spcPts val="1000"/>
              </a:spcBef>
              <a:spcAft>
                <a:spcPts val="0"/>
              </a:spcAft>
              <a:buClr>
                <a:schemeClr val="dk1"/>
              </a:buClr>
              <a:buSzPts val="2800"/>
              <a:buChar char="•"/>
            </a:pPr>
            <a:r>
              <a:rPr lang="en-US"/>
              <a:t>seen in Figure 6-6(g) and 6-6(h).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Maximum Nodes</a:t>
            </a:r>
            <a:endParaRPr/>
          </a:p>
        </p:txBody>
      </p:sp>
      <p:sp>
        <p:nvSpPr>
          <p:cNvPr id="215" name="Google Shape;215;p20"/>
          <p:cNvSpPr txBox="1"/>
          <p:nvPr>
            <p:ph idx="1" type="body"/>
          </p:nvPr>
        </p:nvSpPr>
        <p:spPr>
          <a:xfrm>
            <a:off x="677044" y="1642738"/>
            <a:ext cx="10554574" cy="363651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formula for the maximum number of nodes is derived from the fact that each node can have only two descendents. Given a height of the binary tree, </a:t>
            </a:r>
            <a:r>
              <a:rPr i="1" lang="en-US"/>
              <a:t>H</a:t>
            </a:r>
            <a:r>
              <a:rPr lang="en-US"/>
              <a:t>, the maximum number of nodes in the tree is given as</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2800"/>
              <a:buNone/>
            </a:pPr>
            <a:r>
              <a:t/>
            </a:r>
            <a:endParaRPr/>
          </a:p>
        </p:txBody>
      </p:sp>
      <p:pic>
        <p:nvPicPr>
          <p:cNvPr id="216" name="Google Shape;216;p20"/>
          <p:cNvPicPr preferRelativeResize="0"/>
          <p:nvPr/>
        </p:nvPicPr>
        <p:blipFill rotWithShape="1">
          <a:blip r:embed="rId3">
            <a:alphaModFix/>
          </a:blip>
          <a:srcRect b="0" l="0" r="0" t="0"/>
          <a:stretch/>
        </p:blipFill>
        <p:spPr>
          <a:xfrm>
            <a:off x="4619491" y="3744329"/>
            <a:ext cx="3307464" cy="1431890"/>
          </a:xfrm>
          <a:prstGeom prst="rect">
            <a:avLst/>
          </a:prstGeom>
          <a:noFill/>
          <a:ln>
            <a:noFill/>
          </a:ln>
        </p:spPr>
      </p:pic>
      <p:sp>
        <p:nvSpPr>
          <p:cNvPr id="217" name="Google Shape;217;p20"/>
          <p:cNvSpPr/>
          <p:nvPr/>
        </p:nvSpPr>
        <p:spPr>
          <a:xfrm>
            <a:off x="2210874" y="5858798"/>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Given a tree of height 3, what is the maximum number of nodes that can be stored? </a:t>
            </a:r>
            <a:r>
              <a:rPr b="0" i="1" lang="en-US" sz="1800" u="none" cap="none" strike="noStrike">
                <a:solidFill>
                  <a:schemeClr val="dk1"/>
                </a:solidFill>
                <a:latin typeface="Calibri"/>
                <a:ea typeface="Calibri"/>
                <a:cs typeface="Calibri"/>
                <a:sym typeface="Calibri"/>
              </a:rPr>
              <a:t>N</a:t>
            </a:r>
            <a:r>
              <a:rPr b="0" i="0" lang="en-US" sz="1800" u="none" cap="none" strike="noStrike">
                <a:solidFill>
                  <a:schemeClr val="dk1"/>
                </a:solidFill>
                <a:latin typeface="Calibri"/>
                <a:ea typeface="Calibri"/>
                <a:cs typeface="Calibri"/>
                <a:sym typeface="Calibri"/>
              </a:rPr>
              <a:t>max is 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Balance</a:t>
            </a:r>
            <a:endParaRPr/>
          </a:p>
        </p:txBody>
      </p:sp>
      <p:sp>
        <p:nvSpPr>
          <p:cNvPr id="223" name="Google Shape;22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 determine whether a tree is balanced, we calculate its balance</a:t>
            </a:r>
            <a:endParaRPr/>
          </a:p>
          <a:p>
            <a:pPr indent="-228600" lvl="0" marL="228600" rtl="0" algn="l">
              <a:lnSpc>
                <a:spcPct val="90000"/>
              </a:lnSpc>
              <a:spcBef>
                <a:spcPts val="1000"/>
              </a:spcBef>
              <a:spcAft>
                <a:spcPts val="0"/>
              </a:spcAft>
              <a:buClr>
                <a:schemeClr val="dk1"/>
              </a:buClr>
              <a:buSzPts val="2800"/>
              <a:buChar char="•"/>
            </a:pPr>
            <a:r>
              <a:rPr lang="en-US"/>
              <a:t>factor. The balance factor of a binary tree is the difference in height between its</a:t>
            </a:r>
            <a:endParaRPr/>
          </a:p>
          <a:p>
            <a:pPr indent="-228600" lvl="0" marL="228600" rtl="0" algn="l">
              <a:lnSpc>
                <a:spcPct val="90000"/>
              </a:lnSpc>
              <a:spcBef>
                <a:spcPts val="1000"/>
              </a:spcBef>
              <a:spcAft>
                <a:spcPts val="0"/>
              </a:spcAft>
              <a:buClr>
                <a:schemeClr val="dk1"/>
              </a:buClr>
              <a:buSzPts val="2800"/>
              <a:buChar char="•"/>
            </a:pPr>
            <a:r>
              <a:rPr lang="en-US"/>
              <a:t>left and right subtrees. If we define the height of the left subtree as HL and the</a:t>
            </a:r>
            <a:endParaRPr/>
          </a:p>
          <a:p>
            <a:pPr indent="-228600" lvl="0" marL="228600" rtl="0" algn="l">
              <a:lnSpc>
                <a:spcPct val="90000"/>
              </a:lnSpc>
              <a:spcBef>
                <a:spcPts val="1000"/>
              </a:spcBef>
              <a:spcAft>
                <a:spcPts val="0"/>
              </a:spcAft>
              <a:buClr>
                <a:schemeClr val="dk1"/>
              </a:buClr>
              <a:buSzPts val="2800"/>
              <a:buChar char="•"/>
            </a:pPr>
            <a:r>
              <a:rPr lang="en-US"/>
              <a:t>height of the right subtree as HR, the balance factor of the tree, </a:t>
            </a:r>
            <a:r>
              <a:rPr i="1" lang="en-US"/>
              <a:t>B</a:t>
            </a:r>
            <a:r>
              <a:rPr lang="en-US"/>
              <a:t>, is determined</a:t>
            </a:r>
            <a:endParaRPr/>
          </a:p>
          <a:p>
            <a:pPr indent="-228600" lvl="0" marL="228600" rtl="0" algn="l">
              <a:lnSpc>
                <a:spcPct val="90000"/>
              </a:lnSpc>
              <a:spcBef>
                <a:spcPts val="1000"/>
              </a:spcBef>
              <a:spcAft>
                <a:spcPts val="0"/>
              </a:spcAft>
              <a:buClr>
                <a:schemeClr val="dk1"/>
              </a:buClr>
              <a:buSzPts val="2800"/>
              <a:buChar char="•"/>
            </a:pPr>
            <a:r>
              <a:rPr lang="en-US"/>
              <a:t>by the following formula:</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4" name="Google Shape;224;p21"/>
          <p:cNvPicPr preferRelativeResize="0"/>
          <p:nvPr/>
        </p:nvPicPr>
        <p:blipFill rotWithShape="1">
          <a:blip r:embed="rId3">
            <a:alphaModFix/>
          </a:blip>
          <a:srcRect b="0" l="0" r="0" t="0"/>
          <a:stretch/>
        </p:blipFill>
        <p:spPr>
          <a:xfrm>
            <a:off x="4209110" y="4807442"/>
            <a:ext cx="2764677" cy="10513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p:nvPr/>
        </p:nvSpPr>
        <p:spPr>
          <a:xfrm>
            <a:off x="911424" y="2780928"/>
            <a:ext cx="2736304"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Using this formula, the balances of the eight trees in Figure 6-6 are (a)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by definition, (b) 0, (c) 1, (d) –1, (e) 0, (f) 1, (g) –2, and (h) 2.</a:t>
            </a:r>
            <a:endParaRPr b="0" i="0" sz="1800" u="none" cap="none" strike="noStrike">
              <a:solidFill>
                <a:schemeClr val="dk1"/>
              </a:solidFill>
              <a:latin typeface="Calibri"/>
              <a:ea typeface="Calibri"/>
              <a:cs typeface="Calibri"/>
              <a:sym typeface="Calibri"/>
            </a:endParaRPr>
          </a:p>
        </p:txBody>
      </p:sp>
      <p:pic>
        <p:nvPicPr>
          <p:cNvPr id="230" name="Google Shape;230;p22"/>
          <p:cNvPicPr preferRelativeResize="0"/>
          <p:nvPr/>
        </p:nvPicPr>
        <p:blipFill rotWithShape="1">
          <a:blip r:embed="rId3">
            <a:alphaModFix/>
          </a:blip>
          <a:srcRect b="0" l="0" r="0" t="0"/>
          <a:stretch/>
        </p:blipFill>
        <p:spPr>
          <a:xfrm>
            <a:off x="4829577" y="251876"/>
            <a:ext cx="6982630" cy="619940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type="title"/>
          </p:nvPr>
        </p:nvSpPr>
        <p:spPr>
          <a:xfrm>
            <a:off x="839416" y="18864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Complete and Nearly Complete Binary Trees</a:t>
            </a:r>
            <a:endParaRPr/>
          </a:p>
        </p:txBody>
      </p:sp>
      <p:sp>
        <p:nvSpPr>
          <p:cNvPr id="236" name="Google Shape;236;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A complete tree has the maximum number of entries for its height (see formula</a:t>
            </a:r>
            <a:endParaRPr/>
          </a:p>
          <a:p>
            <a:pPr indent="0" lvl="0" marL="0" rtl="0" algn="l">
              <a:lnSpc>
                <a:spcPct val="90000"/>
              </a:lnSpc>
              <a:spcBef>
                <a:spcPts val="1000"/>
              </a:spcBef>
              <a:spcAft>
                <a:spcPts val="0"/>
              </a:spcAft>
              <a:buClr>
                <a:schemeClr val="dk1"/>
              </a:buClr>
              <a:buSzPct val="100000"/>
              <a:buNone/>
            </a:pPr>
            <a:r>
              <a:rPr i="1" lang="en-US"/>
              <a:t>N</a:t>
            </a:r>
            <a:r>
              <a:rPr lang="en-US"/>
              <a:t>max in “Height of Binary Trees”). The maximum number is reached when the</a:t>
            </a:r>
            <a:endParaRPr/>
          </a:p>
          <a:p>
            <a:pPr indent="0" lvl="0" marL="0" rtl="0" algn="l">
              <a:lnSpc>
                <a:spcPct val="90000"/>
              </a:lnSpc>
              <a:spcBef>
                <a:spcPts val="1000"/>
              </a:spcBef>
              <a:spcAft>
                <a:spcPts val="0"/>
              </a:spcAft>
              <a:buClr>
                <a:schemeClr val="dk1"/>
              </a:buClr>
              <a:buSzPct val="100000"/>
              <a:buNone/>
            </a:pPr>
            <a:r>
              <a:rPr lang="en-US"/>
              <a:t>last level is full (see Figure 6-7). A tree is considered nearly complete if it has the</a:t>
            </a:r>
            <a:endParaRPr/>
          </a:p>
          <a:p>
            <a:pPr indent="0" lvl="0" marL="0" rtl="0" algn="l">
              <a:lnSpc>
                <a:spcPct val="90000"/>
              </a:lnSpc>
              <a:spcBef>
                <a:spcPts val="1000"/>
              </a:spcBef>
              <a:spcAft>
                <a:spcPts val="0"/>
              </a:spcAft>
              <a:buClr>
                <a:schemeClr val="dk1"/>
              </a:buClr>
              <a:buSzPct val="100000"/>
              <a:buNone/>
            </a:pPr>
            <a:r>
              <a:rPr lang="en-US"/>
              <a:t>minimum height for its nodes (see formula </a:t>
            </a:r>
            <a:r>
              <a:rPr i="1" lang="en-US"/>
              <a:t>H</a:t>
            </a:r>
            <a:r>
              <a:rPr lang="en-US"/>
              <a:t>min) and all nodes in the last</a:t>
            </a:r>
            <a:endParaRPr/>
          </a:p>
          <a:p>
            <a:pPr indent="0" lvl="0" marL="0" rtl="0" algn="l">
              <a:lnSpc>
                <a:spcPct val="90000"/>
              </a:lnSpc>
              <a:spcBef>
                <a:spcPts val="1000"/>
              </a:spcBef>
              <a:spcAft>
                <a:spcPts val="0"/>
              </a:spcAft>
              <a:buClr>
                <a:schemeClr val="dk1"/>
              </a:buClr>
              <a:buSzPct val="100000"/>
              <a:buNone/>
            </a:pPr>
            <a:r>
              <a:rPr lang="en-US"/>
              <a:t>level are found on the left. Complete and nearly complete trees are shown in</a:t>
            </a:r>
            <a:endParaRPr/>
          </a:p>
          <a:p>
            <a:pPr indent="0" lvl="0" marL="0" rtl="0" algn="l">
              <a:lnSpc>
                <a:spcPct val="90000"/>
              </a:lnSpc>
              <a:spcBef>
                <a:spcPts val="1000"/>
              </a:spcBef>
              <a:spcAft>
                <a:spcPts val="0"/>
              </a:spcAft>
              <a:buClr>
                <a:schemeClr val="dk1"/>
              </a:buClr>
              <a:buSzPct val="100000"/>
              <a:buNone/>
            </a:pPr>
            <a:r>
              <a:rPr lang="en-US"/>
              <a:t>Figure 6-7.</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24"/>
          <p:cNvPicPr preferRelativeResize="0"/>
          <p:nvPr/>
        </p:nvPicPr>
        <p:blipFill rotWithShape="1">
          <a:blip r:embed="rId3">
            <a:alphaModFix/>
          </a:blip>
          <a:srcRect b="0" l="0" r="0" t="0"/>
          <a:stretch/>
        </p:blipFill>
        <p:spPr>
          <a:xfrm>
            <a:off x="623551" y="431575"/>
            <a:ext cx="10789954" cy="53124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Binary Tree Traversals</a:t>
            </a:r>
            <a:endParaRPr/>
          </a:p>
        </p:txBody>
      </p:sp>
      <p:sp>
        <p:nvSpPr>
          <p:cNvPr id="247" name="Google Shape;24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binary tree traversal requires that each node of the tree be processed once and only once in a predetermined sequence.</a:t>
            </a:r>
            <a:endParaRPr/>
          </a:p>
          <a:p>
            <a:pPr indent="-228600" lvl="0" marL="228600" rtl="0" algn="l">
              <a:lnSpc>
                <a:spcPct val="90000"/>
              </a:lnSpc>
              <a:spcBef>
                <a:spcPts val="1000"/>
              </a:spcBef>
              <a:spcAft>
                <a:spcPts val="0"/>
              </a:spcAft>
              <a:buClr>
                <a:schemeClr val="dk1"/>
              </a:buClr>
              <a:buSzPts val="2800"/>
              <a:buChar char="•"/>
            </a:pPr>
            <a:r>
              <a:rPr lang="en-US"/>
              <a:t>The two general approaches to the traversal sequence are depth first and breadth first.</a:t>
            </a:r>
            <a:endParaRPr/>
          </a:p>
          <a:p>
            <a:pPr indent="-228600" lvl="0" marL="228600" rtl="0" algn="l">
              <a:lnSpc>
                <a:spcPct val="90000"/>
              </a:lnSpc>
              <a:spcBef>
                <a:spcPts val="1000"/>
              </a:spcBef>
              <a:spcAft>
                <a:spcPts val="0"/>
              </a:spcAft>
              <a:buClr>
                <a:schemeClr val="dk1"/>
              </a:buClr>
              <a:buSzPts val="2800"/>
              <a:buChar char="•"/>
            </a:pPr>
            <a:r>
              <a:rPr lang="en-US"/>
              <a:t>In a breadth-first traversal, the processing proceeds horizontally from the root to all of its children, then to its children’s children, and so forth until all nodes have been processed. In other words, in the breadth-first traversal, each level is completely processed before the next level is started.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Depth-first Traversals</a:t>
            </a:r>
            <a:endParaRPr/>
          </a:p>
        </p:txBody>
      </p:sp>
      <p:sp>
        <p:nvSpPr>
          <p:cNvPr id="253" name="Google Shape;253;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Given that a binary tree consists of a root, a left subtree, and a right subtree,we can define six different depth-first traversal sequences.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7"/>
          <p:cNvPicPr preferRelativeResize="0"/>
          <p:nvPr/>
        </p:nvPicPr>
        <p:blipFill rotWithShape="1">
          <a:blip r:embed="rId3">
            <a:alphaModFix/>
          </a:blip>
          <a:srcRect b="0" l="0" r="0" t="0"/>
          <a:stretch/>
        </p:blipFill>
        <p:spPr>
          <a:xfrm>
            <a:off x="1035006" y="1369185"/>
            <a:ext cx="8881578" cy="32414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Binary Search Trees-Basic Concepts</a:t>
            </a:r>
            <a:endParaRPr/>
          </a:p>
        </p:txBody>
      </p:sp>
      <p:sp>
        <p:nvSpPr>
          <p:cNvPr id="264" name="Google Shape;264;p28"/>
          <p:cNvSpPr/>
          <p:nvPr/>
        </p:nvSpPr>
        <p:spPr>
          <a:xfrm>
            <a:off x="3048000" y="2413338"/>
            <a:ext cx="609600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 </a:t>
            </a:r>
            <a:r>
              <a:rPr b="0" i="0" lang="en-US" sz="1800" u="none" cap="none" strike="noStrike">
                <a:solidFill>
                  <a:schemeClr val="dk1"/>
                </a:solidFill>
                <a:latin typeface="Poppins"/>
                <a:ea typeface="Poppins"/>
                <a:cs typeface="Poppins"/>
                <a:sym typeface="Poppins"/>
              </a:rPr>
              <a:t>binary search tree (BST) </a:t>
            </a:r>
            <a:r>
              <a:rPr b="0" i="0" lang="en-US" sz="1800" u="none" cap="none" strike="noStrike">
                <a:solidFill>
                  <a:schemeClr val="dk1"/>
                </a:solidFill>
                <a:latin typeface="Arial"/>
                <a:ea typeface="Arial"/>
                <a:cs typeface="Arial"/>
                <a:sym typeface="Arial"/>
              </a:rPr>
              <a:t>is a binary tree with the following properties: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All items in the left subtree are less than the root.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All items in the right subtree are greater than or equal to the root.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Each subtree is itself a binary search tree.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9"/>
          <p:cNvPicPr preferRelativeResize="0"/>
          <p:nvPr/>
        </p:nvPicPr>
        <p:blipFill rotWithShape="1">
          <a:blip r:embed="rId3">
            <a:alphaModFix/>
          </a:blip>
          <a:srcRect b="0" l="0" r="0" t="0"/>
          <a:stretch/>
        </p:blipFill>
        <p:spPr>
          <a:xfrm>
            <a:off x="1855429" y="366444"/>
            <a:ext cx="8087061" cy="633661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0"/>
          <p:cNvPicPr preferRelativeResize="0"/>
          <p:nvPr/>
        </p:nvPicPr>
        <p:blipFill rotWithShape="1">
          <a:blip r:embed="rId3">
            <a:alphaModFix/>
          </a:blip>
          <a:srcRect b="0" l="0" r="0" t="0"/>
          <a:stretch/>
        </p:blipFill>
        <p:spPr>
          <a:xfrm>
            <a:off x="1038560" y="1581887"/>
            <a:ext cx="9816170" cy="344087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Searches-Find the Smallest Node</a:t>
            </a:r>
            <a:endParaRPr/>
          </a:p>
        </p:txBody>
      </p:sp>
      <p:sp>
        <p:nvSpPr>
          <p:cNvPr id="280" name="Google Shape;280;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en-US"/>
              <a:t>Algorithm </a:t>
            </a:r>
            <a:r>
              <a:rPr lang="en-US"/>
              <a:t>findSmallestBST (root)</a:t>
            </a:r>
            <a:endParaRPr/>
          </a:p>
          <a:p>
            <a:pPr indent="0" lvl="0" marL="0" rtl="0" algn="l">
              <a:lnSpc>
                <a:spcPct val="90000"/>
              </a:lnSpc>
              <a:spcBef>
                <a:spcPts val="1000"/>
              </a:spcBef>
              <a:spcAft>
                <a:spcPts val="0"/>
              </a:spcAft>
              <a:buClr>
                <a:schemeClr val="dk1"/>
              </a:buClr>
              <a:buSzPts val="2800"/>
              <a:buNone/>
            </a:pPr>
            <a:r>
              <a:rPr lang="en-US"/>
              <a:t>This algorithm finds the smallest node in a BST.</a:t>
            </a:r>
            <a:endParaRPr/>
          </a:p>
          <a:p>
            <a:pPr indent="0" lvl="0" marL="0" rtl="0" algn="l">
              <a:lnSpc>
                <a:spcPct val="90000"/>
              </a:lnSpc>
              <a:spcBef>
                <a:spcPts val="1000"/>
              </a:spcBef>
              <a:spcAft>
                <a:spcPts val="0"/>
              </a:spcAft>
              <a:buClr>
                <a:schemeClr val="dk1"/>
              </a:buClr>
              <a:buSzPts val="2800"/>
              <a:buNone/>
            </a:pPr>
            <a:r>
              <a:rPr lang="en-US"/>
              <a:t>Pre root is a pointer to a nonempty BST or subtree</a:t>
            </a:r>
            <a:endParaRPr/>
          </a:p>
          <a:p>
            <a:pPr indent="0" lvl="0" marL="0" rtl="0" algn="l">
              <a:lnSpc>
                <a:spcPct val="90000"/>
              </a:lnSpc>
              <a:spcBef>
                <a:spcPts val="1000"/>
              </a:spcBef>
              <a:spcAft>
                <a:spcPts val="0"/>
              </a:spcAft>
              <a:buClr>
                <a:schemeClr val="dk1"/>
              </a:buClr>
              <a:buSzPts val="2800"/>
              <a:buNone/>
            </a:pPr>
            <a:r>
              <a:rPr lang="en-US"/>
              <a:t>Return address of smallest node</a:t>
            </a:r>
            <a:endParaRPr/>
          </a:p>
          <a:p>
            <a:pPr indent="0" lvl="0" marL="0" rtl="0" algn="l">
              <a:lnSpc>
                <a:spcPct val="90000"/>
              </a:lnSpc>
              <a:spcBef>
                <a:spcPts val="1000"/>
              </a:spcBef>
              <a:spcAft>
                <a:spcPts val="0"/>
              </a:spcAft>
              <a:buClr>
                <a:schemeClr val="dk1"/>
              </a:buClr>
              <a:buSzPts val="2800"/>
              <a:buNone/>
            </a:pPr>
            <a:r>
              <a:rPr lang="en-US"/>
              <a:t>1 if (left subtree empty)</a:t>
            </a:r>
            <a:endParaRPr/>
          </a:p>
          <a:p>
            <a:pPr indent="0" lvl="0" marL="0" rtl="0" algn="l">
              <a:lnSpc>
                <a:spcPct val="90000"/>
              </a:lnSpc>
              <a:spcBef>
                <a:spcPts val="1000"/>
              </a:spcBef>
              <a:spcAft>
                <a:spcPts val="0"/>
              </a:spcAft>
              <a:buClr>
                <a:schemeClr val="dk1"/>
              </a:buClr>
              <a:buSzPts val="2800"/>
              <a:buNone/>
            </a:pPr>
            <a:r>
              <a:rPr lang="en-US"/>
              <a:t>1 		return (root)</a:t>
            </a:r>
            <a:endParaRPr/>
          </a:p>
          <a:p>
            <a:pPr indent="0" lvl="0" marL="0" rtl="0" algn="l">
              <a:lnSpc>
                <a:spcPct val="90000"/>
              </a:lnSpc>
              <a:spcBef>
                <a:spcPts val="1000"/>
              </a:spcBef>
              <a:spcAft>
                <a:spcPts val="0"/>
              </a:spcAft>
              <a:buClr>
                <a:schemeClr val="dk1"/>
              </a:buClr>
              <a:buSzPts val="2800"/>
              <a:buNone/>
            </a:pPr>
            <a:r>
              <a:rPr lang="en-US"/>
              <a:t>2 end if</a:t>
            </a:r>
            <a:endParaRPr/>
          </a:p>
          <a:p>
            <a:pPr indent="0" lvl="0" marL="0" rtl="0" algn="l">
              <a:lnSpc>
                <a:spcPct val="90000"/>
              </a:lnSpc>
              <a:spcBef>
                <a:spcPts val="1000"/>
              </a:spcBef>
              <a:spcAft>
                <a:spcPts val="0"/>
              </a:spcAft>
              <a:buClr>
                <a:schemeClr val="dk1"/>
              </a:buClr>
              <a:buSzPts val="2800"/>
              <a:buNone/>
            </a:pPr>
            <a:r>
              <a:rPr lang="en-US"/>
              <a:t>3 return findSmallestBST (left subtree)</a:t>
            </a:r>
            <a:endParaRPr/>
          </a:p>
          <a:p>
            <a:pPr indent="0" lvl="0" marL="0" rtl="0" algn="l">
              <a:lnSpc>
                <a:spcPct val="90000"/>
              </a:lnSpc>
              <a:spcBef>
                <a:spcPts val="1000"/>
              </a:spcBef>
              <a:spcAft>
                <a:spcPts val="0"/>
              </a:spcAft>
              <a:buClr>
                <a:schemeClr val="dk1"/>
              </a:buClr>
              <a:buSzPts val="2800"/>
              <a:buNone/>
            </a:pPr>
            <a:r>
              <a:rPr b="1" lang="en-US"/>
              <a:t>end </a:t>
            </a:r>
            <a:r>
              <a:rPr lang="en-US"/>
              <a:t>findSmallestBST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Find the Largest Node</a:t>
            </a:r>
            <a:endParaRPr/>
          </a:p>
        </p:txBody>
      </p:sp>
      <p:sp>
        <p:nvSpPr>
          <p:cNvPr id="286" name="Google Shape;286;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This time we start at the tree root and follow the right branches to the far-right node in the tree, which by definition must be the largest. The pseudocode is shown in Algorithm 7-2.</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Algorithm findLargestBST (root)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This algorithm finds the largest node in a BST.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Pre root is a pointer to a nonempty BST or subtree</a:t>
            </a:r>
            <a:endParaRPr b="1">
              <a:solidFill>
                <a:srgbClr val="FF0000"/>
              </a:solidFill>
            </a:endParaRPr>
          </a:p>
          <a:p>
            <a:pPr indent="0" lvl="0" marL="0" rtl="0" algn="l">
              <a:lnSpc>
                <a:spcPct val="90000"/>
              </a:lnSpc>
              <a:spcBef>
                <a:spcPts val="1000"/>
              </a:spcBef>
              <a:spcAft>
                <a:spcPts val="0"/>
              </a:spcAft>
              <a:buClr>
                <a:srgbClr val="FF0000"/>
              </a:buClr>
              <a:buSzPct val="100000"/>
              <a:buNone/>
            </a:pPr>
            <a:r>
              <a:rPr b="1" lang="en-US">
                <a:solidFill>
                  <a:srgbClr val="FF0000"/>
                </a:solidFill>
              </a:rPr>
              <a:t>Return address of largest node returned</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if (right subtree empty)</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return (root)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2 end if</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3 return findLargestBST (right subtree)</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end findLargestBST</a:t>
            </a:r>
            <a:endParaRPr b="1">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Search BST</a:t>
            </a:r>
            <a:endParaRPr/>
          </a:p>
        </p:txBody>
      </p:sp>
      <p:sp>
        <p:nvSpPr>
          <p:cNvPr id="292" name="Google Shape;292;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rgbClr val="FF0000"/>
              </a:buClr>
              <a:buSzPct val="100000"/>
              <a:buNone/>
            </a:pPr>
            <a:r>
              <a:rPr b="1" lang="en-US">
                <a:solidFill>
                  <a:srgbClr val="FF0000"/>
                </a:solidFill>
              </a:rPr>
              <a:t>Algorithm searchBST (root, targetKey)</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Search a binary search tree for a given value.</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Pre root is the root to a binary tree or subtree</a:t>
            </a:r>
            <a:endParaRPr b="1">
              <a:solidFill>
                <a:srgbClr val="FF0000"/>
              </a:solidFill>
            </a:endParaRPr>
          </a:p>
          <a:p>
            <a:pPr indent="0" lvl="0" marL="0" rtl="0" algn="l">
              <a:lnSpc>
                <a:spcPct val="90000"/>
              </a:lnSpc>
              <a:spcBef>
                <a:spcPts val="1000"/>
              </a:spcBef>
              <a:spcAft>
                <a:spcPts val="0"/>
              </a:spcAft>
              <a:buClr>
                <a:srgbClr val="FF0000"/>
              </a:buClr>
              <a:buSzPct val="100000"/>
              <a:buNone/>
            </a:pPr>
            <a:r>
              <a:rPr b="1" lang="en-US">
                <a:solidFill>
                  <a:srgbClr val="FF0000"/>
                </a:solidFill>
              </a:rPr>
              <a:t>targetKey is the key value requested</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Return the node address if the value is found</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null if the node is not in the tree</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if (empty tree)</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Not found</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return null</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2 end if</a:t>
            </a:r>
            <a:endParaRPr/>
          </a:p>
          <a:p>
            <a:pPr indent="0" lvl="0" marL="0" rtl="0" algn="l">
              <a:lnSpc>
                <a:spcPct val="90000"/>
              </a:lnSpc>
              <a:spcBef>
                <a:spcPts val="1000"/>
              </a:spcBef>
              <a:spcAft>
                <a:spcPts val="0"/>
              </a:spcAft>
              <a:buClr>
                <a:schemeClr val="dk1"/>
              </a:buClr>
              <a:buSzPct val="100000"/>
              <a:buNone/>
            </a:pPr>
            <a:r>
              <a:t/>
            </a:r>
            <a:endParaRPr b="1">
              <a:solidFill>
                <a:srgbClr val="FF0000"/>
              </a:solidFill>
            </a:endParaRPr>
          </a:p>
        </p:txBody>
      </p:sp>
      <p:sp>
        <p:nvSpPr>
          <p:cNvPr id="293" name="Google Shape;293;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rgbClr val="FF0000"/>
              </a:buClr>
              <a:buSzPct val="100000"/>
              <a:buNone/>
            </a:pPr>
            <a:r>
              <a:rPr b="1" lang="en-US">
                <a:solidFill>
                  <a:srgbClr val="FF0000"/>
                </a:solidFill>
              </a:rPr>
              <a:t>3 if (targetKey &lt; root)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return searchBST (left subtree, targetKey)</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4 else if (targetKey &gt; root)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return searchBST (right subtree, targetKey)</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5 else</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Found target key</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1 return root</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6 end if</a:t>
            </a:r>
            <a:endParaRPr/>
          </a:p>
          <a:p>
            <a:pPr indent="0" lvl="0" marL="0" rtl="0" algn="l">
              <a:lnSpc>
                <a:spcPct val="90000"/>
              </a:lnSpc>
              <a:spcBef>
                <a:spcPts val="1000"/>
              </a:spcBef>
              <a:spcAft>
                <a:spcPts val="0"/>
              </a:spcAft>
              <a:buClr>
                <a:srgbClr val="FF0000"/>
              </a:buClr>
              <a:buSzPct val="100000"/>
              <a:buNone/>
            </a:pPr>
            <a:r>
              <a:rPr b="1" lang="en-US">
                <a:solidFill>
                  <a:srgbClr val="FF0000"/>
                </a:solidFill>
              </a:rPr>
              <a:t>end searchBST</a:t>
            </a:r>
            <a:endParaRPr>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Insertion</a:t>
            </a:r>
            <a:endParaRPr/>
          </a:p>
        </p:txBody>
      </p:sp>
      <p:pic>
        <p:nvPicPr>
          <p:cNvPr id="299" name="Google Shape;299;p34"/>
          <p:cNvPicPr preferRelativeResize="0"/>
          <p:nvPr/>
        </p:nvPicPr>
        <p:blipFill rotWithShape="1">
          <a:blip r:embed="rId3">
            <a:alphaModFix/>
          </a:blip>
          <a:srcRect b="0" l="0" r="0" t="0"/>
          <a:stretch/>
        </p:blipFill>
        <p:spPr>
          <a:xfrm>
            <a:off x="1630451" y="1537012"/>
            <a:ext cx="8636530" cy="469636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t>Binary Search Tree ADT</a:t>
            </a:r>
            <a:endParaRPr/>
          </a:p>
        </p:txBody>
      </p:sp>
      <p:pic>
        <p:nvPicPr>
          <p:cNvPr id="305" name="Google Shape;305;p35"/>
          <p:cNvPicPr preferRelativeResize="0"/>
          <p:nvPr/>
        </p:nvPicPr>
        <p:blipFill rotWithShape="1">
          <a:blip r:embed="rId3">
            <a:alphaModFix/>
          </a:blip>
          <a:srcRect b="0" l="0" r="0" t="0"/>
          <a:stretch/>
        </p:blipFill>
        <p:spPr>
          <a:xfrm>
            <a:off x="2867829" y="1786808"/>
            <a:ext cx="5168587" cy="42942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2021-09-01T14:59:53Z</dcterms:created>
  <dc:creator>Priya Milton</dc:creator>
</cp:coreProperties>
</file>