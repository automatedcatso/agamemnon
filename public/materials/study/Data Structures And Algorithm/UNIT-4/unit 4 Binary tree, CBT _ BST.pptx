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embeddedFontLst>
    <p:embeddedFont>
      <p:font typeface="Raleway"/>
      <p:regular r:id="rId25"/>
      <p:bold r:id="rId26"/>
      <p:italic r:id="rId27"/>
      <p:boldItalic r:id="rId28"/>
    </p:embeddedFont>
    <p:embeddedFont>
      <p:font typeface="Nunito"/>
      <p:regular r:id="rId29"/>
      <p:bold r:id="rId30"/>
      <p:italic r:id="rId31"/>
      <p:boldItalic r:id="rId32"/>
    </p:embeddedFont>
    <p:embeddedFont>
      <p:font typeface="Inter"/>
      <p:regular r:id="rId33"/>
      <p:bold r:id="rId34"/>
      <p:italic r:id="rId35"/>
      <p:boldItalic r:id="rId36"/>
    </p:embeddedFont>
    <p:embeddedFont>
      <p:font typeface="Tahoma"/>
      <p:regular r:id="rId37"/>
      <p:bold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9" roundtripDataSignature="AMtx7mixnsjZgfffuqLjnsI+HIJK7yVw4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8F4E8EE-AEE9-45A1-B902-7EE5D19C5DAE}">
  <a:tblStyle styleId="{98F4E8EE-AEE9-45A1-B902-7EE5D19C5DAE}" styleName="Table_0">
    <a:wholeTbl>
      <a:tcTxStyle b="off" i="off">
        <a:font>
          <a:latin typeface="Tw Cen MT"/>
          <a:ea typeface="Tw Cen MT"/>
          <a:cs typeface="Tw Cen M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0FC"/>
          </a:solidFill>
        </a:fill>
      </a:tcStyle>
    </a:wholeTbl>
    <a:band1H>
      <a:tcTxStyle b="off" i="off"/>
      <a:tcStyle>
        <a:fill>
          <a:solidFill>
            <a:srgbClr val="CCE0F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CE0F8"/>
          </a:solidFill>
        </a:fill>
      </a:tcStyle>
    </a:band1V>
    <a:band2V>
      <a:tcTxStyle b="off" i="off"/>
    </a:band2V>
    <a:la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Tw Cen MT"/>
          <a:ea typeface="Tw Cen MT"/>
          <a:cs typeface="Tw Cen M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Tw Cen MT"/>
          <a:ea typeface="Tw Cen MT"/>
          <a:cs typeface="Tw Cen M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bold.fntdata"/><Relationship Id="rId25" Type="http://schemas.openxmlformats.org/officeDocument/2006/relationships/font" Target="fonts/Raleway-regular.fntdata"/><Relationship Id="rId28" Type="http://schemas.openxmlformats.org/officeDocument/2006/relationships/font" Target="fonts/Raleway-boldItalic.fntdata"/><Relationship Id="rId27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unito-italic.fntdata"/><Relationship Id="rId30" Type="http://schemas.openxmlformats.org/officeDocument/2006/relationships/font" Target="fonts/Nunito-bold.fntdata"/><Relationship Id="rId11" Type="http://schemas.openxmlformats.org/officeDocument/2006/relationships/slide" Target="slides/slide6.xml"/><Relationship Id="rId33" Type="http://schemas.openxmlformats.org/officeDocument/2006/relationships/font" Target="fonts/Inter-regular.fntdata"/><Relationship Id="rId10" Type="http://schemas.openxmlformats.org/officeDocument/2006/relationships/slide" Target="slides/slide5.xml"/><Relationship Id="rId32" Type="http://schemas.openxmlformats.org/officeDocument/2006/relationships/font" Target="fonts/Nunito-boldItalic.fntdata"/><Relationship Id="rId13" Type="http://schemas.openxmlformats.org/officeDocument/2006/relationships/slide" Target="slides/slide8.xml"/><Relationship Id="rId35" Type="http://schemas.openxmlformats.org/officeDocument/2006/relationships/font" Target="fonts/Inter-italic.fntdata"/><Relationship Id="rId12" Type="http://schemas.openxmlformats.org/officeDocument/2006/relationships/slide" Target="slides/slide7.xml"/><Relationship Id="rId34" Type="http://schemas.openxmlformats.org/officeDocument/2006/relationships/font" Target="fonts/Inter-bold.fntdata"/><Relationship Id="rId15" Type="http://schemas.openxmlformats.org/officeDocument/2006/relationships/slide" Target="slides/slide10.xml"/><Relationship Id="rId37" Type="http://schemas.openxmlformats.org/officeDocument/2006/relationships/font" Target="fonts/Tahoma-regular.fntdata"/><Relationship Id="rId14" Type="http://schemas.openxmlformats.org/officeDocument/2006/relationships/slide" Target="slides/slide9.xml"/><Relationship Id="rId36" Type="http://schemas.openxmlformats.org/officeDocument/2006/relationships/font" Target="fonts/Inter-boldItalic.fntdata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font" Target="fonts/Tahoma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2" name="Google Shape;2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9" name="Google Shape;24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0" name="Google Shape;26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2" name="Google Shape;27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3" name="Google Shape;28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2" name="Google Shape;29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2" name="Google Shape;30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2" name="Google Shape;31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87d01e8e3c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g287d01e8e3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Title-R1d.png" id="13" name="Google Shape;13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0"/>
          <p:cNvSpPr txBox="1"/>
          <p:nvPr>
            <p:ph type="ctrTitle"/>
          </p:nvPr>
        </p:nvSpPr>
        <p:spPr>
          <a:xfrm>
            <a:off x="1751012" y="1300785"/>
            <a:ext cx="8689976" cy="25092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wentieth Century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" type="subTitle"/>
          </p:nvPr>
        </p:nvSpPr>
        <p:spPr>
          <a:xfrm>
            <a:off x="1751012" y="3886200"/>
            <a:ext cx="8689976" cy="137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7F7F7F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0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0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0" name="Google Shape;20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1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" type="body"/>
          </p:nvPr>
        </p:nvSpPr>
        <p:spPr>
          <a:xfrm>
            <a:off x="913774" y="2367092"/>
            <a:ext cx="103638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7" name="Google Shape;27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2"/>
          <p:cNvSpPr txBox="1"/>
          <p:nvPr>
            <p:ph type="title"/>
          </p:nvPr>
        </p:nvSpPr>
        <p:spPr>
          <a:xfrm>
            <a:off x="913774" y="828563"/>
            <a:ext cx="10351752" cy="27368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wentieth Century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" type="body"/>
          </p:nvPr>
        </p:nvSpPr>
        <p:spPr>
          <a:xfrm>
            <a:off x="913774" y="3657457"/>
            <a:ext cx="10351752" cy="1368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34" name="Google Shape;3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23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1" type="body"/>
          </p:nvPr>
        </p:nvSpPr>
        <p:spPr>
          <a:xfrm>
            <a:off x="913774" y="2367092"/>
            <a:ext cx="51060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3"/>
          <p:cNvSpPr txBox="1"/>
          <p:nvPr>
            <p:ph idx="2" type="body"/>
          </p:nvPr>
        </p:nvSpPr>
        <p:spPr>
          <a:xfrm>
            <a:off x="6172200" y="2367092"/>
            <a:ext cx="5105400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42" name="Google Shape;42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4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" type="body"/>
          </p:nvPr>
        </p:nvSpPr>
        <p:spPr>
          <a:xfrm>
            <a:off x="1146328" y="2371018"/>
            <a:ext cx="487347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4"/>
          <p:cNvSpPr txBox="1"/>
          <p:nvPr>
            <p:ph idx="2" type="body"/>
          </p:nvPr>
        </p:nvSpPr>
        <p:spPr>
          <a:xfrm>
            <a:off x="913774" y="3051012"/>
            <a:ext cx="5106027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3" type="body"/>
          </p:nvPr>
        </p:nvSpPr>
        <p:spPr>
          <a:xfrm>
            <a:off x="6396423" y="2371018"/>
            <a:ext cx="488180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4"/>
          <p:cNvSpPr txBox="1"/>
          <p:nvPr>
            <p:ph idx="4" type="body"/>
          </p:nvPr>
        </p:nvSpPr>
        <p:spPr>
          <a:xfrm>
            <a:off x="6172200" y="3051012"/>
            <a:ext cx="5105401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52" name="Google Shape;52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5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58" name="Google Shape;58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2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63" name="Google Shape;6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7"/>
          <p:cNvSpPr txBox="1"/>
          <p:nvPr>
            <p:ph type="title"/>
          </p:nvPr>
        </p:nvSpPr>
        <p:spPr>
          <a:xfrm>
            <a:off x="913775" y="609600"/>
            <a:ext cx="3935688" cy="20232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7"/>
          <p:cNvSpPr txBox="1"/>
          <p:nvPr>
            <p:ph idx="1" type="body"/>
          </p:nvPr>
        </p:nvSpPr>
        <p:spPr>
          <a:xfrm>
            <a:off x="5078062" y="609600"/>
            <a:ext cx="6200163" cy="518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2" type="body"/>
          </p:nvPr>
        </p:nvSpPr>
        <p:spPr>
          <a:xfrm>
            <a:off x="913774" y="2632852"/>
            <a:ext cx="3935689" cy="31583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2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71" name="Google Shape;71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28"/>
          <p:cNvSpPr txBox="1"/>
          <p:nvPr>
            <p:ph type="title"/>
          </p:nvPr>
        </p:nvSpPr>
        <p:spPr>
          <a:xfrm>
            <a:off x="913774" y="609600"/>
            <a:ext cx="5934969" cy="20232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/>
          <p:nvPr>
            <p:ph idx="2" type="pic"/>
          </p:nvPr>
        </p:nvSpPr>
        <p:spPr>
          <a:xfrm>
            <a:off x="7424803" y="609601"/>
            <a:ext cx="3255358" cy="5181600"/>
          </a:xfrm>
          <a:prstGeom prst="roundRect">
            <a:avLst>
              <a:gd fmla="val 494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4" name="Google Shape;74;p28"/>
          <p:cNvSpPr txBox="1"/>
          <p:nvPr>
            <p:ph idx="1" type="body"/>
          </p:nvPr>
        </p:nvSpPr>
        <p:spPr>
          <a:xfrm>
            <a:off x="913794" y="2632852"/>
            <a:ext cx="5934949" cy="3158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5" name="Google Shape;75;p2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79" name="Google Shape;79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29"/>
          <p:cNvSpPr txBox="1"/>
          <p:nvPr>
            <p:ph type="title"/>
          </p:nvPr>
        </p:nvSpPr>
        <p:spPr>
          <a:xfrm>
            <a:off x="913794" y="4289374"/>
            <a:ext cx="10364432" cy="8116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9"/>
          <p:cNvSpPr/>
          <p:nvPr>
            <p:ph idx="2" type="pic"/>
          </p:nvPr>
        </p:nvSpPr>
        <p:spPr>
          <a:xfrm>
            <a:off x="1184744" y="698261"/>
            <a:ext cx="9822532" cy="3214136"/>
          </a:xfrm>
          <a:prstGeom prst="roundRect">
            <a:avLst>
              <a:gd fmla="val 4944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2" name="Google Shape;82;p29"/>
          <p:cNvSpPr txBox="1"/>
          <p:nvPr>
            <p:ph idx="1" type="body"/>
          </p:nvPr>
        </p:nvSpPr>
        <p:spPr>
          <a:xfrm>
            <a:off x="913774" y="5108728"/>
            <a:ext cx="10364452" cy="6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3" name="Google Shape;83;p29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9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9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87" name="Google Shape;87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30"/>
          <p:cNvSpPr txBox="1"/>
          <p:nvPr>
            <p:ph type="title"/>
          </p:nvPr>
        </p:nvSpPr>
        <p:spPr>
          <a:xfrm>
            <a:off x="913774" y="609599"/>
            <a:ext cx="10364452" cy="3427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0"/>
          <p:cNvSpPr txBox="1"/>
          <p:nvPr>
            <p:ph idx="1" type="body"/>
          </p:nvPr>
        </p:nvSpPr>
        <p:spPr>
          <a:xfrm>
            <a:off x="913775" y="4204821"/>
            <a:ext cx="10364452" cy="1586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0" name="Google Shape;90;p30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0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0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94" name="Google Shape;94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31"/>
          <p:cNvSpPr txBox="1"/>
          <p:nvPr>
            <p:ph type="title"/>
          </p:nvPr>
        </p:nvSpPr>
        <p:spPr>
          <a:xfrm>
            <a:off x="1446212" y="609600"/>
            <a:ext cx="9302752" cy="2992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1"/>
          <p:cNvSpPr txBox="1"/>
          <p:nvPr>
            <p:ph idx="1" type="body"/>
          </p:nvPr>
        </p:nvSpPr>
        <p:spPr>
          <a:xfrm>
            <a:off x="1720644" y="3610032"/>
            <a:ext cx="8752299" cy="594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7" name="Google Shape;97;p31"/>
          <p:cNvSpPr txBox="1"/>
          <p:nvPr>
            <p:ph idx="2" type="body"/>
          </p:nvPr>
        </p:nvSpPr>
        <p:spPr>
          <a:xfrm>
            <a:off x="913774" y="4372796"/>
            <a:ext cx="10364452" cy="1421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8" name="Google Shape;98;p3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3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31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1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04" name="Google Shape;104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32"/>
          <p:cNvSpPr txBox="1"/>
          <p:nvPr>
            <p:ph type="title"/>
          </p:nvPr>
        </p:nvSpPr>
        <p:spPr>
          <a:xfrm>
            <a:off x="913775" y="2138721"/>
            <a:ext cx="10364452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2"/>
          <p:cNvSpPr txBox="1"/>
          <p:nvPr>
            <p:ph idx="1" type="body"/>
          </p:nvPr>
        </p:nvSpPr>
        <p:spPr>
          <a:xfrm>
            <a:off x="913775" y="4662335"/>
            <a:ext cx="10364452" cy="11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7" name="Google Shape;107;p3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3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3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11" name="Google Shape;111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3"/>
          <p:cNvSpPr txBox="1"/>
          <p:nvPr>
            <p:ph type="title"/>
          </p:nvPr>
        </p:nvSpPr>
        <p:spPr>
          <a:xfrm>
            <a:off x="913774" y="609600"/>
            <a:ext cx="10364452" cy="1605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33"/>
          <p:cNvSpPr txBox="1"/>
          <p:nvPr>
            <p:ph idx="1" type="body"/>
          </p:nvPr>
        </p:nvSpPr>
        <p:spPr>
          <a:xfrm>
            <a:off x="913774" y="2367093"/>
            <a:ext cx="329897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14" name="Google Shape;114;p33"/>
          <p:cNvSpPr txBox="1"/>
          <p:nvPr>
            <p:ph idx="2" type="body"/>
          </p:nvPr>
        </p:nvSpPr>
        <p:spPr>
          <a:xfrm>
            <a:off x="913774" y="2943355"/>
            <a:ext cx="3298976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15" name="Google Shape;115;p33"/>
          <p:cNvSpPr txBox="1"/>
          <p:nvPr>
            <p:ph idx="3" type="body"/>
          </p:nvPr>
        </p:nvSpPr>
        <p:spPr>
          <a:xfrm>
            <a:off x="4452389" y="2367093"/>
            <a:ext cx="329152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16" name="Google Shape;116;p33"/>
          <p:cNvSpPr txBox="1"/>
          <p:nvPr>
            <p:ph idx="4" type="body"/>
          </p:nvPr>
        </p:nvSpPr>
        <p:spPr>
          <a:xfrm>
            <a:off x="4441348" y="2943355"/>
            <a:ext cx="3303351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17" name="Google Shape;117;p33"/>
          <p:cNvSpPr txBox="1"/>
          <p:nvPr>
            <p:ph idx="5" type="body"/>
          </p:nvPr>
        </p:nvSpPr>
        <p:spPr>
          <a:xfrm>
            <a:off x="7973298" y="2367093"/>
            <a:ext cx="33049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33"/>
          <p:cNvSpPr txBox="1"/>
          <p:nvPr>
            <p:ph idx="6" type="body"/>
          </p:nvPr>
        </p:nvSpPr>
        <p:spPr>
          <a:xfrm>
            <a:off x="7973298" y="2943355"/>
            <a:ext cx="3304928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19" name="Google Shape;119;p3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3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23" name="Google Shape;123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34"/>
          <p:cNvSpPr txBox="1"/>
          <p:nvPr>
            <p:ph type="title"/>
          </p:nvPr>
        </p:nvSpPr>
        <p:spPr>
          <a:xfrm>
            <a:off x="913774" y="610772"/>
            <a:ext cx="10364452" cy="1603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34"/>
          <p:cNvSpPr txBox="1"/>
          <p:nvPr>
            <p:ph idx="1" type="body"/>
          </p:nvPr>
        </p:nvSpPr>
        <p:spPr>
          <a:xfrm>
            <a:off x="913774" y="4204820"/>
            <a:ext cx="329640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6" name="Google Shape;126;p34"/>
          <p:cNvSpPr/>
          <p:nvPr>
            <p:ph idx="2" type="pic"/>
          </p:nvPr>
        </p:nvSpPr>
        <p:spPr>
          <a:xfrm>
            <a:off x="913774" y="2367093"/>
            <a:ext cx="3296409" cy="1524000"/>
          </a:xfrm>
          <a:prstGeom prst="roundRect">
            <a:avLst>
              <a:gd fmla="val 936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27" name="Google Shape;127;p34"/>
          <p:cNvSpPr txBox="1"/>
          <p:nvPr>
            <p:ph idx="3" type="body"/>
          </p:nvPr>
        </p:nvSpPr>
        <p:spPr>
          <a:xfrm>
            <a:off x="913774" y="4781082"/>
            <a:ext cx="3296409" cy="1010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28" name="Google Shape;128;p34"/>
          <p:cNvSpPr txBox="1"/>
          <p:nvPr>
            <p:ph idx="4" type="body"/>
          </p:nvPr>
        </p:nvSpPr>
        <p:spPr>
          <a:xfrm>
            <a:off x="4442759" y="4204820"/>
            <a:ext cx="33018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9" name="Google Shape;129;p34"/>
          <p:cNvSpPr/>
          <p:nvPr>
            <p:ph idx="5" type="pic"/>
          </p:nvPr>
        </p:nvSpPr>
        <p:spPr>
          <a:xfrm>
            <a:off x="4441348" y="2367093"/>
            <a:ext cx="3303352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0" name="Google Shape;130;p34"/>
          <p:cNvSpPr txBox="1"/>
          <p:nvPr>
            <p:ph idx="6" type="body"/>
          </p:nvPr>
        </p:nvSpPr>
        <p:spPr>
          <a:xfrm>
            <a:off x="4441348" y="4781080"/>
            <a:ext cx="3303352" cy="1010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31" name="Google Shape;131;p34"/>
          <p:cNvSpPr txBox="1"/>
          <p:nvPr>
            <p:ph idx="7" type="body"/>
          </p:nvPr>
        </p:nvSpPr>
        <p:spPr>
          <a:xfrm>
            <a:off x="7973298" y="4204820"/>
            <a:ext cx="330068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32" name="Google Shape;132;p34"/>
          <p:cNvSpPr/>
          <p:nvPr>
            <p:ph idx="8" type="pic"/>
          </p:nvPr>
        </p:nvSpPr>
        <p:spPr>
          <a:xfrm>
            <a:off x="7973298" y="2367093"/>
            <a:ext cx="3304928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3" name="Google Shape;133;p34"/>
          <p:cNvSpPr txBox="1"/>
          <p:nvPr>
            <p:ph idx="9" type="body"/>
          </p:nvPr>
        </p:nvSpPr>
        <p:spPr>
          <a:xfrm>
            <a:off x="7973173" y="4781078"/>
            <a:ext cx="3305053" cy="10101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34" name="Google Shape;134;p3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38" name="Google Shape;138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35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5"/>
          <p:cNvSpPr txBox="1"/>
          <p:nvPr>
            <p:ph idx="1" type="body"/>
          </p:nvPr>
        </p:nvSpPr>
        <p:spPr>
          <a:xfrm rot="5400000">
            <a:off x="4383948" y="-1103080"/>
            <a:ext cx="3424107" cy="103644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1" name="Google Shape;141;p3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45" name="Google Shape;145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36"/>
          <p:cNvSpPr txBox="1"/>
          <p:nvPr>
            <p:ph type="title"/>
          </p:nvPr>
        </p:nvSpPr>
        <p:spPr>
          <a:xfrm rot="5400000">
            <a:off x="7410763" y="1923738"/>
            <a:ext cx="5181599" cy="2553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6"/>
          <p:cNvSpPr txBox="1"/>
          <p:nvPr>
            <p:ph idx="1" type="body"/>
          </p:nvPr>
        </p:nvSpPr>
        <p:spPr>
          <a:xfrm rot="5400000">
            <a:off x="2152338" y="-628962"/>
            <a:ext cx="5181599" cy="7658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3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rgbClr val="B7B7B7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6" name="Google Shape;6;p1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9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 b="0" i="0" sz="3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" type="body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75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75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75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75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1" name="Google Shape;11;p19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3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baeldung.com/cs/simple-paths-between-two-vertices" TargetMode="External"/><Relationship Id="rId4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geeksforgeeks.org/check-weather-given-binary-tree-perfect-not/" TargetMode="External"/><Relationship Id="rId4" Type="http://schemas.openxmlformats.org/officeDocument/2006/relationships/image" Target="../media/image19.jpg"/><Relationship Id="rId5" Type="http://schemas.openxmlformats.org/officeDocument/2006/relationships/image" Target="../media/image26.jpg"/><Relationship Id="rId6" Type="http://schemas.openxmlformats.org/officeDocument/2006/relationships/image" Target="../media/image24.jpg"/><Relationship Id="rId7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4.jp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3.jpg"/><Relationship Id="rId5" Type="http://schemas.openxmlformats.org/officeDocument/2006/relationships/image" Target="../media/image15.jpg"/><Relationship Id="rId6" Type="http://schemas.openxmlformats.org/officeDocument/2006/relationships/image" Target="../media/image17.jpg"/><Relationship Id="rId7" Type="http://schemas.openxmlformats.org/officeDocument/2006/relationships/image" Target="../media/image2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5" Type="http://schemas.openxmlformats.org/officeDocument/2006/relationships/image" Target="../media/image21.png"/><Relationship Id="rId6" Type="http://schemas.openxmlformats.org/officeDocument/2006/relationships/image" Target="../media/image20.png"/><Relationship Id="rId7" Type="http://schemas.openxmlformats.org/officeDocument/2006/relationships/image" Target="../media/image3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5" Type="http://schemas.openxmlformats.org/officeDocument/2006/relationships/image" Target="../media/image22.png"/><Relationship Id="rId6" Type="http://schemas.openxmlformats.org/officeDocument/2006/relationships/image" Target="../media/image2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3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32.png"/><Relationship Id="rId5" Type="http://schemas.openxmlformats.org/officeDocument/2006/relationships/image" Target="../media/image31.png"/><Relationship Id="rId6" Type="http://schemas.openxmlformats.org/officeDocument/2006/relationships/image" Target="../media/image3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"/>
          <p:cNvSpPr txBox="1"/>
          <p:nvPr>
            <p:ph type="ctrTitle"/>
          </p:nvPr>
        </p:nvSpPr>
        <p:spPr>
          <a:xfrm>
            <a:off x="2154134" y="904776"/>
            <a:ext cx="9112908" cy="18480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  <a:buFont typeface="Times New Roman"/>
              <a:buNone/>
            </a:pP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SRM INSTITUTE OF SCIENCE AND TECHNOLOGY</a:t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1"/>
          <p:cNvSpPr txBox="1"/>
          <p:nvPr>
            <p:ph idx="1" type="subTitle"/>
          </p:nvPr>
        </p:nvSpPr>
        <p:spPr>
          <a:xfrm>
            <a:off x="1751012" y="3886200"/>
            <a:ext cx="8689976" cy="137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STRUCTURES AND ALGORITHMS (18CSC162J)</a:t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IV</a:t>
            </a:r>
            <a:endParaRPr b="1" sz="2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7" name="Google Shape;15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958" y="760717"/>
            <a:ext cx="1040765" cy="1080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"/>
          <p:cNvSpPr txBox="1"/>
          <p:nvPr>
            <p:ph type="title"/>
          </p:nvPr>
        </p:nvSpPr>
        <p:spPr>
          <a:xfrm>
            <a:off x="913775" y="618518"/>
            <a:ext cx="10364451" cy="5613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4859"/>
              <a:buFont typeface="Twentieth Century"/>
              <a:buNone/>
            </a:pPr>
            <a:br>
              <a:rPr lang="en-US"/>
            </a:br>
            <a:br>
              <a:rPr lang="en-US"/>
            </a:br>
            <a:r>
              <a:rPr lang="en-US"/>
              <a:t>      </a:t>
            </a:r>
            <a:r>
              <a:rPr b="1" lang="en-US" sz="31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SRM INSTITUTE OF SCIENCE AND TECHNOLOGY</a:t>
            </a:r>
            <a:endParaRPr b="1" sz="31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2"/>
          <p:cNvSpPr txBox="1"/>
          <p:nvPr>
            <p:ph idx="1" type="body"/>
          </p:nvPr>
        </p:nvSpPr>
        <p:spPr>
          <a:xfrm>
            <a:off x="913774" y="1612491"/>
            <a:ext cx="10363826" cy="4935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 b="1" sz="19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</a:pPr>
            <a:r>
              <a:rPr b="1" lang="en-US" sz="19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 TO BE COVERED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Noto Sans Symbols"/>
              <a:buChar char="⮚"/>
            </a:pPr>
            <a:r>
              <a:rPr lang="en-US" sz="19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 BINARY TREE AND ITS HEIGHT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00"/>
              <a:buFont typeface="Noto Sans Symbols"/>
              <a:buChar char="⮚"/>
            </a:pPr>
            <a:r>
              <a:rPr lang="en-US" sz="19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BINARY SEARCH TREE </a:t>
            </a:r>
            <a:endParaRPr/>
          </a:p>
          <a:p>
            <a:pPr indent="0" lvl="2" marL="9144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b="1" lang="en-US" sz="1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INSERTION</a:t>
            </a:r>
            <a:endParaRPr/>
          </a:p>
          <a:p>
            <a:pPr indent="0" lvl="2" marL="9144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b="1" lang="en-US" sz="1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DELETION AND</a:t>
            </a:r>
            <a:endParaRPr/>
          </a:p>
          <a:p>
            <a:pPr indent="0" lvl="2" marL="9144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b="1" lang="en-US" sz="18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SEARCHING</a:t>
            </a:r>
            <a:endParaRPr b="1" sz="18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1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1"/>
          </a:p>
        </p:txBody>
      </p:sp>
      <p:pic>
        <p:nvPicPr>
          <p:cNvPr id="164" name="Google Shape;16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3616" y="271802"/>
            <a:ext cx="1040765" cy="1080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"/>
          <p:cNvSpPr txBox="1"/>
          <p:nvPr>
            <p:ph type="title"/>
          </p:nvPr>
        </p:nvSpPr>
        <p:spPr>
          <a:xfrm>
            <a:off x="913775" y="226143"/>
            <a:ext cx="10364451" cy="1988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None/>
            </a:pP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SRM INSTITUTE OF SCIENCE AND TECHNOLOGY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3"/>
          <p:cNvSpPr txBox="1"/>
          <p:nvPr/>
        </p:nvSpPr>
        <p:spPr>
          <a:xfrm>
            <a:off x="2069431" y="320660"/>
            <a:ext cx="862423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   </a:t>
            </a:r>
            <a:endParaRPr b="0" i="0" sz="24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1" name="Google Shape;17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8480" y="316806"/>
            <a:ext cx="1040765" cy="108013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"/>
          <p:cNvSpPr txBox="1"/>
          <p:nvPr>
            <p:ph idx="1" type="body"/>
          </p:nvPr>
        </p:nvSpPr>
        <p:spPr>
          <a:xfrm>
            <a:off x="913774" y="2367092"/>
            <a:ext cx="103638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 sz="20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BINARY TREE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 sz="20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BINARY TREE</a:t>
            </a:r>
            <a:r>
              <a:rPr lang="en-US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?</a:t>
            </a:r>
            <a:endParaRPr sz="200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 sz="20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 BINARY TREE AND ITS HEIGHT</a:t>
            </a:r>
            <a:endParaRPr/>
          </a:p>
          <a:p>
            <a:pPr indent="-101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"/>
          <p:cNvSpPr txBox="1"/>
          <p:nvPr>
            <p:ph type="title"/>
          </p:nvPr>
        </p:nvSpPr>
        <p:spPr>
          <a:xfrm>
            <a:off x="913775" y="226143"/>
            <a:ext cx="10364451" cy="840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None/>
            </a:pP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SRM INSTITUTE OF SCIENCE AND TECHNOLOGY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4"/>
          <p:cNvSpPr txBox="1"/>
          <p:nvPr/>
        </p:nvSpPr>
        <p:spPr>
          <a:xfrm>
            <a:off x="2069431" y="291784"/>
            <a:ext cx="862423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   </a:t>
            </a:r>
            <a:endParaRPr b="0" i="0" sz="24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9" name="Google Shape;17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8480" y="316806"/>
            <a:ext cx="1040765" cy="108013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4"/>
          <p:cNvSpPr txBox="1"/>
          <p:nvPr>
            <p:ph idx="1" type="body"/>
          </p:nvPr>
        </p:nvSpPr>
        <p:spPr>
          <a:xfrm>
            <a:off x="913774" y="1487604"/>
            <a:ext cx="10363826" cy="43324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i="0" lang="en-US" sz="1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BINARY TREE?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 BINARY TREE IS A TYPE OF TREE DATA STRUCTURE IN WHICH EACH NODE CAN HAVE AT MOST TWO CHILD NODES, KNOWN AS THE LEFT CHILD AND THE RIGHT CHILD.</a:t>
            </a:r>
            <a:endParaRPr/>
          </a:p>
          <a:p>
            <a:pPr indent="-1143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Binary Tree" id="181" name="Google Shape;18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5564" y="2766361"/>
            <a:ext cx="3810000" cy="394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inary Tree" id="182" name="Google Shape;18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1944" y="2891841"/>
            <a:ext cx="5476875" cy="309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"/>
          <p:cNvSpPr txBox="1"/>
          <p:nvPr>
            <p:ph type="title"/>
          </p:nvPr>
        </p:nvSpPr>
        <p:spPr>
          <a:xfrm>
            <a:off x="913775" y="226143"/>
            <a:ext cx="10364451" cy="8406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None/>
            </a:pP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SRM INSTITUTE OF SCIENCE AND TECHNOLOGY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5"/>
          <p:cNvSpPr txBox="1"/>
          <p:nvPr/>
        </p:nvSpPr>
        <p:spPr>
          <a:xfrm>
            <a:off x="2069431" y="291784"/>
            <a:ext cx="862423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   </a:t>
            </a:r>
            <a:endParaRPr b="0" i="0" sz="24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9" name="Google Shape;18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8480" y="316806"/>
            <a:ext cx="1040765" cy="108013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5"/>
          <p:cNvSpPr txBox="1"/>
          <p:nvPr>
            <p:ph idx="1" type="body"/>
          </p:nvPr>
        </p:nvSpPr>
        <p:spPr>
          <a:xfrm>
            <a:off x="913774" y="1260909"/>
            <a:ext cx="10363826" cy="4530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i="0" lang="en-US" sz="1800">
                <a:latin typeface="Times New Roman"/>
                <a:ea typeface="Times New Roman"/>
                <a:cs typeface="Times New Roman"/>
                <a:sym typeface="Times New Roman"/>
              </a:rPr>
              <a:t>TYPES OF BINARY TREE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BINARY TREE</a:t>
            </a:r>
            <a:endParaRPr/>
          </a:p>
          <a:p>
            <a:pPr indent="-22860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 BINARY TREE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BINARY TREE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0" i="0" lang="en-US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TREE CAN ONLY BE CONSIDERED AS THE FULL BINARY TREE IF EACH NODE MUST CONTAIN EITHER 0 OR 2 CHILDREN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i="0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pic>
        <p:nvPicPr>
          <p:cNvPr descr="Types of Binary Tree" id="191" name="Google Shape;19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63253" y="3515653"/>
            <a:ext cx="2990850" cy="309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"/>
          <p:cNvSpPr txBox="1"/>
          <p:nvPr>
            <p:ph type="title"/>
          </p:nvPr>
        </p:nvSpPr>
        <p:spPr>
          <a:xfrm>
            <a:off x="913775" y="163630"/>
            <a:ext cx="10364451" cy="6641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</a:pPr>
            <a:r>
              <a:rPr lang="en-US"/>
              <a:t>BINARY TREE</a:t>
            </a:r>
            <a:endParaRPr/>
          </a:p>
        </p:txBody>
      </p:sp>
      <p:sp>
        <p:nvSpPr>
          <p:cNvPr id="197" name="Google Shape;197;p6"/>
          <p:cNvSpPr txBox="1"/>
          <p:nvPr>
            <p:ph idx="1" type="body"/>
          </p:nvPr>
        </p:nvSpPr>
        <p:spPr>
          <a:xfrm>
            <a:off x="913774" y="972152"/>
            <a:ext cx="10363826" cy="48190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HEIGHT OF A NODE IN A BINARY TREE IS THE LARGEST NUMBER OF EDGES IN </a:t>
            </a:r>
            <a:r>
              <a:rPr i="0" lang="en-US" sz="1800" u="sng" strike="noStrike">
                <a:solidFill>
                  <a:srgbClr val="2456B4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 PATH</a:t>
            </a:r>
            <a:r>
              <a:rPr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FROM A LEAF NODE TO A TARGET NODE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i="0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DEPTH OF A NODE IN A BINARY TREE IS THE TOTAL NUMBER OF EDGES FROM THE ROOT NODE TO THE TARGET NODE.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6"/>
          <p:cNvSpPr txBox="1"/>
          <p:nvPr/>
        </p:nvSpPr>
        <p:spPr>
          <a:xfrm>
            <a:off x="998621" y="3271071"/>
            <a:ext cx="60976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 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apture 2" id="199" name="Google Shape;19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04987" y="3534525"/>
            <a:ext cx="5162600" cy="25965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"/>
          <p:cNvSpPr txBox="1"/>
          <p:nvPr>
            <p:ph type="title"/>
          </p:nvPr>
        </p:nvSpPr>
        <p:spPr>
          <a:xfrm>
            <a:off x="913775" y="618518"/>
            <a:ext cx="10364451" cy="5653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b="1" i="0" lang="en-US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PERFECT BINARY TREE</a:t>
            </a:r>
            <a:r>
              <a:rPr b="1" i="0" lang="en-US" sz="1800">
                <a:latin typeface="Times New Roman"/>
                <a:ea typeface="Times New Roman"/>
                <a:cs typeface="Times New Roman"/>
                <a:sym typeface="Times New Roman"/>
              </a:rPr>
              <a:t> VS COMPLETE BINARY TREE:</a:t>
            </a:r>
            <a:br>
              <a:rPr b="1" i="0" lang="en-US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7"/>
          <p:cNvSpPr txBox="1"/>
          <p:nvPr>
            <p:ph idx="1" type="body"/>
          </p:nvPr>
        </p:nvSpPr>
        <p:spPr>
          <a:xfrm>
            <a:off x="913774" y="1183908"/>
            <a:ext cx="10363826" cy="5674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0" i="0" lang="en-US" sz="1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BINARY TREE OF HEIGHT ‘H’ HAVING THE MAXIMUM NUMBER OF NODES IS A </a:t>
            </a:r>
            <a:r>
              <a:rPr b="1" i="0" lang="en-US" sz="1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PERFECT</a:t>
            </a:r>
            <a:r>
              <a:rPr b="0" i="0" lang="en-US" sz="1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BINARY TREE. </a:t>
            </a:r>
            <a:br>
              <a:rPr b="0" i="0" lang="en-US" sz="1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1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A GIVEN HEIGHT </a:t>
            </a:r>
            <a:r>
              <a:rPr b="1" i="0" lang="en-US" sz="1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0" i="0" lang="en-US" sz="1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MAXIMUM NUMBER OF NODES IS </a:t>
            </a:r>
            <a:r>
              <a:rPr b="1" i="0" lang="en-US" sz="1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baseline="30000" i="0" lang="en-US" sz="1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H+1</a:t>
            </a:r>
            <a:r>
              <a:rPr b="1" i="0" lang="en-US" sz="1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</a:t>
            </a:r>
            <a:r>
              <a:rPr b="0" i="0" lang="en-US" sz="1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0" i="0" lang="en-US" sz="1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 </a:t>
            </a:r>
            <a:r>
              <a:rPr b="1" i="0" lang="en-US" sz="1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</a:t>
            </a:r>
            <a:r>
              <a:rPr b="0" i="0" lang="en-US" sz="1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BINARY TREE OF HEIGHT H IS A PERFECT BINARY TREE UP TO HEIGHT </a:t>
            </a:r>
            <a:r>
              <a:rPr b="1" i="0" lang="en-US" sz="1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H-1</a:t>
            </a:r>
            <a:r>
              <a:rPr b="0" i="0" lang="en-US" sz="1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IN THE LAST LEVEL ELEMENT ARE STORED IN LEFT TO RIGHT ORDER.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0" i="0" lang="en-US" sz="1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1:                            </a:t>
            </a:r>
            <a:r>
              <a:rPr b="1" i="0" lang="en-US" sz="160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                                                                   EXAMPLE 2:</a:t>
            </a:r>
            <a:endParaRPr sz="1800">
              <a:solidFill>
                <a:srgbClr val="27323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1800">
              <a:solidFill>
                <a:srgbClr val="27323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27323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1800">
              <a:solidFill>
                <a:srgbClr val="27323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0" i="0" sz="1600">
              <a:solidFill>
                <a:srgbClr val="273239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b="0" i="0" lang="en-US" sz="160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TREE IS N= 2</a:t>
            </a:r>
            <a:r>
              <a:rPr b="0" baseline="30000" i="0" lang="en-US" sz="160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H+1</a:t>
            </a:r>
            <a:r>
              <a:rPr b="0" i="0" lang="en-US" sz="160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-1 =  2</a:t>
            </a:r>
            <a:r>
              <a:rPr b="0" baseline="30000" i="0" lang="en-US" sz="160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2+1</a:t>
            </a:r>
            <a:r>
              <a:rPr b="0" i="0" lang="en-US" sz="160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-1 =  2</a:t>
            </a:r>
            <a:r>
              <a:rPr b="0" baseline="30000" i="0" lang="en-US" sz="160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r>
              <a:rPr b="0" i="0" lang="en-US" sz="160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-1 = </a:t>
            </a:r>
            <a:r>
              <a:rPr b="1" i="0" lang="en-US" sz="160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7</a:t>
            </a:r>
            <a:r>
              <a:rPr b="0" i="0" lang="en-US" sz="160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.                                                          </a:t>
            </a:r>
            <a:r>
              <a:rPr b="1" i="0" lang="en-US" sz="1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baseline="30000" i="0" lang="en-US" sz="1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H+1 </a:t>
            </a:r>
            <a:r>
              <a:rPr b="1" i="0" lang="en-US" sz="1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1 = 2</a:t>
            </a:r>
            <a:r>
              <a:rPr b="1" baseline="30000" i="0" lang="en-US" sz="1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2+1 </a:t>
            </a:r>
            <a:r>
              <a:rPr b="1" i="0" lang="en-US" sz="1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1 = 2</a:t>
            </a:r>
            <a:r>
              <a:rPr b="1" baseline="30000" i="0" lang="en-US" sz="1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3 </a:t>
            </a:r>
            <a:r>
              <a:rPr b="1" i="0" lang="en-US" sz="1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1 = 7. </a:t>
            </a:r>
            <a:endParaRPr b="1" sz="1800">
              <a:solidFill>
                <a:srgbClr val="27323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b="0" i="0" lang="en-US" sz="1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 BINARY TREE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br>
              <a:rPr b="0" i="0" lang="en-US" sz="18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6" name="Google Shape;20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16042" y="3179545"/>
            <a:ext cx="2857500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42787" y="5674092"/>
            <a:ext cx="285750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2206" y="3278456"/>
            <a:ext cx="2857500" cy="1234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2206" y="5302617"/>
            <a:ext cx="2857500" cy="110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"/>
          <p:cNvSpPr txBox="1"/>
          <p:nvPr>
            <p:ph type="title"/>
          </p:nvPr>
        </p:nvSpPr>
        <p:spPr>
          <a:xfrm>
            <a:off x="913775" y="226143"/>
            <a:ext cx="10364451" cy="948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None/>
            </a:pP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SRM INSTITUTE OF SCIENCE AND TECHNOLOGY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Google Shape;215;p8"/>
          <p:cNvSpPr txBox="1"/>
          <p:nvPr/>
        </p:nvSpPr>
        <p:spPr>
          <a:xfrm>
            <a:off x="2069431" y="287375"/>
            <a:ext cx="862423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   </a:t>
            </a:r>
            <a:endParaRPr b="0" i="0" sz="24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6" name="Google Shape;21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8480" y="287931"/>
            <a:ext cx="1040765" cy="108013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8"/>
          <p:cNvSpPr txBox="1"/>
          <p:nvPr>
            <p:ph idx="1" type="body"/>
          </p:nvPr>
        </p:nvSpPr>
        <p:spPr>
          <a:xfrm>
            <a:off x="913774" y="1487604"/>
            <a:ext cx="10363826" cy="43035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i="0" lang="en-US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 BINARY TREE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0" i="0" lang="en-US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COMPLETE BINARY TREE IS A TREE IN WHICH ALL THE NODES ARE COMPLETELY FILLED EXCEPT THE LAST LEVEL. IN THE LAST LEVEL, ALL THE NODES MUST BE AS LEFT AS POSSIBLE. IN A COMPLETE BINARY TREE, THE NODES SHOULD BE ADDED FROM THE LEFT.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b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Types of Binary Tree" id="218" name="Google Shape;21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31356" y="2964732"/>
            <a:ext cx="4762500" cy="366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"/>
          <p:cNvSpPr txBox="1"/>
          <p:nvPr>
            <p:ph type="title"/>
          </p:nvPr>
        </p:nvSpPr>
        <p:spPr>
          <a:xfrm>
            <a:off x="913774" y="320135"/>
            <a:ext cx="10364451" cy="517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Times New Roman"/>
              <a:buNone/>
            </a:pPr>
            <a:br>
              <a:rPr b="1" i="0"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 BINARY TREE</a:t>
            </a:r>
            <a:br>
              <a:rPr b="1" i="0"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/>
          </a:p>
        </p:txBody>
      </p:sp>
      <p:sp>
        <p:nvSpPr>
          <p:cNvPr id="224" name="Google Shape;224;p9"/>
          <p:cNvSpPr txBox="1"/>
          <p:nvPr>
            <p:ph idx="1" type="body"/>
          </p:nvPr>
        </p:nvSpPr>
        <p:spPr>
          <a:xfrm>
            <a:off x="913774" y="1010653"/>
            <a:ext cx="10363826" cy="55272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b="1" i="0" lang="en-US" sz="1600" u="sng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CREATION OF COMPLETE BINARY TREE</a:t>
            </a:r>
            <a:endParaRPr b="1" i="0" sz="1600">
              <a:solidFill>
                <a:srgbClr val="27323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i="0" lang="en-US" sz="16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i="0" lang="en-US" sz="16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1:</a:t>
            </a:r>
            <a:r>
              <a:rPr b="0" i="0" lang="en-US" sz="16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INITIALIZE THE ROOT WITH A NEW NODE WHEN THE TREE IS EMPTY.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i="0" lang="en-US" sz="16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2:</a:t>
            </a:r>
            <a:r>
              <a:rPr b="0" i="0" lang="en-US" sz="16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IF THE TREE IS NOT EMPTY THEN GET THE FRONT ELEMENT 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0" i="0" lang="en-US" sz="16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FRONT ELEMENT DOES NOT HAVE A LEFT CHILD THEN SET THE LEFT CHILD TO A NEW NODE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0" i="0" lang="en-US" sz="16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RIGHT CHILD IS NOT PRESENT SET THE RIGHT CHILD AS A NEW NODE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i="0" lang="en-US" sz="16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3:</a:t>
            </a:r>
            <a:r>
              <a:rPr b="0" i="0" lang="en-US" sz="16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IF THE NODE HAS BOTH THE CHILDREN THEN </a:t>
            </a:r>
            <a:r>
              <a:rPr b="1" i="0" lang="en-US" sz="16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</a:t>
            </a:r>
            <a:r>
              <a:rPr b="0" i="0" lang="en-US" sz="16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IT FROM THE QUEUE.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i="0" lang="en-US" sz="16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4:</a:t>
            </a:r>
            <a:r>
              <a:rPr b="0" i="0" lang="en-US" sz="16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ENQUEUE THE NEW DATA.</a:t>
            </a:r>
            <a:endParaRPr/>
          </a:p>
          <a:p>
            <a:pPr indent="-1270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5" name="Google Shape;22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900" y="1878582"/>
            <a:ext cx="3235091" cy="15504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9979" y="38699"/>
            <a:ext cx="1040765" cy="108013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9"/>
          <p:cNvSpPr txBox="1"/>
          <p:nvPr/>
        </p:nvSpPr>
        <p:spPr>
          <a:xfrm>
            <a:off x="3241308" y="209434"/>
            <a:ext cx="60976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SRM INSTITUTE OF SCIENCE AND TECHNOLOGY</a:t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"/>
          <p:cNvSpPr txBox="1"/>
          <p:nvPr>
            <p:ph type="title"/>
          </p:nvPr>
        </p:nvSpPr>
        <p:spPr>
          <a:xfrm>
            <a:off x="913774" y="320135"/>
            <a:ext cx="10364451" cy="517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Times New Roman"/>
              <a:buNone/>
            </a:pPr>
            <a:br>
              <a:rPr b="1" i="0"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i="0"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 BINARY TREE</a:t>
            </a:r>
            <a:br>
              <a:rPr b="1" i="0"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/>
          </a:p>
        </p:txBody>
      </p:sp>
      <p:sp>
        <p:nvSpPr>
          <p:cNvPr id="233" name="Google Shape;233;p10"/>
          <p:cNvSpPr txBox="1"/>
          <p:nvPr>
            <p:ph idx="1" type="body"/>
          </p:nvPr>
        </p:nvSpPr>
        <p:spPr>
          <a:xfrm>
            <a:off x="913774" y="1010653"/>
            <a:ext cx="10363826" cy="55272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b="1" i="0" lang="en-US" sz="16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ILLUSTRATION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</a:pPr>
            <a:r>
              <a:rPr b="1" lang="en-US" sz="16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                                                       STEP 2                                                                       STEP 3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STEP 4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4" name="Google Shape;23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979" y="38699"/>
            <a:ext cx="1040765" cy="108013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0"/>
          <p:cNvSpPr txBox="1"/>
          <p:nvPr/>
        </p:nvSpPr>
        <p:spPr>
          <a:xfrm>
            <a:off x="3241308" y="209434"/>
            <a:ext cx="60976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SRM INSTITUTE OF SCIENCE AND TECHNOLOGY</a:t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descr="Lightbox" id="236" name="Google Shape;23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774" y="2094096"/>
            <a:ext cx="2857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91865" y="2094096"/>
            <a:ext cx="28575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54541" y="1914975"/>
            <a:ext cx="28575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00361" y="4048125"/>
            <a:ext cx="2857500" cy="241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"/>
          <p:cNvSpPr txBox="1"/>
          <p:nvPr>
            <p:ph type="title"/>
          </p:nvPr>
        </p:nvSpPr>
        <p:spPr>
          <a:xfrm>
            <a:off x="913774" y="320135"/>
            <a:ext cx="10364451" cy="517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Times New Roman"/>
              <a:buNone/>
            </a:pPr>
            <a:r>
              <a:rPr b="1" i="0"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 BINARY TREE</a:t>
            </a:r>
            <a:br>
              <a:rPr b="1" i="0" lang="en-US" sz="20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/>
          </a:p>
        </p:txBody>
      </p:sp>
      <p:sp>
        <p:nvSpPr>
          <p:cNvPr id="245" name="Google Shape;245;p11"/>
          <p:cNvSpPr txBox="1"/>
          <p:nvPr>
            <p:ph idx="1" type="body"/>
          </p:nvPr>
        </p:nvSpPr>
        <p:spPr>
          <a:xfrm>
            <a:off x="913774" y="1299412"/>
            <a:ext cx="10363826" cy="4491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1" i="0" lang="en-US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PROPERTIES OF COMPLETE BINARY TREE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b="0" i="0" lang="en-US" sz="16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COMPLETE BINARY TREE IS SAID TO BE A PROPER BINARY TREE WHERE ALL LEAVES HAVE THE SAME DEPTH.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b="0" i="0" lang="en-US" sz="16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A COMPLETE BINARY TREE NUMBER OF NODES AT DEPTH </a:t>
            </a:r>
            <a:r>
              <a:rPr b="1" i="0" lang="en-US" sz="16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16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IS </a:t>
            </a:r>
            <a:r>
              <a:rPr b="1" i="0" lang="en-US" sz="16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baseline="30000" i="0" lang="en-US" sz="16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b="0" i="0" lang="en-US" sz="16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 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b="0" i="0" lang="en-US" sz="16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A  COMPLETE BINARY TREE WITH </a:t>
            </a:r>
            <a:r>
              <a:rPr b="1" i="0" lang="en-US" sz="16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0" i="0" lang="en-US" sz="16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NODES HEIGHT OF THE TREE IS </a:t>
            </a:r>
            <a:r>
              <a:rPr b="1" i="0" lang="en-US" sz="16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LOG(N+1)</a:t>
            </a:r>
            <a:r>
              <a:rPr b="0" i="0" lang="en-US" sz="16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b="0" i="0" lang="en-US" sz="16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THE LEVELS </a:t>
            </a:r>
            <a:r>
              <a:rPr b="1" i="0" lang="en-US" sz="16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EXCEPT THE LAST LEVEL</a:t>
            </a:r>
            <a:r>
              <a:rPr b="0" i="0" lang="en-US" sz="1600">
                <a:solidFill>
                  <a:srgbClr val="27323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ARE COMPLETELY FULL</a:t>
            </a:r>
            <a:endParaRPr/>
          </a:p>
          <a:p>
            <a:pPr indent="-1143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6" name="Google Shape;24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31470" y="3832510"/>
            <a:ext cx="2857500" cy="26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"/>
          <p:cNvSpPr txBox="1"/>
          <p:nvPr>
            <p:ph type="title"/>
          </p:nvPr>
        </p:nvSpPr>
        <p:spPr>
          <a:xfrm>
            <a:off x="913775" y="598853"/>
            <a:ext cx="10364451" cy="3548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Font typeface="Times New Roman"/>
              <a:buNone/>
            </a:pPr>
            <a:br>
              <a:rPr b="1" lang="en-US" sz="20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20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BINARY SEARCH TREE (BST)</a:t>
            </a:r>
            <a:br>
              <a:rPr b="1" lang="en-US" sz="20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12"/>
          <p:cNvSpPr txBox="1"/>
          <p:nvPr>
            <p:ph idx="1" type="body"/>
          </p:nvPr>
        </p:nvSpPr>
        <p:spPr>
          <a:xfrm>
            <a:off x="983226" y="1235776"/>
            <a:ext cx="10294374" cy="502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b="0" i="0" lang="en-US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BINARY SEARCH TREE FOLLOWS SOME ORDER TO ARRANGE THE ELEMENTS. IN A BINARY SEARCH TREE, THE VALUE OF LEFT NODE MUST BE SMALLER THAN THE PARENT NODE, AND THE VALUE OF RIGHT NODE MUST BE GREATER THAN THE PARENT NODE. </a:t>
            </a:r>
            <a:endParaRPr/>
          </a:p>
          <a:p>
            <a:pPr indent="-228600" lvl="0" marL="2286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solidFill>
                  <a:srgbClr val="262626"/>
                </a:solidFill>
                <a:latin typeface="Tahoma"/>
                <a:ea typeface="Tahoma"/>
                <a:cs typeface="Tahoma"/>
                <a:sym typeface="Tahoma"/>
              </a:rPr>
              <a:t>OPERATIONS: INSERT, SEARCH, DELETE</a:t>
            </a:r>
            <a:endParaRPr/>
          </a:p>
          <a:p>
            <a:pPr indent="-114300" lvl="0" marL="2286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0" i="0"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2286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2286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228600" rtl="0" algn="just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12"/>
          <p:cNvSpPr txBox="1"/>
          <p:nvPr/>
        </p:nvSpPr>
        <p:spPr>
          <a:xfrm>
            <a:off x="913775" y="608478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254" name="Google Shape;25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8480" y="316806"/>
            <a:ext cx="1040765" cy="108013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2"/>
          <p:cNvSpPr txBox="1"/>
          <p:nvPr/>
        </p:nvSpPr>
        <p:spPr>
          <a:xfrm>
            <a:off x="1759245" y="163170"/>
            <a:ext cx="835690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SRM INSTITUTE OF SCIENCE AND TECHNOLOGY</a:t>
            </a:r>
            <a:endParaRPr b="1" i="0" sz="24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Binary Search tree" id="256" name="Google Shape;25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8405" y="2942223"/>
            <a:ext cx="4658627" cy="3217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15652" y="3327233"/>
            <a:ext cx="4000500" cy="24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"/>
          <p:cNvSpPr txBox="1"/>
          <p:nvPr>
            <p:ph type="title"/>
          </p:nvPr>
        </p:nvSpPr>
        <p:spPr>
          <a:xfrm>
            <a:off x="913775" y="226143"/>
            <a:ext cx="10364451" cy="1988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EXAMPLE OF CREATING A BINARY SEARCH TREE</a:t>
            </a:r>
            <a:b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p13"/>
          <p:cNvSpPr txBox="1"/>
          <p:nvPr/>
        </p:nvSpPr>
        <p:spPr>
          <a:xfrm>
            <a:off x="2069431" y="320660"/>
            <a:ext cx="862423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  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SRM INSTITUTE OF SCIENCE AND TECHNOLOGY</a:t>
            </a:r>
            <a:endParaRPr b="0" i="0" sz="24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4" name="Google Shape;26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8480" y="316806"/>
            <a:ext cx="1040765" cy="108013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3"/>
          <p:cNvSpPr txBox="1"/>
          <p:nvPr>
            <p:ph idx="1" type="body"/>
          </p:nvPr>
        </p:nvSpPr>
        <p:spPr>
          <a:xfrm>
            <a:off x="913774" y="1396942"/>
            <a:ext cx="10363826" cy="43942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SUPPOSE THE DATA ELEMENTS ARE - 45, 15, 79, 90, 10, 55, 12, 20, 50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STEP 1 - 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INSERT 45   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STEP 2 - 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INSERT 15   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STEP 3 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- INSERT 79        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STEP 4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 - INSERT 90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Binary Search tree" id="266" name="Google Shape;26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3148" y="2305358"/>
            <a:ext cx="1040765" cy="19885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inary Search tree" id="267" name="Google Shape;26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14433" y="2317390"/>
            <a:ext cx="1942064" cy="21391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inary Search tree" id="268" name="Google Shape;26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96412" y="2286908"/>
            <a:ext cx="1999176" cy="23563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inary Search tree" id="269" name="Google Shape;269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56107" y="2317390"/>
            <a:ext cx="2209788" cy="23259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4"/>
          <p:cNvSpPr txBox="1"/>
          <p:nvPr>
            <p:ph type="title"/>
          </p:nvPr>
        </p:nvSpPr>
        <p:spPr>
          <a:xfrm>
            <a:off x="913775" y="226143"/>
            <a:ext cx="10364451" cy="1535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EXAMPLE OF CREATING A BINARY SEARCH TREE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14"/>
          <p:cNvSpPr txBox="1"/>
          <p:nvPr/>
        </p:nvSpPr>
        <p:spPr>
          <a:xfrm>
            <a:off x="2069431" y="320660"/>
            <a:ext cx="862423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  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SRM INSTITUTE OF SCIENCE AND TECHNOLOGY</a:t>
            </a:r>
            <a:endParaRPr b="0" i="0" sz="24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6" name="Google Shape;27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8480" y="316806"/>
            <a:ext cx="1040765" cy="108013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4"/>
          <p:cNvSpPr txBox="1"/>
          <p:nvPr>
            <p:ph idx="1" type="body"/>
          </p:nvPr>
        </p:nvSpPr>
        <p:spPr>
          <a:xfrm>
            <a:off x="913774" y="1761424"/>
            <a:ext cx="10363826" cy="4029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i="0" lang="en-US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STEP 6 - INSERT 55                        STEP 7 - INSERT 12                            STEP 8 - INSERT 20</a:t>
            </a:r>
            <a:endParaRPr/>
          </a:p>
        </p:txBody>
      </p:sp>
      <p:pic>
        <p:nvPicPr>
          <p:cNvPr descr="Binary Search tree" id="278" name="Google Shape;27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026" y="2216568"/>
            <a:ext cx="3844591" cy="28078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inary Search tree" id="279" name="Google Shape;27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73617" y="2216568"/>
            <a:ext cx="3955983" cy="337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inary Search tree" id="280" name="Google Shape;28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95160" y="2330241"/>
            <a:ext cx="4629150" cy="356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5"/>
          <p:cNvSpPr txBox="1"/>
          <p:nvPr>
            <p:ph type="title"/>
          </p:nvPr>
        </p:nvSpPr>
        <p:spPr>
          <a:xfrm>
            <a:off x="913775" y="226143"/>
            <a:ext cx="10364451" cy="1988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EXAMPLE OF CREATING A BINARY SEARCH TREE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p15"/>
          <p:cNvSpPr txBox="1"/>
          <p:nvPr/>
        </p:nvSpPr>
        <p:spPr>
          <a:xfrm>
            <a:off x="2069431" y="320660"/>
            <a:ext cx="862423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  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SRM INSTITUTE OF SCIENCE AND TECHNOLOGY</a:t>
            </a:r>
            <a:endParaRPr b="0" i="0" sz="24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7" name="Google Shape;28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8480" y="316806"/>
            <a:ext cx="1040765" cy="108013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5"/>
          <p:cNvSpPr txBox="1"/>
          <p:nvPr>
            <p:ph idx="1" type="body"/>
          </p:nvPr>
        </p:nvSpPr>
        <p:spPr>
          <a:xfrm>
            <a:off x="913774" y="2367092"/>
            <a:ext cx="103638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i="0" lang="en-US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rPr>
              <a:t>                                   STEP 9 - INSERT 50</a:t>
            </a:r>
            <a:endParaRPr b="1"/>
          </a:p>
        </p:txBody>
      </p:sp>
      <p:pic>
        <p:nvPicPr>
          <p:cNvPr descr="Binary Search tree" id="289" name="Google Shape;28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0049" y="2840907"/>
            <a:ext cx="4381500" cy="37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"/>
          <p:cNvSpPr txBox="1"/>
          <p:nvPr>
            <p:ph type="title"/>
          </p:nvPr>
        </p:nvSpPr>
        <p:spPr>
          <a:xfrm>
            <a:off x="913775" y="226143"/>
            <a:ext cx="10364451" cy="98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INSERTION OF A NEW NODE IN TO A BINARY SEARCH TREE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5" name="Google Shape;29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8480" y="316806"/>
            <a:ext cx="1040765" cy="10801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6" name="Google Shape;296;p16"/>
          <p:cNvGraphicFramePr/>
          <p:nvPr/>
        </p:nvGraphicFramePr>
        <p:xfrm>
          <a:off x="596766" y="14876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{98F4E8EE-AEE9-45A1-B902-7EE5D19C5DAE}</a:tableStyleId>
              </a:tblPr>
              <a:tblGrid>
                <a:gridCol w="4418000"/>
              </a:tblGrid>
              <a:tr h="4033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Insert (TREE, ITEM)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Step 1:</a:t>
                      </a: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 IF TREE = NULL</a:t>
                      </a:r>
                      <a:b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</a:b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    Allocate memory for TREE</a:t>
                      </a:r>
                      <a:b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</a:b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   SET TREE -&gt; DATA = ITEM</a:t>
                      </a:r>
                      <a:b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</a:b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  SET TREE -&gt; LEFT = TREE -&gt; RIGHT = NULL</a:t>
                      </a:r>
                      <a:b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</a:b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  ELSE</a:t>
                      </a:r>
                      <a:b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</a:b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   IF ITEM &lt; TREE -&gt; DATA</a:t>
                      </a:r>
                      <a:b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</a:b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    Insert(TREE -&gt; LEFT, ITEM)</a:t>
                      </a:r>
                      <a:b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</a:b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  ELSE</a:t>
                      </a:r>
                      <a:b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</a:b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   Insert(TREE -&gt; RIGHT, ITEM)</a:t>
                      </a:r>
                      <a:b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</a:b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  [END OF IF]</a:t>
                      </a:r>
                      <a:b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</a:b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  [END OF IF]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Step 2:</a:t>
                      </a: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 END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97" name="Google Shape;297;p16"/>
          <p:cNvSpPr txBox="1"/>
          <p:nvPr/>
        </p:nvSpPr>
        <p:spPr>
          <a:xfrm>
            <a:off x="3154680" y="226143"/>
            <a:ext cx="60976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SRM INSTITUTE OF SCIENCE AND TECHNOLOGY</a:t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aphicFrame>
        <p:nvGraphicFramePr>
          <p:cNvPr id="298" name="Google Shape;298;p16"/>
          <p:cNvGraphicFramePr/>
          <p:nvPr/>
        </p:nvGraphicFramePr>
        <p:xfrm>
          <a:off x="5265019" y="13969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{98F4E8EE-AEE9-45A1-B902-7EE5D19C5DAE}</a:tableStyleId>
              </a:tblPr>
              <a:tblGrid>
                <a:gridCol w="5274650"/>
              </a:tblGrid>
              <a:tr h="4561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299" name="Google Shape;29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65019" y="1487604"/>
            <a:ext cx="5826244" cy="5009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8"/>
          <p:cNvSpPr txBox="1"/>
          <p:nvPr>
            <p:ph type="title"/>
          </p:nvPr>
        </p:nvSpPr>
        <p:spPr>
          <a:xfrm>
            <a:off x="913775" y="226143"/>
            <a:ext cx="10364451" cy="98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SEARCHING OF NODE IN  BINARY TREE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5" name="Google Shape;30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8480" y="316806"/>
            <a:ext cx="1040765" cy="10801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06" name="Google Shape;306;p18"/>
          <p:cNvGraphicFramePr/>
          <p:nvPr/>
        </p:nvGraphicFramePr>
        <p:xfrm>
          <a:off x="0" y="14876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{98F4E8EE-AEE9-45A1-B902-7EE5D19C5DAE}</a:tableStyleId>
              </a:tblPr>
              <a:tblGrid>
                <a:gridCol w="5168775"/>
              </a:tblGrid>
              <a:tr h="4778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Search (ROOT, ITEM)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Step 1: IF ROOT -&gt; DATA = ITEM OR ROOT = NULL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    Return ROOT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   ELSE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   IF ROOT &lt; ROOT -&gt; DATA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   Return search(ROOT -&gt; LEFT, ITEM)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  ELSE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   Return search(ROOT -&gt; RIGHT,ITEM)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  [END OF IF]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  [END OF IF]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Step 2: END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07" name="Google Shape;307;p18"/>
          <p:cNvSpPr txBox="1"/>
          <p:nvPr/>
        </p:nvSpPr>
        <p:spPr>
          <a:xfrm>
            <a:off x="3154680" y="226143"/>
            <a:ext cx="60976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SRM INSTITUTE OF SCIENCE AND TECHNOLOGY</a:t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aphicFrame>
        <p:nvGraphicFramePr>
          <p:cNvPr id="308" name="Google Shape;308;p18"/>
          <p:cNvGraphicFramePr/>
          <p:nvPr/>
        </p:nvGraphicFramePr>
        <p:xfrm>
          <a:off x="5265019" y="13969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{98F4E8EE-AEE9-45A1-B902-7EE5D19C5DAE}</a:tableStyleId>
              </a:tblPr>
              <a:tblGrid>
                <a:gridCol w="5274650"/>
              </a:tblGrid>
              <a:tr h="4561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descr="searching in binary search tree" id="309" name="Google Shape;30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68766" y="1328287"/>
            <a:ext cx="6304753" cy="49377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7"/>
          <p:cNvSpPr txBox="1"/>
          <p:nvPr>
            <p:ph type="title"/>
          </p:nvPr>
        </p:nvSpPr>
        <p:spPr>
          <a:xfrm>
            <a:off x="913775" y="226143"/>
            <a:ext cx="10364451" cy="98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DELETION OF A NEW NODE IN A BINARY  TREE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5" name="Google Shape;31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8480" y="316806"/>
            <a:ext cx="1040765" cy="108013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6" name="Google Shape;316;p17"/>
          <p:cNvGraphicFramePr/>
          <p:nvPr/>
        </p:nvGraphicFramePr>
        <p:xfrm>
          <a:off x="587140" y="139262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{98F4E8EE-AEE9-45A1-B902-7EE5D19C5DAE}</a:tableStyleId>
              </a:tblPr>
              <a:tblGrid>
                <a:gridCol w="4418000"/>
              </a:tblGrid>
              <a:tr h="5239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Delete (TREE, ITEM)</a:t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Twentieth Century"/>
                        <a:ea typeface="Twentieth Century"/>
                        <a:cs typeface="Twentieth Century"/>
                        <a:sym typeface="Twentieth Century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Step 1:</a:t>
                      </a: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 IF TREE = NULL</a:t>
                      </a:r>
                      <a:b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</a:b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   Write "item not found in the tree" ELSE IF ITEM &lt; TREE -&gt; DATA</a:t>
                      </a:r>
                      <a:b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</a:b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  Delete(TREE-&gt;LEFT, ITEM)</a:t>
                      </a:r>
                      <a:b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</a:b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  ELSE IF ITEM &gt; TREE -&gt; DATA</a:t>
                      </a:r>
                      <a:b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</a:b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   Delete(TREE -&gt; RIGHT, ITEM)</a:t>
                      </a:r>
                      <a:b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</a:b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  ELSE IF TREE -&gt; LEFT AND TREE -&gt; RIGHT</a:t>
                      </a:r>
                      <a:b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</a:b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  SET TEMP = findLargestNode(TREE -&gt; LEFT)</a:t>
                      </a:r>
                      <a:b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</a:b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  SET TREE -&gt; DATA = TEMP -&gt; DATA</a:t>
                      </a:r>
                      <a:b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</a:b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   Delete(TREE -&gt; LEFT, TEMP -&gt; DATA)</a:t>
                      </a:r>
                      <a:b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</a:b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  ELSE</a:t>
                      </a:r>
                      <a:b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</a:b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   SET TEMP = TREE</a:t>
                      </a:r>
                      <a:b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</a:b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   IF TREE -&gt; LEFT = NULL AND TREE -&gt; RIGHT = NULL</a:t>
                      </a:r>
                      <a:b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</a:b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   SET TREE = NULL</a:t>
                      </a:r>
                      <a:b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</a:b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  ELSE IF TREE -&gt; LEFT != NULL</a:t>
                      </a:r>
                      <a:b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</a:b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  SET TREE = TREE -&gt; LEFT</a:t>
                      </a:r>
                      <a:b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</a:b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  ELSE</a:t>
                      </a:r>
                      <a:b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</a:b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    SET TREE = TREE -&gt; RIGHT</a:t>
                      </a:r>
                      <a:b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</a:b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  [END OF IF]</a:t>
                      </a:r>
                      <a:b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</a:b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  FREE TEMP</a:t>
                      </a:r>
                      <a:b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</a:b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[END OF IF]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Step 2:</a:t>
                      </a: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 END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17" name="Google Shape;317;p17"/>
          <p:cNvSpPr txBox="1"/>
          <p:nvPr/>
        </p:nvSpPr>
        <p:spPr>
          <a:xfrm>
            <a:off x="3154680" y="226143"/>
            <a:ext cx="60976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SRM INSTITUTE OF SCIENCE AND TECHNOLOGY</a:t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aphicFrame>
        <p:nvGraphicFramePr>
          <p:cNvPr id="318" name="Google Shape;318;p17"/>
          <p:cNvGraphicFramePr/>
          <p:nvPr/>
        </p:nvGraphicFramePr>
        <p:xfrm>
          <a:off x="5264994" y="11322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{98F4E8EE-AEE9-45A1-B902-7EE5D19C5DAE}</a:tableStyleId>
              </a:tblPr>
              <a:tblGrid>
                <a:gridCol w="5274650"/>
              </a:tblGrid>
              <a:tr h="572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Twentieth Century"/>
                        <a:buNone/>
                      </a:pPr>
                      <a:r>
                        <a:rPr b="1" i="0" lang="en-US" sz="1600" u="none" cap="none" strike="noStrike">
                          <a:solidFill>
                            <a:schemeClr val="dk1"/>
                          </a:solidFill>
                          <a:latin typeface="Twentieth Century"/>
                          <a:ea typeface="Twentieth Century"/>
                          <a:cs typeface="Twentieth Century"/>
                          <a:sym typeface="Twentieth Century"/>
                        </a:rPr>
                        <a:t>The node to be deleted is a leaf node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The node to be deleted has only one child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The node to be deleted has two children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descr="Deletion in binary search tree" id="319" name="Google Shape;31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64995" y="1384131"/>
            <a:ext cx="5197642" cy="15047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letion in binary search tree" id="320" name="Google Shape;32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05144" y="3482914"/>
            <a:ext cx="5996539" cy="1809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letion in binary search tree" id="321" name="Google Shape;32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62000" y="5504975"/>
            <a:ext cx="4658649" cy="159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87d01e8e3c_0_10"/>
          <p:cNvSpPr txBox="1"/>
          <p:nvPr>
            <p:ph type="title"/>
          </p:nvPr>
        </p:nvSpPr>
        <p:spPr>
          <a:xfrm>
            <a:off x="913775" y="618517"/>
            <a:ext cx="10364400" cy="159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27" name="Google Shape;327;g287d01e8e3c_0_10"/>
          <p:cNvSpPr txBox="1"/>
          <p:nvPr>
            <p:ph idx="1" type="body"/>
          </p:nvPr>
        </p:nvSpPr>
        <p:spPr>
          <a:xfrm>
            <a:off x="913774" y="2367092"/>
            <a:ext cx="10363800" cy="34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roplet">
  <a:themeElements>
    <a:clrScheme name="Droplet">
      <a:dk1>
        <a:srgbClr val="000000"/>
      </a:dk1>
      <a:lt1>
        <a:srgbClr val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2023-08-16T06:48:48Z</dcterms:created>
  <dc:creator>Archana KS</dc:creator>
</cp:coreProperties>
</file>