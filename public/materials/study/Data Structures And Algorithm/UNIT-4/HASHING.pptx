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Palatino Linotyp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j/2C9cXonxxFn0qJPQ3f+vbV3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alatinoLinotype-bold.fntdata"/><Relationship Id="rId27" Type="http://schemas.openxmlformats.org/officeDocument/2006/relationships/font" Target="fonts/PalatinoLinotyp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latinoLinotype-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PalatinoLinotyp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1"/>
          <p:cNvSpPr/>
          <p:nvPr>
            <p:ph idx="2" type="pic"/>
          </p:nvPr>
        </p:nvSpPr>
        <p:spPr>
          <a:xfrm>
            <a:off x="5183188" y="987425"/>
            <a:ext cx="6172200" cy="4873625"/>
          </a:xfrm>
          <a:prstGeom prst="rect">
            <a:avLst/>
          </a:prstGeom>
          <a:noFill/>
          <a:ln>
            <a:noFill/>
          </a:ln>
        </p:spPr>
      </p:sp>
      <p:sp>
        <p:nvSpPr>
          <p:cNvPr id="69" name="Google Shape;69;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5" name="Google Shape;15;p12"/>
          <p:cNvSpPr/>
          <p:nvPr/>
        </p:nvSpPr>
        <p:spPr>
          <a:xfrm>
            <a:off x="10504715" y="230188"/>
            <a:ext cx="1231640" cy="690465"/>
          </a:xfrm>
          <a:prstGeom prst="rect">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23392" y="908720"/>
            <a:ext cx="11089232" cy="5472608"/>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type="ctrTitle"/>
          </p:nvPr>
        </p:nvSpPr>
        <p:spPr>
          <a:xfrm>
            <a:off x="1596008" y="2564904"/>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SzPct val="100000"/>
              <a:buNone/>
            </a:pPr>
            <a:br>
              <a:rPr b="1" i="0" lang="en-IN" sz="4800" u="none" cap="none" strike="noStrike">
                <a:solidFill>
                  <a:schemeClr val="dk1"/>
                </a:solidFill>
                <a:latin typeface="Palatino Linotype"/>
                <a:ea typeface="Palatino Linotype"/>
                <a:cs typeface="Palatino Linotype"/>
                <a:sym typeface="Palatino Linotype"/>
              </a:rPr>
            </a:br>
            <a:br>
              <a:rPr b="1" i="0" lang="en-IN" sz="4800" u="none" cap="none" strike="noStrike">
                <a:solidFill>
                  <a:schemeClr val="dk1"/>
                </a:solidFill>
                <a:latin typeface="Palatino Linotype"/>
                <a:ea typeface="Palatino Linotype"/>
                <a:cs typeface="Palatino Linotype"/>
                <a:sym typeface="Palatino Linotype"/>
              </a:rPr>
            </a:br>
            <a:br>
              <a:rPr b="1" i="0" lang="en-IN" sz="4800" u="none" cap="none" strike="noStrike">
                <a:solidFill>
                  <a:schemeClr val="dk1"/>
                </a:solidFill>
                <a:latin typeface="Palatino Linotype"/>
                <a:ea typeface="Palatino Linotype"/>
                <a:cs typeface="Palatino Linotype"/>
                <a:sym typeface="Palatino Linotype"/>
              </a:rPr>
            </a:br>
            <a:r>
              <a:rPr b="1" i="0" lang="en-IN" sz="4800" u="none" cap="none" strike="noStrike">
                <a:solidFill>
                  <a:schemeClr val="dk1"/>
                </a:solidFill>
                <a:latin typeface="Palatino Linotype"/>
                <a:ea typeface="Palatino Linotype"/>
                <a:cs typeface="Palatino Linotype"/>
                <a:sym typeface="Palatino Linotype"/>
              </a:rPr>
              <a:t>21CSC201J</a:t>
            </a:r>
            <a:br>
              <a:rPr b="1" i="0" lang="en-IN" sz="4800" u="none" cap="none" strike="noStrike">
                <a:solidFill>
                  <a:schemeClr val="dk1"/>
                </a:solidFill>
                <a:latin typeface="Palatino Linotype"/>
                <a:ea typeface="Palatino Linotype"/>
                <a:cs typeface="Palatino Linotype"/>
                <a:sym typeface="Palatino Linotype"/>
              </a:rPr>
            </a:br>
            <a:r>
              <a:rPr b="1" i="0" lang="en-IN" sz="4800" u="none" cap="none" strike="noStrike">
                <a:solidFill>
                  <a:schemeClr val="dk1"/>
                </a:solidFill>
                <a:latin typeface="Palatino Linotype"/>
                <a:ea typeface="Palatino Linotype"/>
                <a:cs typeface="Palatino Linotype"/>
                <a:sym typeface="Palatino Linotype"/>
              </a:rPr>
              <a:t>DATA STRUCTURES AND ALGORITHMS</a:t>
            </a:r>
            <a:br>
              <a:rPr b="1" i="0" lang="en-IN" sz="4800" u="none" cap="none" strike="noStrike">
                <a:solidFill>
                  <a:schemeClr val="dk1"/>
                </a:solidFill>
                <a:latin typeface="Palatino Linotype"/>
                <a:ea typeface="Palatino Linotype"/>
                <a:cs typeface="Palatino Linotype"/>
                <a:sym typeface="Palatino Linotype"/>
              </a:rPr>
            </a:br>
            <a:br>
              <a:rPr b="1" i="0" lang="en-IN" sz="4800" u="none" cap="none" strike="noStrike">
                <a:solidFill>
                  <a:schemeClr val="dk1"/>
                </a:solidFill>
                <a:latin typeface="Palatino Linotype"/>
                <a:ea typeface="Palatino Linotype"/>
                <a:cs typeface="Palatino Linotype"/>
                <a:sym typeface="Palatino Linotype"/>
              </a:rPr>
            </a:br>
            <a:r>
              <a:rPr b="1" i="0" lang="en-IN" sz="4800" u="none" cap="none" strike="noStrike">
                <a:solidFill>
                  <a:schemeClr val="dk1"/>
                </a:solidFill>
                <a:latin typeface="Palatino Linotype"/>
                <a:ea typeface="Palatino Linotype"/>
                <a:cs typeface="Palatino Linotype"/>
                <a:sym typeface="Palatino Linotype"/>
              </a:rPr>
              <a:t>UNIT-4</a:t>
            </a:r>
            <a:br>
              <a:rPr b="1" i="0" lang="en-IN" sz="4800" u="none" cap="none" strike="noStrike">
                <a:solidFill>
                  <a:schemeClr val="dk1"/>
                </a:solidFill>
                <a:latin typeface="Palatino Linotype"/>
                <a:ea typeface="Palatino Linotype"/>
                <a:cs typeface="Palatino Linotype"/>
                <a:sym typeface="Palatino Linotype"/>
              </a:rPr>
            </a:br>
            <a:r>
              <a:rPr b="1" i="0" lang="en-IN" sz="4800" u="none" cap="none" strike="noStrike">
                <a:solidFill>
                  <a:schemeClr val="dk1"/>
                </a:solidFill>
                <a:latin typeface="Palatino Linotype"/>
                <a:ea typeface="Palatino Linotype"/>
                <a:cs typeface="Palatino Linotype"/>
                <a:sym typeface="Palatino Linotype"/>
              </a:rPr>
              <a:t>Topic : </a:t>
            </a:r>
            <a:r>
              <a:rPr b="1" lang="en-IN" sz="4800">
                <a:latin typeface="Palatino Linotype"/>
                <a:ea typeface="Palatino Linotype"/>
                <a:cs typeface="Palatino Linotype"/>
                <a:sym typeface="Palatino Linotype"/>
              </a:rPr>
              <a:t>Hashing Introduction</a:t>
            </a:r>
            <a:endParaRPr b="1" i="0" sz="48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05661"/>
            <a:ext cx="10515600" cy="639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Hashing</a:t>
            </a:r>
            <a:endParaRPr b="1" i="0" sz="4000" u="none" cap="none" strike="noStrike">
              <a:solidFill>
                <a:schemeClr val="dk1"/>
              </a:solidFill>
              <a:latin typeface="Palatino Linotype"/>
              <a:ea typeface="Palatino Linotype"/>
              <a:cs typeface="Palatino Linotype"/>
              <a:sym typeface="Palatino Linotype"/>
            </a:endParaRPr>
          </a:p>
        </p:txBody>
      </p:sp>
      <p:sp>
        <p:nvSpPr>
          <p:cNvPr id="96" name="Google Shape;96;p2"/>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97" name="Google Shape;97;p2"/>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In hashing, large keys are converted into small keys by using hash functions.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The values are then stored in a data structure called hash table.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The idea of hashing is to distribute entries (key/value pairs) uniformly across an array.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Each element is assigned a key (converted key).</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By using that key you can access the element in O(1) time. Using the key, the algorithm (hash function) computes an index that suggests where an entry can be found or inserted.</a:t>
            </a:r>
            <a:endParaRPr b="0" i="0" sz="2400" u="none" cap="none" strike="noStrike">
              <a:solidFill>
                <a:srgbClr val="002060"/>
              </a:solidFill>
              <a:latin typeface="Times New Roman"/>
              <a:ea typeface="Times New Roman"/>
              <a:cs typeface="Times New Roman"/>
              <a:sym typeface="Times New Roman"/>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a:t>
            </a:r>
            <a:endParaRPr b="0" i="0" sz="2400" u="none" cap="none" strike="noStrike">
              <a:solidFill>
                <a:srgbClr val="00206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4"/>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Hashing</a:t>
            </a:r>
            <a:endParaRPr b="1" i="0" sz="4000" u="none" cap="none" strike="noStrike">
              <a:solidFill>
                <a:schemeClr val="dk1"/>
              </a:solidFill>
              <a:latin typeface="Palatino Linotype"/>
              <a:ea typeface="Palatino Linotype"/>
              <a:cs typeface="Palatino Linotype"/>
              <a:sym typeface="Palatino Linotype"/>
            </a:endParaRPr>
          </a:p>
        </p:txBody>
      </p:sp>
      <p:sp>
        <p:nvSpPr>
          <p:cNvPr id="103" name="Google Shape;103;p24"/>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04" name="Google Shape;104;p24"/>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Hashing is implemented in two steps: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An element is converted into an integer by using a hash function. This element can be used as an index to store the original element, which falls into the hash table.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The element is stored in the hash table where it can be quickly retrieved using hashed key. • hash = hashfunc(key) index = hash % array_size.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5"/>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Hashing</a:t>
            </a:r>
            <a:endParaRPr b="1" i="0" sz="4000" u="none" cap="none" strike="noStrike">
              <a:solidFill>
                <a:schemeClr val="dk1"/>
              </a:solidFill>
              <a:latin typeface="Palatino Linotype"/>
              <a:ea typeface="Palatino Linotype"/>
              <a:cs typeface="Palatino Linotype"/>
              <a:sym typeface="Palatino Linotype"/>
            </a:endParaRPr>
          </a:p>
        </p:txBody>
      </p:sp>
      <p:sp>
        <p:nvSpPr>
          <p:cNvPr id="110" name="Google Shape;110;p25"/>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11" name="Google Shape;111;p25"/>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228600" lvl="2" marL="11430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pic>
        <p:nvPicPr>
          <p:cNvPr id="112" name="Google Shape;112;p25"/>
          <p:cNvPicPr preferRelativeResize="0"/>
          <p:nvPr/>
        </p:nvPicPr>
        <p:blipFill rotWithShape="1">
          <a:blip r:embed="rId3">
            <a:alphaModFix/>
          </a:blip>
          <a:srcRect b="0" l="0" r="0" t="0"/>
          <a:stretch/>
        </p:blipFill>
        <p:spPr>
          <a:xfrm>
            <a:off x="2233230" y="1375021"/>
            <a:ext cx="7784123" cy="46306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Hash Table</a:t>
            </a:r>
            <a:endParaRPr b="1" i="0" sz="4000" u="none" cap="none" strike="noStrike">
              <a:solidFill>
                <a:schemeClr val="dk1"/>
              </a:solidFill>
              <a:latin typeface="Palatino Linotype"/>
              <a:ea typeface="Palatino Linotype"/>
              <a:cs typeface="Palatino Linotype"/>
              <a:sym typeface="Palatino Linotype"/>
            </a:endParaRPr>
          </a:p>
        </p:txBody>
      </p:sp>
      <p:sp>
        <p:nvSpPr>
          <p:cNvPr id="118" name="Google Shape;118;p26"/>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19" name="Google Shape;119;p26"/>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The Hash table data structure stores elements in key-value pairs where</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Key- unique integer that is used for indexing the values</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Value - data that are associated with keys.</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228600" lvl="2" marL="11430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228600" lvl="2" marL="11430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pic>
        <p:nvPicPr>
          <p:cNvPr id="120" name="Google Shape;120;p26"/>
          <p:cNvPicPr preferRelativeResize="0"/>
          <p:nvPr/>
        </p:nvPicPr>
        <p:blipFill rotWithShape="1">
          <a:blip r:embed="rId3">
            <a:alphaModFix/>
          </a:blip>
          <a:srcRect b="0" l="0" r="0" t="0"/>
          <a:stretch/>
        </p:blipFill>
        <p:spPr>
          <a:xfrm>
            <a:off x="4230688" y="3429000"/>
            <a:ext cx="4035425" cy="1822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7"/>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Hash Collision</a:t>
            </a:r>
            <a:endParaRPr b="1" i="0" sz="4000" u="none" cap="none" strike="noStrike">
              <a:solidFill>
                <a:schemeClr val="dk1"/>
              </a:solidFill>
              <a:latin typeface="Palatino Linotype"/>
              <a:ea typeface="Palatino Linotype"/>
              <a:cs typeface="Palatino Linotype"/>
              <a:sym typeface="Palatino Linotype"/>
            </a:endParaRPr>
          </a:p>
        </p:txBody>
      </p:sp>
      <p:sp>
        <p:nvSpPr>
          <p:cNvPr id="126" name="Google Shape;126;p27"/>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27" name="Google Shape;127;p27"/>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When the hash function generates the same index for multiple keys, there will be a conflict (what value to be stored in that index). This is called a hash collision.</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If x1 and x2 are two different keys, it is possible that h(x1) = h(x2). This is called a collision</a:t>
            </a:r>
            <a:endParaRPr b="0" i="0" sz="2400" u="none" cap="none" strike="noStrike">
              <a:solidFill>
                <a:srgbClr val="002060"/>
              </a:solidFill>
              <a:latin typeface="Times New Roman"/>
              <a:ea typeface="Times New Roman"/>
              <a:cs typeface="Times New Roman"/>
              <a:sym typeface="Times New Roman"/>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8"/>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Collision Avoidance</a:t>
            </a:r>
            <a:endParaRPr b="1" i="0" sz="4000" u="none" cap="none" strike="noStrike">
              <a:solidFill>
                <a:schemeClr val="dk1"/>
              </a:solidFill>
              <a:latin typeface="Palatino Linotype"/>
              <a:ea typeface="Palatino Linotype"/>
              <a:cs typeface="Palatino Linotype"/>
              <a:sym typeface="Palatino Linotype"/>
            </a:endParaRPr>
          </a:p>
        </p:txBody>
      </p:sp>
      <p:sp>
        <p:nvSpPr>
          <p:cNvPr id="133" name="Google Shape;133;p28"/>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34" name="Google Shape;134;p28"/>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Collision resolution is the most important issue in hash table implementations.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Choosing a hash function that minimizes the number of collisions and also hashes uniformly is another critical issue.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 Separate chaining (open hashing)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 Linear probing (open addressing or closed hashing)</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 Quadratic Probing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 Double hashing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Separate chaining (open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140" name="Google Shape;140;p29"/>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41" name="Google Shape;141;p29"/>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Unlike chaining, open addressing doesn't store multiple elements into the same slot. Here, each slot is either filled with a single key or left NIL.</a:t>
            </a:r>
            <a:endParaRPr b="0" i="0" sz="1400" u="none" cap="none" strike="noStrike">
              <a:solidFill>
                <a:srgbClr val="000000"/>
              </a:solidFill>
              <a:latin typeface="Arial"/>
              <a:ea typeface="Arial"/>
              <a:cs typeface="Arial"/>
              <a:sym typeface="Arial"/>
            </a:endParaRPr>
          </a:p>
          <a:p>
            <a:pPr indent="0" lvl="2" marL="9144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Different techniques used in open addressing are:</a:t>
            </a:r>
            <a:endParaRPr b="0" i="0" sz="1400" u="none" cap="none" strike="noStrike">
              <a:solidFill>
                <a:srgbClr val="000000"/>
              </a:solidFill>
              <a:latin typeface="Arial"/>
              <a:ea typeface="Arial"/>
              <a:cs typeface="Arial"/>
              <a:sym typeface="Arial"/>
            </a:endParaRPr>
          </a:p>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i. Linear Probing</a:t>
            </a:r>
            <a:endParaRPr b="0" i="0" sz="1400" u="none" cap="none" strike="noStrike">
              <a:solidFill>
                <a:srgbClr val="000000"/>
              </a:solidFill>
              <a:latin typeface="Arial"/>
              <a:ea typeface="Arial"/>
              <a:cs typeface="Arial"/>
              <a:sym typeface="Arial"/>
            </a:endParaRPr>
          </a:p>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ii. Quadratic Probing</a:t>
            </a:r>
            <a:endParaRPr b="0" i="0" sz="1400" u="none" cap="none" strike="noStrike">
              <a:solidFill>
                <a:srgbClr val="000000"/>
              </a:solidFill>
              <a:latin typeface="Arial"/>
              <a:ea typeface="Arial"/>
              <a:cs typeface="Arial"/>
              <a:sym typeface="Arial"/>
            </a:endParaRPr>
          </a:p>
          <a:p>
            <a:pPr indent="0" lvl="2" marL="914400" marR="0" rtl="0" algn="l">
              <a:lnSpc>
                <a:spcPct val="90000"/>
              </a:lnSpc>
              <a:spcBef>
                <a:spcPts val="500"/>
              </a:spcBef>
              <a:spcAft>
                <a:spcPts val="0"/>
              </a:spcAft>
              <a:buClr>
                <a:srgbClr val="000000"/>
              </a:buClr>
              <a:buSzPts val="2400"/>
              <a:buFont typeface="Arial"/>
              <a:buNone/>
            </a:pPr>
            <a:r>
              <a:rPr b="0" i="0" lang="en-IN" sz="2400" u="none" cap="none" strike="noStrike">
                <a:solidFill>
                  <a:srgbClr val="002060"/>
                </a:solidFill>
                <a:latin typeface="Times New Roman"/>
                <a:ea typeface="Times New Roman"/>
                <a:cs typeface="Times New Roman"/>
                <a:sym typeface="Times New Roman"/>
              </a:rPr>
              <a:t>iii. Double hashing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Linear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47" name="Google Shape;147;p30"/>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48" name="Google Shape;148;p30"/>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In linear probing, collision is resolved by checking the next slot.</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h(k, i) = (h′(k) + i) mod m</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where</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 = {0, 1,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h'(k) is a new hash function</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If a collision occurs at h(k, 0), then h(k, 1) is checked.</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In this way, the value of i is incremented linearly.</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The problem with linear probing is that a cluster of adjacent slots is filled. When inserting a new element, the entire cluster must be traversed. </a:t>
            </a:r>
            <a:endParaRPr b="0" i="0" sz="1400" u="none" cap="none" strike="noStrike">
              <a:solidFill>
                <a:srgbClr val="000000"/>
              </a:solidFill>
              <a:latin typeface="Arial"/>
              <a:ea typeface="Arial"/>
              <a:cs typeface="Arial"/>
              <a:sym typeface="Arial"/>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This adds to the time required to perform operations on the hash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1"/>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Linear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54" name="Google Shape;154;p31"/>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55" name="Google Shape;155;p31"/>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Let us consider a simple hash function as “key mod 7” and a sequence of keys as 50, 700, 76, 85, 92, 73, 101,</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which means hash(key)= key% S,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here S=size of the table =7,indexed from 0 to 6.</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We can define the hash function as per our choice if we want to create a hash table,although it is fixed internally with a pre-defined formula.</a:t>
            </a:r>
            <a:endParaRPr b="0" i="0" sz="1400" u="none" cap="none" strike="noStrike">
              <a:solidFill>
                <a:srgbClr val="000000"/>
              </a:solidFill>
              <a:latin typeface="Arial"/>
              <a:ea typeface="Arial"/>
              <a:cs typeface="Arial"/>
              <a:sym typeface="Arial"/>
            </a:endParaRPr>
          </a:p>
          <a:p>
            <a:pPr indent="0" lvl="2" marL="9144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Linear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61" name="Google Shape;161;p32"/>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62" name="Google Shape;162;p32"/>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2" marL="9144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pic>
        <p:nvPicPr>
          <p:cNvPr id="163" name="Google Shape;163;p32"/>
          <p:cNvPicPr preferRelativeResize="0"/>
          <p:nvPr/>
        </p:nvPicPr>
        <p:blipFill rotWithShape="1">
          <a:blip r:embed="rId3">
            <a:alphaModFix/>
          </a:blip>
          <a:srcRect b="0" l="0" r="0" t="0"/>
          <a:stretch/>
        </p:blipFill>
        <p:spPr>
          <a:xfrm>
            <a:off x="3083168" y="1638299"/>
            <a:ext cx="6142893" cy="42701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Quadratic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69" name="Google Shape;169;p33"/>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70" name="Google Shape;170;p33"/>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If you observe carefully, then you will understand that the interval between probes will increase proportionally to the hash value. </a:t>
            </a:r>
            <a:endParaRPr b="0" i="0" sz="2400" u="none" cap="none" strike="noStrike">
              <a:solidFill>
                <a:srgbClr val="002060"/>
              </a:solidFill>
              <a:latin typeface="Times New Roman"/>
              <a:ea typeface="Times New Roman"/>
              <a:cs typeface="Times New Roman"/>
              <a:sym typeface="Times New Roman"/>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Quadratic probing is a method with the help of which we can solve the problem of clustering that was discussed above.  This method is also known as the mid-square method. </a:t>
            </a:r>
            <a:endParaRPr b="0" i="0" sz="2400" u="none" cap="none" strike="noStrike">
              <a:solidFill>
                <a:srgbClr val="002060"/>
              </a:solidFill>
              <a:latin typeface="Times New Roman"/>
              <a:ea typeface="Times New Roman"/>
              <a:cs typeface="Times New Roman"/>
              <a:sym typeface="Times New Roman"/>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In this method, we look for the i2‘th slot in the ith iteration. We always start from the original hash location. If only the location is occupied then we check the other slots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Quadratic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76" name="Google Shape;176;p34"/>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77" name="Google Shape;177;p34"/>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342900" lvl="2" marL="1257300" marR="0" rtl="0" algn="l">
              <a:lnSpc>
                <a:spcPct val="90000"/>
              </a:lnSpc>
              <a:spcBef>
                <a:spcPts val="500"/>
              </a:spcBef>
              <a:spcAft>
                <a:spcPts val="0"/>
              </a:spcAft>
              <a:buClr>
                <a:srgbClr val="000000"/>
              </a:buClr>
              <a:buSzPts val="2400"/>
              <a:buFont typeface="Arial"/>
              <a:buChar char="•"/>
            </a:pPr>
            <a:r>
              <a:rPr b="0" i="0" lang="en-IN" sz="2400" u="none" cap="none" strike="noStrike">
                <a:solidFill>
                  <a:srgbClr val="002060"/>
                </a:solidFill>
                <a:latin typeface="Times New Roman"/>
                <a:ea typeface="Times New Roman"/>
                <a:cs typeface="Times New Roman"/>
                <a:sym typeface="Times New Roman"/>
              </a:rPr>
              <a:t>Example: Let us consider table Size = 7, hash function as Hash(x) = x % 7 and collision resolution strategy to be f(i) = i2 . Insert = 22, 30, and 50.</a:t>
            </a:r>
            <a:endParaRPr b="0" i="0" sz="1400" u="none" cap="none" strike="noStrike">
              <a:solidFill>
                <a:srgbClr val="000000"/>
              </a:solidFill>
              <a:latin typeface="Arial"/>
              <a:ea typeface="Arial"/>
              <a:cs typeface="Arial"/>
              <a:sym typeface="Arial"/>
            </a:endParaRPr>
          </a:p>
          <a:p>
            <a:pPr indent="-190500" lvl="2" marL="1257300" marR="0" rtl="0" algn="l">
              <a:lnSpc>
                <a:spcPct val="90000"/>
              </a:lnSpc>
              <a:spcBef>
                <a:spcPts val="500"/>
              </a:spcBef>
              <a:spcAft>
                <a:spcPts val="0"/>
              </a:spcAft>
              <a:buClr>
                <a:srgbClr val="000000"/>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      Step 1:</a:t>
            </a:r>
            <a:r>
              <a:rPr b="0" i="0" lang="en-IN" sz="1400" u="none" cap="none" strike="noStrike">
                <a:solidFill>
                  <a:srgbClr val="000000"/>
                </a:solidFill>
                <a:latin typeface="Arial"/>
                <a:ea typeface="Arial"/>
                <a:cs typeface="Arial"/>
                <a:sym typeface="Arial"/>
              </a:rPr>
              <a:t> Create a table of size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IN" sz="1400" u="none" cap="none" strike="noStrike">
                <a:solidFill>
                  <a:srgbClr val="000000"/>
                </a:solidFill>
                <a:latin typeface="Arial"/>
                <a:ea typeface="Arial"/>
                <a:cs typeface="Arial"/>
                <a:sym typeface="Arial"/>
              </a:rPr>
            </a:br>
            <a:endParaRPr b="0" i="0" sz="2400" u="none" cap="none" strike="noStrike">
              <a:solidFill>
                <a:srgbClr val="002060"/>
              </a:solidFill>
              <a:latin typeface="Times New Roman"/>
              <a:ea typeface="Times New Roman"/>
              <a:cs typeface="Times New Roman"/>
              <a:sym typeface="Times New Roman"/>
            </a:endParaRPr>
          </a:p>
        </p:txBody>
      </p:sp>
      <p:pic>
        <p:nvPicPr>
          <p:cNvPr id="178" name="Google Shape;178;p34"/>
          <p:cNvPicPr preferRelativeResize="0"/>
          <p:nvPr/>
        </p:nvPicPr>
        <p:blipFill rotWithShape="1">
          <a:blip r:embed="rId3">
            <a:alphaModFix/>
          </a:blip>
          <a:srcRect b="0" l="0" r="0" t="0"/>
          <a:stretch/>
        </p:blipFill>
        <p:spPr>
          <a:xfrm>
            <a:off x="3531943" y="2741369"/>
            <a:ext cx="2009775" cy="3438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Quadratic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84" name="Google Shape;184;p35"/>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85" name="Google Shape;185;p35"/>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2 – Insert 22 and 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Hash(22) = 22 % 7 = 1, Since the cell at index 1 is empty, we can easily insert 22 at slot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Hash(30) = 30 % 7 = 2, Since the cell at index 2 is empty, we can easily insert 30 at slot 2. </a:t>
            </a:r>
            <a:endParaRPr b="0" i="0" sz="1400" u="none" cap="none" strike="noStrike">
              <a:solidFill>
                <a:srgbClr val="000000"/>
              </a:solidFill>
              <a:latin typeface="Arial"/>
              <a:ea typeface="Arial"/>
              <a:cs typeface="Arial"/>
              <a:sym typeface="Arial"/>
            </a:endParaRPr>
          </a:p>
        </p:txBody>
      </p:sp>
      <p:pic>
        <p:nvPicPr>
          <p:cNvPr id="186" name="Google Shape;186;p35"/>
          <p:cNvPicPr preferRelativeResize="0"/>
          <p:nvPr/>
        </p:nvPicPr>
        <p:blipFill rotWithShape="1">
          <a:blip r:embed="rId3">
            <a:alphaModFix/>
          </a:blip>
          <a:srcRect b="0" l="0" r="0" t="0"/>
          <a:stretch/>
        </p:blipFill>
        <p:spPr>
          <a:xfrm>
            <a:off x="3284294" y="2413123"/>
            <a:ext cx="5248275" cy="3438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Quadratic Probing</a:t>
            </a:r>
            <a:endParaRPr b="1" i="0" sz="4000" u="none" cap="none" strike="noStrike">
              <a:solidFill>
                <a:schemeClr val="dk1"/>
              </a:solidFill>
              <a:latin typeface="Palatino Linotype"/>
              <a:ea typeface="Palatino Linotype"/>
              <a:cs typeface="Palatino Linotype"/>
              <a:sym typeface="Palatino Linotype"/>
            </a:endParaRPr>
          </a:p>
        </p:txBody>
      </p:sp>
      <p:sp>
        <p:nvSpPr>
          <p:cNvPr id="192" name="Google Shape;192;p36"/>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193" name="Google Shape;193;p36"/>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3: Inserting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Hash(50) = 50 % 7 =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In our hash table slot 1 is already occupied. So, we will search for slot 1+12, i.e. 1+1 =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Again slot 2 is found occupied, so we will search for cell 1+22, i.e.1+4 = 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Now, cell 5 is not occupied so we will place 50 in slot 5.</a:t>
            </a:r>
            <a:endParaRPr b="0" i="0" sz="1400" u="none" cap="none" strike="noStrike">
              <a:solidFill>
                <a:srgbClr val="000000"/>
              </a:solidFill>
              <a:latin typeface="Arial"/>
              <a:ea typeface="Arial"/>
              <a:cs typeface="Arial"/>
              <a:sym typeface="Arial"/>
            </a:endParaRPr>
          </a:p>
        </p:txBody>
      </p:sp>
      <p:pic>
        <p:nvPicPr>
          <p:cNvPr id="194" name="Google Shape;194;p36"/>
          <p:cNvPicPr preferRelativeResize="0"/>
          <p:nvPr/>
        </p:nvPicPr>
        <p:blipFill rotWithShape="1">
          <a:blip r:embed="rId3">
            <a:alphaModFix/>
          </a:blip>
          <a:srcRect b="0" l="0" r="0" t="0"/>
          <a:stretch/>
        </p:blipFill>
        <p:spPr>
          <a:xfrm>
            <a:off x="3877407" y="2737338"/>
            <a:ext cx="4038600" cy="3352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 Double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200" name="Google Shape;200;p37"/>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201" name="Google Shape;201;p37"/>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The intervals that lie between probes are computed by another hash function. Double hashing is a technique that reduces clustering in an optimized way. In this technique, the increments for the probing sequence are computed by using another hash function. We use another hash function hash2(x) and look for the i*hash2(x) slot in the ith rotation.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let hash(x) be the slot index computed using hash function.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If slot hash(x) % S is full, then we try (hash(x) + 1*hash2(x)) % 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If (hash(x) + 1*hash2(x)) % S is also full, then we try (hash(x) + 2*hash2(x)) % 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If (hash(x) + 2*hash2(x)) % S is also full, then we try (hash(x) + 3*hash2(x)) % 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 Double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207" name="Google Shape;207;p38"/>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208" name="Google Shape;208;p38"/>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Example: Insert the keys 27, 43, 692, 72 into the Hash Table of size 7. where first hash-function is h1​(k) = k mod 7 and second hash-function is h2(k) = 1 + (k mod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1: Insert 27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27 % 7 = 6, location 6 is empty so insert 27 into 6 slot.</a:t>
            </a:r>
            <a:endParaRPr b="0" i="0" sz="1400" u="none" cap="none" strike="noStrike">
              <a:solidFill>
                <a:srgbClr val="000000"/>
              </a:solidFill>
              <a:latin typeface="Arial"/>
              <a:ea typeface="Arial"/>
              <a:cs typeface="Arial"/>
              <a:sym typeface="Arial"/>
            </a:endParaRPr>
          </a:p>
        </p:txBody>
      </p:sp>
      <p:pic>
        <p:nvPicPr>
          <p:cNvPr id="209" name="Google Shape;209;p38"/>
          <p:cNvPicPr preferRelativeResize="0"/>
          <p:nvPr/>
        </p:nvPicPr>
        <p:blipFill rotWithShape="1">
          <a:blip r:embed="rId3">
            <a:alphaModFix/>
          </a:blip>
          <a:srcRect b="0" l="0" r="0" t="0"/>
          <a:stretch/>
        </p:blipFill>
        <p:spPr>
          <a:xfrm>
            <a:off x="4454037" y="2596661"/>
            <a:ext cx="2228850" cy="3352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 Double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215" name="Google Shape;215;p39"/>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216" name="Google Shape;216;p39"/>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2: Insert 43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43 % 7 = 1, location 1 is empty so insert 43 into 1 slot.</a:t>
            </a:r>
            <a:endParaRPr b="0" i="0" sz="1400" u="none" cap="none" strike="noStrike">
              <a:solidFill>
                <a:srgbClr val="000000"/>
              </a:solidFill>
              <a:latin typeface="Arial"/>
              <a:ea typeface="Arial"/>
              <a:cs typeface="Arial"/>
              <a:sym typeface="Arial"/>
            </a:endParaRPr>
          </a:p>
        </p:txBody>
      </p:sp>
      <p:pic>
        <p:nvPicPr>
          <p:cNvPr id="217" name="Google Shape;217;p39"/>
          <p:cNvPicPr preferRelativeResize="0"/>
          <p:nvPr/>
        </p:nvPicPr>
        <p:blipFill rotWithShape="1">
          <a:blip r:embed="rId3">
            <a:alphaModFix/>
          </a:blip>
          <a:srcRect b="0" l="0" r="0" t="0"/>
          <a:stretch/>
        </p:blipFill>
        <p:spPr>
          <a:xfrm>
            <a:off x="4278190" y="2280138"/>
            <a:ext cx="2228850" cy="3352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 Double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223" name="Google Shape;223;p40"/>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224" name="Google Shape;224;p40"/>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3: Insert 692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692 % 7 = 6, but location 6 is already being occupied and this is a collision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So we need to resolve this collision using double hashing.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hnew = [h1(692) + i * (h2(692)]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[6 + 1 * (1 + 692 % 5)]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9%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Now, as 2 is an empty slot,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so we can insert 692 into 2nd slot</a:t>
            </a:r>
            <a:endParaRPr b="0" i="0" sz="1400" u="none" cap="none" strike="noStrike">
              <a:solidFill>
                <a:srgbClr val="000000"/>
              </a:solidFill>
              <a:latin typeface="Arial"/>
              <a:ea typeface="Arial"/>
              <a:cs typeface="Arial"/>
              <a:sym typeface="Arial"/>
            </a:endParaRPr>
          </a:p>
        </p:txBody>
      </p:sp>
      <p:pic>
        <p:nvPicPr>
          <p:cNvPr id="225" name="Google Shape;225;p40"/>
          <p:cNvPicPr preferRelativeResize="0"/>
          <p:nvPr/>
        </p:nvPicPr>
        <p:blipFill rotWithShape="1">
          <a:blip r:embed="rId3">
            <a:alphaModFix/>
          </a:blip>
          <a:srcRect b="0" l="0" r="0" t="0"/>
          <a:stretch/>
        </p:blipFill>
        <p:spPr>
          <a:xfrm>
            <a:off x="4758837" y="2760785"/>
            <a:ext cx="2228850" cy="3352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1"/>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000"/>
              <a:buNone/>
            </a:pPr>
            <a:r>
              <a:rPr lang="en-IN" sz="4000">
                <a:solidFill>
                  <a:srgbClr val="7030A0"/>
                </a:solidFill>
                <a:latin typeface="Times New Roman"/>
                <a:ea typeface="Times New Roman"/>
                <a:cs typeface="Times New Roman"/>
                <a:sym typeface="Times New Roman"/>
              </a:rPr>
              <a:t> Double Hashing </a:t>
            </a:r>
            <a:endParaRPr b="1" i="0" sz="4000" u="none" cap="none" strike="noStrike">
              <a:solidFill>
                <a:schemeClr val="dk1"/>
              </a:solidFill>
              <a:latin typeface="Palatino Linotype"/>
              <a:ea typeface="Palatino Linotype"/>
              <a:cs typeface="Palatino Linotype"/>
              <a:sym typeface="Palatino Linotype"/>
            </a:endParaRPr>
          </a:p>
        </p:txBody>
      </p:sp>
      <p:sp>
        <p:nvSpPr>
          <p:cNvPr id="231" name="Google Shape;231;p41"/>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101600" lvl="1" marL="6858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232" name="Google Shape;232;p41"/>
          <p:cNvSpPr txBox="1"/>
          <p:nvPr/>
        </p:nvSpPr>
        <p:spPr>
          <a:xfrm>
            <a:off x="844062" y="1207477"/>
            <a:ext cx="10562492" cy="513470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Step 4: Insert 72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72 % 7 = 2, but location 2 is already being occupied and this is a collision.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So we need to resolve this collision using double hashing.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hnew = [h1(72) + i * (h2(72)]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[2 + 1 * (1 + 72 % 5)]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5 %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 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Now, as 5 is an empty slot,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so we can insert 72 into 5th slot.</a:t>
            </a:r>
            <a:endParaRPr b="0" i="0" sz="1400" u="none" cap="none" strike="noStrike">
              <a:solidFill>
                <a:srgbClr val="000000"/>
              </a:solidFill>
              <a:latin typeface="Arial"/>
              <a:ea typeface="Arial"/>
              <a:cs typeface="Arial"/>
              <a:sym typeface="Arial"/>
            </a:endParaRPr>
          </a:p>
        </p:txBody>
      </p:sp>
      <p:pic>
        <p:nvPicPr>
          <p:cNvPr id="233" name="Google Shape;233;p41"/>
          <p:cNvPicPr preferRelativeResize="0"/>
          <p:nvPr/>
        </p:nvPicPr>
        <p:blipFill rotWithShape="1">
          <a:blip r:embed="rId3">
            <a:alphaModFix/>
          </a:blip>
          <a:srcRect b="0" l="0" r="0" t="0"/>
          <a:stretch/>
        </p:blipFill>
        <p:spPr>
          <a:xfrm>
            <a:off x="4653329" y="2889738"/>
            <a:ext cx="2228850" cy="3352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1"/>
          <p:cNvSpPr txBox="1"/>
          <p:nvPr>
            <p:ph idx="1" type="body"/>
          </p:nvPr>
        </p:nvSpPr>
        <p:spPr>
          <a:xfrm>
            <a:off x="838200" y="1133934"/>
            <a:ext cx="10515600" cy="52315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a:p>
            <a:pPr indent="-228600" lvl="1" marL="685800" marR="0" rtl="0" algn="ctr">
              <a:lnSpc>
                <a:spcPct val="100000"/>
              </a:lnSpc>
              <a:spcBef>
                <a:spcPts val="500"/>
              </a:spcBef>
              <a:spcAft>
                <a:spcPts val="0"/>
              </a:spcAft>
              <a:buClr>
                <a:schemeClr val="dk1"/>
              </a:buClr>
              <a:buSzPts val="6000"/>
              <a:buFont typeface="Arial"/>
              <a:buNone/>
            </a:pPr>
            <a:r>
              <a:rPr b="0" i="0" lang="en-IN" sz="6000" u="none" cap="none" strike="noStrike">
                <a:solidFill>
                  <a:schemeClr val="dk1"/>
                </a:solidFill>
                <a:latin typeface="Palatino Linotype"/>
                <a:ea typeface="Palatino Linotype"/>
                <a:cs typeface="Palatino Linotype"/>
                <a:sym typeface="Palatino Linotype"/>
              </a:rPr>
              <a:t>Thank You</a:t>
            </a:r>
            <a:endParaRPr b="0" i="0" sz="60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2021-09-01T14:59:53Z</dcterms:created>
  <dc:creator>Priya Milton</dc:creator>
</cp:coreProperties>
</file>