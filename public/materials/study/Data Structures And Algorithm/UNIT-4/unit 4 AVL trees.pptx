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Lst>
  <p:sldSz cy="6858000" cx="12192000"/>
  <p:notesSz cx="6858000" cy="9144000"/>
  <p:embeddedFontLst>
    <p:embeddedFont>
      <p:font typeface="Poppins"/>
      <p:regular r:id="rId53"/>
      <p:bold r:id="rId54"/>
      <p:italic r:id="rId55"/>
      <p:boldItalic r:id="rId56"/>
    </p:embeddedFont>
    <p:embeddedFont>
      <p:font typeface="Palatino Linotype"/>
      <p:regular r:id="rId57"/>
      <p:bold r:id="rId58"/>
      <p:italic r:id="rId59"/>
      <p:boldItalic r:id="rId60"/>
    </p:embeddedFont>
    <p:embeddedFont>
      <p:font typeface="Open Sans"/>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65" roundtripDataSignature="AMtx7mj1Kl5tdnAkELNu72BoB5EP3jRG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fntdata"/><Relationship Id="rId61" Type="http://schemas.openxmlformats.org/officeDocument/2006/relationships/font" Target="fonts/OpenSans-regular.fntdata"/><Relationship Id="rId20" Type="http://schemas.openxmlformats.org/officeDocument/2006/relationships/slide" Target="slides/slide15.xml"/><Relationship Id="rId64" Type="http://schemas.openxmlformats.org/officeDocument/2006/relationships/font" Target="fonts/OpenSans-boldItalic.fntdata"/><Relationship Id="rId63" Type="http://schemas.openxmlformats.org/officeDocument/2006/relationships/font" Target="fonts/OpenSans-italic.fntdata"/><Relationship Id="rId22" Type="http://schemas.openxmlformats.org/officeDocument/2006/relationships/slide" Target="slides/slide17.xml"/><Relationship Id="rId21" Type="http://schemas.openxmlformats.org/officeDocument/2006/relationships/slide" Target="slides/slide16.xml"/><Relationship Id="rId65"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PalatinoLinotype-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font" Target="fonts/Poppins-regular.fntdata"/><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Poppins-italic.fntdata"/><Relationship Id="rId10" Type="http://schemas.openxmlformats.org/officeDocument/2006/relationships/slide" Target="slides/slide5.xml"/><Relationship Id="rId54" Type="http://schemas.openxmlformats.org/officeDocument/2006/relationships/font" Target="fonts/Poppins-bold.fntdata"/><Relationship Id="rId13" Type="http://schemas.openxmlformats.org/officeDocument/2006/relationships/slide" Target="slides/slide8.xml"/><Relationship Id="rId57" Type="http://schemas.openxmlformats.org/officeDocument/2006/relationships/font" Target="fonts/PalatinoLinotype-regular.fntdata"/><Relationship Id="rId12" Type="http://schemas.openxmlformats.org/officeDocument/2006/relationships/slide" Target="slides/slide7.xml"/><Relationship Id="rId56" Type="http://schemas.openxmlformats.org/officeDocument/2006/relationships/font" Target="fonts/Poppins-boldItalic.fntdata"/><Relationship Id="rId15" Type="http://schemas.openxmlformats.org/officeDocument/2006/relationships/slide" Target="slides/slide10.xml"/><Relationship Id="rId59" Type="http://schemas.openxmlformats.org/officeDocument/2006/relationships/font" Target="fonts/PalatinoLinotype-italic.fntdata"/><Relationship Id="rId14" Type="http://schemas.openxmlformats.org/officeDocument/2006/relationships/slide" Target="slides/slide9.xml"/><Relationship Id="rId58" Type="http://schemas.openxmlformats.org/officeDocument/2006/relationships/font" Target="fonts/PalatinoLinotype-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9" name="Google Shape;18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3" name="Google Shape;29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8" name="Google Shape;31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5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5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5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5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5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5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5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8"/>
          <p:cNvSpPr/>
          <p:nvPr>
            <p:ph idx="2" type="pic"/>
          </p:nvPr>
        </p:nvSpPr>
        <p:spPr>
          <a:xfrm>
            <a:off x="5183188" y="987425"/>
            <a:ext cx="6172200" cy="4873625"/>
          </a:xfrm>
          <a:prstGeom prst="rect">
            <a:avLst/>
          </a:prstGeom>
          <a:noFill/>
          <a:ln>
            <a:noFill/>
          </a:ln>
        </p:spPr>
      </p:sp>
      <p:sp>
        <p:nvSpPr>
          <p:cNvPr id="69" name="Google Shape;69;p5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6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49"/>
          <p:cNvSpPr/>
          <p:nvPr/>
        </p:nvSpPr>
        <p:spPr>
          <a:xfrm>
            <a:off x="10504715" y="230188"/>
            <a:ext cx="1231640" cy="690465"/>
          </a:xfrm>
          <a:prstGeom prst="rect">
            <a:avLst/>
          </a:prstGeom>
          <a:blipFill rotWithShape="1">
            <a:blip r:embed="rId1">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8.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3.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96008" y="2564904"/>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alatino Linotype"/>
              <a:buNone/>
            </a:pP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21CSC201J</a:t>
            </a: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DATA STRUCTURES AND ALGORITHMS</a:t>
            </a:r>
            <a:br>
              <a:rPr b="1" i="0" lang="en-US" sz="4800" u="none" cap="none" strike="noStrike">
                <a:solidFill>
                  <a:schemeClr val="dk1"/>
                </a:solidFill>
                <a:latin typeface="Palatino Linotype"/>
                <a:ea typeface="Palatino Linotype"/>
                <a:cs typeface="Palatino Linotype"/>
                <a:sym typeface="Palatino Linotype"/>
              </a:rPr>
            </a:b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UNIT-4</a:t>
            </a:r>
            <a:br>
              <a:rPr b="1" i="0" lang="en-US" sz="4800" u="none" cap="none" strike="noStrike">
                <a:solidFill>
                  <a:schemeClr val="dk1"/>
                </a:solidFill>
                <a:latin typeface="Palatino Linotype"/>
                <a:ea typeface="Palatino Linotype"/>
                <a:cs typeface="Palatino Linotype"/>
                <a:sym typeface="Palatino Linotype"/>
              </a:rPr>
            </a:br>
            <a:r>
              <a:rPr b="1" i="0" lang="en-US" sz="4800" u="none" cap="none" strike="noStrike">
                <a:solidFill>
                  <a:schemeClr val="dk1"/>
                </a:solidFill>
                <a:latin typeface="Palatino Linotype"/>
                <a:ea typeface="Palatino Linotype"/>
                <a:cs typeface="Palatino Linotype"/>
                <a:sym typeface="Palatino Linotype"/>
              </a:rPr>
              <a:t>Topic : AVL Trees</a:t>
            </a:r>
            <a:endParaRPr b="1" i="0" sz="4800" u="none" cap="none" strike="noStrike">
              <a:solidFill>
                <a:schemeClr val="dk1"/>
              </a:solidFill>
              <a:latin typeface="Palatino Linotype"/>
              <a:ea typeface="Palatino Linotype"/>
              <a:cs typeface="Palatino Linotype"/>
              <a:sym typeface="Palatino Linotyp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 </a:t>
            </a:r>
            <a:r>
              <a:rPr lang="en-US" sz="5600"/>
              <a:t>Adelson, Velski &amp; Landis, AVL trees</a:t>
            </a:r>
            <a:endParaRPr sz="5600"/>
          </a:p>
        </p:txBody>
      </p:sp>
      <p:sp>
        <p:nvSpPr>
          <p:cNvPr id="95" name="Google Shape;95;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920675" y="4358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t>
            </a:r>
            <a:r>
              <a:rPr b="1" lang="en-US"/>
              <a:t>Adelson</a:t>
            </a:r>
            <a:r>
              <a:rPr lang="en-US"/>
              <a:t>, </a:t>
            </a:r>
            <a:r>
              <a:rPr b="1" lang="en-US"/>
              <a:t>Velski</a:t>
            </a:r>
            <a:r>
              <a:rPr lang="en-US"/>
              <a:t> &amp; </a:t>
            </a:r>
            <a:r>
              <a:rPr b="1" lang="en-US"/>
              <a:t>Landis</a:t>
            </a:r>
            <a:r>
              <a:rPr lang="en-US"/>
              <a:t>, </a:t>
            </a:r>
            <a:r>
              <a:rPr b="1" lang="en-US"/>
              <a:t>AVL trees</a:t>
            </a:r>
            <a:endParaRPr/>
          </a:p>
        </p:txBody>
      </p:sp>
      <p:sp>
        <p:nvSpPr>
          <p:cNvPr id="101" name="Google Shape;101;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It is observed that BST's worst-case performance is closest to linear search algorithms, that is Ο(n). In real-time data, we cannot predict data pattern and their frequencies. So, a need arises to balance out the existing BST.</a:t>
            </a:r>
            <a:endParaRPr/>
          </a:p>
          <a:p>
            <a:pPr indent="-228600" lvl="0" marL="228600" rtl="0" algn="just">
              <a:lnSpc>
                <a:spcPct val="90000"/>
              </a:lnSpc>
              <a:spcBef>
                <a:spcPts val="1000"/>
              </a:spcBef>
              <a:spcAft>
                <a:spcPts val="0"/>
              </a:spcAft>
              <a:buClr>
                <a:schemeClr val="dk1"/>
              </a:buClr>
              <a:buSzPts val="2800"/>
              <a:buChar char="•"/>
            </a:pPr>
            <a:r>
              <a:rPr lang="en-US"/>
              <a:t>Named after their inventor </a:t>
            </a:r>
            <a:r>
              <a:rPr b="1" lang="en-US"/>
              <a:t>Adelson</a:t>
            </a:r>
            <a:r>
              <a:rPr lang="en-US"/>
              <a:t>, </a:t>
            </a:r>
            <a:r>
              <a:rPr b="1" lang="en-US"/>
              <a:t>Velski</a:t>
            </a:r>
            <a:r>
              <a:rPr lang="en-US"/>
              <a:t> &amp; </a:t>
            </a:r>
            <a:r>
              <a:rPr b="1" lang="en-US"/>
              <a:t>Landis</a:t>
            </a:r>
            <a:r>
              <a:rPr lang="en-US"/>
              <a:t>, </a:t>
            </a:r>
            <a:r>
              <a:rPr b="1" lang="en-US"/>
              <a:t>AVL trees</a:t>
            </a:r>
            <a:r>
              <a:rPr lang="en-US"/>
              <a:t> are height balancing binary search tree. AVL tree checks the height of the left and the right sub-trees and assures that the difference is not more than 1. This difference is called the </a:t>
            </a:r>
            <a:r>
              <a:rPr b="1" lang="en-US"/>
              <a:t>Balance Factor</a:t>
            </a:r>
            <a:r>
              <a:rPr lang="en-US"/>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AVL Tree" id="106" name="Google Shape;106;p4"/>
          <p:cNvPicPr preferRelativeResize="0"/>
          <p:nvPr/>
        </p:nvPicPr>
        <p:blipFill rotWithShape="1">
          <a:blip r:embed="rId3">
            <a:alphaModFix/>
          </a:blip>
          <a:srcRect b="0" l="0" r="0" t="0"/>
          <a:stretch/>
        </p:blipFill>
        <p:spPr>
          <a:xfrm>
            <a:off x="1701038" y="402664"/>
            <a:ext cx="7919479" cy="594581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Rounded"/>
              <a:buNone/>
            </a:pPr>
            <a:r>
              <a:rPr b="1" i="1" lang="en-US">
                <a:latin typeface="Arial Rounded"/>
                <a:ea typeface="Arial Rounded"/>
                <a:cs typeface="Arial Rounded"/>
                <a:sym typeface="Arial Rounded"/>
              </a:rPr>
              <a:t>Balance Factor</a:t>
            </a:r>
            <a:endParaRPr/>
          </a:p>
        </p:txBody>
      </p:sp>
      <p:pic>
        <p:nvPicPr>
          <p:cNvPr descr="Unbalanced AVL Trees" id="112" name="Google Shape;112;p5"/>
          <p:cNvPicPr preferRelativeResize="0"/>
          <p:nvPr>
            <p:ph idx="1" type="body"/>
          </p:nvPr>
        </p:nvPicPr>
        <p:blipFill rotWithShape="1">
          <a:blip r:embed="rId3">
            <a:alphaModFix/>
          </a:blip>
          <a:srcRect b="0" l="0" r="0" t="0"/>
          <a:stretch/>
        </p:blipFill>
        <p:spPr>
          <a:xfrm>
            <a:off x="2332919" y="1965960"/>
            <a:ext cx="7031497" cy="2756347"/>
          </a:xfrm>
          <a:prstGeom prst="rect">
            <a:avLst/>
          </a:prstGeom>
          <a:noFill/>
          <a:ln>
            <a:noFill/>
          </a:ln>
        </p:spPr>
      </p:pic>
      <p:sp>
        <p:nvSpPr>
          <p:cNvPr id="113" name="Google Shape;113;p5"/>
          <p:cNvSpPr/>
          <p:nvPr/>
        </p:nvSpPr>
        <p:spPr>
          <a:xfrm>
            <a:off x="1642700" y="5411915"/>
            <a:ext cx="9375820" cy="400110"/>
          </a:xfrm>
          <a:prstGeom prst="rect">
            <a:avLst/>
          </a:prstGeom>
          <a:solidFill>
            <a:srgbClr val="EEEEEE"/>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Rounded"/>
              <a:buNone/>
            </a:pPr>
            <a:r>
              <a:rPr b="1" i="1" lang="en-US" sz="2000" u="none" cap="none" strike="noStrike">
                <a:solidFill>
                  <a:schemeClr val="dk1"/>
                </a:solidFill>
                <a:latin typeface="Arial Rounded"/>
                <a:ea typeface="Arial Rounded"/>
                <a:cs typeface="Arial Rounded"/>
                <a:sym typeface="Arial Rounded"/>
              </a:rPr>
              <a:t>BalanceFactor</a:t>
            </a:r>
            <a:r>
              <a:rPr b="1" i="0" lang="en-US" sz="2000" u="none" cap="none" strike="noStrike">
                <a:solidFill>
                  <a:schemeClr val="dk1"/>
                </a:solidFill>
                <a:latin typeface="Arial Rounded"/>
                <a:ea typeface="Arial Rounded"/>
                <a:cs typeface="Arial Rounded"/>
                <a:sym typeface="Arial Rounded"/>
              </a:rPr>
              <a:t> = height(left-sutree) − height(right-sutree)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descr="AVL Tree Rotation Examples PPT | Gate Vidyalay" id="118" name="Google Shape;118;p6"/>
          <p:cNvPicPr preferRelativeResize="0"/>
          <p:nvPr/>
        </p:nvPicPr>
        <p:blipFill rotWithShape="1">
          <a:blip r:embed="rId3">
            <a:alphaModFix/>
          </a:blip>
          <a:srcRect b="0" l="0" r="0" t="0"/>
          <a:stretch/>
        </p:blipFill>
        <p:spPr>
          <a:xfrm>
            <a:off x="1463201" y="1416694"/>
            <a:ext cx="9265598" cy="36363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Avl tree" id="123" name="Google Shape;123;p7"/>
          <p:cNvPicPr preferRelativeResize="0"/>
          <p:nvPr/>
        </p:nvPicPr>
        <p:blipFill rotWithShape="1">
          <a:blip r:embed="rId3">
            <a:alphaModFix/>
          </a:blip>
          <a:srcRect b="0" l="0" r="0" t="0"/>
          <a:stretch/>
        </p:blipFill>
        <p:spPr>
          <a:xfrm>
            <a:off x="1726797" y="647364"/>
            <a:ext cx="7314172" cy="54913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Left Rotation</a:t>
            </a:r>
            <a:br>
              <a:rPr lang="en-US"/>
            </a:br>
            <a:endParaRPr/>
          </a:p>
        </p:txBody>
      </p:sp>
      <p:sp>
        <p:nvSpPr>
          <p:cNvPr id="129" name="Google Shape;129;p8"/>
          <p:cNvSpPr txBox="1"/>
          <p:nvPr>
            <p:ph idx="1" type="body"/>
          </p:nvPr>
        </p:nvSpPr>
        <p:spPr>
          <a:xfrm>
            <a:off x="3286125" y="1220800"/>
            <a:ext cx="2707800" cy="40386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If a tree beco</a:t>
            </a:r>
            <a:r>
              <a:rPr lang="en-US"/>
              <a:t>en a node is inserted into the right subt</a:t>
            </a:r>
            <a:r>
              <a:rPr lang="en-US"/>
              <a:t>mes unbalanced, whree of the right subtree, then we perform a single left rotation −</a:t>
            </a:r>
            <a:endParaRPr/>
          </a:p>
          <a:p>
            <a:pPr indent="-228600" lvl="0" marL="228600" rtl="0" algn="l">
              <a:lnSpc>
                <a:spcPct val="90000"/>
              </a:lnSpc>
              <a:spcBef>
                <a:spcPts val="1000"/>
              </a:spcBef>
              <a:spcAft>
                <a:spcPts val="0"/>
              </a:spcAft>
              <a:buClr>
                <a:schemeClr val="dk1"/>
              </a:buClr>
              <a:buSzPct val="100000"/>
              <a:buChar char="•"/>
            </a:pPr>
            <a:br>
              <a:rPr lang="en-US"/>
            </a:br>
            <a:endParaRPr/>
          </a:p>
        </p:txBody>
      </p:sp>
      <p:pic>
        <p:nvPicPr>
          <p:cNvPr descr="Left Rotation" id="130" name="Google Shape;130;p8"/>
          <p:cNvPicPr preferRelativeResize="0"/>
          <p:nvPr/>
        </p:nvPicPr>
        <p:blipFill rotWithShape="1">
          <a:blip r:embed="rId3">
            <a:alphaModFix/>
          </a:blip>
          <a:srcRect b="0" l="0" r="0" t="0"/>
          <a:stretch/>
        </p:blipFill>
        <p:spPr>
          <a:xfrm>
            <a:off x="4173784" y="2301695"/>
            <a:ext cx="7040958" cy="26051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Right Rotation</a:t>
            </a:r>
            <a:br>
              <a:rPr lang="en-US"/>
            </a:br>
            <a:endParaRPr/>
          </a:p>
        </p:txBody>
      </p:sp>
      <p:sp>
        <p:nvSpPr>
          <p:cNvPr id="136" name="Google Shape;136;p9"/>
          <p:cNvSpPr txBox="1"/>
          <p:nvPr>
            <p:ph idx="1" type="body"/>
          </p:nvPr>
        </p:nvSpPr>
        <p:spPr>
          <a:xfrm>
            <a:off x="1143001" y="2057400"/>
            <a:ext cx="3789608" cy="40386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AVL tree may become unbalanced, if a node is inserted in the left subtree of the left subtree. The tree then needs a right rotation.</a:t>
            </a:r>
            <a:endParaRPr/>
          </a:p>
        </p:txBody>
      </p:sp>
      <p:pic>
        <p:nvPicPr>
          <p:cNvPr descr="Right Rotation" id="137" name="Google Shape;137;p9"/>
          <p:cNvPicPr preferRelativeResize="0"/>
          <p:nvPr/>
        </p:nvPicPr>
        <p:blipFill rotWithShape="1">
          <a:blip r:embed="rId3">
            <a:alphaModFix/>
          </a:blip>
          <a:srcRect b="0" l="0" r="0" t="0"/>
          <a:stretch/>
        </p:blipFill>
        <p:spPr>
          <a:xfrm>
            <a:off x="4932609" y="2178453"/>
            <a:ext cx="6683166" cy="24193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ph idx="4294967295" type="title"/>
          </p:nvPr>
        </p:nvSpPr>
        <p:spPr>
          <a:xfrm>
            <a:off x="643943" y="596721"/>
            <a:ext cx="9875838" cy="135572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Left-Right Rotation</a:t>
            </a:r>
            <a:br>
              <a:rPr lang="en-US"/>
            </a:br>
            <a:endParaRPr/>
          </a:p>
        </p:txBody>
      </p:sp>
      <p:pic>
        <p:nvPicPr>
          <p:cNvPr id="143" name="Google Shape;143;p10"/>
          <p:cNvPicPr preferRelativeResize="0"/>
          <p:nvPr/>
        </p:nvPicPr>
        <p:blipFill rotWithShape="1">
          <a:blip r:embed="rId3">
            <a:alphaModFix/>
          </a:blip>
          <a:srcRect b="0" l="0" r="0" t="0"/>
          <a:stretch/>
        </p:blipFill>
        <p:spPr>
          <a:xfrm>
            <a:off x="5593937" y="663045"/>
            <a:ext cx="5210634" cy="6024465"/>
          </a:xfrm>
          <a:prstGeom prst="rect">
            <a:avLst/>
          </a:prstGeom>
          <a:noFill/>
          <a:ln>
            <a:noFill/>
          </a:ln>
        </p:spPr>
      </p:pic>
      <p:sp>
        <p:nvSpPr>
          <p:cNvPr id="144" name="Google Shape;144;p10"/>
          <p:cNvSpPr/>
          <p:nvPr/>
        </p:nvSpPr>
        <p:spPr>
          <a:xfrm>
            <a:off x="643943" y="1952446"/>
            <a:ext cx="255001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 left-right rotation is a combination of left rotation followed by right rotation.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1"/>
          <p:cNvSpPr txBox="1"/>
          <p:nvPr>
            <p:ph idx="4294967295" type="title"/>
          </p:nvPr>
        </p:nvSpPr>
        <p:spPr>
          <a:xfrm>
            <a:off x="1545464" y="558085"/>
            <a:ext cx="9875838" cy="135572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Right-Left Rotation</a:t>
            </a:r>
            <a:br>
              <a:rPr lang="en-US"/>
            </a:br>
            <a:br>
              <a:rPr lang="en-US"/>
            </a:br>
            <a:endParaRPr/>
          </a:p>
        </p:txBody>
      </p:sp>
      <p:pic>
        <p:nvPicPr>
          <p:cNvPr id="150" name="Google Shape;150;p11"/>
          <p:cNvPicPr preferRelativeResize="0"/>
          <p:nvPr/>
        </p:nvPicPr>
        <p:blipFill rotWithShape="1">
          <a:blip r:embed="rId3">
            <a:alphaModFix/>
          </a:blip>
          <a:srcRect b="0" l="0" r="0" t="0"/>
          <a:stretch/>
        </p:blipFill>
        <p:spPr>
          <a:xfrm>
            <a:off x="5947691" y="408634"/>
            <a:ext cx="4806168" cy="6068715"/>
          </a:xfrm>
          <a:prstGeom prst="rect">
            <a:avLst/>
          </a:prstGeom>
          <a:noFill/>
          <a:ln>
            <a:noFill/>
          </a:ln>
        </p:spPr>
      </p:pic>
      <p:sp>
        <p:nvSpPr>
          <p:cNvPr id="151" name="Google Shape;151;p11"/>
          <p:cNvSpPr/>
          <p:nvPr/>
        </p:nvSpPr>
        <p:spPr>
          <a:xfrm>
            <a:off x="832833" y="1267479"/>
            <a:ext cx="3262649"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The second type of double rotation is Right-Left Rotation. It is a combination of right rotation followed by left rotation.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Data Structures Tutorials - AVL Tree | Examples | Balance Factor" id="156" name="Google Shape;156;p12"/>
          <p:cNvPicPr preferRelativeResize="0"/>
          <p:nvPr/>
        </p:nvPicPr>
        <p:blipFill rotWithShape="1">
          <a:blip r:embed="rId3">
            <a:alphaModFix/>
          </a:blip>
          <a:srcRect b="0" l="0" r="0" t="0"/>
          <a:stretch/>
        </p:blipFill>
        <p:spPr>
          <a:xfrm>
            <a:off x="1778313" y="1854558"/>
            <a:ext cx="9000786" cy="351593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13"/>
          <p:cNvPicPr preferRelativeResize="0"/>
          <p:nvPr/>
        </p:nvPicPr>
        <p:blipFill rotWithShape="1">
          <a:blip r:embed="rId3">
            <a:alphaModFix/>
          </a:blip>
          <a:srcRect b="0" l="0" r="0" t="0"/>
          <a:stretch/>
        </p:blipFill>
        <p:spPr>
          <a:xfrm>
            <a:off x="1608704" y="1523970"/>
            <a:ext cx="7115175" cy="3009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4"/>
          <p:cNvPicPr preferRelativeResize="0"/>
          <p:nvPr/>
        </p:nvPicPr>
        <p:blipFill rotWithShape="1">
          <a:blip r:embed="rId3">
            <a:alphaModFix/>
          </a:blip>
          <a:srcRect b="0" l="0" r="0" t="0"/>
          <a:stretch/>
        </p:blipFill>
        <p:spPr>
          <a:xfrm>
            <a:off x="1674255" y="637102"/>
            <a:ext cx="8693238" cy="5429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heaps</a:t>
            </a:r>
            <a:endParaRPr/>
          </a:p>
        </p:txBody>
      </p:sp>
      <p:sp>
        <p:nvSpPr>
          <p:cNvPr id="172" name="Google Shape;172;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Heaps</a:t>
            </a:r>
            <a:endParaRPr/>
          </a:p>
        </p:txBody>
      </p:sp>
      <p:sp>
        <p:nvSpPr>
          <p:cNvPr id="178" name="Google Shape;178;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US"/>
              <a:t>A third type of tree is a heap. </a:t>
            </a:r>
            <a:endParaRPr/>
          </a:p>
          <a:p>
            <a:pPr indent="-228600" lvl="0" marL="228600" rtl="0" algn="just">
              <a:lnSpc>
                <a:spcPct val="90000"/>
              </a:lnSpc>
              <a:spcBef>
                <a:spcPts val="1000"/>
              </a:spcBef>
              <a:spcAft>
                <a:spcPts val="0"/>
              </a:spcAft>
              <a:buClr>
                <a:schemeClr val="dk1"/>
              </a:buClr>
              <a:buSzPts val="2800"/>
              <a:buChar char="•"/>
            </a:pPr>
            <a:r>
              <a:rPr lang="en-US"/>
              <a:t>A heap is a binary tree whose left and right subtrees  have values less than their parents. </a:t>
            </a:r>
            <a:endParaRPr/>
          </a:p>
          <a:p>
            <a:pPr indent="-228600" lvl="0" marL="228600" rtl="0" algn="just">
              <a:lnSpc>
                <a:spcPct val="90000"/>
              </a:lnSpc>
              <a:spcBef>
                <a:spcPts val="1000"/>
              </a:spcBef>
              <a:spcAft>
                <a:spcPts val="0"/>
              </a:spcAft>
              <a:buClr>
                <a:schemeClr val="dk1"/>
              </a:buClr>
              <a:buSzPts val="2800"/>
              <a:buChar char="•"/>
            </a:pPr>
            <a:r>
              <a:rPr lang="en-US"/>
              <a:t>The root of a maxheap is guaranteed to hold the largest node in the tree; its subtrees contain data that have lesser values. </a:t>
            </a:r>
            <a:endParaRPr/>
          </a:p>
          <a:p>
            <a:pPr indent="-228600" lvl="0" marL="228600" rtl="0" algn="just">
              <a:lnSpc>
                <a:spcPct val="90000"/>
              </a:lnSpc>
              <a:spcBef>
                <a:spcPts val="1000"/>
              </a:spcBef>
              <a:spcAft>
                <a:spcPts val="0"/>
              </a:spcAft>
              <a:buClr>
                <a:schemeClr val="dk1"/>
              </a:buClr>
              <a:buSzPts val="2800"/>
              <a:buChar char="•"/>
            </a:pPr>
            <a:r>
              <a:rPr lang="en-US"/>
              <a:t>Unlike the binary search tree, however, the lesser-valued nodes of a heap can be placed on either the right or the left subtree. </a:t>
            </a:r>
            <a:endParaRPr/>
          </a:p>
          <a:p>
            <a:pPr indent="-228600" lvl="0" marL="228600" rtl="0" algn="just">
              <a:lnSpc>
                <a:spcPct val="90000"/>
              </a:lnSpc>
              <a:spcBef>
                <a:spcPts val="1000"/>
              </a:spcBef>
              <a:spcAft>
                <a:spcPts val="0"/>
              </a:spcAft>
              <a:buClr>
                <a:schemeClr val="dk1"/>
              </a:buClr>
              <a:buSzPts val="2800"/>
              <a:buChar char="•"/>
            </a:pPr>
            <a:r>
              <a:rPr lang="en-US"/>
              <a:t>Heaps have another interesting facet: they are often implemented in an array rather than a linked list.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Definition</a:t>
            </a:r>
            <a:endParaRPr/>
          </a:p>
        </p:txBody>
      </p:sp>
      <p:sp>
        <p:nvSpPr>
          <p:cNvPr id="184" name="Google Shape;184;p17"/>
          <p:cNvSpPr txBox="1"/>
          <p:nvPr>
            <p:ph idx="1" type="body"/>
          </p:nvPr>
        </p:nvSpPr>
        <p:spPr>
          <a:xfrm>
            <a:off x="1143000" y="2057400"/>
            <a:ext cx="4060065" cy="40386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8108"/>
              <a:buChar char="•"/>
            </a:pPr>
            <a:r>
              <a:rPr lang="en-US"/>
              <a:t>A heap, as shown in Figure 9-1, is a binary tree structure with the following</a:t>
            </a:r>
            <a:endParaRPr/>
          </a:p>
          <a:p>
            <a:pPr indent="-228600" lvl="0" marL="228600" rtl="0" algn="just">
              <a:lnSpc>
                <a:spcPct val="90000"/>
              </a:lnSpc>
              <a:spcBef>
                <a:spcPts val="1000"/>
              </a:spcBef>
              <a:spcAft>
                <a:spcPts val="0"/>
              </a:spcAft>
              <a:buClr>
                <a:schemeClr val="dk1"/>
              </a:buClr>
              <a:buSzPct val="108108"/>
              <a:buChar char="•"/>
            </a:pPr>
            <a:r>
              <a:rPr lang="en-US"/>
              <a:t>properties:</a:t>
            </a:r>
            <a:endParaRPr/>
          </a:p>
          <a:p>
            <a:pPr indent="-228600" lvl="0" marL="228600" rtl="0" algn="just">
              <a:lnSpc>
                <a:spcPct val="90000"/>
              </a:lnSpc>
              <a:spcBef>
                <a:spcPts val="1000"/>
              </a:spcBef>
              <a:spcAft>
                <a:spcPts val="0"/>
              </a:spcAft>
              <a:buClr>
                <a:schemeClr val="dk1"/>
              </a:buClr>
              <a:buSzPct val="108108"/>
              <a:buChar char="•"/>
            </a:pPr>
            <a:r>
              <a:rPr lang="en-US"/>
              <a:t>1. The tree is complete or nearly complete.</a:t>
            </a:r>
            <a:endParaRPr/>
          </a:p>
          <a:p>
            <a:pPr indent="-228600" lvl="0" marL="228600" rtl="0" algn="just">
              <a:lnSpc>
                <a:spcPct val="90000"/>
              </a:lnSpc>
              <a:spcBef>
                <a:spcPts val="1000"/>
              </a:spcBef>
              <a:spcAft>
                <a:spcPts val="0"/>
              </a:spcAft>
              <a:buClr>
                <a:schemeClr val="dk1"/>
              </a:buClr>
              <a:buSzPct val="108108"/>
              <a:buChar char="•"/>
            </a:pPr>
            <a:r>
              <a:rPr lang="en-US"/>
              <a:t>2. The key value of each node is greater than or equal to the key value in each of its descendants.</a:t>
            </a:r>
            <a:endParaRPr/>
          </a:p>
        </p:txBody>
      </p:sp>
      <p:pic>
        <p:nvPicPr>
          <p:cNvPr id="185" name="Google Shape;185;p17"/>
          <p:cNvPicPr preferRelativeResize="0"/>
          <p:nvPr/>
        </p:nvPicPr>
        <p:blipFill rotWithShape="1">
          <a:blip r:embed="rId3">
            <a:alphaModFix/>
          </a:blip>
          <a:srcRect b="0" l="0" r="0" t="0"/>
          <a:stretch/>
        </p:blipFill>
        <p:spPr>
          <a:xfrm>
            <a:off x="5097685" y="2284391"/>
            <a:ext cx="6143625" cy="2057400"/>
          </a:xfrm>
          <a:prstGeom prst="rect">
            <a:avLst/>
          </a:prstGeom>
          <a:noFill/>
          <a:ln>
            <a:noFill/>
          </a:ln>
        </p:spPr>
      </p:pic>
      <p:sp>
        <p:nvSpPr>
          <p:cNvPr id="186" name="Google Shape;186;p17"/>
          <p:cNvSpPr/>
          <p:nvPr/>
        </p:nvSpPr>
        <p:spPr>
          <a:xfrm>
            <a:off x="5327561" y="4895671"/>
            <a:ext cx="6096000" cy="1200329"/>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Poppins"/>
                <a:ea typeface="Poppins"/>
                <a:cs typeface="Poppins"/>
                <a:sym typeface="Poppins"/>
              </a:rPr>
              <a:t>A heap is a complete or nearly complete binary tree in which the key value in a node is greater than or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Poppins"/>
                <a:ea typeface="Poppins"/>
                <a:cs typeface="Poppins"/>
                <a:sym typeface="Poppins"/>
              </a:rPr>
              <a:t>equal to the key values in all of its subtrees, and the subtrees are in turn heaps.</a:t>
            </a:r>
            <a:endParaRPr b="1" i="0" sz="1800" u="none" cap="none" strike="noStrike">
              <a:solidFill>
                <a:srgbClr val="FF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p18"/>
          <p:cNvPicPr preferRelativeResize="0"/>
          <p:nvPr/>
        </p:nvPicPr>
        <p:blipFill rotWithShape="1">
          <a:blip r:embed="rId3">
            <a:alphaModFix/>
          </a:blip>
          <a:srcRect b="0" l="0" r="0" t="0"/>
          <a:stretch/>
        </p:blipFill>
        <p:spPr>
          <a:xfrm>
            <a:off x="0" y="1450616"/>
            <a:ext cx="11737639" cy="3327445"/>
          </a:xfrm>
          <a:prstGeom prst="rect">
            <a:avLst/>
          </a:prstGeom>
          <a:noFill/>
          <a:ln>
            <a:noFill/>
          </a:ln>
        </p:spPr>
      </p:pic>
      <p:sp>
        <p:nvSpPr>
          <p:cNvPr id="192" name="Google Shape;192;p18"/>
          <p:cNvSpPr/>
          <p:nvPr/>
        </p:nvSpPr>
        <p:spPr>
          <a:xfrm>
            <a:off x="127820" y="4031226"/>
            <a:ext cx="1740310" cy="845574"/>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3" name="Google Shape;193;p18"/>
          <p:cNvSpPr/>
          <p:nvPr/>
        </p:nvSpPr>
        <p:spPr>
          <a:xfrm>
            <a:off x="1868130" y="1081548"/>
            <a:ext cx="2467896" cy="530942"/>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19"/>
          <p:cNvPicPr preferRelativeResize="0"/>
          <p:nvPr/>
        </p:nvPicPr>
        <p:blipFill rotWithShape="1">
          <a:blip r:embed="rId3">
            <a:alphaModFix/>
          </a:blip>
          <a:srcRect b="0" l="0" r="0" t="0"/>
          <a:stretch/>
        </p:blipFill>
        <p:spPr>
          <a:xfrm>
            <a:off x="1927202" y="952231"/>
            <a:ext cx="6276975" cy="4000500"/>
          </a:xfrm>
          <a:prstGeom prst="rect">
            <a:avLst/>
          </a:prstGeom>
          <a:noFill/>
          <a:ln>
            <a:noFill/>
          </a:ln>
        </p:spPr>
      </p:pic>
      <p:sp>
        <p:nvSpPr>
          <p:cNvPr id="199" name="Google Shape;199;p19"/>
          <p:cNvSpPr/>
          <p:nvPr/>
        </p:nvSpPr>
        <p:spPr>
          <a:xfrm>
            <a:off x="1455174" y="4159045"/>
            <a:ext cx="1376516" cy="79368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Heap Operations</a:t>
            </a:r>
            <a:endParaRPr/>
          </a:p>
        </p:txBody>
      </p:sp>
      <p:sp>
        <p:nvSpPr>
          <p:cNvPr id="205" name="Google Shape;205;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Two basic maintenance operations are performed on a heap: </a:t>
            </a:r>
            <a:endParaRPr/>
          </a:p>
          <a:p>
            <a:pPr indent="-228600" lvl="1" marL="685800" rtl="0" algn="l">
              <a:lnSpc>
                <a:spcPct val="90000"/>
              </a:lnSpc>
              <a:spcBef>
                <a:spcPts val="500"/>
              </a:spcBef>
              <a:spcAft>
                <a:spcPts val="0"/>
              </a:spcAft>
              <a:buClr>
                <a:srgbClr val="FF0000"/>
              </a:buClr>
              <a:buSzPts val="2800"/>
              <a:buChar char="•"/>
            </a:pPr>
            <a:r>
              <a:rPr b="1" lang="en-US" sz="2800">
                <a:solidFill>
                  <a:srgbClr val="FF0000"/>
                </a:solidFill>
              </a:rPr>
              <a:t>insert a node </a:t>
            </a:r>
            <a:endParaRPr b="1" sz="2800">
              <a:solidFill>
                <a:srgbClr val="FF0000"/>
              </a:solidFill>
            </a:endParaRPr>
          </a:p>
          <a:p>
            <a:pPr indent="-228600" lvl="1" marL="685800" rtl="0" algn="l">
              <a:lnSpc>
                <a:spcPct val="90000"/>
              </a:lnSpc>
              <a:spcBef>
                <a:spcPts val="500"/>
              </a:spcBef>
              <a:spcAft>
                <a:spcPts val="0"/>
              </a:spcAft>
              <a:buClr>
                <a:srgbClr val="FF0000"/>
              </a:buClr>
              <a:buSzPts val="2800"/>
              <a:buChar char="•"/>
            </a:pPr>
            <a:r>
              <a:rPr b="1" lang="en-US" sz="2800">
                <a:solidFill>
                  <a:srgbClr val="FF0000"/>
                </a:solidFill>
              </a:rPr>
              <a:t>and delete a node.</a:t>
            </a:r>
            <a:endParaRPr/>
          </a:p>
          <a:p>
            <a:pPr indent="-50800" lvl="1" marL="685800" rtl="0" algn="l">
              <a:lnSpc>
                <a:spcPct val="90000"/>
              </a:lnSpc>
              <a:spcBef>
                <a:spcPts val="500"/>
              </a:spcBef>
              <a:spcAft>
                <a:spcPts val="0"/>
              </a:spcAft>
              <a:buClr>
                <a:schemeClr val="dk1"/>
              </a:buClr>
              <a:buSzPts val="2800"/>
              <a:buNone/>
            </a:pPr>
            <a:r>
              <a:t/>
            </a:r>
            <a:endParaRPr b="1" sz="2800">
              <a:solidFill>
                <a:srgbClr val="FF0000"/>
              </a:solidFill>
            </a:endParaRPr>
          </a:p>
          <a:p>
            <a:pPr indent="-228600" lvl="0" marL="228600" rtl="0" algn="l">
              <a:lnSpc>
                <a:spcPct val="90000"/>
              </a:lnSpc>
              <a:spcBef>
                <a:spcPts val="1000"/>
              </a:spcBef>
              <a:spcAft>
                <a:spcPts val="0"/>
              </a:spcAft>
              <a:buClr>
                <a:schemeClr val="dk1"/>
              </a:buClr>
              <a:buSzPts val="2400"/>
              <a:buChar char="•"/>
            </a:pPr>
            <a:r>
              <a:rPr lang="en-US" sz="2400"/>
              <a:t>To implement the insert and delete operations, we need two basic algorithms: reheap up and reheap down.</a:t>
            </a:r>
            <a:endParaRPr b="1" sz="660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Reheap Up</a:t>
            </a:r>
            <a:endParaRPr/>
          </a:p>
        </p:txBody>
      </p:sp>
      <p:sp>
        <p:nvSpPr>
          <p:cNvPr id="211" name="Google Shape;21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reheap up operation reorders a “broken” heap by </a:t>
            </a:r>
            <a:r>
              <a:rPr b="1" lang="en-US">
                <a:solidFill>
                  <a:srgbClr val="FF0000"/>
                </a:solidFill>
              </a:rPr>
              <a:t>floating the last element up the tree until it is in its correct location in the heap.</a:t>
            </a:r>
            <a:endParaRPr/>
          </a:p>
          <a:p>
            <a:pPr indent="-50800" lvl="0" marL="228600" rtl="0" algn="l">
              <a:lnSpc>
                <a:spcPct val="90000"/>
              </a:lnSpc>
              <a:spcBef>
                <a:spcPts val="1000"/>
              </a:spcBef>
              <a:spcAft>
                <a:spcPts val="0"/>
              </a:spcAft>
              <a:buClr>
                <a:schemeClr val="dk1"/>
              </a:buClr>
              <a:buSzPts val="2800"/>
              <a:buNone/>
            </a:pPr>
            <a:r>
              <a:t/>
            </a:r>
            <a:endParaRPr b="1">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22"/>
          <p:cNvPicPr preferRelativeResize="0"/>
          <p:nvPr/>
        </p:nvPicPr>
        <p:blipFill rotWithShape="1">
          <a:blip r:embed="rId3">
            <a:alphaModFix/>
          </a:blip>
          <a:srcRect b="0" l="0" r="0" t="0"/>
          <a:stretch/>
        </p:blipFill>
        <p:spPr>
          <a:xfrm>
            <a:off x="2375548" y="368256"/>
            <a:ext cx="6848475" cy="5657850"/>
          </a:xfrm>
          <a:prstGeom prst="rect">
            <a:avLst/>
          </a:prstGeom>
          <a:noFill/>
          <a:ln>
            <a:noFill/>
          </a:ln>
        </p:spPr>
      </p:pic>
      <p:sp>
        <p:nvSpPr>
          <p:cNvPr id="217" name="Google Shape;217;p22"/>
          <p:cNvSpPr/>
          <p:nvPr/>
        </p:nvSpPr>
        <p:spPr>
          <a:xfrm>
            <a:off x="2989006" y="5594555"/>
            <a:ext cx="1209368" cy="52111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3"/>
          <p:cNvPicPr preferRelativeResize="0"/>
          <p:nvPr/>
        </p:nvPicPr>
        <p:blipFill rotWithShape="1">
          <a:blip r:embed="rId3">
            <a:alphaModFix/>
          </a:blip>
          <a:srcRect b="0" l="0" r="0" t="0"/>
          <a:stretch/>
        </p:blipFill>
        <p:spPr>
          <a:xfrm>
            <a:off x="2228582" y="619125"/>
            <a:ext cx="6781800" cy="5619750"/>
          </a:xfrm>
          <a:prstGeom prst="rect">
            <a:avLst/>
          </a:prstGeom>
          <a:noFill/>
          <a:ln>
            <a:noFill/>
          </a:ln>
        </p:spPr>
      </p:pic>
      <p:sp>
        <p:nvSpPr>
          <p:cNvPr id="223" name="Google Shape;223;p23"/>
          <p:cNvSpPr/>
          <p:nvPr/>
        </p:nvSpPr>
        <p:spPr>
          <a:xfrm>
            <a:off x="2605548" y="5840361"/>
            <a:ext cx="1091381" cy="550607"/>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Heap Implementation</a:t>
            </a:r>
            <a:endParaRPr/>
          </a:p>
        </p:txBody>
      </p:sp>
      <p:sp>
        <p:nvSpPr>
          <p:cNvPr id="229" name="Google Shape;229;p24"/>
          <p:cNvSpPr txBox="1"/>
          <p:nvPr>
            <p:ph idx="1" type="body"/>
          </p:nvPr>
        </p:nvSpPr>
        <p:spPr>
          <a:xfrm>
            <a:off x="1143000" y="1965960"/>
            <a:ext cx="10821473" cy="4130040"/>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Although a heap can be built in a dynamic tree structure, it is most often implemented in an array. This implementation is possible because the heap is, </a:t>
            </a:r>
            <a:r>
              <a:rPr b="1" lang="en-US">
                <a:solidFill>
                  <a:schemeClr val="dk1"/>
                </a:solidFill>
              </a:rPr>
              <a:t>by definition, complete or nearly complete</a:t>
            </a:r>
            <a:r>
              <a:rPr lang="en-US"/>
              <a:t>. Therefore, the relationship</a:t>
            </a:r>
            <a:endParaRPr/>
          </a:p>
          <a:p>
            <a:pPr indent="-228600" lvl="0" marL="228600" rtl="0" algn="l">
              <a:lnSpc>
                <a:spcPct val="90000"/>
              </a:lnSpc>
              <a:spcBef>
                <a:spcPts val="1000"/>
              </a:spcBef>
              <a:spcAft>
                <a:spcPts val="0"/>
              </a:spcAft>
              <a:buClr>
                <a:schemeClr val="dk1"/>
              </a:buClr>
              <a:buSzPct val="100000"/>
              <a:buChar char="•"/>
            </a:pPr>
            <a:r>
              <a:rPr lang="en-US"/>
              <a:t>between a node and its children is fixed and can be calculated as shown below.</a:t>
            </a:r>
            <a:endParaRPr/>
          </a:p>
          <a:p>
            <a:pPr indent="-228600" lvl="0" marL="228600" rtl="0" algn="l">
              <a:lnSpc>
                <a:spcPct val="90000"/>
              </a:lnSpc>
              <a:spcBef>
                <a:spcPts val="1000"/>
              </a:spcBef>
              <a:spcAft>
                <a:spcPts val="0"/>
              </a:spcAft>
              <a:buClr>
                <a:schemeClr val="dk1"/>
              </a:buClr>
              <a:buSzPct val="100000"/>
              <a:buChar char="•"/>
            </a:pPr>
            <a:r>
              <a:rPr lang="en-US"/>
              <a:t>1. For a node located at index </a:t>
            </a:r>
            <a:r>
              <a:rPr i="1" lang="en-US"/>
              <a:t>i</a:t>
            </a:r>
            <a:r>
              <a:rPr lang="en-US"/>
              <a:t>, its children are found at:</a:t>
            </a:r>
            <a:endParaRPr/>
          </a:p>
          <a:p>
            <a:pPr indent="-228600" lvl="0" marL="228600" rtl="0" algn="l">
              <a:lnSpc>
                <a:spcPct val="90000"/>
              </a:lnSpc>
              <a:spcBef>
                <a:spcPts val="1000"/>
              </a:spcBef>
              <a:spcAft>
                <a:spcPts val="0"/>
              </a:spcAft>
              <a:buClr>
                <a:srgbClr val="7030A0"/>
              </a:buClr>
              <a:buSzPct val="100000"/>
              <a:buChar char="•"/>
            </a:pPr>
            <a:r>
              <a:rPr b="1" lang="en-US">
                <a:solidFill>
                  <a:srgbClr val="7030A0"/>
                </a:solidFill>
              </a:rPr>
              <a:t>a. Left child: 2</a:t>
            </a:r>
            <a:r>
              <a:rPr b="1" i="1" lang="en-US">
                <a:solidFill>
                  <a:srgbClr val="7030A0"/>
                </a:solidFill>
              </a:rPr>
              <a:t>i </a:t>
            </a:r>
            <a:r>
              <a:rPr b="1" lang="en-US">
                <a:solidFill>
                  <a:srgbClr val="7030A0"/>
                </a:solidFill>
              </a:rPr>
              <a:t>+ 1</a:t>
            </a:r>
            <a:endParaRPr/>
          </a:p>
          <a:p>
            <a:pPr indent="-228600" lvl="0" marL="228600" rtl="0" algn="l">
              <a:lnSpc>
                <a:spcPct val="90000"/>
              </a:lnSpc>
              <a:spcBef>
                <a:spcPts val="1000"/>
              </a:spcBef>
              <a:spcAft>
                <a:spcPts val="0"/>
              </a:spcAft>
              <a:buClr>
                <a:srgbClr val="7030A0"/>
              </a:buClr>
              <a:buSzPct val="100000"/>
              <a:buChar char="•"/>
            </a:pPr>
            <a:r>
              <a:rPr b="1" lang="en-US">
                <a:solidFill>
                  <a:srgbClr val="7030A0"/>
                </a:solidFill>
              </a:rPr>
              <a:t>b. Right child: 2</a:t>
            </a:r>
            <a:r>
              <a:rPr b="1" i="1" lang="en-US">
                <a:solidFill>
                  <a:srgbClr val="7030A0"/>
                </a:solidFill>
              </a:rPr>
              <a:t>i </a:t>
            </a:r>
            <a:r>
              <a:rPr b="1" lang="en-US">
                <a:solidFill>
                  <a:srgbClr val="7030A0"/>
                </a:solidFill>
              </a:rPr>
              <a:t>+ 2</a:t>
            </a:r>
            <a:endParaRPr/>
          </a:p>
          <a:p>
            <a:pPr indent="-228600" lvl="0" marL="228600" rtl="0" algn="l">
              <a:lnSpc>
                <a:spcPct val="90000"/>
              </a:lnSpc>
              <a:spcBef>
                <a:spcPts val="1000"/>
              </a:spcBef>
              <a:spcAft>
                <a:spcPts val="0"/>
              </a:spcAft>
              <a:buClr>
                <a:schemeClr val="dk1"/>
              </a:buClr>
              <a:buSzPct val="100000"/>
              <a:buChar char="•"/>
            </a:pPr>
            <a:r>
              <a:rPr lang="en-US"/>
              <a:t>2. The </a:t>
            </a:r>
            <a:r>
              <a:rPr b="1" lang="en-US">
                <a:solidFill>
                  <a:srgbClr val="7030A0"/>
                </a:solidFill>
              </a:rPr>
              <a:t>parent of a node located at index </a:t>
            </a:r>
            <a:r>
              <a:rPr b="1" i="1" lang="en-US">
                <a:solidFill>
                  <a:srgbClr val="7030A0"/>
                </a:solidFill>
              </a:rPr>
              <a:t>i </a:t>
            </a:r>
            <a:r>
              <a:rPr b="1" lang="en-US">
                <a:solidFill>
                  <a:srgbClr val="7030A0"/>
                </a:solidFill>
              </a:rPr>
              <a:t>is located at [(</a:t>
            </a:r>
            <a:r>
              <a:rPr b="1" i="1" lang="en-US">
                <a:solidFill>
                  <a:srgbClr val="7030A0"/>
                </a:solidFill>
              </a:rPr>
              <a:t>i – </a:t>
            </a:r>
            <a:r>
              <a:rPr b="1" lang="en-US">
                <a:solidFill>
                  <a:srgbClr val="7030A0"/>
                </a:solidFill>
              </a:rPr>
              <a:t>1) / 2]</a:t>
            </a:r>
            <a:endParaRPr/>
          </a:p>
          <a:p>
            <a:pPr indent="-228600" lvl="0" marL="228600" rtl="0" algn="l">
              <a:lnSpc>
                <a:spcPct val="90000"/>
              </a:lnSpc>
              <a:spcBef>
                <a:spcPts val="1000"/>
              </a:spcBef>
              <a:spcAft>
                <a:spcPts val="0"/>
              </a:spcAft>
              <a:buClr>
                <a:schemeClr val="dk1"/>
              </a:buClr>
              <a:buSzPct val="100000"/>
              <a:buChar char="•"/>
            </a:pPr>
            <a:r>
              <a:rPr lang="en-US"/>
              <a:t>3. Given the index for a </a:t>
            </a:r>
            <a:r>
              <a:rPr b="1" lang="en-US">
                <a:solidFill>
                  <a:srgbClr val="FF0000"/>
                </a:solidFill>
              </a:rPr>
              <a:t>left child, </a:t>
            </a:r>
            <a:r>
              <a:rPr b="1" i="1" lang="en-US">
                <a:solidFill>
                  <a:srgbClr val="FF0000"/>
                </a:solidFill>
              </a:rPr>
              <a:t>j, </a:t>
            </a:r>
            <a:r>
              <a:rPr b="1" lang="en-US">
                <a:solidFill>
                  <a:srgbClr val="FF0000"/>
                </a:solidFill>
              </a:rPr>
              <a:t>its right sibling, if any, is found at </a:t>
            </a:r>
            <a:r>
              <a:rPr b="1" i="1" lang="en-US">
                <a:solidFill>
                  <a:srgbClr val="FF0000"/>
                </a:solidFill>
              </a:rPr>
              <a:t>j </a:t>
            </a:r>
            <a:r>
              <a:rPr b="1" lang="en-US">
                <a:solidFill>
                  <a:srgbClr val="FF0000"/>
                </a:solidFill>
              </a:rPr>
              <a:t>+ 1.</a:t>
            </a:r>
            <a:endParaRPr/>
          </a:p>
          <a:p>
            <a:pPr indent="-228600" lvl="0" marL="228600" rtl="0" algn="l">
              <a:lnSpc>
                <a:spcPct val="90000"/>
              </a:lnSpc>
              <a:spcBef>
                <a:spcPts val="1000"/>
              </a:spcBef>
              <a:spcAft>
                <a:spcPts val="0"/>
              </a:spcAft>
              <a:buClr>
                <a:schemeClr val="dk1"/>
              </a:buClr>
              <a:buSzPct val="100000"/>
              <a:buChar char="•"/>
            </a:pPr>
            <a:r>
              <a:rPr lang="en-US"/>
              <a:t>Conversely, given the index for a </a:t>
            </a:r>
            <a:r>
              <a:rPr b="1" lang="en-US">
                <a:solidFill>
                  <a:srgbClr val="FF0000"/>
                </a:solidFill>
              </a:rPr>
              <a:t>right child, </a:t>
            </a:r>
            <a:r>
              <a:rPr b="1" i="1" lang="en-US">
                <a:solidFill>
                  <a:srgbClr val="FF0000"/>
                </a:solidFill>
              </a:rPr>
              <a:t>k</a:t>
            </a:r>
            <a:r>
              <a:rPr b="1" lang="en-US">
                <a:solidFill>
                  <a:srgbClr val="FF0000"/>
                </a:solidFill>
              </a:rPr>
              <a:t>, its left sibling, which must exist, is found at </a:t>
            </a:r>
            <a:r>
              <a:rPr b="1" i="1" lang="en-US">
                <a:solidFill>
                  <a:srgbClr val="FF0000"/>
                </a:solidFill>
              </a:rPr>
              <a:t>k </a:t>
            </a:r>
            <a:r>
              <a:rPr b="1" lang="en-US">
                <a:solidFill>
                  <a:srgbClr val="FF0000"/>
                </a:solidFill>
              </a:rPr>
              <a:t>– 1</a:t>
            </a:r>
            <a:endParaRPr b="1">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5"/>
          <p:cNvSpPr txBox="1"/>
          <p:nvPr>
            <p:ph idx="1" type="body"/>
          </p:nvPr>
        </p:nvSpPr>
        <p:spPr>
          <a:xfrm>
            <a:off x="1065727" y="619125"/>
            <a:ext cx="9872871" cy="40386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4. Given the size, </a:t>
            </a:r>
            <a:r>
              <a:rPr i="1" lang="en-US"/>
              <a:t>n</a:t>
            </a:r>
            <a:r>
              <a:rPr lang="en-US"/>
              <a:t>, of a complete heap, the location of the first leaf is [(</a:t>
            </a:r>
            <a:r>
              <a:rPr i="1" lang="en-US"/>
              <a:t>n </a:t>
            </a:r>
            <a:r>
              <a:rPr lang="en-US"/>
              <a:t>/ 2)]</a:t>
            </a:r>
            <a:endParaRPr/>
          </a:p>
          <a:p>
            <a:pPr indent="-228600" lvl="0" marL="228600" rtl="0" algn="l">
              <a:lnSpc>
                <a:spcPct val="90000"/>
              </a:lnSpc>
              <a:spcBef>
                <a:spcPts val="1000"/>
              </a:spcBef>
              <a:spcAft>
                <a:spcPts val="0"/>
              </a:spcAft>
              <a:buClr>
                <a:schemeClr val="dk1"/>
              </a:buClr>
              <a:buSzPts val="2800"/>
              <a:buChar char="•"/>
            </a:pPr>
            <a:r>
              <a:rPr lang="en-US"/>
              <a:t>Given the location of the first leaf element, the location of the last non leaf</a:t>
            </a:r>
            <a:endParaRPr/>
          </a:p>
          <a:p>
            <a:pPr indent="-228600" lvl="0" marL="228600" rtl="0" algn="l">
              <a:lnSpc>
                <a:spcPct val="90000"/>
              </a:lnSpc>
              <a:spcBef>
                <a:spcPts val="1000"/>
              </a:spcBef>
              <a:spcAft>
                <a:spcPts val="0"/>
              </a:spcAft>
              <a:buClr>
                <a:schemeClr val="dk1"/>
              </a:buClr>
              <a:buSzPts val="2800"/>
              <a:buChar char="•"/>
            </a:pPr>
            <a:r>
              <a:rPr lang="en-US"/>
              <a:t>element is one less.</a:t>
            </a:r>
            <a:endParaRPr/>
          </a:p>
        </p:txBody>
      </p:sp>
      <p:sp>
        <p:nvSpPr>
          <p:cNvPr id="235" name="Google Shape;235;p25"/>
          <p:cNvSpPr/>
          <p:nvPr/>
        </p:nvSpPr>
        <p:spPr>
          <a:xfrm>
            <a:off x="1554050" y="4987111"/>
            <a:ext cx="60960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B97A57"/>
                </a:solidFill>
                <a:latin typeface="Calibri"/>
                <a:ea typeface="Calibri"/>
                <a:cs typeface="Calibri"/>
                <a:sym typeface="Calibri"/>
              </a:rPr>
              <a:t>parent= (i-1)/2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B97A57"/>
                </a:solidFill>
                <a:latin typeface="Calibri"/>
                <a:ea typeface="Calibri"/>
                <a:cs typeface="Calibri"/>
                <a:sym typeface="Calibri"/>
              </a:rPr>
              <a:t>parent of 40, i=4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B97A57"/>
                </a:solidFill>
                <a:latin typeface="Calibri"/>
                <a:ea typeface="Calibri"/>
                <a:cs typeface="Calibri"/>
                <a:sym typeface="Calibri"/>
              </a:rPr>
              <a:t>parent=3/2=1= 75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B97A57"/>
              </a:solidFill>
              <a:latin typeface="Calibri"/>
              <a:ea typeface="Calibri"/>
              <a:cs typeface="Calibri"/>
              <a:sym typeface="Calibri"/>
            </a:endParaRPr>
          </a:p>
        </p:txBody>
      </p:sp>
      <p:pic>
        <p:nvPicPr>
          <p:cNvPr id="236" name="Google Shape;236;p25"/>
          <p:cNvPicPr preferRelativeResize="0"/>
          <p:nvPr/>
        </p:nvPicPr>
        <p:blipFill rotWithShape="1">
          <a:blip r:embed="rId3">
            <a:alphaModFix/>
          </a:blip>
          <a:srcRect b="0" l="0" r="0" t="0"/>
          <a:stretch/>
        </p:blipFill>
        <p:spPr>
          <a:xfrm>
            <a:off x="4922612" y="4657725"/>
            <a:ext cx="6276975" cy="1438275"/>
          </a:xfrm>
          <a:prstGeom prst="rect">
            <a:avLst/>
          </a:prstGeom>
          <a:noFill/>
          <a:ln>
            <a:noFill/>
          </a:ln>
        </p:spPr>
      </p:pic>
      <p:pic>
        <p:nvPicPr>
          <p:cNvPr id="237" name="Google Shape;237;p25"/>
          <p:cNvPicPr preferRelativeResize="0"/>
          <p:nvPr/>
        </p:nvPicPr>
        <p:blipFill rotWithShape="1">
          <a:blip r:embed="rId4">
            <a:alphaModFix/>
          </a:blip>
          <a:srcRect b="0" l="0" r="0" t="0"/>
          <a:stretch/>
        </p:blipFill>
        <p:spPr>
          <a:xfrm>
            <a:off x="5013887" y="3928875"/>
            <a:ext cx="6496050" cy="2543175"/>
          </a:xfrm>
          <a:prstGeom prst="rect">
            <a:avLst/>
          </a:prstGeom>
          <a:noFill/>
          <a:ln>
            <a:noFill/>
          </a:ln>
        </p:spPr>
      </p:pic>
      <p:pic>
        <p:nvPicPr>
          <p:cNvPr id="238" name="Google Shape;238;p25"/>
          <p:cNvPicPr preferRelativeResize="0"/>
          <p:nvPr/>
        </p:nvPicPr>
        <p:blipFill rotWithShape="1">
          <a:blip r:embed="rId5">
            <a:alphaModFix/>
          </a:blip>
          <a:srcRect b="0" l="0" r="0" t="0"/>
          <a:stretch/>
        </p:blipFill>
        <p:spPr>
          <a:xfrm>
            <a:off x="1292928" y="3600900"/>
            <a:ext cx="2712402" cy="270570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6"/>
          <p:cNvPicPr preferRelativeResize="0"/>
          <p:nvPr/>
        </p:nvPicPr>
        <p:blipFill rotWithShape="1">
          <a:blip r:embed="rId3">
            <a:alphaModFix/>
          </a:blip>
          <a:srcRect b="0" l="0" r="0" t="0"/>
          <a:stretch/>
        </p:blipFill>
        <p:spPr>
          <a:xfrm>
            <a:off x="1855429" y="999521"/>
            <a:ext cx="8579513" cy="5311127"/>
          </a:xfrm>
          <a:prstGeom prst="rect">
            <a:avLst/>
          </a:prstGeom>
          <a:noFill/>
          <a:ln>
            <a:noFill/>
          </a:ln>
        </p:spPr>
      </p:pic>
      <p:sp>
        <p:nvSpPr>
          <p:cNvPr id="244" name="Google Shape;244;p26"/>
          <p:cNvSpPr/>
          <p:nvPr/>
        </p:nvSpPr>
        <p:spPr>
          <a:xfrm>
            <a:off x="463639" y="2390955"/>
            <a:ext cx="4597757"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Poppins"/>
                <a:ea typeface="Poppins"/>
                <a:cs typeface="Poppins"/>
                <a:sym typeface="Poppins"/>
              </a:rPr>
              <a:t>A heap can be implemented in an array because it must be a complete or nearly complete binary tree, which allows a fixed relationship between each node and its children</a:t>
            </a:r>
            <a:r>
              <a:rPr b="0" i="0" lang="en-US" sz="1800" u="none" cap="none" strike="noStrike">
                <a:solidFill>
                  <a:schemeClr val="dk1"/>
                </a:solidFill>
                <a:latin typeface="Poppins"/>
                <a:ea typeface="Poppins"/>
                <a:cs typeface="Poppins"/>
                <a:sym typeface="Poppins"/>
              </a:rPr>
              <a:t>.</a:t>
            </a:r>
            <a:endParaRPr b="0" i="0" sz="1800" u="none" cap="none" strike="noStrike">
              <a:solidFill>
                <a:schemeClr val="dk1"/>
              </a:solidFill>
              <a:latin typeface="Calibri"/>
              <a:ea typeface="Calibri"/>
              <a:cs typeface="Calibri"/>
              <a:sym typeface="Calibri"/>
            </a:endParaRPr>
          </a:p>
        </p:txBody>
      </p:sp>
      <p:sp>
        <p:nvSpPr>
          <p:cNvPr id="245" name="Google Shape;245;p26"/>
          <p:cNvSpPr/>
          <p:nvPr/>
        </p:nvSpPr>
        <p:spPr>
          <a:xfrm>
            <a:off x="2172929" y="5820697"/>
            <a:ext cx="1445342" cy="314632"/>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7"/>
          <p:cNvPicPr preferRelativeResize="0"/>
          <p:nvPr/>
        </p:nvPicPr>
        <p:blipFill rotWithShape="1">
          <a:blip r:embed="rId3">
            <a:alphaModFix/>
          </a:blip>
          <a:srcRect b="0" l="0" r="0" t="0"/>
          <a:stretch/>
        </p:blipFill>
        <p:spPr>
          <a:xfrm>
            <a:off x="2619978" y="573578"/>
            <a:ext cx="6485385" cy="585675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Max Heap Construction Algorithm</a:t>
            </a:r>
            <a:br>
              <a:rPr lang="en-US"/>
            </a:br>
            <a:endParaRPr/>
          </a:p>
        </p:txBody>
      </p:sp>
      <p:pic>
        <p:nvPicPr>
          <p:cNvPr id="256" name="Google Shape;256;p28"/>
          <p:cNvPicPr preferRelativeResize="0"/>
          <p:nvPr>
            <p:ph idx="1" type="body"/>
          </p:nvPr>
        </p:nvPicPr>
        <p:blipFill rotWithShape="1">
          <a:blip r:embed="rId3">
            <a:alphaModFix/>
          </a:blip>
          <a:srcRect b="0" l="0" r="0" t="0"/>
          <a:stretch/>
        </p:blipFill>
        <p:spPr>
          <a:xfrm>
            <a:off x="1367629" y="2210659"/>
            <a:ext cx="8900486" cy="207800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ph type="title"/>
          </p:nvPr>
        </p:nvSpPr>
        <p:spPr>
          <a:xfrm>
            <a:off x="1140351" y="701040"/>
            <a:ext cx="9875520" cy="135636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a:t>Example :</a:t>
            </a:r>
            <a:r>
              <a:rPr lang="en-US"/>
              <a:t>max heap. </a:t>
            </a:r>
            <a:r>
              <a:rPr b="1" lang="en-US"/>
              <a:t>Insert a new node with value 85.</a:t>
            </a:r>
            <a:br>
              <a:rPr lang="en-US"/>
            </a:br>
            <a:endParaRPr/>
          </a:p>
        </p:txBody>
      </p:sp>
      <p:sp>
        <p:nvSpPr>
          <p:cNvPr id="262" name="Google Shape;262;p29"/>
          <p:cNvSpPr txBox="1"/>
          <p:nvPr>
            <p:ph idx="1" type="body"/>
          </p:nvPr>
        </p:nvSpPr>
        <p:spPr>
          <a:xfrm>
            <a:off x="978794" y="1777285"/>
            <a:ext cx="5396248" cy="1197735"/>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b="1" lang="en-US"/>
              <a:t>Step 1 - </a:t>
            </a:r>
            <a:r>
              <a:rPr lang="en-US"/>
              <a:t>Insert the </a:t>
            </a:r>
            <a:r>
              <a:rPr b="1" lang="en-US"/>
              <a:t>newNode</a:t>
            </a:r>
            <a:r>
              <a:rPr lang="en-US"/>
              <a:t> with value 85 as </a:t>
            </a:r>
            <a:r>
              <a:rPr b="1" lang="en-US"/>
              <a:t>last leaf</a:t>
            </a:r>
            <a:r>
              <a:rPr lang="en-US"/>
              <a:t> from left to right. That means newNode is added as a right child of node with value 75. After adding max heap is as follows...</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http://www.btechsmartclass.com/data_structures/ds_images/Max%20Heap%20Add%201.png" id="263" name="Google Shape;263;p29"/>
          <p:cNvPicPr preferRelativeResize="0"/>
          <p:nvPr/>
        </p:nvPicPr>
        <p:blipFill rotWithShape="1">
          <a:blip r:embed="rId3">
            <a:alphaModFix/>
          </a:blip>
          <a:srcRect b="0" l="0" r="0" t="0"/>
          <a:stretch/>
        </p:blipFill>
        <p:spPr>
          <a:xfrm>
            <a:off x="1291710" y="2975020"/>
            <a:ext cx="4786401" cy="3022990"/>
          </a:xfrm>
          <a:prstGeom prst="rect">
            <a:avLst/>
          </a:prstGeom>
          <a:noFill/>
          <a:ln>
            <a:noFill/>
          </a:ln>
        </p:spPr>
      </p:pic>
      <p:sp>
        <p:nvSpPr>
          <p:cNvPr id="264" name="Google Shape;264;p29"/>
          <p:cNvSpPr/>
          <p:nvPr/>
        </p:nvSpPr>
        <p:spPr>
          <a:xfrm>
            <a:off x="6375042" y="2052986"/>
            <a:ext cx="5283914" cy="646331"/>
          </a:xfrm>
          <a:prstGeom prst="rect">
            <a:avLst/>
          </a:prstGeom>
          <a:noFill/>
          <a:ln>
            <a:noFill/>
          </a:ln>
        </p:spPr>
        <p:txBody>
          <a:bodyPr anchorCtr="0" anchor="t" bIns="45700" lIns="91425" spcFirstLastPara="1" rIns="91425" wrap="square" tIns="45700">
            <a:spAutoFit/>
          </a:bodyPr>
          <a:lstStyle/>
          <a:p>
            <a:pPr indent="-114300" lvl="0" marL="0" marR="0" rtl="0" algn="just">
              <a:lnSpc>
                <a:spcPct val="100000"/>
              </a:lnSpc>
              <a:spcBef>
                <a:spcPts val="0"/>
              </a:spcBef>
              <a:spcAft>
                <a:spcPts val="0"/>
              </a:spcAft>
              <a:buClr>
                <a:srgbClr val="162F59"/>
              </a:buClr>
              <a:buSzPts val="1800"/>
              <a:buFont typeface="Arial"/>
              <a:buChar char="•"/>
            </a:pPr>
            <a:r>
              <a:rPr b="1" i="0" lang="en-US" sz="1800" u="none" cap="none" strike="noStrike">
                <a:solidFill>
                  <a:srgbClr val="162F59"/>
                </a:solidFill>
                <a:latin typeface="Open Sans"/>
                <a:ea typeface="Open Sans"/>
                <a:cs typeface="Open Sans"/>
                <a:sym typeface="Open Sans"/>
              </a:rPr>
              <a:t>Step 2 - </a:t>
            </a:r>
            <a:r>
              <a:rPr b="0" i="0" lang="en-US" sz="1800" u="none" cap="none" strike="noStrike">
                <a:solidFill>
                  <a:srgbClr val="333333"/>
                </a:solidFill>
                <a:latin typeface="Open Sans"/>
                <a:ea typeface="Open Sans"/>
                <a:cs typeface="Open Sans"/>
                <a:sym typeface="Open Sans"/>
              </a:rPr>
              <a:t>Compare </a:t>
            </a:r>
            <a:r>
              <a:rPr b="1" i="0" lang="en-US" sz="1800" u="none" cap="none" strike="noStrike">
                <a:solidFill>
                  <a:srgbClr val="333333"/>
                </a:solidFill>
                <a:latin typeface="Open Sans"/>
                <a:ea typeface="Open Sans"/>
                <a:cs typeface="Open Sans"/>
                <a:sym typeface="Open Sans"/>
              </a:rPr>
              <a:t>newNode value (85)</a:t>
            </a:r>
            <a:r>
              <a:rPr b="0" i="0" lang="en-US" sz="1800" u="none" cap="none" strike="noStrike">
                <a:solidFill>
                  <a:srgbClr val="333333"/>
                </a:solidFill>
                <a:latin typeface="Open Sans"/>
                <a:ea typeface="Open Sans"/>
                <a:cs typeface="Open Sans"/>
                <a:sym typeface="Open Sans"/>
              </a:rPr>
              <a:t> with its </a:t>
            </a:r>
            <a:r>
              <a:rPr b="1" i="0" lang="en-US" sz="1800" u="none" cap="none" strike="noStrike">
                <a:solidFill>
                  <a:srgbClr val="333333"/>
                </a:solidFill>
                <a:latin typeface="Open Sans"/>
                <a:ea typeface="Open Sans"/>
                <a:cs typeface="Open Sans"/>
                <a:sym typeface="Open Sans"/>
              </a:rPr>
              <a:t>Parent node value (75)</a:t>
            </a:r>
            <a:r>
              <a:rPr b="0" i="0" lang="en-US" sz="1800" u="none" cap="none" strike="noStrike">
                <a:solidFill>
                  <a:srgbClr val="333333"/>
                </a:solidFill>
                <a:latin typeface="Open Sans"/>
                <a:ea typeface="Open Sans"/>
                <a:cs typeface="Open Sans"/>
                <a:sym typeface="Open Sans"/>
              </a:rPr>
              <a:t>. That means </a:t>
            </a:r>
            <a:r>
              <a:rPr b="1" i="0" lang="en-US" sz="1800" u="none" cap="none" strike="noStrike">
                <a:solidFill>
                  <a:srgbClr val="333333"/>
                </a:solidFill>
                <a:latin typeface="Open Sans"/>
                <a:ea typeface="Open Sans"/>
                <a:cs typeface="Open Sans"/>
                <a:sym typeface="Open Sans"/>
              </a:rPr>
              <a:t>85 &gt; 75</a:t>
            </a:r>
            <a:endParaRPr b="0" i="0" sz="1800" u="none" cap="none" strike="noStrike">
              <a:solidFill>
                <a:srgbClr val="333333"/>
              </a:solidFill>
              <a:latin typeface="Open Sans"/>
              <a:ea typeface="Open Sans"/>
              <a:cs typeface="Open Sans"/>
              <a:sym typeface="Open Sans"/>
            </a:endParaRPr>
          </a:p>
        </p:txBody>
      </p:sp>
      <p:pic>
        <p:nvPicPr>
          <p:cNvPr descr="http://www.btechsmartclass.com/data_structures/ds_images/Max%20Heap%20Add%202.png" id="265" name="Google Shape;265;p29"/>
          <p:cNvPicPr preferRelativeResize="0"/>
          <p:nvPr/>
        </p:nvPicPr>
        <p:blipFill rotWithShape="1">
          <a:blip r:embed="rId4">
            <a:alphaModFix/>
          </a:blip>
          <a:srcRect b="0" l="0" r="0" t="0"/>
          <a:stretch/>
        </p:blipFill>
        <p:spPr>
          <a:xfrm>
            <a:off x="5877498" y="2699317"/>
            <a:ext cx="5138373" cy="324528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0"/>
          <p:cNvSpPr txBox="1"/>
          <p:nvPr>
            <p:ph idx="1" type="body"/>
          </p:nvPr>
        </p:nvSpPr>
        <p:spPr>
          <a:xfrm>
            <a:off x="857865" y="957130"/>
            <a:ext cx="4536583" cy="40386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sz="2000"/>
              <a:t>Step 3 - </a:t>
            </a:r>
            <a:r>
              <a:rPr lang="en-US" sz="2000"/>
              <a:t>Here </a:t>
            </a:r>
            <a:r>
              <a:rPr b="1" lang="en-US" sz="2000"/>
              <a:t>newNode value (85) is greater</a:t>
            </a:r>
            <a:r>
              <a:rPr lang="en-US" sz="2000"/>
              <a:t> than its </a:t>
            </a:r>
            <a:r>
              <a:rPr b="1" lang="en-US" sz="2000"/>
              <a:t>parent value (75)</a:t>
            </a:r>
            <a:r>
              <a:rPr lang="en-US" sz="2000"/>
              <a:t>, then </a:t>
            </a:r>
            <a:r>
              <a:rPr b="1" lang="en-US" sz="2000"/>
              <a:t>swap</a:t>
            </a:r>
            <a:r>
              <a:rPr lang="en-US" sz="2000"/>
              <a:t> both of them. After swapping, max heap is as follows...</a:t>
            </a:r>
            <a:endParaRPr sz="2000"/>
          </a:p>
          <a:p>
            <a:pPr indent="0" lvl="0" marL="0" rtl="0" algn="l">
              <a:lnSpc>
                <a:spcPct val="90000"/>
              </a:lnSpc>
              <a:spcBef>
                <a:spcPts val="1000"/>
              </a:spcBef>
              <a:spcAft>
                <a:spcPts val="0"/>
              </a:spcAft>
              <a:buClr>
                <a:schemeClr val="dk1"/>
              </a:buClr>
              <a:buSzPts val="2800"/>
              <a:buNone/>
            </a:pPr>
            <a:br>
              <a:rPr lang="en-US"/>
            </a:br>
            <a:endParaRPr/>
          </a:p>
        </p:txBody>
      </p:sp>
      <p:pic>
        <p:nvPicPr>
          <p:cNvPr descr="http://www.btechsmartclass.com/data_structures/ds_images/Max%20Heap%20Add%203.png" id="271" name="Google Shape;271;p30"/>
          <p:cNvPicPr preferRelativeResize="0"/>
          <p:nvPr/>
        </p:nvPicPr>
        <p:blipFill rotWithShape="1">
          <a:blip r:embed="rId3">
            <a:alphaModFix/>
          </a:blip>
          <a:srcRect b="0" l="0" r="0" t="0"/>
          <a:stretch/>
        </p:blipFill>
        <p:spPr>
          <a:xfrm>
            <a:off x="439233" y="2196479"/>
            <a:ext cx="4888803" cy="3486982"/>
          </a:xfrm>
          <a:prstGeom prst="rect">
            <a:avLst/>
          </a:prstGeom>
          <a:noFill/>
          <a:ln>
            <a:noFill/>
          </a:ln>
        </p:spPr>
      </p:pic>
      <p:sp>
        <p:nvSpPr>
          <p:cNvPr id="272" name="Google Shape;272;p30"/>
          <p:cNvSpPr/>
          <p:nvPr/>
        </p:nvSpPr>
        <p:spPr>
          <a:xfrm>
            <a:off x="5940855" y="957130"/>
            <a:ext cx="4923791" cy="646290"/>
          </a:xfrm>
          <a:prstGeom prst="rect">
            <a:avLst/>
          </a:prstGeom>
          <a:noFill/>
          <a:ln>
            <a:noFill/>
          </a:ln>
        </p:spPr>
        <p:txBody>
          <a:bodyPr anchorCtr="0" anchor="t" bIns="45700" lIns="91425" spcFirstLastPara="1" rIns="91425" wrap="square" tIns="45700">
            <a:spAutoFit/>
          </a:bodyPr>
          <a:lstStyle/>
          <a:p>
            <a:pPr indent="-114300" lvl="0" marL="0" marR="0" rtl="0" algn="just">
              <a:lnSpc>
                <a:spcPct val="100000"/>
              </a:lnSpc>
              <a:spcBef>
                <a:spcPts val="0"/>
              </a:spcBef>
              <a:spcAft>
                <a:spcPts val="0"/>
              </a:spcAft>
              <a:buClr>
                <a:srgbClr val="162F59"/>
              </a:buClr>
              <a:buSzPts val="1800"/>
              <a:buFont typeface="Arial"/>
              <a:buChar char="•"/>
            </a:pPr>
            <a:r>
              <a:rPr b="1" i="0" lang="en-US" sz="1800" u="none" cap="none" strike="noStrike">
                <a:solidFill>
                  <a:srgbClr val="162F59"/>
                </a:solidFill>
                <a:latin typeface="Open Sans"/>
                <a:ea typeface="Open Sans"/>
                <a:cs typeface="Open Sans"/>
                <a:sym typeface="Open Sans"/>
              </a:rPr>
              <a:t>Step 4 - </a:t>
            </a:r>
            <a:r>
              <a:rPr b="0" i="0" lang="en-US" sz="1800" u="none" cap="none" strike="noStrike">
                <a:solidFill>
                  <a:srgbClr val="333333"/>
                </a:solidFill>
                <a:latin typeface="Open Sans"/>
                <a:ea typeface="Open Sans"/>
                <a:cs typeface="Open Sans"/>
                <a:sym typeface="Open Sans"/>
              </a:rPr>
              <a:t>Now, again compare new Node value (85) with its parent node value (89).</a:t>
            </a:r>
            <a:endParaRPr b="0" i="0" sz="1800" u="none" cap="none" strike="noStrike">
              <a:solidFill>
                <a:srgbClr val="333333"/>
              </a:solidFill>
              <a:latin typeface="Open Sans"/>
              <a:ea typeface="Open Sans"/>
              <a:cs typeface="Open Sans"/>
              <a:sym typeface="Open Sans"/>
            </a:endParaRPr>
          </a:p>
        </p:txBody>
      </p:sp>
      <p:pic>
        <p:nvPicPr>
          <p:cNvPr descr="http://www.btechsmartclass.com/data_structures/ds_images/Max%20Heap%20Add%204.png" id="273" name="Google Shape;273;p30"/>
          <p:cNvPicPr preferRelativeResize="0"/>
          <p:nvPr/>
        </p:nvPicPr>
        <p:blipFill rotWithShape="1">
          <a:blip r:embed="rId4">
            <a:alphaModFix/>
          </a:blip>
          <a:srcRect b="0" l="0" r="0" t="0"/>
          <a:stretch/>
        </p:blipFill>
        <p:spPr>
          <a:xfrm>
            <a:off x="5813080" y="1960089"/>
            <a:ext cx="5521055" cy="3486982"/>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1"/>
          <p:cNvSpPr txBox="1"/>
          <p:nvPr>
            <p:ph idx="1" type="body"/>
          </p:nvPr>
        </p:nvSpPr>
        <p:spPr>
          <a:xfrm>
            <a:off x="1143000" y="1095376"/>
            <a:ext cx="9872663" cy="154479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Here, newNode value (85) is smaller than its parent node value (89). So, we stop insertion process. Finally, max heap after insertion of a new node with value 85 is as follows...	</a:t>
            </a:r>
            <a:endParaRPr/>
          </a:p>
        </p:txBody>
      </p:sp>
      <p:pic>
        <p:nvPicPr>
          <p:cNvPr descr="http://www.btechsmartclass.com/data_structures/ds_images/Max%20Heap%20Add%205.png" id="279" name="Google Shape;279;p31"/>
          <p:cNvPicPr preferRelativeResize="0"/>
          <p:nvPr/>
        </p:nvPicPr>
        <p:blipFill rotWithShape="1">
          <a:blip r:embed="rId3">
            <a:alphaModFix/>
          </a:blip>
          <a:srcRect b="0" l="0" r="0" t="0"/>
          <a:stretch/>
        </p:blipFill>
        <p:spPr>
          <a:xfrm>
            <a:off x="3357591" y="2398715"/>
            <a:ext cx="5443479" cy="343798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Max Heap Deletion Algorithm</a:t>
            </a:r>
            <a:br>
              <a:rPr lang="en-US"/>
            </a:br>
            <a:endParaRPr/>
          </a:p>
        </p:txBody>
      </p:sp>
      <p:pic>
        <p:nvPicPr>
          <p:cNvPr id="285" name="Google Shape;285;p32"/>
          <p:cNvPicPr preferRelativeResize="0"/>
          <p:nvPr>
            <p:ph idx="1" type="body"/>
          </p:nvPr>
        </p:nvPicPr>
        <p:blipFill rotWithShape="1">
          <a:blip r:embed="rId3">
            <a:alphaModFix/>
          </a:blip>
          <a:srcRect b="0" l="0" r="0" t="0"/>
          <a:stretch/>
        </p:blipFill>
        <p:spPr>
          <a:xfrm>
            <a:off x="1033563" y="2123806"/>
            <a:ext cx="9931749" cy="235804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33"/>
          <p:cNvPicPr preferRelativeResize="0"/>
          <p:nvPr/>
        </p:nvPicPr>
        <p:blipFill rotWithShape="1">
          <a:blip r:embed="rId3">
            <a:alphaModFix/>
          </a:blip>
          <a:srcRect b="0" l="0" r="0" t="0"/>
          <a:stretch/>
        </p:blipFill>
        <p:spPr>
          <a:xfrm>
            <a:off x="1477515" y="1070221"/>
            <a:ext cx="7730880" cy="434074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Problem Example:</a:t>
            </a:r>
            <a:br>
              <a:rPr lang="en-US"/>
            </a:br>
            <a:endParaRPr/>
          </a:p>
        </p:txBody>
      </p:sp>
      <p:pic>
        <p:nvPicPr>
          <p:cNvPr descr="https://miro.medium.com/max/664/1*12ChpzVTGvHCjTD56iSvZg.png" id="296" name="Google Shape;296;p34"/>
          <p:cNvPicPr preferRelativeResize="0"/>
          <p:nvPr>
            <p:ph idx="1" type="body"/>
          </p:nvPr>
        </p:nvPicPr>
        <p:blipFill rotWithShape="1">
          <a:blip r:embed="rId3">
            <a:alphaModFix/>
          </a:blip>
          <a:srcRect b="0" l="0" r="0" t="0"/>
          <a:stretch/>
        </p:blipFill>
        <p:spPr>
          <a:xfrm>
            <a:off x="5518563" y="609600"/>
            <a:ext cx="6324600" cy="1247775"/>
          </a:xfrm>
          <a:prstGeom prst="rect">
            <a:avLst/>
          </a:prstGeom>
          <a:noFill/>
          <a:ln>
            <a:noFill/>
          </a:ln>
        </p:spPr>
      </p:pic>
      <p:sp>
        <p:nvSpPr>
          <p:cNvPr id="297" name="Google Shape;297;p34"/>
          <p:cNvSpPr/>
          <p:nvPr/>
        </p:nvSpPr>
        <p:spPr>
          <a:xfrm>
            <a:off x="922986" y="1974331"/>
            <a:ext cx="9908146"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92929"/>
                </a:solidFill>
                <a:latin typeface="Arial"/>
                <a:ea typeface="Arial"/>
                <a:cs typeface="Arial"/>
                <a:sym typeface="Arial"/>
              </a:rPr>
              <a:t>Step 0: Change the Array Data Structure into a Tree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92929"/>
                </a:solidFill>
                <a:latin typeface="Arial"/>
                <a:ea typeface="Arial"/>
                <a:cs typeface="Arial"/>
                <a:sym typeface="Arial"/>
              </a:rPr>
              <a:t>In order to change an array structure into the tree version of the binary heap, we start from the left to the right of the array, and then </a:t>
            </a:r>
            <a:r>
              <a:rPr b="1" i="0" lang="en-US" sz="1800" u="none" cap="none" strike="noStrike">
                <a:solidFill>
                  <a:srgbClr val="292929"/>
                </a:solidFill>
                <a:latin typeface="Arial"/>
                <a:ea typeface="Arial"/>
                <a:cs typeface="Arial"/>
                <a:sym typeface="Arial"/>
              </a:rPr>
              <a:t>insert values into the binary heap from top to bottom and left to right</a:t>
            </a:r>
            <a:r>
              <a:rPr b="0" i="0" lang="en-US" sz="1800" u="none" cap="none" strike="noStrike">
                <a:solidFill>
                  <a:srgbClr val="292929"/>
                </a:solidFill>
                <a:latin typeface="Arial"/>
                <a:ea typeface="Arial"/>
                <a:cs typeface="Arial"/>
                <a:sym typeface="Arial"/>
              </a:rPr>
              <a:t>.</a:t>
            </a:r>
            <a:endParaRPr b="0" i="0" sz="1800" u="none" cap="none" strike="noStrike">
              <a:solidFill>
                <a:srgbClr val="292929"/>
              </a:solidFill>
              <a:latin typeface="Arial"/>
              <a:ea typeface="Arial"/>
              <a:cs typeface="Arial"/>
              <a:sym typeface="Arial"/>
            </a:endParaRPr>
          </a:p>
        </p:txBody>
      </p:sp>
      <p:pic>
        <p:nvPicPr>
          <p:cNvPr descr="https://miro.medium.com/max/685/1*6zNLDfkuYwzwipqbvUFx7g.png" id="298" name="Google Shape;298;p34"/>
          <p:cNvPicPr preferRelativeResize="0"/>
          <p:nvPr/>
        </p:nvPicPr>
        <p:blipFill rotWithShape="1">
          <a:blip r:embed="rId4">
            <a:alphaModFix/>
          </a:blip>
          <a:srcRect b="0" l="0" r="0" t="0"/>
          <a:stretch/>
        </p:blipFill>
        <p:spPr>
          <a:xfrm>
            <a:off x="3316790" y="3006791"/>
            <a:ext cx="4403546" cy="269355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5"/>
          <p:cNvSpPr txBox="1"/>
          <p:nvPr>
            <p:ph idx="1" type="body"/>
          </p:nvPr>
        </p:nvSpPr>
        <p:spPr>
          <a:xfrm>
            <a:off x="481438" y="1175818"/>
            <a:ext cx="5991783" cy="257410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8108"/>
              <a:buChar char="•"/>
            </a:pPr>
            <a:r>
              <a:rPr lang="en-US"/>
              <a:t>Step 1: Delete the node that contains the value you want deleted in the heap.</a:t>
            </a:r>
            <a:br>
              <a:rPr lang="en-US"/>
            </a:br>
            <a:r>
              <a:rPr lang="en-US"/>
              <a:t>The value that we want to delete is the maximum value or element in the array which is at the root of the tree. This is the node that contains the value “10”.</a:t>
            </a:r>
            <a:endParaRPr/>
          </a:p>
          <a:p>
            <a:pPr indent="-50800" lvl="0" marL="228600" rtl="0" algn="l">
              <a:lnSpc>
                <a:spcPct val="90000"/>
              </a:lnSpc>
              <a:spcBef>
                <a:spcPts val="1000"/>
              </a:spcBef>
              <a:spcAft>
                <a:spcPts val="0"/>
              </a:spcAft>
              <a:buClr>
                <a:schemeClr val="dk1"/>
              </a:buClr>
              <a:buSzPct val="108108"/>
              <a:buNone/>
            </a:pPr>
            <a:r>
              <a:t/>
            </a:r>
            <a:endParaRPr/>
          </a:p>
        </p:txBody>
      </p:sp>
      <p:pic>
        <p:nvPicPr>
          <p:cNvPr descr="https://miro.medium.com/max/667/1*HPsdvAhwup09Wu4PZUl12A.png" id="304" name="Google Shape;304;p35"/>
          <p:cNvPicPr preferRelativeResize="0"/>
          <p:nvPr/>
        </p:nvPicPr>
        <p:blipFill rotWithShape="1">
          <a:blip r:embed="rId3">
            <a:alphaModFix/>
          </a:blip>
          <a:srcRect b="0" l="0" r="0" t="0"/>
          <a:stretch/>
        </p:blipFill>
        <p:spPr>
          <a:xfrm>
            <a:off x="949930" y="3416711"/>
            <a:ext cx="4049363" cy="2452688"/>
          </a:xfrm>
          <a:prstGeom prst="rect">
            <a:avLst/>
          </a:prstGeom>
          <a:noFill/>
          <a:ln>
            <a:noFill/>
          </a:ln>
        </p:spPr>
      </p:pic>
      <p:sp>
        <p:nvSpPr>
          <p:cNvPr id="305" name="Google Shape;305;p35"/>
          <p:cNvSpPr/>
          <p:nvPr/>
        </p:nvSpPr>
        <p:spPr>
          <a:xfrm>
            <a:off x="6827246" y="1476541"/>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92929"/>
                </a:solidFill>
                <a:latin typeface="Arial"/>
                <a:ea typeface="Arial"/>
                <a:cs typeface="Arial"/>
                <a:sym typeface="Arial"/>
              </a:rPr>
              <a:t>Step 2: Replace the deleted node with the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92929"/>
                </a:solidFill>
                <a:latin typeface="Arial"/>
                <a:ea typeface="Arial"/>
                <a:cs typeface="Arial"/>
                <a:sym typeface="Arial"/>
              </a:rPr>
              <a:t> farthest right node.</a:t>
            </a:r>
            <a:endParaRPr b="0" i="0" sz="1800" u="none" cap="none" strike="noStrike">
              <a:solidFill>
                <a:srgbClr val="292929"/>
              </a:solidFill>
              <a:latin typeface="Arial"/>
              <a:ea typeface="Arial"/>
              <a:cs typeface="Arial"/>
              <a:sym typeface="Arial"/>
            </a:endParaRPr>
          </a:p>
        </p:txBody>
      </p:sp>
      <p:pic>
        <p:nvPicPr>
          <p:cNvPr descr="https://miro.medium.com/max/668/1*Afl4zOjSh_fwrw4bwaqQYg.png" id="306" name="Google Shape;306;p35"/>
          <p:cNvPicPr preferRelativeResize="0"/>
          <p:nvPr/>
        </p:nvPicPr>
        <p:blipFill rotWithShape="1">
          <a:blip r:embed="rId4">
            <a:alphaModFix/>
          </a:blip>
          <a:srcRect b="0" l="0" r="0" t="0"/>
          <a:stretch/>
        </p:blipFill>
        <p:spPr>
          <a:xfrm>
            <a:off x="6827246" y="3006502"/>
            <a:ext cx="4261879" cy="2615825"/>
          </a:xfrm>
          <a:prstGeom prst="rect">
            <a:avLst/>
          </a:prstGeom>
          <a:noFill/>
          <a:ln>
            <a:noFill/>
          </a:ln>
        </p:spPr>
      </p:pic>
      <p:sp>
        <p:nvSpPr>
          <p:cNvPr id="307" name="Google Shape;307;p35"/>
          <p:cNvSpPr/>
          <p:nvPr/>
        </p:nvSpPr>
        <p:spPr>
          <a:xfrm>
            <a:off x="6473221" y="1017431"/>
            <a:ext cx="4976097" cy="5125792"/>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8" name="Google Shape;308;p35"/>
          <p:cNvSpPr/>
          <p:nvPr/>
        </p:nvSpPr>
        <p:spPr>
          <a:xfrm>
            <a:off x="481438" y="965915"/>
            <a:ext cx="5854968" cy="5367123"/>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Step 3: Heapify (Fix the heap):</a:t>
            </a:r>
            <a:br>
              <a:rPr lang="en-US"/>
            </a:br>
            <a:endParaRPr/>
          </a:p>
        </p:txBody>
      </p:sp>
      <p:sp>
        <p:nvSpPr>
          <p:cNvPr id="314" name="Google Shape;314;p36"/>
          <p:cNvSpPr txBox="1"/>
          <p:nvPr>
            <p:ph idx="1" type="body"/>
          </p:nvPr>
        </p:nvSpPr>
        <p:spPr>
          <a:xfrm>
            <a:off x="1143000" y="2057400"/>
            <a:ext cx="9872871" cy="1213834"/>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8108"/>
              <a:buChar char="•"/>
            </a:pPr>
            <a:r>
              <a:rPr lang="en-US"/>
              <a:t>The value “7” at the root of the tree is less than both of its children, the nodes containing the value “8” and “9”. We need to swap the “7” with the largest child, the node containing the value “9”.</a:t>
            </a:r>
            <a:endParaRPr/>
          </a:p>
        </p:txBody>
      </p:sp>
      <p:pic>
        <p:nvPicPr>
          <p:cNvPr descr="https://miro.medium.com/max/636/1*VF9NitxgaQOwLtJNv6euVQ.png" id="315" name="Google Shape;315;p36"/>
          <p:cNvPicPr preferRelativeResize="0"/>
          <p:nvPr/>
        </p:nvPicPr>
        <p:blipFill rotWithShape="1">
          <a:blip r:embed="rId3">
            <a:alphaModFix/>
          </a:blip>
          <a:srcRect b="0" l="0" r="0" t="0"/>
          <a:stretch/>
        </p:blipFill>
        <p:spPr>
          <a:xfrm>
            <a:off x="3714598" y="3586767"/>
            <a:ext cx="4493699" cy="284035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Heap sort</a:t>
            </a:r>
            <a:endParaRPr/>
          </a:p>
        </p:txBody>
      </p:sp>
      <p:sp>
        <p:nvSpPr>
          <p:cNvPr id="321" name="Google Shape;321;p37"/>
          <p:cNvSpPr txBox="1"/>
          <p:nvPr>
            <p:ph idx="1" type="body"/>
          </p:nvPr>
        </p:nvSpPr>
        <p:spPr>
          <a:xfrm>
            <a:off x="1143000" y="1738648"/>
            <a:ext cx="10344955" cy="4357352"/>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8108"/>
              <a:buChar char="•"/>
            </a:pPr>
            <a:r>
              <a:rPr lang="en-US">
                <a:solidFill>
                  <a:schemeClr val="dk1"/>
                </a:solidFill>
                <a:latin typeface="Times New Roman"/>
                <a:ea typeface="Times New Roman"/>
                <a:cs typeface="Times New Roman"/>
                <a:sym typeface="Times New Roman"/>
              </a:rPr>
              <a:t>Heaps can be used in sorting an array. </a:t>
            </a:r>
            <a:endParaRPr>
              <a:solidFill>
                <a:schemeClr val="dk1"/>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8108"/>
              <a:buChar char="•"/>
            </a:pPr>
            <a:r>
              <a:rPr lang="en-US">
                <a:solidFill>
                  <a:schemeClr val="dk1"/>
                </a:solidFill>
                <a:latin typeface="Times New Roman"/>
                <a:ea typeface="Times New Roman"/>
                <a:cs typeface="Times New Roman"/>
                <a:sym typeface="Times New Roman"/>
              </a:rPr>
              <a:t>In max-heaps, maximum element will always be at the root. Heap Sort uses this property of heap to sort the array.</a:t>
            </a:r>
            <a:endParaRPr/>
          </a:p>
          <a:p>
            <a:pPr indent="-228600" lvl="0" marL="228600" rtl="0" algn="l">
              <a:lnSpc>
                <a:spcPct val="90000"/>
              </a:lnSpc>
              <a:spcBef>
                <a:spcPts val="1000"/>
              </a:spcBef>
              <a:spcAft>
                <a:spcPts val="0"/>
              </a:spcAft>
              <a:buClr>
                <a:schemeClr val="dk1"/>
              </a:buClr>
              <a:buSzPct val="108108"/>
              <a:buChar char="•"/>
            </a:pPr>
            <a:r>
              <a:rPr lang="en-US">
                <a:solidFill>
                  <a:schemeClr val="dk1"/>
                </a:solidFill>
                <a:latin typeface="Times New Roman"/>
                <a:ea typeface="Times New Roman"/>
                <a:cs typeface="Times New Roman"/>
                <a:sym typeface="Times New Roman"/>
              </a:rPr>
              <a:t>Consider an array Arr which is to be sorted using Heap Sort.</a:t>
            </a:r>
            <a:endParaRPr/>
          </a:p>
          <a:p>
            <a:pPr indent="-228600" lvl="0" marL="228600" rtl="0" algn="l">
              <a:lnSpc>
                <a:spcPct val="90000"/>
              </a:lnSpc>
              <a:spcBef>
                <a:spcPts val="1000"/>
              </a:spcBef>
              <a:spcAft>
                <a:spcPts val="0"/>
              </a:spcAft>
              <a:buClr>
                <a:schemeClr val="dk1"/>
              </a:buClr>
              <a:buSzPct val="108108"/>
              <a:buChar char="•"/>
            </a:pPr>
            <a:r>
              <a:rPr lang="en-US">
                <a:solidFill>
                  <a:schemeClr val="dk1"/>
                </a:solidFill>
                <a:latin typeface="Times New Roman"/>
                <a:ea typeface="Times New Roman"/>
                <a:cs typeface="Times New Roman"/>
                <a:sym typeface="Times New Roman"/>
              </a:rPr>
              <a:t>1. Initially </a:t>
            </a:r>
            <a:r>
              <a:rPr b="1" lang="en-US">
                <a:solidFill>
                  <a:srgbClr val="FF0000"/>
                </a:solidFill>
                <a:latin typeface="Times New Roman"/>
                <a:ea typeface="Times New Roman"/>
                <a:cs typeface="Times New Roman"/>
                <a:sym typeface="Times New Roman"/>
              </a:rPr>
              <a:t>build a max heap of elements in Arr</a:t>
            </a:r>
            <a:r>
              <a:rPr lang="en-US">
                <a:solidFill>
                  <a:schemeClr val="dk1"/>
                </a:solidFill>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8108"/>
              <a:buChar char="•"/>
            </a:pPr>
            <a:r>
              <a:rPr lang="en-US">
                <a:solidFill>
                  <a:schemeClr val="dk1"/>
                </a:solidFill>
                <a:latin typeface="Times New Roman"/>
                <a:ea typeface="Times New Roman"/>
                <a:cs typeface="Times New Roman"/>
                <a:sym typeface="Times New Roman"/>
              </a:rPr>
              <a:t>2. The root element, that is Arr[1], will contain maximum element of Arr. After that, </a:t>
            </a:r>
            <a:r>
              <a:rPr b="1" lang="en-US">
                <a:solidFill>
                  <a:srgbClr val="FF0000"/>
                </a:solidFill>
                <a:latin typeface="Times New Roman"/>
                <a:ea typeface="Times New Roman"/>
                <a:cs typeface="Times New Roman"/>
                <a:sym typeface="Times New Roman"/>
              </a:rPr>
              <a:t>swap this element with the last element of Arr and heapify the max heap </a:t>
            </a:r>
            <a:r>
              <a:rPr lang="en-US">
                <a:solidFill>
                  <a:schemeClr val="dk1"/>
                </a:solidFill>
                <a:latin typeface="Times New Roman"/>
                <a:ea typeface="Times New Roman"/>
                <a:cs typeface="Times New Roman"/>
                <a:sym typeface="Times New Roman"/>
              </a:rPr>
              <a:t>excluding the last element which is already in its correct position and then decrease the length of heap by one.</a:t>
            </a:r>
            <a:endParaRPr/>
          </a:p>
          <a:p>
            <a:pPr indent="-228600" lvl="0" marL="228600" rtl="0" algn="l">
              <a:lnSpc>
                <a:spcPct val="90000"/>
              </a:lnSpc>
              <a:spcBef>
                <a:spcPts val="1000"/>
              </a:spcBef>
              <a:spcAft>
                <a:spcPts val="0"/>
              </a:spcAft>
              <a:buClr>
                <a:schemeClr val="dk1"/>
              </a:buClr>
              <a:buSzPct val="108108"/>
              <a:buChar char="•"/>
            </a:pPr>
            <a:r>
              <a:rPr lang="en-US">
                <a:solidFill>
                  <a:schemeClr val="dk1"/>
                </a:solidFill>
                <a:latin typeface="Times New Roman"/>
                <a:ea typeface="Times New Roman"/>
                <a:cs typeface="Times New Roman"/>
                <a:sym typeface="Times New Roman"/>
              </a:rPr>
              <a:t>3. Repeat the step 2, until all the elements are in their correct position.</a:t>
            </a:r>
            <a:endParaRPr/>
          </a:p>
          <a:p>
            <a:pPr indent="-50800" lvl="0" marL="228600" rtl="0" algn="l">
              <a:lnSpc>
                <a:spcPct val="90000"/>
              </a:lnSpc>
              <a:spcBef>
                <a:spcPts val="1000"/>
              </a:spcBef>
              <a:spcAft>
                <a:spcPts val="0"/>
              </a:spcAft>
              <a:buClr>
                <a:schemeClr val="dk1"/>
              </a:buClr>
              <a:buSzPct val="108108"/>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38"/>
          <p:cNvPicPr preferRelativeResize="0"/>
          <p:nvPr/>
        </p:nvPicPr>
        <p:blipFill rotWithShape="1">
          <a:blip r:embed="rId3">
            <a:alphaModFix/>
          </a:blip>
          <a:srcRect b="0" l="0" r="0" t="0"/>
          <a:stretch/>
        </p:blipFill>
        <p:spPr>
          <a:xfrm>
            <a:off x="397367" y="478664"/>
            <a:ext cx="5524500" cy="5334000"/>
          </a:xfrm>
          <a:prstGeom prst="rect">
            <a:avLst/>
          </a:prstGeom>
          <a:noFill/>
          <a:ln>
            <a:noFill/>
          </a:ln>
        </p:spPr>
      </p:pic>
      <p:pic>
        <p:nvPicPr>
          <p:cNvPr id="327" name="Google Shape;327;p38"/>
          <p:cNvPicPr preferRelativeResize="0"/>
          <p:nvPr/>
        </p:nvPicPr>
        <p:blipFill rotWithShape="1">
          <a:blip r:embed="rId4">
            <a:alphaModFix/>
          </a:blip>
          <a:srcRect b="0" l="0" r="0" t="0"/>
          <a:stretch/>
        </p:blipFill>
        <p:spPr>
          <a:xfrm>
            <a:off x="5969492" y="478663"/>
            <a:ext cx="5485260" cy="5754710"/>
          </a:xfrm>
          <a:prstGeom prst="rect">
            <a:avLst/>
          </a:prstGeom>
          <a:noFill/>
          <a:ln cap="flat" cmpd="sng" w="76200">
            <a:solidFill>
              <a:schemeClr val="dk1"/>
            </a:solidFill>
            <a:prstDash val="solid"/>
            <a:round/>
            <a:headEnd len="sm" w="sm" type="none"/>
            <a:tailEnd len="sm" w="sm" type="none"/>
          </a:ln>
        </p:spPr>
      </p:pic>
      <p:sp>
        <p:nvSpPr>
          <p:cNvPr id="328" name="Google Shape;328;p38"/>
          <p:cNvSpPr/>
          <p:nvPr/>
        </p:nvSpPr>
        <p:spPr>
          <a:xfrm>
            <a:off x="5921867" y="478664"/>
            <a:ext cx="5524500" cy="5754711"/>
          </a:xfrm>
          <a:prstGeom prst="rect">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9" name="Google Shape;329;p38"/>
          <p:cNvSpPr/>
          <p:nvPr/>
        </p:nvSpPr>
        <p:spPr>
          <a:xfrm>
            <a:off x="515155" y="478663"/>
            <a:ext cx="5311462" cy="5754711"/>
          </a:xfrm>
          <a:prstGeom prst="rect">
            <a:avLst/>
          </a:prstGeom>
          <a:noFill/>
          <a:ln cap="flat" cmpd="sng" w="762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Heap sort-complexity</a:t>
            </a:r>
            <a:endParaRPr/>
          </a:p>
        </p:txBody>
      </p:sp>
      <p:sp>
        <p:nvSpPr>
          <p:cNvPr id="335" name="Google Shape;335;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max_heapify has complexity O(logN), </a:t>
            </a:r>
            <a:endParaRPr/>
          </a:p>
          <a:p>
            <a:pPr indent="-228600" lvl="0" marL="228600" rtl="0" algn="l">
              <a:lnSpc>
                <a:spcPct val="90000"/>
              </a:lnSpc>
              <a:spcBef>
                <a:spcPts val="1000"/>
              </a:spcBef>
              <a:spcAft>
                <a:spcPts val="0"/>
              </a:spcAft>
              <a:buClr>
                <a:schemeClr val="dk1"/>
              </a:buClr>
              <a:buSzPts val="2800"/>
              <a:buChar char="•"/>
            </a:pPr>
            <a:r>
              <a:rPr lang="en-US"/>
              <a:t>build_maxheap has complexity O(N) and we run max_heapify N−1 times in heap_sort function, therefore complexity of heap_sort function is</a:t>
            </a:r>
            <a:r>
              <a:rPr b="1" lang="en-US" u="sng">
                <a:solidFill>
                  <a:srgbClr val="FF0000"/>
                </a:solidFill>
              </a:rPr>
              <a:t> O(NlogN).</a:t>
            </a:r>
            <a:endParaRPr b="1" u="sng">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0"/>
          <p:cNvSpPr txBox="1"/>
          <p:nvPr>
            <p:ph type="title"/>
          </p:nvPr>
        </p:nvSpPr>
        <p:spPr>
          <a:xfrm>
            <a:off x="838200" y="1365609"/>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Heap Applications</a:t>
            </a:r>
            <a:endParaRPr/>
          </a:p>
        </p:txBody>
      </p:sp>
      <p:sp>
        <p:nvSpPr>
          <p:cNvPr id="341" name="Google Shape;341;p4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Three common applications of heaps</a:t>
            </a:r>
            <a:endParaRPr/>
          </a:p>
        </p:txBody>
      </p:sp>
      <p:sp>
        <p:nvSpPr>
          <p:cNvPr id="347" name="Google Shape;347;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Three common applications of heaps are</a:t>
            </a:r>
            <a:endParaRPr/>
          </a:p>
          <a:p>
            <a:pPr indent="-228600" lvl="0" marL="228600" rtl="0" algn="l">
              <a:lnSpc>
                <a:spcPct val="90000"/>
              </a:lnSpc>
              <a:spcBef>
                <a:spcPts val="1000"/>
              </a:spcBef>
              <a:spcAft>
                <a:spcPts val="0"/>
              </a:spcAft>
              <a:buClr>
                <a:schemeClr val="dk1"/>
              </a:buClr>
              <a:buSzPts val="2800"/>
              <a:buChar char="•"/>
            </a:pPr>
            <a:r>
              <a:rPr lang="en-US"/>
              <a:t> selection algorithms, </a:t>
            </a:r>
            <a:endParaRPr/>
          </a:p>
          <a:p>
            <a:pPr indent="-228600" lvl="0" marL="228600" rtl="0" algn="l">
              <a:lnSpc>
                <a:spcPct val="90000"/>
              </a:lnSpc>
              <a:spcBef>
                <a:spcPts val="1000"/>
              </a:spcBef>
              <a:spcAft>
                <a:spcPts val="0"/>
              </a:spcAft>
              <a:buClr>
                <a:schemeClr val="dk1"/>
              </a:buClr>
              <a:buSzPts val="2800"/>
              <a:buChar char="•"/>
            </a:pPr>
            <a:r>
              <a:rPr lang="en-US"/>
              <a:t>Priority queues, and </a:t>
            </a:r>
            <a:endParaRPr/>
          </a:p>
          <a:p>
            <a:pPr indent="-228600" lvl="0" marL="228600" rtl="0" algn="l">
              <a:lnSpc>
                <a:spcPct val="90000"/>
              </a:lnSpc>
              <a:spcBef>
                <a:spcPts val="1000"/>
              </a:spcBef>
              <a:spcAft>
                <a:spcPts val="0"/>
              </a:spcAft>
              <a:buClr>
                <a:schemeClr val="dk1"/>
              </a:buClr>
              <a:buSzPts val="2800"/>
              <a:buChar char="•"/>
            </a:pPr>
            <a:r>
              <a:rPr lang="en-US"/>
              <a:t>sorting.</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Selection Algorithms</a:t>
            </a:r>
            <a:endParaRPr/>
          </a:p>
        </p:txBody>
      </p:sp>
      <p:sp>
        <p:nvSpPr>
          <p:cNvPr id="353" name="Google Shape;353;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43015" lvl="0" marL="228600" rtl="0" algn="l">
              <a:lnSpc>
                <a:spcPct val="90000"/>
              </a:lnSpc>
              <a:spcBef>
                <a:spcPts val="0"/>
              </a:spcBef>
              <a:spcAft>
                <a:spcPts val="0"/>
              </a:spcAft>
              <a:buClr>
                <a:schemeClr val="dk1"/>
              </a:buClr>
              <a:buSzPts val="3027"/>
              <a:buChar char="•"/>
            </a:pPr>
            <a:r>
              <a:rPr lang="en-US"/>
              <a:t>There are two solutions to the problem of determining the </a:t>
            </a:r>
            <a:r>
              <a:rPr i="1" lang="en-US"/>
              <a:t>k</a:t>
            </a:r>
            <a:r>
              <a:rPr lang="en-US"/>
              <a:t>th element in an unsorted list. </a:t>
            </a:r>
            <a:endParaRPr/>
          </a:p>
          <a:p>
            <a:pPr indent="-243016" lvl="0" marL="228600" rtl="0" algn="l">
              <a:lnSpc>
                <a:spcPct val="90000"/>
              </a:lnSpc>
              <a:spcBef>
                <a:spcPts val="1000"/>
              </a:spcBef>
              <a:spcAft>
                <a:spcPts val="0"/>
              </a:spcAft>
              <a:buClr>
                <a:schemeClr val="dk1"/>
              </a:buClr>
              <a:buSzPts val="3027"/>
              <a:buChar char="•"/>
            </a:pPr>
            <a:r>
              <a:rPr lang="en-US"/>
              <a:t>We could first sort the list and select the element at location </a:t>
            </a:r>
            <a:r>
              <a:rPr i="1" lang="en-US"/>
              <a:t>k</a:t>
            </a:r>
            <a:r>
              <a:rPr lang="en-US"/>
              <a:t>, or we could create a heap and delete </a:t>
            </a:r>
            <a:r>
              <a:rPr i="1" lang="en-US"/>
              <a:t>k </a:t>
            </a:r>
            <a:r>
              <a:rPr lang="en-US"/>
              <a:t>– 1 elements from it, leaving the desired element at the root.</a:t>
            </a:r>
            <a:endParaRPr/>
          </a:p>
          <a:p>
            <a:pPr indent="-243016" lvl="0" marL="228600" rtl="0" algn="l">
              <a:lnSpc>
                <a:spcPct val="90000"/>
              </a:lnSpc>
              <a:spcBef>
                <a:spcPts val="1000"/>
              </a:spcBef>
              <a:spcAft>
                <a:spcPts val="0"/>
              </a:spcAft>
              <a:buClr>
                <a:schemeClr val="dk1"/>
              </a:buClr>
              <a:buSzPts val="3027"/>
              <a:buChar char="•"/>
            </a:pPr>
            <a:r>
              <a:rPr lang="en-US"/>
              <a:t>Rather than simply discard the elements at the top of the heap, a better solution is to place the deleted element at the end of the heap and reduce the heap size by 1.</a:t>
            </a:r>
            <a:endParaRPr/>
          </a:p>
          <a:p>
            <a:pPr indent="-243016" lvl="0" marL="228600" rtl="0" algn="l">
              <a:lnSpc>
                <a:spcPct val="90000"/>
              </a:lnSpc>
              <a:spcBef>
                <a:spcPts val="1000"/>
              </a:spcBef>
              <a:spcAft>
                <a:spcPts val="0"/>
              </a:spcAft>
              <a:buClr>
                <a:schemeClr val="dk1"/>
              </a:buClr>
              <a:buSzPts val="3027"/>
              <a:buChar char="•"/>
            </a:pPr>
            <a:r>
              <a:rPr lang="en-US"/>
              <a:t> After the </a:t>
            </a:r>
            <a:r>
              <a:rPr i="1" lang="en-US"/>
              <a:t>k</a:t>
            </a:r>
            <a:r>
              <a:rPr lang="en-US"/>
              <a:t>th element has been processed, the temporarily removed elements can then be reinserted into the heap.</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43"/>
          <p:cNvPicPr preferRelativeResize="0"/>
          <p:nvPr/>
        </p:nvPicPr>
        <p:blipFill rotWithShape="1">
          <a:blip r:embed="rId3">
            <a:alphaModFix/>
          </a:blip>
          <a:srcRect b="0" l="0" r="0" t="0"/>
          <a:stretch/>
        </p:blipFill>
        <p:spPr>
          <a:xfrm>
            <a:off x="3649014" y="1244890"/>
            <a:ext cx="7268809" cy="5130152"/>
          </a:xfrm>
          <a:prstGeom prst="rect">
            <a:avLst/>
          </a:prstGeom>
          <a:noFill/>
          <a:ln>
            <a:noFill/>
          </a:ln>
        </p:spPr>
      </p:pic>
      <p:sp>
        <p:nvSpPr>
          <p:cNvPr id="359" name="Google Shape;359;p43"/>
          <p:cNvSpPr/>
          <p:nvPr/>
        </p:nvSpPr>
        <p:spPr>
          <a:xfrm>
            <a:off x="601014" y="1788610"/>
            <a:ext cx="6096000"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For example, if we want to know the fourth-largest element in a list, we can create the heap shown in Figure 9-14. After deleting three times, we have the fourth-largest element, 21, at the top of the heap.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Arial"/>
                <a:ea typeface="Arial"/>
                <a:cs typeface="Arial"/>
                <a:sym typeface="Arial"/>
              </a:rPr>
              <a:t>After selecting 21 we re-heap to restore the heap so that it is complete and we are ready for another selection.</a:t>
            </a:r>
            <a:endParaRPr b="0" i="0" sz="1800" u="none" cap="none" strike="noStrike">
              <a:solidFill>
                <a:schemeClr val="dk1"/>
              </a:solidFill>
              <a:latin typeface="Calibri"/>
              <a:ea typeface="Calibri"/>
              <a:cs typeface="Calibri"/>
              <a:sym typeface="Calibri"/>
            </a:endParaRPr>
          </a:p>
        </p:txBody>
      </p:sp>
      <p:sp>
        <p:nvSpPr>
          <p:cNvPr id="360" name="Google Shape;360;p43"/>
          <p:cNvSpPr/>
          <p:nvPr/>
        </p:nvSpPr>
        <p:spPr>
          <a:xfrm>
            <a:off x="3736258" y="6066503"/>
            <a:ext cx="1494503" cy="393291"/>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id="365" name="Google Shape;365;p44"/>
          <p:cNvPicPr preferRelativeResize="0"/>
          <p:nvPr/>
        </p:nvPicPr>
        <p:blipFill rotWithShape="1">
          <a:blip r:embed="rId3">
            <a:alphaModFix/>
          </a:blip>
          <a:srcRect b="0" l="0" r="0" t="0"/>
          <a:stretch/>
        </p:blipFill>
        <p:spPr>
          <a:xfrm>
            <a:off x="858950" y="823200"/>
            <a:ext cx="10320176" cy="56317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Priority Queues</a:t>
            </a:r>
            <a:endParaRPr/>
          </a:p>
        </p:txBody>
      </p:sp>
      <p:sp>
        <p:nvSpPr>
          <p:cNvPr id="371" name="Google Shape;371;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heap is an excellent structure to use for a priority queue.</a:t>
            </a:r>
            <a:endParaRPr/>
          </a:p>
          <a:p>
            <a:pPr indent="-228600" lvl="0" marL="228600" rtl="0" algn="l">
              <a:lnSpc>
                <a:spcPct val="90000"/>
              </a:lnSpc>
              <a:spcBef>
                <a:spcPts val="1000"/>
              </a:spcBef>
              <a:spcAft>
                <a:spcPts val="0"/>
              </a:spcAft>
              <a:buClr>
                <a:schemeClr val="dk1"/>
              </a:buClr>
              <a:buSzPts val="2800"/>
              <a:buChar char="•"/>
            </a:pPr>
            <a:r>
              <a:rPr lang="en-US"/>
              <a:t> As an event enters the queue, it is assigned a priority number that determines its position relative to the other events already in the queue.</a:t>
            </a:r>
            <a:endParaRPr/>
          </a:p>
          <a:p>
            <a:pPr indent="-228600" lvl="0" marL="228600" rtl="0" algn="l">
              <a:lnSpc>
                <a:spcPct val="90000"/>
              </a:lnSpc>
              <a:spcBef>
                <a:spcPts val="1000"/>
              </a:spcBef>
              <a:spcAft>
                <a:spcPts val="0"/>
              </a:spcAft>
              <a:buClr>
                <a:schemeClr val="dk1"/>
              </a:buClr>
              <a:buSzPts val="2800"/>
              <a:buChar char="•"/>
            </a:pPr>
            <a:r>
              <a:rPr lang="en-US"/>
              <a:t> It is assigned a priority number even though the new event can enter the heap in only one place at any given time, the first empty leaf.</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46"/>
          <p:cNvPicPr preferRelativeResize="0"/>
          <p:nvPr/>
        </p:nvPicPr>
        <p:blipFill rotWithShape="1">
          <a:blip r:embed="rId3">
            <a:alphaModFix/>
          </a:blip>
          <a:srcRect b="0" l="0" r="0" t="0"/>
          <a:stretch/>
        </p:blipFill>
        <p:spPr>
          <a:xfrm>
            <a:off x="2028422" y="1325987"/>
            <a:ext cx="7640365" cy="4121776"/>
          </a:xfrm>
          <a:prstGeom prst="rect">
            <a:avLst/>
          </a:prstGeom>
          <a:noFill/>
          <a:ln>
            <a:noFill/>
          </a:ln>
        </p:spPr>
      </p:pic>
      <p:sp>
        <p:nvSpPr>
          <p:cNvPr id="377" name="Google Shape;377;p46"/>
          <p:cNvSpPr/>
          <p:nvPr/>
        </p:nvSpPr>
        <p:spPr>
          <a:xfrm>
            <a:off x="2028422" y="5122606"/>
            <a:ext cx="960584" cy="409407"/>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47"/>
          <p:cNvPicPr preferRelativeResize="0"/>
          <p:nvPr/>
        </p:nvPicPr>
        <p:blipFill rotWithShape="1">
          <a:blip r:embed="rId3">
            <a:alphaModFix/>
          </a:blip>
          <a:srcRect b="0" l="0" r="0" t="0"/>
          <a:stretch/>
        </p:blipFill>
        <p:spPr>
          <a:xfrm>
            <a:off x="2665993" y="352157"/>
            <a:ext cx="6722706" cy="6274526"/>
          </a:xfrm>
          <a:prstGeom prst="rect">
            <a:avLst/>
          </a:prstGeom>
          <a:noFill/>
          <a:ln>
            <a:noFill/>
          </a:ln>
        </p:spPr>
      </p:pic>
      <p:sp>
        <p:nvSpPr>
          <p:cNvPr id="383" name="Google Shape;383;p47"/>
          <p:cNvSpPr/>
          <p:nvPr/>
        </p:nvSpPr>
        <p:spPr>
          <a:xfrm>
            <a:off x="2448232" y="6184490"/>
            <a:ext cx="924233" cy="442193"/>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2021-09-01T14:59:53Z</dcterms:created>
  <dc:creator>Priya Milton</dc:creator>
</cp:coreProperties>
</file>