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Poppins"/>
      <p:regular r:id="rId41"/>
      <p:bold r:id="rId42"/>
      <p:italic r:id="rId43"/>
      <p:boldItalic r:id="rId44"/>
    </p:embeddedFont>
    <p:embeddedFont>
      <p:font typeface="Palatino Linotype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igL6mOxUG4D/Xxt0rEm2t0Rsw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Poppins-bold.fntdata"/><Relationship Id="rId41" Type="http://schemas.openxmlformats.org/officeDocument/2006/relationships/font" Target="fonts/Poppins-regular.fntdata"/><Relationship Id="rId44" Type="http://schemas.openxmlformats.org/officeDocument/2006/relationships/font" Target="fonts/Poppins-boldItalic.fntdata"/><Relationship Id="rId43" Type="http://schemas.openxmlformats.org/officeDocument/2006/relationships/font" Target="fonts/Poppins-italic.fntdata"/><Relationship Id="rId46" Type="http://schemas.openxmlformats.org/officeDocument/2006/relationships/font" Target="fonts/PalatinoLinotype-bold.fntdata"/><Relationship Id="rId45" Type="http://schemas.openxmlformats.org/officeDocument/2006/relationships/font" Target="fonts/PalatinoLinotyp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alatinoLinotype-boldItalic.fntdata"/><Relationship Id="rId47" Type="http://schemas.openxmlformats.org/officeDocument/2006/relationships/font" Target="fonts/PalatinoLinotype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4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4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6"/>
          <p:cNvSpPr/>
          <p:nvPr/>
        </p:nvSpPr>
        <p:spPr>
          <a:xfrm>
            <a:off x="10504715" y="230188"/>
            <a:ext cx="1231640" cy="690465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623392" y="908720"/>
            <a:ext cx="11089232" cy="547260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1596008" y="25649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alatino Linotype"/>
              <a:buNone/>
            </a:pP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21CSC201J</a:t>
            </a: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STRUCTURES AND ALGORITHMS</a:t>
            </a: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UNIT-4</a:t>
            </a: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Topic :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Hashing and collision</a:t>
            </a:r>
            <a:endParaRPr b="1" i="0" sz="48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Hashing and collision-unit 4</a:t>
            </a:r>
            <a:endParaRPr/>
          </a:p>
        </p:txBody>
      </p:sp>
      <p:sp>
        <p:nvSpPr>
          <p:cNvPr id="96" name="Google Shape;9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645130" y="65238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hashed search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the goal of a hashed search: to find the data with only one test.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a hashed search, the key, through an algorithmic function, determines the location of the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Hashing is a key-to-address mapping process.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302" y="397904"/>
            <a:ext cx="7086600" cy="57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6660" y="1007302"/>
            <a:ext cx="8881593" cy="513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1738648" y="1443841"/>
            <a:ext cx="9208394" cy="4618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hash key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place it at location 8 in the list.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some later time, we hash key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is a synonym of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they are synonyms, they both hash to the same home address and a collision results.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resolve the collision by placing key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location 16.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we hash key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its home address is 16. Although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not synonyms, they still collide at location 16 because we placed key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when we resolved the earlier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collision.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must therefore find another location for key </a:t>
            </a:r>
            <a:r>
              <a:rPr lang="en-US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we place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location 4.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052" y="1709335"/>
            <a:ext cx="9103337" cy="3751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3675" y="838200"/>
            <a:ext cx="672465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Subtraction Method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direct and subtraction hash functions both guarantee a search effort of one with no collisions. They are one-to-one hashing methods: only one key hashes to each address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a company may have only 100 employees, but the employee numbers start from 1001 and go to 1100. In this case we use subtraction hashing, a very simple hashing function that subtracts 1000 from the key to determine the address.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beauty of this example is that it is simple and guarantees that there will be no collisions.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Modulo-division Method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address = key MODULO listSize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want to provide data space for up to 300 employees. The first prime number greater than 300 is 307. We therefore choose 307 as our list (array) size,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which gives us a list with addresses that range from 0 through 306.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643" y="401324"/>
            <a:ext cx="6772275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/>
          <p:nvPr/>
        </p:nvSpPr>
        <p:spPr>
          <a:xfrm>
            <a:off x="2622997" y="5501305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121267/307 = 395 with remainder of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Therefore: hash(121267) =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Digit extraction method &amp; mid square method 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1. using Digit extraction method (1,3,6 digits )find the address for the following key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a) 0 4 5 3 5 6  =  0  5 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b) 7 8 9 5 6 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c) 8 9 4 2 1 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2. using mid square method find the address for the following key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a) 9 4 5 2=  9452 X 9452= 89340304 =3403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b) 7 8 9 5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c) 8 9 4 2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536" y="991674"/>
            <a:ext cx="108585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rotation hashing method</a:t>
            </a:r>
            <a:endParaRPr/>
          </a:p>
        </p:txBody>
      </p:sp>
      <p:sp>
        <p:nvSpPr>
          <p:cNvPr id="162" name="Google Shape;162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using rotation hashing method find the address for the following key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a) 500110  =050011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b)500111= 150011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c)500112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d)500113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pseudorandom hashing method</a:t>
            </a:r>
            <a:endParaRPr/>
          </a:p>
        </p:txBody>
      </p:sp>
      <p:sp>
        <p:nvSpPr>
          <p:cNvPr id="168" name="Google Shape;16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using pseudorandom hashing method find the address for the following key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pseurandom number generator  is y=a x + 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let a=17  c=7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list size=307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key= x= 121267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address= ( a x + c) modulo listsize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924" y="850900"/>
            <a:ext cx="9335272" cy="5009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first concept: load factor</a:t>
            </a:r>
            <a:endParaRPr/>
          </a:p>
        </p:txBody>
      </p:sp>
      <p:sp>
        <p:nvSpPr>
          <p:cNvPr id="179" name="Google Shape;179;p17"/>
          <p:cNvSpPr txBox="1"/>
          <p:nvPr>
            <p:ph idx="1" type="body"/>
          </p:nvPr>
        </p:nvSpPr>
        <p:spPr>
          <a:xfrm>
            <a:off x="1103312" y="2052918"/>
            <a:ext cx="10616463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load factor of a hashed list is the number of elements in the list divided by the number of physical elements allocated for the list, expressed as a percentage.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Traditionally, load factor is assigned the symbol alpha (α).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formula in which </a:t>
            </a:r>
            <a:r>
              <a:rPr b="1" i="1" lang="en-US">
                <a:solidFill>
                  <a:srgbClr val="FF0000"/>
                </a:solidFill>
              </a:rPr>
              <a:t>k </a:t>
            </a:r>
            <a:r>
              <a:rPr b="1" lang="en-US">
                <a:solidFill>
                  <a:srgbClr val="FF0000"/>
                </a:solidFill>
              </a:rPr>
              <a:t>represents the number of filled elements in the list </a:t>
            </a:r>
            <a:r>
              <a:rPr lang="en-US">
                <a:solidFill>
                  <a:srgbClr val="FF0000"/>
                </a:solidFill>
              </a:rPr>
              <a:t>and </a:t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i="1" lang="en-US">
                <a:solidFill>
                  <a:srgbClr val="FF0000"/>
                </a:solidFill>
              </a:rPr>
              <a:t>n </a:t>
            </a:r>
            <a:r>
              <a:rPr b="1" lang="en-US">
                <a:solidFill>
                  <a:srgbClr val="FF0000"/>
                </a:solidFill>
              </a:rPr>
              <a:t>represents the total number of elements allocated to the list is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80" name="Google Shape;1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6804" y="4285494"/>
            <a:ext cx="1304145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second concept  :Clustering</a:t>
            </a:r>
            <a:endParaRPr/>
          </a:p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 data are added to a list and collisions are resolved, some hashing algorithms </a:t>
            </a:r>
            <a:r>
              <a:rPr b="1" lang="en-US">
                <a:solidFill>
                  <a:srgbClr val="FF0000"/>
                </a:solidFill>
              </a:rPr>
              <a:t>tend to cause data to group within the list</a:t>
            </a:r>
            <a:r>
              <a:rPr lang="en-US">
                <a:solidFill>
                  <a:srgbClr val="FF0000"/>
                </a:solidFill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This tendency of data to build up unevenly across a hashed list is known as clustering,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 data are added to a list and collisions are resolved, some hashing algorithms tend to cause data to group within the list.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tendency of data to </a:t>
            </a:r>
            <a:r>
              <a:rPr b="1" lang="en-US">
                <a:solidFill>
                  <a:schemeClr val="accent3"/>
                </a:solidFill>
              </a:rPr>
              <a:t>build up unevenly across a hashed list is known as clustering,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Secondary clustering occurs when data become grouped along a collision path throughout a list.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392" y="344072"/>
            <a:ext cx="7575305" cy="642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9519137" y="1954461"/>
            <a:ext cx="212891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hashing algorithms to minimize clustering, both primary and secondary.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1075177" y="3572229"/>
            <a:ext cx="10207113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Assume that we have a hashing algorithm that hashes each key to the same home address.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Locating the first element inserted into the list takes only one probe. Locating the second element takes two probes.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Carrying the analogy to its conclusion, locating the </a:t>
            </a:r>
            <a:r>
              <a:rPr i="1" lang="en-US"/>
              <a:t>n</a:t>
            </a:r>
            <a:r>
              <a:rPr lang="en-US"/>
              <a:t>th element added to the list takes </a:t>
            </a:r>
            <a:r>
              <a:rPr i="1" lang="en-US"/>
              <a:t>n </a:t>
            </a:r>
            <a:r>
              <a:rPr lang="en-US"/>
              <a:t>probes, even if the data are widely distributed across the addresses in the list</a:t>
            </a:r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112" y="522482"/>
            <a:ext cx="5514975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three difficulties</a:t>
            </a:r>
            <a:endParaRPr/>
          </a:p>
        </p:txBody>
      </p:sp>
      <p:sp>
        <p:nvSpPr>
          <p:cNvPr id="204" name="Google Shape;204;p21"/>
          <p:cNvSpPr txBox="1"/>
          <p:nvPr>
            <p:ph idx="1" type="body"/>
          </p:nvPr>
        </p:nvSpPr>
        <p:spPr>
          <a:xfrm>
            <a:off x="1103312" y="2052918"/>
            <a:ext cx="10952700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number of elements examined in the search for a place to store the data must be limited.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First, the search is not sequential, so finding the end of the list doesn’t mean that every element has been tested.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Second, examining every element would be excessively time-consuming for an algorithm that has as its goal a search effort of one.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Third, some of the collision resolution techniques cannot physically examine all of the elements in a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Computer scientists therefore generally place a collision limit on hashing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algorithms.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Linked List Collision Resolution</a:t>
            </a:r>
            <a:endParaRPr/>
          </a:p>
        </p:txBody>
      </p:sp>
      <p:sp>
        <p:nvSpPr>
          <p:cNvPr id="210" name="Google Shape;210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linked list is an ordered collection of data in which each element contains the location of the next element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Linked list collision resolution uses a separate area to store collisions and chains all synonyms together in a linked list. It uses two storage areas: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 prime area and the overflow area.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element in the prime area contains an additional field—a link head pointer to a linked list of overflow data in the overflow area.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a collision occurs, one element is stored in the prime area and chained to its corresponding linked list in the overflow area.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21995"/>
            <a:ext cx="12192000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Addressing</a:t>
            </a:r>
            <a:endParaRPr/>
          </a:p>
        </p:txBody>
      </p:sp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first collision resolution method, open addressing, resolves collisions in the prime area—that is, the area that contains all of the home addresses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a collision occurs, the prime area addresses are searched for an open or unoccupied element where the new data can be placed.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645130" y="65238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Probe</a:t>
            </a:r>
            <a:endParaRPr/>
          </a:p>
        </p:txBody>
      </p:sp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1103313" y="2052918"/>
            <a:ext cx="318733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a linear probe, which is the simplest, when data cannot be stored in the home address we resolve the collision by adding 1 to the current address.</a:t>
            </a:r>
            <a:endParaRPr/>
          </a:p>
        </p:txBody>
      </p:sp>
      <p:pic>
        <p:nvPicPr>
          <p:cNvPr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1381124"/>
            <a:ext cx="7219950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3981" y="0"/>
            <a:ext cx="7299667" cy="6630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387" y="2505075"/>
            <a:ext cx="980122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Practice Question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Quadratic Probing</a:t>
            </a:r>
            <a:br>
              <a:rPr lang="en-US"/>
            </a:br>
            <a:endParaRPr/>
          </a:p>
        </p:txBody>
      </p:sp>
      <p:sp>
        <p:nvSpPr>
          <p:cNvPr id="247" name="Google Shape;24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open addressing scheme, the actual hash function h(x) is taking the ordinary hash function h’(x) and attach some another part with it to make one quadratic equation.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h´ = (𝑥) = 𝑥 𝑚𝑜𝑑 𝑚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ℎ(𝑥, 𝑖) = (ℎ´(𝑥) + 𝑖</a:t>
            </a:r>
            <a:r>
              <a:rPr baseline="30000" lang="en-US"/>
              <a:t>2</a:t>
            </a:r>
            <a:r>
              <a:rPr lang="en-US"/>
              <a:t>)𝑚𝑜𝑑 𝑚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value of i = 0, 1, . . ., m – 1. So we start from i = 0, and increase this until we get one free space. So initially when i = 0, then the h(x, i) is same as h´(x).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624" y="924597"/>
            <a:ext cx="9661439" cy="52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Example</a:t>
            </a:r>
            <a:br>
              <a:rPr b="1" lang="en-US"/>
            </a:br>
            <a:endParaRPr/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176033" y="1365161"/>
            <a:ext cx="4359825" cy="49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a list of size 20 (m = 20). We want to put some elements in linear probing fashion.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elements are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3200"/>
              <a:buChar char="•"/>
            </a:pPr>
            <a:r>
              <a:rPr b="1" lang="en-US" sz="3200">
                <a:solidFill>
                  <a:srgbClr val="FFFF00"/>
                </a:solidFill>
              </a:rPr>
              <a:t>{96, 48, 63, 29, 87, 77, 48, 65, 69, 94, 61}</a:t>
            </a:r>
            <a:endParaRPr b="1" sz="3200">
              <a:solidFill>
                <a:srgbClr val="FFFF00"/>
              </a:solidFill>
            </a:endParaRPr>
          </a:p>
        </p:txBody>
      </p:sp>
      <p:pic>
        <p:nvPicPr>
          <p:cNvPr id="259" name="Google Shape;259;p30"/>
          <p:cNvPicPr preferRelativeResize="0"/>
          <p:nvPr/>
        </p:nvPicPr>
        <p:blipFill rotWithShape="1">
          <a:blip r:embed="rId3">
            <a:alphaModFix/>
          </a:blip>
          <a:srcRect b="0" l="0" r="39980" t="2500"/>
          <a:stretch/>
        </p:blipFill>
        <p:spPr>
          <a:xfrm>
            <a:off x="4394193" y="99117"/>
            <a:ext cx="4582382" cy="4934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024" y="5387305"/>
            <a:ext cx="11010883" cy="938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ing Initially prepared by Dr lyas iekli improved" id="265" name="Google Shape;265;p31"/>
          <p:cNvPicPr preferRelativeResize="0"/>
          <p:nvPr/>
        </p:nvPicPr>
        <p:blipFill rotWithShape="1">
          <a:blip r:embed="rId3">
            <a:alphaModFix/>
          </a:blip>
          <a:srcRect b="8689" l="0" r="0" t="0"/>
          <a:stretch/>
        </p:blipFill>
        <p:spPr>
          <a:xfrm>
            <a:off x="1044216" y="467820"/>
            <a:ext cx="9606611" cy="607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Double Hashing </a:t>
            </a:r>
            <a:br>
              <a:rPr lang="en-US"/>
            </a:br>
            <a:endParaRPr b="1"/>
          </a:p>
        </p:txBody>
      </p:sp>
      <p:pic>
        <p:nvPicPr>
          <p:cNvPr id="271" name="Google Shape;271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1960" y="2118407"/>
            <a:ext cx="641985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/>
          <p:nvPr/>
        </p:nvSpPr>
        <p:spPr>
          <a:xfrm>
            <a:off x="1669960" y="3749779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last two open addressing methods are collectively known as 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double hashing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resolve collision, the address is rehashed.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8690" y="597929"/>
            <a:ext cx="8635620" cy="5925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 Offset</a:t>
            </a:r>
            <a:endParaRPr/>
          </a:p>
        </p:txBody>
      </p:sp>
      <p:sp>
        <p:nvSpPr>
          <p:cNvPr id="283" name="Google Shape;283;p34"/>
          <p:cNvSpPr txBox="1"/>
          <p:nvPr>
            <p:ph idx="1" type="body"/>
          </p:nvPr>
        </p:nvSpPr>
        <p:spPr>
          <a:xfrm>
            <a:off x="646111" y="1853248"/>
            <a:ext cx="1097707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Key offset is a double hashing method that produces different collision paths for different keys.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Whereas the pseudorandom-number generator produces a new address as a function of the previous address, key offset calculates the new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address as a function of the old address and the key.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11" y="4281387"/>
            <a:ext cx="10113980" cy="101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46" y="5523689"/>
            <a:ext cx="9668652" cy="1050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812" y="923925"/>
            <a:ext cx="7572375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2021-09-01T14:59:53Z</dcterms:created>
  <dc:creator>Priya Milton</dc:creator>
</cp:coreProperties>
</file>