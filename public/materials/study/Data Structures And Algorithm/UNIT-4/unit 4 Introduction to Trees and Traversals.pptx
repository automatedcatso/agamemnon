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Inter"/>
      <p:regular r:id="rId21"/>
      <p:bold r:id="rId22"/>
      <p:italic r:id="rId23"/>
      <p:boldItalic r:id="rId24"/>
    </p:embeddedFont>
    <p:embeddedFont>
      <p:font typeface="Tahoma"/>
      <p:regular r:id="rId25"/>
      <p:bold r:id="rId26"/>
    </p:embeddedFont>
    <p:embeddedFont>
      <p:font typeface="Comfortaa"/>
      <p:regular r:id="rId27"/>
      <p:bold r:id="rId28"/>
    </p:embeddedFont>
    <p:embeddedFont>
      <p:font typeface="Open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l+RjthyxkmE6v16locLFWser0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097039-55F5-4FA8-AF43-BFE8B9BE7782}">
  <a:tblStyle styleId="{F7097039-55F5-4FA8-AF43-BFE8B9BE7782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0FC"/>
          </a:solidFill>
        </a:fill>
      </a:tcStyle>
    </a:wholeTbl>
    <a:band1H>
      <a:tcTxStyle b="off" i="off"/>
      <a:tcStyle>
        <a:fill>
          <a:solidFill>
            <a:srgbClr val="CCE0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0F8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28" Type="http://schemas.openxmlformats.org/officeDocument/2006/relationships/font" Target="fonts/Comfortaa-bold.fntdata"/><Relationship Id="rId27" Type="http://schemas.openxmlformats.org/officeDocument/2006/relationships/font" Target="fonts/Comforta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italic.fntdata"/><Relationship Id="rId30" Type="http://schemas.openxmlformats.org/officeDocument/2006/relationships/font" Target="fonts/OpenSans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5" name="Google Shape;2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3" name="Google Shape;13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7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" name="Google Shape;20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9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4" name="Google Shape;34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2" name="Google Shape;42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2" name="Google Shape;5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4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4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5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5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6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6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26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8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28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28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8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9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0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30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30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0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30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30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1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1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31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31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31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31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31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31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31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31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2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3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3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type="ctrTitle"/>
          </p:nvPr>
        </p:nvSpPr>
        <p:spPr>
          <a:xfrm>
            <a:off x="2154134" y="904776"/>
            <a:ext cx="9112908" cy="1848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(18CSC162J)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IV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958" y="760717"/>
            <a:ext cx="1040765" cy="108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type="title"/>
          </p:nvPr>
        </p:nvSpPr>
        <p:spPr>
          <a:xfrm>
            <a:off x="913775" y="618518"/>
            <a:ext cx="10364451" cy="561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4859"/>
              <a:buFont typeface="Twentieth Century"/>
              <a:buNone/>
            </a:pPr>
            <a:br>
              <a:rPr lang="en-US"/>
            </a:br>
            <a:br>
              <a:rPr lang="en-US"/>
            </a:br>
            <a:r>
              <a:rPr lang="en-US"/>
              <a:t>      </a:t>
            </a:r>
            <a:r>
              <a:rPr b="1" lang="en-US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31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"/>
          <p:cNvSpPr txBox="1"/>
          <p:nvPr>
            <p:ph idx="1" type="body"/>
          </p:nvPr>
        </p:nvSpPr>
        <p:spPr>
          <a:xfrm>
            <a:off x="913774" y="1612491"/>
            <a:ext cx="10363826" cy="493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1" lang="en-US" sz="19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TO BE COVERED </a:t>
            </a:r>
            <a:endParaRPr b="1" sz="19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TREE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TRAVERSAL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rPr b="1" lang="en-US" sz="19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TREE</a:t>
            </a:r>
            <a:endParaRPr b="1" sz="19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TREE DATA STRUCTURE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TREE DATA STRUCTURE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TERMINOLOGIES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NODE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TREE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TRAVERSAL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00"/>
              <a:buFont typeface="Noto Sans Symbols"/>
              <a:buChar char="⮚"/>
            </a:pPr>
            <a:r>
              <a:rPr lang="en-US" sz="17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OF TREE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</p:txBody>
      </p:sp>
      <p:pic>
        <p:nvPicPr>
          <p:cNvPr id="164" name="Google Shape;1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616" y="271802"/>
            <a:ext cx="1040765" cy="108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type="title"/>
          </p:nvPr>
        </p:nvSpPr>
        <p:spPr>
          <a:xfrm>
            <a:off x="913775" y="598853"/>
            <a:ext cx="10364451" cy="354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WHAT IS TREE DATA STRUCTURE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983226" y="1235776"/>
            <a:ext cx="10294374" cy="502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TREE IS A NON LINEAR DATA STRUCTURE THAT CONSIST OF NODES AND IS CONNECTED BY EDGES.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TREE DATA STRUCTURE IS A HIERARCHICAL STRUCTURE THAT IS USED TO REPRESENT AND ORGANIZE DATA IN A WAY THAT IS EASY TO NAVIGATE AND SEARCH. IT IS A COLLECTION OF NODES THAT ARE CONNECTED BY EDGES AND HAS A HIERARCHICAL RELATIONSHIP BETWEEN THE NODES.</a:t>
            </a:r>
            <a:endParaRPr/>
          </a:p>
          <a:p>
            <a:pPr indent="-101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TOPMOST NODE OF THE TREE IS CALLED THE ROOT,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AND THE NODES BELOW IT ARE CALLED THE CHILD NODES.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EACH NODE CAN HAVE MULTIPLE CHILD NODES, AND THESE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CHILD NODES CAN ALSO HAVE THEIR OWN CHILD NODES,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FORMING A RECURSIVE STRUCTURE.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 txBox="1"/>
          <p:nvPr/>
        </p:nvSpPr>
        <p:spPr>
          <a:xfrm>
            <a:off x="913775" y="608478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2" name="Google Shape;1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8989" y="3425212"/>
            <a:ext cx="3360890" cy="245626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1759245" y="192046"/>
            <a:ext cx="83569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SRM INSTITUTE OF SCIENCE AND TECHNOLOGY</a:t>
            </a:r>
            <a:endParaRPr b="1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>
            <p:ph type="title"/>
          </p:nvPr>
        </p:nvSpPr>
        <p:spPr>
          <a:xfrm>
            <a:off x="913775" y="226143"/>
            <a:ext cx="10364451" cy="198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WHY TREE DATA STRUCTURE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9862" y="2807494"/>
            <a:ext cx="67722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 txBox="1"/>
          <p:nvPr/>
        </p:nvSpPr>
        <p:spPr>
          <a:xfrm>
            <a:off x="2069431" y="320660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TREE TERMINOLOGIES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5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5241" y="2595716"/>
            <a:ext cx="4671146" cy="1858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ghtbox" id="190" name="Google Shape;19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812" y="1919121"/>
            <a:ext cx="10191750" cy="4320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"/>
          <p:cNvSpPr txBox="1"/>
          <p:nvPr/>
        </p:nvSpPr>
        <p:spPr>
          <a:xfrm>
            <a:off x="3260558" y="466119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"/>
          <p:cNvSpPr txBox="1"/>
          <p:nvPr>
            <p:ph type="title"/>
          </p:nvPr>
        </p:nvSpPr>
        <p:spPr>
          <a:xfrm>
            <a:off x="913775" y="618518"/>
            <a:ext cx="10364451" cy="448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BASIC TERMINOLOGIES IN TREE DATA STRUCTURE: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6"/>
          <p:cNvSpPr txBox="1"/>
          <p:nvPr>
            <p:ph idx="1" type="body"/>
          </p:nvPr>
        </p:nvSpPr>
        <p:spPr>
          <a:xfrm>
            <a:off x="1130710" y="776748"/>
            <a:ext cx="10146890" cy="5923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PARENT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THE NODE WHICH IS A PREDECESSOR OF A NODE IS CALLED THE PARENT NODE OF THAT NODE. {B} IS THE PARENT NODE OF {D, E}.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CHILD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THE NODE WHICH IS THE IMMEDIATE SUCCESSOR OF A NODE IS CALLED THE CHILD NODE OF THAT NODE. EXAMPLES: {D, E} ARE THE CHILD NODES OF {B}.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ROOT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THE TOPMOST NODE OF A TREE OR THE NODE WHICH DOES NOT HAVE ANY PARENT NODE IS CALLED THE ROOT NODE. {A} IS THE ROOT NODE OF THE TREE. A NON-EMPTY TREE MUST CONTAIN EXACTLY ONE ROOT NODE AND EXACTLY ONE PATH FROM THE ROOT TO ALL OTHER NODES OF THE TREE.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LEAF NODE OR EXTERNAL NODE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: THE NODES WHICH DO NOT HAVE ANY CHILD NODES ARE CALLED LEAF NODES. {K, L, M, N, O, P} ARE THE LEAF NODES OF THE TREE.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ANCESTOR OF A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ANY PREDECESSOR NODES ON THE PATH OF THE ROOT TO THAT NODE ARE CALLED ANCESTORS OF THAT NODE. {A,B} ARE THE ANCESTOR NODES OF THE NODE {E}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DESCENDANT: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ANY SUCCESSOR NODE ON THE PATH FROM THE LEAF NODE TO THAT NODE. {E,I} ARE THE DESCENDANTS OF THE NODE {B}.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SIBLING: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CHILDREN OF THE SAME PARENT NODE ARE CALLED SIBLINGS. {D,E} ARE CALLED SIBLINGS.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LEVEL OF A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THE COUNT OF EDGES ON THE PATH FROM THE ROOT NODE TO THAT NODE. THE ROOT NODE HAS LEVEL 0.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INTERNAL NODE: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 NODE WITH AT LEAST ONE CHILD IS CALLED INTERNAL NODE.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NEIGHBOUR OF A NODE: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PARENT OR CHILD NODES OF THAT NODE ARE CALLED NEIGHBORS OF THAT NODE.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SUBTREE: 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ANY NODE OF THE TREE ALONG WITH ITS DESCENDANT.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REPRESENTATION OF TREE DATA STRUCTURE: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Char char="•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 TREE CONSISTS OF A ROOT, AND ZERO OR MORE SUBTREES T1, T2, … , TK SUCH THAT THERE IS AN EDGE FROM THE ROOT OF THE TREE TO THE ROOT OF EACH SUBTREE.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9" name="Google Shape;1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690" y="0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6"/>
          <p:cNvSpPr txBox="1"/>
          <p:nvPr/>
        </p:nvSpPr>
        <p:spPr>
          <a:xfrm>
            <a:off x="3155353" y="143635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TERMINOLOGIES</a:t>
            </a:r>
            <a:br>
              <a:rPr b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88595" y="2725310"/>
            <a:ext cx="4767072" cy="248716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7"/>
          <p:cNvSpPr txBox="1"/>
          <p:nvPr/>
        </p:nvSpPr>
        <p:spPr>
          <a:xfrm>
            <a:off x="6607277" y="1932068"/>
            <a:ext cx="5329709" cy="72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46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child from a node forms a subtree recursively. Every child node will form a subtree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11277" y="1964008"/>
            <a:ext cx="6096000" cy="1498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7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total number of children of a node is called as </a:t>
            </a: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DEGREE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that Node.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6555"/>
              </a:lnSpc>
              <a:spcBef>
                <a:spcPts val="6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highest degree of a node among all the nodes in a tree is called as 'Degree of Tree'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481" y="3494243"/>
            <a:ext cx="6680610" cy="2916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 txBox="1"/>
          <p:nvPr/>
        </p:nvSpPr>
        <p:spPr>
          <a:xfrm>
            <a:off x="3047198" y="433851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type="title"/>
          </p:nvPr>
        </p:nvSpPr>
        <p:spPr>
          <a:xfrm>
            <a:off x="913775" y="618518"/>
            <a:ext cx="10364451" cy="448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TREE REPRESENTATION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913774" y="981778"/>
            <a:ext cx="10363826" cy="58762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262626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TREE DATA STRUCTURE WITH A NODE CONTAINING DATA AND POINTER TO EACH CHILD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Fig 2: Tree representation using the nodes that point to all of its children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146434"/>
            <a:ext cx="6324875" cy="4394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 3: Visual representation of node with three fields" id="219" name="Google Shape;2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96638" y="4720941"/>
            <a:ext cx="1866900" cy="1323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 txBox="1"/>
          <p:nvPr/>
        </p:nvSpPr>
        <p:spPr>
          <a:xfrm>
            <a:off x="7276699" y="1907822"/>
            <a:ext cx="306083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typedef struct tree_node *tree_ptr;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 tree_node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element_type element;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*tree_ptr;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tree_ptr left;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tree_ptr right; 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typedef tree_ptr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8"/>
          <p:cNvSpPr txBox="1"/>
          <p:nvPr/>
        </p:nvSpPr>
        <p:spPr>
          <a:xfrm>
            <a:off x="3318309" y="175383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"/>
          <p:cNvSpPr txBox="1"/>
          <p:nvPr>
            <p:ph type="title"/>
          </p:nvPr>
        </p:nvSpPr>
        <p:spPr>
          <a:xfrm>
            <a:off x="913774" y="553452"/>
            <a:ext cx="10364451" cy="779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Comfortaa"/>
              <a:buNone/>
            </a:pPr>
            <a:br>
              <a:rPr b="1" i="0" lang="en-US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b="1" i="0" lang="en-US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b="1" i="0" lang="en-US" sz="2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REPRESENTATIONS</a:t>
            </a:r>
            <a:br>
              <a:rPr b="1" i="0" lang="en-US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/>
          </a:p>
        </p:txBody>
      </p:sp>
      <p:sp>
        <p:nvSpPr>
          <p:cNvPr id="228" name="Google Shape;228;p9"/>
          <p:cNvSpPr txBox="1"/>
          <p:nvPr>
            <p:ph idx="1" type="body"/>
          </p:nvPr>
        </p:nvSpPr>
        <p:spPr>
          <a:xfrm>
            <a:off x="913774" y="837398"/>
            <a:ext cx="10363826" cy="57037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1600" lvl="0" marL="2286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101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333333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0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TREE DATA STRUCTURE CAN BE REPRESENTED IN TWO METHODS. THOSE METHODS ARE AS FOLLOWS.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wentieth Century"/>
              <a:buAutoNum type="arabicPeriod"/>
            </a:pPr>
            <a:r>
              <a:rPr b="1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 REPRESENTATION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wentieth Century"/>
              <a:buAutoNum type="arabicPeriod"/>
            </a:pPr>
            <a:r>
              <a:rPr b="1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CHILD - RIGHT SIBLING REPRESENTATION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tree datastructure"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361" y="3429000"/>
            <a:ext cx="666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 txBox="1"/>
          <p:nvPr/>
        </p:nvSpPr>
        <p:spPr>
          <a:xfrm>
            <a:off x="3260558" y="184120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"/>
          <p:cNvSpPr txBox="1"/>
          <p:nvPr>
            <p:ph type="title"/>
          </p:nvPr>
        </p:nvSpPr>
        <p:spPr>
          <a:xfrm>
            <a:off x="913775" y="471638"/>
            <a:ext cx="10364451" cy="673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ct val="100000"/>
              <a:buFont typeface="Times New Roman"/>
              <a:buNone/>
            </a:pPr>
            <a:br>
              <a:rPr b="1" i="0" lang="en-US" sz="2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REPRESENTATIONS</a:t>
            </a:r>
            <a:br>
              <a:rPr b="1" i="0" lang="en-US">
                <a:solidFill>
                  <a:srgbClr val="333333"/>
                </a:solidFill>
                <a:latin typeface="Comfortaa"/>
                <a:ea typeface="Comfortaa"/>
                <a:cs typeface="Comfortaa"/>
                <a:sym typeface="Comfortaa"/>
              </a:rPr>
            </a:br>
            <a:endParaRPr/>
          </a:p>
        </p:txBody>
      </p:sp>
      <p:sp>
        <p:nvSpPr>
          <p:cNvPr id="237" name="Google Shape;237;p10"/>
          <p:cNvSpPr txBox="1"/>
          <p:nvPr>
            <p:ph idx="1" type="body"/>
          </p:nvPr>
        </p:nvSpPr>
        <p:spPr>
          <a:xfrm>
            <a:off x="913774" y="702644"/>
            <a:ext cx="10363826" cy="67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n-US">
                <a:solidFill>
                  <a:srgbClr val="E00D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1LIST REPRESENTATION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LINKED TO AN INTERNAL NODE THROUGH A 'REFERENCE NODE' WHICH IS FURTHER LINKED TO ANY OTHER NODE DIRECTLY. THIS PROCESS REPEATS FOR ALL THE NODES IN THE TREE.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list representation of tree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500" y="2406315"/>
            <a:ext cx="9525000" cy="3619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735" y="80763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0"/>
          <p:cNvSpPr txBox="1"/>
          <p:nvPr/>
        </p:nvSpPr>
        <p:spPr>
          <a:xfrm>
            <a:off x="3256748" y="207038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 txBox="1"/>
          <p:nvPr>
            <p:ph type="title"/>
          </p:nvPr>
        </p:nvSpPr>
        <p:spPr>
          <a:xfrm>
            <a:off x="913775" y="211757"/>
            <a:ext cx="10364451" cy="8550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Times New Roman"/>
              <a:buNone/>
            </a:pPr>
            <a:r>
              <a:rPr b="1" i="0" lang="en-US" sz="24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REPRESENTATIONS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1"/>
          <p:cNvSpPr txBox="1"/>
          <p:nvPr>
            <p:ph idx="1" type="body"/>
          </p:nvPr>
        </p:nvSpPr>
        <p:spPr>
          <a:xfrm>
            <a:off x="913774" y="837398"/>
            <a:ext cx="10363826" cy="49538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n-US">
                <a:solidFill>
                  <a:srgbClr val="E00D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 CHILD - RIGHT SIBLING REPRESENTATION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i="0" lang="en-US">
                <a:latin typeface="Times New Roman"/>
                <a:ea typeface="Times New Roman"/>
                <a:cs typeface="Times New Roman"/>
                <a:sym typeface="Times New Roman"/>
              </a:rPr>
              <a:t>DATA FIELD STORES THE ACTUAL VALUE OF A NODE, LEFT REFERENCE FIELD STORES THE ADDRESS OF THE LEFT CHILD AND RIGHT REFERENCE FIELD STORES THE ADDRESS OF THE RIGHT SIBLING NODE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47" name="Google Shape;24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956" y="3088506"/>
            <a:ext cx="1905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ft child right sibling representation" id="248" name="Google Shape;24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6477" y="2608447"/>
            <a:ext cx="8258476" cy="3816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5170" y="-242737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/>
        </p:nvSpPr>
        <p:spPr>
          <a:xfrm>
            <a:off x="3046885" y="112665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 txBox="1"/>
          <p:nvPr>
            <p:ph type="title"/>
          </p:nvPr>
        </p:nvSpPr>
        <p:spPr>
          <a:xfrm>
            <a:off x="913775" y="211756"/>
            <a:ext cx="10364451" cy="8550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br>
              <a:rPr b="1" i="0" lang="en-US" sz="27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7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700">
                <a:latin typeface="Times New Roman"/>
                <a:ea typeface="Times New Roman"/>
                <a:cs typeface="Times New Roman"/>
                <a:sym typeface="Times New Roman"/>
              </a:rPr>
              <a:t>TREE TRAVERSAL</a:t>
            </a:r>
            <a:br>
              <a:rPr b="0" i="0" lang="en-US">
                <a:solidFill>
                  <a:srgbClr val="610B38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256" name="Google Shape;256;p12"/>
          <p:cNvSpPr txBox="1"/>
          <p:nvPr>
            <p:ph idx="1" type="body"/>
          </p:nvPr>
        </p:nvSpPr>
        <p:spPr>
          <a:xfrm>
            <a:off x="913774" y="1066802"/>
            <a:ext cx="10363826" cy="539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TERM 'TREE TRAVERSAL' MEANS TRAVERSING OR VISITING EACH NODE OF A TREE. TRAVERSING CAN BE PERFORMED IN THREE WAYS </a:t>
            </a:r>
            <a:endParaRPr/>
          </a:p>
          <a:p>
            <a:pPr indent="0" lvl="1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PREORDER TRAVERSAL</a:t>
            </a:r>
            <a:endParaRPr/>
          </a:p>
          <a:p>
            <a:pPr indent="0" lvl="1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 TRAVERSAL</a:t>
            </a:r>
            <a:endParaRPr/>
          </a:p>
          <a:p>
            <a:pPr indent="0" lvl="1" marL="457200" rtl="0" algn="just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POSTORDER TRAVERSAL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i="0" lang="en-US" u="sng">
                <a:latin typeface="Times New Roman"/>
                <a:ea typeface="Times New Roman"/>
                <a:cs typeface="Times New Roman"/>
                <a:sym typeface="Times New Roman"/>
              </a:rPr>
              <a:t>PREORDER TRAVERSAL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 b="1"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i="0" lang="en-US">
                <a:latin typeface="Times New Roman"/>
                <a:ea typeface="Times New Roman"/>
                <a:cs typeface="Times New Roman"/>
                <a:sym typeface="Times New Roman"/>
              </a:rPr>
              <a:t>STEP 1 - VISIT THE ROOT NODE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i="0" lang="en-US">
                <a:latin typeface="Times New Roman"/>
                <a:ea typeface="Times New Roman"/>
                <a:cs typeface="Times New Roman"/>
                <a:sym typeface="Times New Roman"/>
              </a:rPr>
              <a:t>STEP 2 - TRAVERSE THE LEFT SUBTREE RECURSIVELY. 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i="0" lang="en-US">
                <a:latin typeface="Times New Roman"/>
                <a:ea typeface="Times New Roman"/>
                <a:cs typeface="Times New Roman"/>
                <a:sym typeface="Times New Roman"/>
              </a:rPr>
              <a:t>STEP 3 - TRAVERSE THE RIGHT SUBTREE RECURSIVELY. </a:t>
            </a:r>
            <a:endParaRPr i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6463" y="1973179"/>
            <a:ext cx="3803132" cy="341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 txBox="1"/>
          <p:nvPr/>
        </p:nvSpPr>
        <p:spPr>
          <a:xfrm>
            <a:off x="4964229" y="5517923"/>
            <a:ext cx="60976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of the preorder traversal of the above tree is 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→ B → D → E → C → F → G</a:t>
            </a:r>
            <a:endParaRPr b="0" i="0" sz="18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9" name="Google Shape;25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391" y="0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2"/>
          <p:cNvSpPr txBox="1"/>
          <p:nvPr/>
        </p:nvSpPr>
        <p:spPr>
          <a:xfrm>
            <a:off x="3443438" y="214782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 txBox="1"/>
          <p:nvPr>
            <p:ph type="title"/>
          </p:nvPr>
        </p:nvSpPr>
        <p:spPr>
          <a:xfrm>
            <a:off x="913775" y="618518"/>
            <a:ext cx="10364451" cy="448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TRAVERSAL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13"/>
          <p:cNvSpPr txBox="1"/>
          <p:nvPr>
            <p:ph idx="1" type="body"/>
          </p:nvPr>
        </p:nvSpPr>
        <p:spPr>
          <a:xfrm>
            <a:off x="913774" y="1066802"/>
            <a:ext cx="10363826" cy="47243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latin typeface="Times New Roman"/>
                <a:ea typeface="Times New Roman"/>
                <a:cs typeface="Times New Roman"/>
                <a:sym typeface="Times New Roman"/>
              </a:rPr>
              <a:t>POSTORDER TRAVERSAL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FIRST LEFT SUBTREE OF THE ROOT NODE IS TRAVERSED, AFTER THAT RECURSIVELY TRAVERSES THE RIGHT SUBTREE, AND FINALLY, THE ROOT NODE IS TRAVERSED.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 b="0" i="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TRAVERSE THE LEFT SUBTREE RECURSIVELY.  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TRAVERSE THE RIGHT SUBTREE RECURSIVELY.  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VISIT THE ROOT NODE. 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267" name="Google Shape;26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5339" y="2367815"/>
            <a:ext cx="3719562" cy="309933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 txBox="1"/>
          <p:nvPr/>
        </p:nvSpPr>
        <p:spPr>
          <a:xfrm>
            <a:off x="5098983" y="5468032"/>
            <a:ext cx="60976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The output of the postorder traversal of the above tree is 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D → E → B → F → G → C → A</a:t>
            </a:r>
            <a:endParaRPr b="0" i="0" sz="1800" u="none" cap="none" strike="noStrike">
              <a:solidFill>
                <a:srgbClr val="33333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56" y="78450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 txBox="1"/>
          <p:nvPr/>
        </p:nvSpPr>
        <p:spPr>
          <a:xfrm>
            <a:off x="3173931" y="294468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"/>
          <p:cNvSpPr txBox="1"/>
          <p:nvPr>
            <p:ph type="title"/>
          </p:nvPr>
        </p:nvSpPr>
        <p:spPr>
          <a:xfrm>
            <a:off x="913775" y="618517"/>
            <a:ext cx="10364451" cy="613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TREE TRAVERSAL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4"/>
          <p:cNvSpPr txBox="1"/>
          <p:nvPr>
            <p:ph idx="1" type="body"/>
          </p:nvPr>
        </p:nvSpPr>
        <p:spPr>
          <a:xfrm>
            <a:off x="913774" y="1472666"/>
            <a:ext cx="10363826" cy="431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solidFill>
                  <a:srgbClr val="610B4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INORDER TRAVERSAL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b="0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LEFT SUBTREE IS VISITED AFTER THAT ROOT NODE IS TRAVERSED, AND FINALLY, THE RIGHT SUBTREE IS TRAVERSED.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TRAVERSE THE LEFT SUBTREE RECURSIVELY.  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VISIT THE ROOT NODE.  </a:t>
            </a:r>
            <a:endParaRPr/>
          </a:p>
          <a:p>
            <a:pPr indent="0" lvl="0" marL="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 </a:t>
            </a:r>
            <a:r>
              <a:rPr b="0" i="0" lang="en-US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b="0" i="0" lang="en-US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- TRAVERSE THE RIGHT SUBTREE RECURSIVELY.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Tree Traversal" id="277" name="Google Shape;277;p1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78" name="Google Shape;2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0092" y="2841170"/>
            <a:ext cx="3317508" cy="26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5849754" y="5589944"/>
            <a:ext cx="60976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output of the inorder traversal of the above tree is 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→ B → E → A → F → C → G</a:t>
            </a:r>
            <a:endParaRPr b="0" i="0" sz="18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4"/>
          <p:cNvSpPr txBox="1"/>
          <p:nvPr/>
        </p:nvSpPr>
        <p:spPr>
          <a:xfrm>
            <a:off x="3046885" y="313535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 txBox="1"/>
          <p:nvPr>
            <p:ph type="title"/>
          </p:nvPr>
        </p:nvSpPr>
        <p:spPr>
          <a:xfrm>
            <a:off x="913775" y="618517"/>
            <a:ext cx="10364451" cy="7097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APPLICATION OF TREE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7" name="Google Shape;287;p15"/>
          <p:cNvGraphicFramePr/>
          <p:nvPr/>
        </p:nvGraphicFramePr>
        <p:xfrm>
          <a:off x="2916455" y="159779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{F7097039-55F5-4FA8-AF43-BFE8B9BE7782}</a:tableStyleId>
              </a:tblPr>
              <a:tblGrid>
                <a:gridCol w="6936600"/>
              </a:tblGrid>
              <a:tr h="331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search trees are used to quickly check whether an element present in a set or not.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popular database uses B-tree, which is a variant of the tree data structure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Modified version of trees called Tries is used in the router to store routing information.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compiler uses a syntax tree to validate the syntax of every program you write. 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t/>
                      </a:r>
                      <a:endParaRPr sz="2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5"/>
          <p:cNvSpPr txBox="1"/>
          <p:nvPr/>
        </p:nvSpPr>
        <p:spPr>
          <a:xfrm>
            <a:off x="3222056" y="249185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2023-08-16T06:48:48Z</dcterms:created>
  <dc:creator>Archana KS</dc:creator>
</cp:coreProperties>
</file>